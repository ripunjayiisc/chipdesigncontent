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Lst>
  <p:sldSz cx="121615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8595360" y="-2103120"/>
            <a:ext cx="7315200" cy="73152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9966960" y="-822960"/>
            <a:ext cx="4572000" cy="4572000"/>
          </a:xfrm>
          <a:prstGeom prst="ellipse">
            <a:avLst/>
          </a:prstGeom>
          <a:solidFill>
            <a:srgbClr val="0E2A47"/>
          </a:solidFill>
          <a:ln w="1270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40080" y="1417320"/>
            <a:ext cx="7315200" cy="365760"/>
          </a:xfrm>
          <a:prstGeom prst="rect">
            <a:avLst/>
          </a:prstGeom>
          <a:noFill/>
        </p:spPr>
        <p:txBody>
          <a:bodyPr wrap="square" lIns="0" rIns="0" tIns="0" bIns="0" anchor="ctr">
            <a:spAutoFit/>
          </a:bodyPr>
          <a:lstStyle/>
          <a:p>
            <a:pPr algn="l">
              <a:lnSpc>
                <a:spcPct val="103000"/>
              </a:lnSpc>
            </a:pPr>
            <a:r>
              <a:rPr sz="1500" b="1" i="0" spc="300">
                <a:solidFill>
                  <a:srgbClr val="1B9AAA"/>
                </a:solidFill>
                <a:latin typeface="Calibri"/>
              </a:rPr>
              <a:t>TOPIC 5</a:t>
            </a:r>
          </a:p>
        </p:txBody>
      </p:sp>
      <p:sp>
        <p:nvSpPr>
          <p:cNvPr id="5" name="TextBox 4"/>
          <p:cNvSpPr txBox="1"/>
          <p:nvPr/>
        </p:nvSpPr>
        <p:spPr>
          <a:xfrm>
            <a:off x="566928" y="1874520"/>
            <a:ext cx="10424160" cy="1005840"/>
          </a:xfrm>
          <a:prstGeom prst="rect">
            <a:avLst/>
          </a:prstGeom>
          <a:noFill/>
        </p:spPr>
        <p:txBody>
          <a:bodyPr wrap="square" lIns="0" rIns="0" tIns="0" bIns="0" anchor="ctr">
            <a:spAutoFit/>
          </a:bodyPr>
          <a:lstStyle/>
          <a:p>
            <a:pPr algn="l">
              <a:lnSpc>
                <a:spcPct val="103000"/>
              </a:lnSpc>
            </a:pPr>
            <a:r>
              <a:rPr sz="3500" b="1" i="0">
                <a:solidFill>
                  <a:srgbClr val="FFFFFF"/>
                </a:solidFill>
                <a:latin typeface="Cambria"/>
              </a:rPr>
              <a:t>RTL Simulation and Verification</a:t>
            </a:r>
          </a:p>
        </p:txBody>
      </p:sp>
      <p:sp>
        <p:nvSpPr>
          <p:cNvPr id="6" name="TextBox 5"/>
          <p:cNvSpPr txBox="1"/>
          <p:nvPr/>
        </p:nvSpPr>
        <p:spPr>
          <a:xfrm>
            <a:off x="640080" y="2926080"/>
            <a:ext cx="9418320" cy="640080"/>
          </a:xfrm>
          <a:prstGeom prst="rect">
            <a:avLst/>
          </a:prstGeom>
          <a:noFill/>
        </p:spPr>
        <p:txBody>
          <a:bodyPr wrap="square" lIns="0" rIns="0" tIns="0" bIns="0" anchor="ctr">
            <a:spAutoFit/>
          </a:bodyPr>
          <a:lstStyle/>
          <a:p>
            <a:pPr algn="l">
              <a:lnSpc>
                <a:spcPct val="103000"/>
              </a:lnSpc>
            </a:pPr>
            <a:r>
              <a:rPr sz="1400" b="0" i="0">
                <a:solidFill>
                  <a:srgbClr val="C9D6E3"/>
                </a:solidFill>
                <a:latin typeface="Calibri"/>
              </a:rPr>
              <a:t>Functional verification techniques for RTL designs  ·  Introduction to test benches and testbench development  ·  Simulation and debugging of RTL designs</a:t>
            </a:r>
          </a:p>
        </p:txBody>
      </p:sp>
      <p:sp>
        <p:nvSpPr>
          <p:cNvPr id="7" name="Oval 6"/>
          <p:cNvSpPr/>
          <p:nvPr/>
        </p:nvSpPr>
        <p:spPr>
          <a:xfrm>
            <a:off x="713232" y="4014216"/>
            <a:ext cx="237744" cy="237744"/>
          </a:xfrm>
          <a:prstGeom prst="ellips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97280" y="3931920"/>
            <a:ext cx="9875520" cy="365760"/>
          </a:xfrm>
          <a:prstGeom prst="rect">
            <a:avLst/>
          </a:prstGeom>
          <a:noFill/>
        </p:spPr>
        <p:txBody>
          <a:bodyPr wrap="square" lIns="0" rIns="0" tIns="0" bIns="0" anchor="ctr">
            <a:spAutoFit/>
          </a:bodyPr>
          <a:lstStyle/>
          <a:p>
            <a:pPr algn="l">
              <a:lnSpc>
                <a:spcPct val="103000"/>
              </a:lnSpc>
            </a:pPr>
            <a:r>
              <a:rPr sz="1350" b="0" i="0">
                <a:solidFill>
                  <a:srgbClr val="E7EEF5"/>
                </a:solidFill>
                <a:latin typeface="Calibri"/>
              </a:rPr>
              <a:t>5a · Verification techniques — why, how much, and how you know when you are finished</a:t>
            </a:r>
          </a:p>
        </p:txBody>
      </p:sp>
      <p:sp>
        <p:nvSpPr>
          <p:cNvPr id="9" name="Oval 8"/>
          <p:cNvSpPr/>
          <p:nvPr/>
        </p:nvSpPr>
        <p:spPr>
          <a:xfrm>
            <a:off x="713232" y="4471416"/>
            <a:ext cx="237744" cy="237744"/>
          </a:xfrm>
          <a:prstGeom prst="ellips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97280" y="4389120"/>
            <a:ext cx="9875520" cy="365760"/>
          </a:xfrm>
          <a:prstGeom prst="rect">
            <a:avLst/>
          </a:prstGeom>
          <a:noFill/>
        </p:spPr>
        <p:txBody>
          <a:bodyPr wrap="square" lIns="0" rIns="0" tIns="0" bIns="0" anchor="ctr">
            <a:spAutoFit/>
          </a:bodyPr>
          <a:lstStyle/>
          <a:p>
            <a:pPr algn="l">
              <a:lnSpc>
                <a:spcPct val="103000"/>
              </a:lnSpc>
            </a:pPr>
            <a:r>
              <a:rPr sz="1350" b="0" i="0">
                <a:solidFill>
                  <a:srgbClr val="E7EEF5"/>
                </a:solidFill>
                <a:latin typeface="Calibri"/>
              </a:rPr>
              <a:t>5b · Testbenches — structure, reference models, randomisation, coverage, assertions</a:t>
            </a:r>
          </a:p>
        </p:txBody>
      </p:sp>
      <p:sp>
        <p:nvSpPr>
          <p:cNvPr id="11" name="Oval 10"/>
          <p:cNvSpPr/>
          <p:nvPr/>
        </p:nvSpPr>
        <p:spPr>
          <a:xfrm>
            <a:off x="713232" y="4928616"/>
            <a:ext cx="237744" cy="237744"/>
          </a:xfrm>
          <a:prstGeom prst="ellips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97280" y="4846320"/>
            <a:ext cx="9875520" cy="365760"/>
          </a:xfrm>
          <a:prstGeom prst="rect">
            <a:avLst/>
          </a:prstGeom>
          <a:noFill/>
        </p:spPr>
        <p:txBody>
          <a:bodyPr wrap="square" lIns="0" rIns="0" tIns="0" bIns="0" anchor="ctr">
            <a:spAutoFit/>
          </a:bodyPr>
          <a:lstStyle/>
          <a:p>
            <a:pPr algn="l">
              <a:lnSpc>
                <a:spcPct val="103000"/>
              </a:lnSpc>
            </a:pPr>
            <a:r>
              <a:rPr sz="1350" b="0" i="0">
                <a:solidFill>
                  <a:srgbClr val="E7EEF5"/>
                </a:solidFill>
                <a:latin typeface="Calibri"/>
              </a:rPr>
              <a:t>5c · Simulation and debugging — the event engine, waveforms, and a debugging procedure</a:t>
            </a:r>
          </a:p>
        </p:txBody>
      </p:sp>
      <p:sp>
        <p:nvSpPr>
          <p:cNvPr id="13" name="Oval 12"/>
          <p:cNvSpPr/>
          <p:nvPr/>
        </p:nvSpPr>
        <p:spPr>
          <a:xfrm>
            <a:off x="713232" y="5385816"/>
            <a:ext cx="237744" cy="237744"/>
          </a:xfrm>
          <a:prstGeom prst="ellips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97280" y="5303520"/>
            <a:ext cx="9875520" cy="365760"/>
          </a:xfrm>
          <a:prstGeom prst="rect">
            <a:avLst/>
          </a:prstGeom>
          <a:noFill/>
        </p:spPr>
        <p:txBody>
          <a:bodyPr wrap="square" lIns="0" rIns="0" tIns="0" bIns="0" anchor="ctr">
            <a:spAutoFit/>
          </a:bodyPr>
          <a:lstStyle/>
          <a:p>
            <a:pPr algn="l">
              <a:lnSpc>
                <a:spcPct val="103000"/>
              </a:lnSpc>
            </a:pPr>
            <a:r>
              <a:rPr sz="1350" b="0" i="0">
                <a:solidFill>
                  <a:srgbClr val="E7EEF5"/>
                </a:solidFill>
                <a:latin typeface="Calibri"/>
              </a:rPr>
              <a:t>Tools · Vivado · ModelSim · Icarus + Verilator + GTKWave  ·  Labs V1–V6</a:t>
            </a:r>
          </a:p>
        </p:txBody>
      </p:sp>
      <p:sp>
        <p:nvSpPr>
          <p:cNvPr id="15" name="TextBox 14"/>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Chip Design Associate · Module 2 · Verilog RTL Coding for Synthesis · Topic 5: RTL Simulation and Verification</a:t>
            </a:r>
          </a:p>
        </p:txBody>
      </p:sp>
      <p:sp>
        <p:nvSpPr>
          <p:cNvPr id="16" name="TextBox 15"/>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M2-T5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 · ROADMAP</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What This Topic Covers, and Why It Is Bigger Than It Looks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2</a:t>
            </a:r>
          </a:p>
        </p:txBody>
      </p:sp>
      <p:sp>
        <p:nvSpPr>
          <p:cNvPr id="9" name="TextBox 8"/>
          <p:cNvSpPr txBox="1"/>
          <p:nvPr/>
        </p:nvSpPr>
        <p:spPr>
          <a:xfrm>
            <a:off x="411480" y="1143000"/>
            <a:ext cx="11247120" cy="68580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Topic 4 taught you to write RTL. Topic 5 asks the harder question: </a:t>
            </a:r>
            <a:r>
              <a:rPr sz="1250" b="1" i="0">
                <a:solidFill>
                  <a:srgbClr val="C77514"/>
                </a:solidFill>
                <a:latin typeface="Calibri"/>
              </a:rPr>
              <a:t>how do you KNOW it works? </a:t>
            </a:r>
            <a:r>
              <a:rPr sz="1250" b="0" i="0">
                <a:solidFill>
                  <a:srgbClr val="33414F"/>
                </a:solidFill>
                <a:latin typeface="Calibri"/>
              </a:rPr>
              <a:t>The syllabus gives this subtopic 6 theory hours; in industry it is where the majority of the engineering effort goes, and the practical component reflects that.</a:t>
            </a:r>
          </a:p>
        </p:txBody>
      </p:sp>
      <p:sp>
        <p:nvSpPr>
          <p:cNvPr id="10" name="Rectangle 9"/>
          <p:cNvSpPr/>
          <p:nvPr/>
        </p:nvSpPr>
        <p:spPr>
          <a:xfrm>
            <a:off x="411480" y="1920240"/>
            <a:ext cx="621792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1920240"/>
            <a:ext cx="612648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Syllabus bullet — Topic 5</a:t>
            </a:r>
          </a:p>
        </p:txBody>
      </p:sp>
      <p:sp>
        <p:nvSpPr>
          <p:cNvPr id="12" name="Rectangle 11"/>
          <p:cNvSpPr/>
          <p:nvPr/>
        </p:nvSpPr>
        <p:spPr>
          <a:xfrm>
            <a:off x="6629400" y="1920240"/>
            <a:ext cx="338328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675120" y="1920240"/>
            <a:ext cx="329184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Covered by</a:t>
            </a:r>
          </a:p>
        </p:txBody>
      </p:sp>
      <p:sp>
        <p:nvSpPr>
          <p:cNvPr id="14" name="Rectangle 13"/>
          <p:cNvSpPr/>
          <p:nvPr/>
        </p:nvSpPr>
        <p:spPr>
          <a:xfrm>
            <a:off x="10012680" y="1920240"/>
            <a:ext cx="164592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0" y="1920240"/>
            <a:ext cx="155448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Slides</a:t>
            </a:r>
          </a:p>
        </p:txBody>
      </p:sp>
      <p:sp>
        <p:nvSpPr>
          <p:cNvPr id="16" name="Rectangle 15"/>
          <p:cNvSpPr/>
          <p:nvPr/>
        </p:nvSpPr>
        <p:spPr>
          <a:xfrm>
            <a:off x="411480" y="2249424"/>
            <a:ext cx="621792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57200" y="2249424"/>
            <a:ext cx="6126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Functional verification techniques for RTL designs</a:t>
            </a:r>
          </a:p>
        </p:txBody>
      </p:sp>
      <p:sp>
        <p:nvSpPr>
          <p:cNvPr id="18" name="Rectangle 17"/>
          <p:cNvSpPr/>
          <p:nvPr/>
        </p:nvSpPr>
        <p:spPr>
          <a:xfrm>
            <a:off x="6629400" y="2249424"/>
            <a:ext cx="33832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675120" y="2249424"/>
            <a:ext cx="3291840" cy="32918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5a</a:t>
            </a:r>
          </a:p>
        </p:txBody>
      </p:sp>
      <p:sp>
        <p:nvSpPr>
          <p:cNvPr id="20" name="Rectangle 19"/>
          <p:cNvSpPr/>
          <p:nvPr/>
        </p:nvSpPr>
        <p:spPr>
          <a:xfrm>
            <a:off x="10012680" y="2249424"/>
            <a:ext cx="164592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058400" y="2249424"/>
            <a:ext cx="1554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5–14</a:t>
            </a:r>
          </a:p>
        </p:txBody>
      </p:sp>
      <p:sp>
        <p:nvSpPr>
          <p:cNvPr id="22" name="Rectangle 21"/>
          <p:cNvSpPr/>
          <p:nvPr/>
        </p:nvSpPr>
        <p:spPr>
          <a:xfrm>
            <a:off x="411480" y="2578608"/>
            <a:ext cx="621792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57200" y="2578608"/>
            <a:ext cx="6126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Introduction to test benches and testbench development</a:t>
            </a:r>
          </a:p>
        </p:txBody>
      </p:sp>
      <p:sp>
        <p:nvSpPr>
          <p:cNvPr id="24" name="Rectangle 23"/>
          <p:cNvSpPr/>
          <p:nvPr/>
        </p:nvSpPr>
        <p:spPr>
          <a:xfrm>
            <a:off x="6629400" y="2578608"/>
            <a:ext cx="33832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675120" y="2578608"/>
            <a:ext cx="3291840" cy="32918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5b</a:t>
            </a:r>
          </a:p>
        </p:txBody>
      </p:sp>
      <p:sp>
        <p:nvSpPr>
          <p:cNvPr id="26" name="Rectangle 25"/>
          <p:cNvSpPr/>
          <p:nvPr/>
        </p:nvSpPr>
        <p:spPr>
          <a:xfrm>
            <a:off x="10012680" y="2578608"/>
            <a:ext cx="164592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0058400" y="2578608"/>
            <a:ext cx="1554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15–46</a:t>
            </a:r>
          </a:p>
        </p:txBody>
      </p:sp>
      <p:sp>
        <p:nvSpPr>
          <p:cNvPr id="28" name="Rectangle 27"/>
          <p:cNvSpPr/>
          <p:nvPr/>
        </p:nvSpPr>
        <p:spPr>
          <a:xfrm>
            <a:off x="411480" y="2907792"/>
            <a:ext cx="621792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57200" y="2907792"/>
            <a:ext cx="6126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Simulation and debugging of RTL designs</a:t>
            </a:r>
          </a:p>
        </p:txBody>
      </p:sp>
      <p:sp>
        <p:nvSpPr>
          <p:cNvPr id="30" name="Rectangle 29"/>
          <p:cNvSpPr/>
          <p:nvPr/>
        </p:nvSpPr>
        <p:spPr>
          <a:xfrm>
            <a:off x="6629400" y="2907792"/>
            <a:ext cx="33832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675120" y="2907792"/>
            <a:ext cx="3291840" cy="32918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5c</a:t>
            </a:r>
          </a:p>
        </p:txBody>
      </p:sp>
      <p:sp>
        <p:nvSpPr>
          <p:cNvPr id="32" name="Rectangle 31"/>
          <p:cNvSpPr/>
          <p:nvPr/>
        </p:nvSpPr>
        <p:spPr>
          <a:xfrm>
            <a:off x="10012680" y="2907792"/>
            <a:ext cx="164592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10058400" y="2907792"/>
            <a:ext cx="1554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47–56</a:t>
            </a:r>
          </a:p>
        </p:txBody>
      </p:sp>
      <p:sp>
        <p:nvSpPr>
          <p:cNvPr id="34" name="Rectangle 33"/>
          <p:cNvSpPr/>
          <p:nvPr/>
        </p:nvSpPr>
        <p:spPr>
          <a:xfrm>
            <a:off x="411480" y="3236976"/>
            <a:ext cx="621792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57200" y="3236976"/>
            <a:ext cx="6126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Practical: validate RTL designs through simulation using test benches and debugging techniques</a:t>
            </a:r>
          </a:p>
        </p:txBody>
      </p:sp>
      <p:sp>
        <p:nvSpPr>
          <p:cNvPr id="36" name="Rectangle 35"/>
          <p:cNvSpPr/>
          <p:nvPr/>
        </p:nvSpPr>
        <p:spPr>
          <a:xfrm>
            <a:off x="6629400" y="3236976"/>
            <a:ext cx="33832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675120" y="3236976"/>
            <a:ext cx="3291840" cy="32918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Labs V1–V6</a:t>
            </a:r>
          </a:p>
        </p:txBody>
      </p:sp>
      <p:sp>
        <p:nvSpPr>
          <p:cNvPr id="38" name="Rectangle 37"/>
          <p:cNvSpPr/>
          <p:nvPr/>
        </p:nvSpPr>
        <p:spPr>
          <a:xfrm>
            <a:off x="10012680" y="3236976"/>
            <a:ext cx="164592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10058400" y="3236976"/>
            <a:ext cx="1554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62–69</a:t>
            </a:r>
          </a:p>
        </p:txBody>
      </p:sp>
      <p:sp>
        <p:nvSpPr>
          <p:cNvPr id="40" name="Rectangle 39"/>
          <p:cNvSpPr/>
          <p:nvPr/>
        </p:nvSpPr>
        <p:spPr>
          <a:xfrm>
            <a:off x="411480" y="3566160"/>
            <a:ext cx="621792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57200" y="3566160"/>
            <a:ext cx="6126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Practical: develop and execute test benches for comprehensive simulation and debugging</a:t>
            </a:r>
          </a:p>
        </p:txBody>
      </p:sp>
      <p:sp>
        <p:nvSpPr>
          <p:cNvPr id="42" name="Rectangle 41"/>
          <p:cNvSpPr/>
          <p:nvPr/>
        </p:nvSpPr>
        <p:spPr>
          <a:xfrm>
            <a:off x="6629400" y="3566160"/>
            <a:ext cx="33832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675120" y="3566160"/>
            <a:ext cx="3291840" cy="32918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Tools + Labs</a:t>
            </a:r>
          </a:p>
        </p:txBody>
      </p:sp>
      <p:sp>
        <p:nvSpPr>
          <p:cNvPr id="44" name="Rectangle 43"/>
          <p:cNvSpPr/>
          <p:nvPr/>
        </p:nvSpPr>
        <p:spPr>
          <a:xfrm>
            <a:off x="10012680" y="3566160"/>
            <a:ext cx="164592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10058400" y="3566160"/>
            <a:ext cx="1554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57–69</a:t>
            </a:r>
          </a:p>
        </p:txBody>
      </p:sp>
      <p:sp>
        <p:nvSpPr>
          <p:cNvPr id="46" name="Rounded Rectangle 45"/>
          <p:cNvSpPr/>
          <p:nvPr/>
        </p:nvSpPr>
        <p:spPr>
          <a:xfrm>
            <a:off x="411480" y="3986784"/>
            <a:ext cx="11247120" cy="150984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576072" y="4050792"/>
            <a:ext cx="10917936"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Learning outcomes — by the end of this topic you can</a:t>
            </a:r>
          </a:p>
        </p:txBody>
      </p:sp>
      <p:sp>
        <p:nvSpPr>
          <p:cNvPr id="48" name="TextBox 47"/>
          <p:cNvSpPr txBox="1"/>
          <p:nvPr/>
        </p:nvSpPr>
        <p:spPr>
          <a:xfrm>
            <a:off x="576072" y="4325112"/>
            <a:ext cx="10917936" cy="110750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 Write a self-checking testbench with a reference model, and say why each check is there.</a:t>
            </a:r>
          </a:p>
          <a:p>
            <a:pPr algn="l">
              <a:lnSpc>
                <a:spcPct val="103000"/>
              </a:lnSpc>
              <a:spcAft>
                <a:spcPts val="400"/>
              </a:spcAft>
            </a:pPr>
            <a:r>
              <a:rPr sz="1100" b="0" i="0">
                <a:solidFill>
                  <a:srgbClr val="33414F"/>
                </a:solidFill>
                <a:latin typeface="Calibri"/>
              </a:rPr>
              <a:t>· Use constrained-random stimulus with seeds, and reproduce any failure exactly.</a:t>
            </a:r>
          </a:p>
          <a:p>
            <a:pPr algn="l">
              <a:lnSpc>
                <a:spcPct val="103000"/>
              </a:lnSpc>
              <a:spcAft>
                <a:spcPts val="400"/>
              </a:spcAft>
            </a:pPr>
            <a:r>
              <a:rPr sz="1100" b="0" i="0">
                <a:solidFill>
                  <a:srgbClr val="33414F"/>
                </a:solidFill>
                <a:latin typeface="Calibri"/>
              </a:rPr>
              <a:t>· Define a functional coverage model and close it across a regression.</a:t>
            </a:r>
          </a:p>
          <a:p>
            <a:pPr algn="l">
              <a:lnSpc>
                <a:spcPct val="103000"/>
              </a:lnSpc>
              <a:spcAft>
                <a:spcPts val="400"/>
              </a:spcAft>
            </a:pPr>
            <a:r>
              <a:rPr sz="1100" b="0" i="0">
                <a:solidFill>
                  <a:srgbClr val="33414F"/>
                </a:solidFill>
                <a:latin typeface="Calibri"/>
              </a:rPr>
              <a:t>· Write assertions that catch a broken rule at the cycle it breaks.</a:t>
            </a:r>
          </a:p>
          <a:p>
            <a:pPr algn="l">
              <a:lnSpc>
                <a:spcPct val="103000"/>
              </a:lnSpc>
              <a:spcAft>
                <a:spcPts val="400"/>
              </a:spcAft>
            </a:pPr>
            <a:r>
              <a:rPr sz="1100" b="0" i="0">
                <a:solidFill>
                  <a:srgbClr val="33414F"/>
                </a:solidFill>
                <a:latin typeface="Calibri"/>
              </a:rPr>
              <a:t>· Debug an RTL failure by procedure rather than by guesswork.</a:t>
            </a:r>
          </a:p>
        </p:txBody>
      </p:sp>
      <p:sp>
        <p:nvSpPr>
          <p:cNvPr id="49" name="Rounded Rectangle 48"/>
          <p:cNvSpPr/>
          <p:nvPr/>
        </p:nvSpPr>
        <p:spPr>
          <a:xfrm>
            <a:off x="411480" y="5623560"/>
            <a:ext cx="11247120" cy="73152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576072" y="5687568"/>
            <a:ext cx="10917936"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One sentence to open the session with</a:t>
            </a:r>
          </a:p>
        </p:txBody>
      </p:sp>
      <p:sp>
        <p:nvSpPr>
          <p:cNvPr id="51" name="TextBox 50"/>
          <p:cNvSpPr txBox="1"/>
          <p:nvPr/>
        </p:nvSpPr>
        <p:spPr>
          <a:xfrm>
            <a:off x="576072" y="5961888"/>
            <a:ext cx="10917936" cy="329184"/>
          </a:xfrm>
          <a:prstGeom prst="rect">
            <a:avLst/>
          </a:prstGeom>
          <a:noFill/>
        </p:spPr>
        <p:txBody>
          <a:bodyPr wrap="square" lIns="0" rIns="0" tIns="0" bIns="0" anchor="t">
            <a:spAutoFit/>
          </a:bodyPr>
          <a:lstStyle/>
          <a:p>
            <a:pPr algn="l">
              <a:lnSpc>
                <a:spcPct val="103000"/>
              </a:lnSpc>
              <a:spcAft>
                <a:spcPts val="400"/>
              </a:spcAft>
            </a:pPr>
            <a:r>
              <a:rPr sz="1100" b="1" i="0">
                <a:solidFill>
                  <a:srgbClr val="C01F43"/>
                </a:solidFill>
                <a:latin typeface="Calibri"/>
              </a:rPr>
              <a:t>A testbench is not finished when it passes. It is finished when it would FAIL if the design were wrong — and this deck proves that with measured results.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 · MOTIVATION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Why This Is Half the Job</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3</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Verification is not a phase that follows design. </a:t>
            </a:r>
            <a:r>
              <a:rPr sz="1100" b="0" i="0">
                <a:solidFill>
                  <a:srgbClr val="33414F"/>
                </a:solidFill>
                <a:latin typeface="Calibri"/>
              </a:rPr>
              <a:t>It is a separate discipline with its own tools, its own metrics and, on most teams, its own engineers — and it consumes more effort than the design itself.</a:t>
            </a:r>
          </a:p>
        </p:txBody>
      </p:sp>
      <p:pic>
        <p:nvPicPr>
          <p:cNvPr id="10" name="Picture 9" descr="why_verify.png"/>
          <p:cNvPicPr>
            <a:picLocks noChangeAspect="1"/>
          </p:cNvPicPr>
          <p:nvPr/>
        </p:nvPicPr>
        <p:blipFill>
          <a:blip r:embed="rId2"/>
          <a:stretch>
            <a:fillRect/>
          </a:stretch>
        </p:blipFill>
        <p:spPr>
          <a:xfrm>
            <a:off x="2386178" y="1737360"/>
            <a:ext cx="7297723" cy="3383280"/>
          </a:xfrm>
          <a:prstGeom prst="rect">
            <a:avLst/>
          </a:prstGeom>
        </p:spPr>
      </p:pic>
      <p:sp>
        <p:nvSpPr>
          <p:cNvPr id="11" name="Rounded Rectangle 10"/>
          <p:cNvSpPr/>
          <p:nvPr/>
        </p:nvSpPr>
        <p:spPr>
          <a:xfrm>
            <a:off x="411480" y="5212080"/>
            <a:ext cx="11247120" cy="100584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276088"/>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Why the cost curve is so steep</a:t>
            </a:r>
          </a:p>
        </p:txBody>
      </p:sp>
      <p:sp>
        <p:nvSpPr>
          <p:cNvPr id="13" name="TextBox 12"/>
          <p:cNvSpPr txBox="1"/>
          <p:nvPr/>
        </p:nvSpPr>
        <p:spPr>
          <a:xfrm>
            <a:off x="576072" y="5550408"/>
            <a:ext cx="10917936" cy="60350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A bug is the same bug at every stage. What changes is what it costs to find and fix it. Lint reports it in one second with a file and a line number. The FPGA lab makes you re-synthesise, re-place and re-programme. Silicon makes you re-spin the mask set — months, and a great deal of money — and by then your customers have the part.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 · THE PROBLEM</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You Cannot Test Everything — So What Do You Do?</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4</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Exhaustive testing is impossible for anything real. </a:t>
            </a:r>
            <a:r>
              <a:rPr sz="1100" b="0" i="0">
                <a:solidFill>
                  <a:srgbClr val="33414F"/>
                </a:solidFill>
                <a:latin typeface="Calibri"/>
              </a:rPr>
              <a:t>A single 32-bit adder has 2^64 input pairs; at a billion per second that is over 500 000 years. The state space of a design with 100 flip-flops is larger than the number of atoms in the observable universe.</a:t>
            </a:r>
          </a:p>
        </p:txBody>
      </p:sp>
      <p:pic>
        <p:nvPicPr>
          <p:cNvPr id="10" name="Picture 9" descr="verification_gap.png"/>
          <p:cNvPicPr>
            <a:picLocks noChangeAspect="1"/>
          </p:cNvPicPr>
          <p:nvPr/>
        </p:nvPicPr>
        <p:blipFill>
          <a:blip r:embed="rId2"/>
          <a:stretch>
            <a:fillRect/>
          </a:stretch>
        </p:blipFill>
        <p:spPr>
          <a:xfrm>
            <a:off x="1970437" y="1783080"/>
            <a:ext cx="8129205" cy="3383280"/>
          </a:xfrm>
          <a:prstGeom prst="rect">
            <a:avLst/>
          </a:prstGeom>
        </p:spPr>
      </p:pic>
      <p:sp>
        <p:nvSpPr>
          <p:cNvPr id="11" name="Rounded Rectangle 10"/>
          <p:cNvSpPr/>
          <p:nvPr/>
        </p:nvSpPr>
        <p:spPr>
          <a:xfrm>
            <a:off x="411480" y="5257800"/>
            <a:ext cx="11247120" cy="96012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321808"/>
            <a:ext cx="10917936"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So verification is not proof — it is measured evidence</a:t>
            </a:r>
          </a:p>
        </p:txBody>
      </p:sp>
      <p:sp>
        <p:nvSpPr>
          <p:cNvPr id="13" name="TextBox 12"/>
          <p:cNvSpPr txBox="1"/>
          <p:nvPr/>
        </p:nvSpPr>
        <p:spPr>
          <a:xfrm>
            <a:off x="576072" y="5596128"/>
            <a:ext cx="10917936" cy="55778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You choose the cases most likely to break it (directed), let a machine choose the ones you would not have thought of (random), state the rules so they are checked continuously (assertions), and then </a:t>
            </a:r>
            <a:r>
              <a:rPr sz="1100" b="1" i="0">
                <a:solidFill>
                  <a:srgbClr val="2A9D5C"/>
                </a:solidFill>
                <a:latin typeface="Calibri"/>
              </a:rPr>
              <a:t>measure what you actually reached</a:t>
            </a:r>
            <a:r>
              <a:rPr sz="1100" b="0" i="0">
                <a:solidFill>
                  <a:srgbClr val="33414F"/>
                </a:solidFill>
                <a:latin typeface="Calibri"/>
              </a:rPr>
              <a:t> (coverage). The last of those is what turns 'we tested it' into a number somebody can review.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9144000" y="-1828800"/>
            <a:ext cx="6400800" cy="64008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1600200"/>
            <a:ext cx="7315200" cy="365760"/>
          </a:xfrm>
          <a:prstGeom prst="rect">
            <a:avLst/>
          </a:prstGeom>
          <a:noFill/>
        </p:spPr>
        <p:txBody>
          <a:bodyPr wrap="square" lIns="0" rIns="0" tIns="0" bIns="0" anchor="ctr">
            <a:spAutoFit/>
          </a:bodyPr>
          <a:lstStyle/>
          <a:p>
            <a:pPr algn="l">
              <a:lnSpc>
                <a:spcPct val="103000"/>
              </a:lnSpc>
            </a:pPr>
            <a:r>
              <a:rPr sz="1400" b="1" i="0" spc="300">
                <a:solidFill>
                  <a:srgbClr val="1B9AAA"/>
                </a:solidFill>
                <a:latin typeface="Calibri"/>
              </a:rPr>
              <a:t>SUBTOPIC 5A</a:t>
            </a:r>
          </a:p>
        </p:txBody>
      </p:sp>
      <p:sp>
        <p:nvSpPr>
          <p:cNvPr id="4" name="TextBox 3"/>
          <p:cNvSpPr txBox="1"/>
          <p:nvPr/>
        </p:nvSpPr>
        <p:spPr>
          <a:xfrm>
            <a:off x="566928" y="2011680"/>
            <a:ext cx="9601200" cy="914400"/>
          </a:xfrm>
          <a:prstGeom prst="rect">
            <a:avLst/>
          </a:prstGeom>
          <a:noFill/>
        </p:spPr>
        <p:txBody>
          <a:bodyPr wrap="square" lIns="0" rIns="0" tIns="0" bIns="0" anchor="ctr">
            <a:spAutoFit/>
          </a:bodyPr>
          <a:lstStyle/>
          <a:p>
            <a:pPr algn="l">
              <a:lnSpc>
                <a:spcPct val="103000"/>
              </a:lnSpc>
            </a:pPr>
            <a:r>
              <a:rPr sz="3000" b="1" i="0">
                <a:solidFill>
                  <a:srgbClr val="FFFFFF"/>
                </a:solidFill>
                <a:latin typeface="Cambria"/>
              </a:rPr>
              <a:t>Functional Verification Techniques for RTL Designs</a:t>
            </a:r>
          </a:p>
        </p:txBody>
      </p:sp>
      <p:sp>
        <p:nvSpPr>
          <p:cNvPr id="5" name="TextBox 4"/>
          <p:cNvSpPr txBox="1"/>
          <p:nvPr/>
        </p:nvSpPr>
        <p:spPr>
          <a:xfrm>
            <a:off x="640080" y="2971800"/>
            <a:ext cx="8686800" cy="640080"/>
          </a:xfrm>
          <a:prstGeom prst="rect">
            <a:avLst/>
          </a:prstGeom>
          <a:noFill/>
        </p:spPr>
        <p:txBody>
          <a:bodyPr wrap="square" lIns="0" rIns="0" tIns="0" bIns="0" anchor="ctr">
            <a:spAutoFit/>
          </a:bodyPr>
          <a:lstStyle/>
          <a:p>
            <a:pPr algn="l">
              <a:lnSpc>
                <a:spcPct val="103000"/>
              </a:lnSpc>
            </a:pPr>
            <a:r>
              <a:rPr sz="1350" b="0" i="0">
                <a:solidFill>
                  <a:srgbClr val="C9D6E3"/>
                </a:solidFill>
                <a:latin typeface="Calibri"/>
              </a:rPr>
              <a:t>The methods, the metrics, and the argument for each one.</a:t>
            </a:r>
          </a:p>
        </p:txBody>
      </p:sp>
      <p:sp>
        <p:nvSpPr>
          <p:cNvPr id="6" name="Rectangle 5"/>
          <p:cNvSpPr/>
          <p:nvPr/>
        </p:nvSpPr>
        <p:spPr>
          <a:xfrm>
            <a:off x="640080" y="394106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14400" y="38404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The verification loop, and why it ends at coverage rather than at PASS</a:t>
            </a:r>
          </a:p>
        </p:txBody>
      </p:sp>
      <p:sp>
        <p:nvSpPr>
          <p:cNvPr id="8" name="Rectangle 7"/>
          <p:cNvSpPr/>
          <p:nvPr/>
        </p:nvSpPr>
        <p:spPr>
          <a:xfrm>
            <a:off x="640080" y="435254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425196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Directed, constrained-random, and where each one earns its place</a:t>
            </a:r>
          </a:p>
        </p:txBody>
      </p:sp>
      <p:sp>
        <p:nvSpPr>
          <p:cNvPr id="10" name="Rectangle 9"/>
          <p:cNvSpPr/>
          <p:nvPr/>
        </p:nvSpPr>
        <p:spPr>
          <a:xfrm>
            <a:off x="640080" y="476402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66344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Four ways to decide whether an answer was right</a:t>
            </a:r>
          </a:p>
        </p:txBody>
      </p:sp>
      <p:sp>
        <p:nvSpPr>
          <p:cNvPr id="12" name="Rectangle 11"/>
          <p:cNvSpPr/>
          <p:nvPr/>
        </p:nvSpPr>
        <p:spPr>
          <a:xfrm>
            <a:off x="640080" y="517550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507492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Code coverage and functional coverage — only one of them knows the spec</a:t>
            </a:r>
          </a:p>
        </p:txBody>
      </p:sp>
      <p:sp>
        <p:nvSpPr>
          <p:cNvPr id="14" name="Rectangle 13"/>
          <p:cNvSpPr/>
          <p:nvPr/>
        </p:nvSpPr>
        <p:spPr>
          <a:xfrm>
            <a:off x="640080" y="558698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14400" y="548640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The verification plan, regression, and closure</a:t>
            </a:r>
          </a:p>
        </p:txBody>
      </p:sp>
      <p:sp>
        <p:nvSpPr>
          <p:cNvPr id="16" name="Rectangle 15"/>
          <p:cNvSpPr/>
          <p:nvPr/>
        </p:nvSpPr>
        <p:spPr>
          <a:xfrm>
            <a:off x="640080" y="599846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14400" y="58978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Measured proof: three testbenches against five broken designs</a:t>
            </a:r>
          </a:p>
        </p:txBody>
      </p:sp>
      <p:sp>
        <p:nvSpPr>
          <p:cNvPr id="18" name="TextBox 17"/>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Chip Design Associate · Module 2 · Verilog RTL Coding for Synthesis · Topic 5: RTL Simulation and Verification</a:t>
            </a:r>
          </a:p>
        </p:txBody>
      </p:sp>
      <p:sp>
        <p:nvSpPr>
          <p:cNvPr id="19" name="TextBox 18"/>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M2-T5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5A · THE LOOP</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Verification Loop</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6</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Notice where this loop ENDS. </a:t>
            </a:r>
            <a:r>
              <a:rPr sz="1100" b="0" i="0">
                <a:solidFill>
                  <a:srgbClr val="33414F"/>
                </a:solidFill>
                <a:latin typeface="Calibri"/>
              </a:rPr>
              <a:t>Not at 'the simulation passed' — at 'coverage is closed'. A pass with unmeasured coverage tells you only that nothing broke in the cases you happened to run.</a:t>
            </a:r>
          </a:p>
        </p:txBody>
      </p:sp>
      <p:pic>
        <p:nvPicPr>
          <p:cNvPr id="10" name="Picture 9" descr="ver_flow.png"/>
          <p:cNvPicPr>
            <a:picLocks noChangeAspect="1"/>
          </p:cNvPicPr>
          <p:nvPr/>
        </p:nvPicPr>
        <p:blipFill>
          <a:blip r:embed="rId2"/>
          <a:stretch>
            <a:fillRect/>
          </a:stretch>
        </p:blipFill>
        <p:spPr>
          <a:xfrm>
            <a:off x="1611110" y="1737360"/>
            <a:ext cx="8847861" cy="3383280"/>
          </a:xfrm>
          <a:prstGeom prst="rect">
            <a:avLst/>
          </a:prstGeom>
        </p:spPr>
      </p:pic>
      <p:sp>
        <p:nvSpPr>
          <p:cNvPr id="11" name="Rounded Rectangle 10"/>
          <p:cNvSpPr/>
          <p:nvPr/>
        </p:nvSpPr>
        <p:spPr>
          <a:xfrm>
            <a:off x="411480" y="5212080"/>
            <a:ext cx="5532120" cy="1188720"/>
          </a:xfrm>
          <a:prstGeom prst="roundRect">
            <a:avLst>
              <a:gd name="adj" fmla="val 5714"/>
            </a:avLst>
          </a:prstGeom>
          <a:solidFill>
            <a:srgbClr val="F4F8FB"/>
          </a:solidFill>
          <a:ln w="13970">
            <a:solidFill>
              <a:srgbClr val="6B45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48640" y="5276088"/>
            <a:ext cx="5257800" cy="274320"/>
          </a:xfrm>
          <a:prstGeom prst="rect">
            <a:avLst/>
          </a:prstGeom>
          <a:noFill/>
        </p:spPr>
        <p:txBody>
          <a:bodyPr wrap="square" lIns="0" rIns="0" tIns="0" bIns="0" anchor="ctr">
            <a:spAutoFit/>
          </a:bodyPr>
          <a:lstStyle/>
          <a:p>
            <a:pPr algn="l">
              <a:lnSpc>
                <a:spcPct val="103000"/>
              </a:lnSpc>
            </a:pPr>
            <a:r>
              <a:rPr sz="1150" b="1" i="0">
                <a:solidFill>
                  <a:srgbClr val="6B45A8"/>
                </a:solidFill>
                <a:latin typeface="Cambria"/>
              </a:rPr>
              <a:t>The plan comes FIRST</a:t>
            </a:r>
          </a:p>
        </p:txBody>
      </p:sp>
      <p:sp>
        <p:nvSpPr>
          <p:cNvPr id="13" name="TextBox 12"/>
          <p:cNvSpPr txBox="1"/>
          <p:nvPr/>
        </p:nvSpPr>
        <p:spPr>
          <a:xfrm>
            <a:off x="548640" y="5550408"/>
            <a:ext cx="5257800" cy="7863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Write the verification plan before the testbench, from the specification, and have it reviewed exactly as the design is reviewed. If you write the testbench first you will test what you happened to build, not what was asked for.</a:t>
            </a:r>
          </a:p>
        </p:txBody>
      </p:sp>
      <p:sp>
        <p:nvSpPr>
          <p:cNvPr id="14" name="Rounded Rectangle 13"/>
          <p:cNvSpPr/>
          <p:nvPr/>
        </p:nvSpPr>
        <p:spPr>
          <a:xfrm>
            <a:off x="6126480" y="5212080"/>
            <a:ext cx="5532120" cy="118872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63640" y="5276088"/>
            <a:ext cx="5257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The loop closes on the holes</a:t>
            </a:r>
          </a:p>
        </p:txBody>
      </p:sp>
      <p:sp>
        <p:nvSpPr>
          <p:cNvPr id="16" name="TextBox 15"/>
          <p:cNvSpPr txBox="1"/>
          <p:nvPr/>
        </p:nvSpPr>
        <p:spPr>
          <a:xfrm>
            <a:off x="6263640" y="5550408"/>
            <a:ext cx="5257800" cy="7863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Coverage does not just report — it TELLS YOU WHAT TO DO NEXT. Every MISS is a specific piece of stimulus somebody has to write. That is why it is a loop and not a final report.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5A · TECHNIQUES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Directed and Constrained-Random</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7</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These are not alternatives; they are different instruments. </a:t>
            </a:r>
            <a:r>
              <a:rPr sz="1100" b="0" i="0">
                <a:solidFill>
                  <a:srgbClr val="33414F"/>
                </a:solidFill>
                <a:latin typeface="Calibri"/>
              </a:rPr>
              <a:t>Directed tests are precise and cheap and prove exactly what you meant. Random tests are broad and reach places you did not think of. A real project uses both, in that order.</a:t>
            </a:r>
          </a:p>
        </p:txBody>
      </p:sp>
      <p:pic>
        <p:nvPicPr>
          <p:cNvPr id="10" name="Picture 9" descr="directed_vs_random.png"/>
          <p:cNvPicPr>
            <a:picLocks noChangeAspect="1"/>
          </p:cNvPicPr>
          <p:nvPr/>
        </p:nvPicPr>
        <p:blipFill>
          <a:blip r:embed="rId2"/>
          <a:stretch>
            <a:fillRect/>
          </a:stretch>
        </p:blipFill>
        <p:spPr>
          <a:xfrm>
            <a:off x="2190146" y="1783080"/>
            <a:ext cx="7689789" cy="3200400"/>
          </a:xfrm>
          <a:prstGeom prst="rect">
            <a:avLst/>
          </a:prstGeom>
        </p:spPr>
      </p:pic>
      <p:sp>
        <p:nvSpPr>
          <p:cNvPr id="11" name="Rectangle 10"/>
          <p:cNvSpPr/>
          <p:nvPr/>
        </p:nvSpPr>
        <p:spPr>
          <a:xfrm>
            <a:off x="411480" y="5074920"/>
            <a:ext cx="201168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57200" y="5074920"/>
            <a:ext cx="192024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
            </a:r>
          </a:p>
        </p:txBody>
      </p:sp>
      <p:sp>
        <p:nvSpPr>
          <p:cNvPr id="13" name="Rectangle 12"/>
          <p:cNvSpPr/>
          <p:nvPr/>
        </p:nvSpPr>
        <p:spPr>
          <a:xfrm>
            <a:off x="2423160" y="5074920"/>
            <a:ext cx="402336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468880" y="5074920"/>
            <a:ext cx="393192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Directed</a:t>
            </a:r>
          </a:p>
        </p:txBody>
      </p:sp>
      <p:sp>
        <p:nvSpPr>
          <p:cNvPr id="15" name="Rectangle 14"/>
          <p:cNvSpPr/>
          <p:nvPr/>
        </p:nvSpPr>
        <p:spPr>
          <a:xfrm>
            <a:off x="6446520" y="5074920"/>
            <a:ext cx="521208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92240" y="5074920"/>
            <a:ext cx="512064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Constrained-random</a:t>
            </a:r>
          </a:p>
        </p:txBody>
      </p:sp>
      <p:sp>
        <p:nvSpPr>
          <p:cNvPr id="17" name="Rectangle 16"/>
          <p:cNvSpPr/>
          <p:nvPr/>
        </p:nvSpPr>
        <p:spPr>
          <a:xfrm>
            <a:off x="411480" y="5358384"/>
            <a:ext cx="20116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57200" y="5358384"/>
            <a:ext cx="192024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You write</a:t>
            </a:r>
          </a:p>
        </p:txBody>
      </p:sp>
      <p:sp>
        <p:nvSpPr>
          <p:cNvPr id="19" name="Rectangle 18"/>
          <p:cNvSpPr/>
          <p:nvPr/>
        </p:nvSpPr>
        <p:spPr>
          <a:xfrm>
            <a:off x="2423160" y="5358384"/>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468880" y="5358384"/>
            <a:ext cx="3931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case AND the expected answer</a:t>
            </a:r>
          </a:p>
        </p:txBody>
      </p:sp>
      <p:sp>
        <p:nvSpPr>
          <p:cNvPr id="21" name="Rectangle 20"/>
          <p:cNvSpPr/>
          <p:nvPr/>
        </p:nvSpPr>
        <p:spPr>
          <a:xfrm>
            <a:off x="6446520" y="5358384"/>
            <a:ext cx="52120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92240" y="5358384"/>
            <a:ext cx="51206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constraints; a model gives the answer</a:t>
            </a:r>
          </a:p>
        </p:txBody>
      </p:sp>
      <p:sp>
        <p:nvSpPr>
          <p:cNvPr id="23" name="Rectangle 22"/>
          <p:cNvSpPr/>
          <p:nvPr/>
        </p:nvSpPr>
        <p:spPr>
          <a:xfrm>
            <a:off x="411480" y="5641848"/>
            <a:ext cx="20116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57200" y="5641848"/>
            <a:ext cx="192024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Cost per test</a:t>
            </a:r>
          </a:p>
        </p:txBody>
      </p:sp>
      <p:sp>
        <p:nvSpPr>
          <p:cNvPr id="25" name="Rectangle 24"/>
          <p:cNvSpPr/>
          <p:nvPr/>
        </p:nvSpPr>
        <p:spPr>
          <a:xfrm>
            <a:off x="2423160" y="5641848"/>
            <a:ext cx="4023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2468880" y="5641848"/>
            <a:ext cx="3931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high — one test, one case</a:t>
            </a:r>
          </a:p>
        </p:txBody>
      </p:sp>
      <p:sp>
        <p:nvSpPr>
          <p:cNvPr id="27" name="Rectangle 26"/>
          <p:cNvSpPr/>
          <p:nvPr/>
        </p:nvSpPr>
        <p:spPr>
          <a:xfrm>
            <a:off x="6446520" y="5641848"/>
            <a:ext cx="52120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92240" y="5641848"/>
            <a:ext cx="51206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low — one test, thousands of cases</a:t>
            </a:r>
          </a:p>
        </p:txBody>
      </p:sp>
      <p:sp>
        <p:nvSpPr>
          <p:cNvPr id="29" name="Rectangle 28"/>
          <p:cNvSpPr/>
          <p:nvPr/>
        </p:nvSpPr>
        <p:spPr>
          <a:xfrm>
            <a:off x="411480" y="5925312"/>
            <a:ext cx="20116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57200" y="5925312"/>
            <a:ext cx="192024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Reproducible</a:t>
            </a:r>
          </a:p>
        </p:txBody>
      </p:sp>
      <p:sp>
        <p:nvSpPr>
          <p:cNvPr id="31" name="Rectangle 30"/>
          <p:cNvSpPr/>
          <p:nvPr/>
        </p:nvSpPr>
        <p:spPr>
          <a:xfrm>
            <a:off x="2423160" y="5925312"/>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2468880" y="5925312"/>
            <a:ext cx="3931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always</a:t>
            </a:r>
          </a:p>
        </p:txBody>
      </p:sp>
      <p:sp>
        <p:nvSpPr>
          <p:cNvPr id="33" name="Rectangle 32"/>
          <p:cNvSpPr/>
          <p:nvPr/>
        </p:nvSpPr>
        <p:spPr>
          <a:xfrm>
            <a:off x="6446520" y="5925312"/>
            <a:ext cx="52120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92240" y="5925312"/>
            <a:ext cx="51206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yes, from the seed</a:t>
            </a:r>
          </a:p>
        </p:txBody>
      </p:sp>
      <p:sp>
        <p:nvSpPr>
          <p:cNvPr id="35" name="Rectangle 34"/>
          <p:cNvSpPr/>
          <p:nvPr/>
        </p:nvSpPr>
        <p:spPr>
          <a:xfrm>
            <a:off x="411480" y="6208776"/>
            <a:ext cx="20116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57200" y="6208776"/>
            <a:ext cx="192024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Finds</a:t>
            </a:r>
          </a:p>
        </p:txBody>
      </p:sp>
      <p:sp>
        <p:nvSpPr>
          <p:cNvPr id="37" name="Rectangle 36"/>
          <p:cNvSpPr/>
          <p:nvPr/>
        </p:nvSpPr>
        <p:spPr>
          <a:xfrm>
            <a:off x="2423160" y="6208776"/>
            <a:ext cx="4023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2468880" y="6208776"/>
            <a:ext cx="3931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what you thought of</a:t>
            </a:r>
          </a:p>
        </p:txBody>
      </p:sp>
      <p:sp>
        <p:nvSpPr>
          <p:cNvPr id="39" name="Rectangle 38"/>
          <p:cNvSpPr/>
          <p:nvPr/>
        </p:nvSpPr>
        <p:spPr>
          <a:xfrm>
            <a:off x="6446520" y="6208776"/>
            <a:ext cx="52120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492240" y="6208776"/>
            <a:ext cx="51206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what you did not</a:t>
            </a:r>
          </a:p>
        </p:txBody>
      </p:sp>
      <p:sp>
        <p:nvSpPr>
          <p:cNvPr id="41" name="Rectangle 40"/>
          <p:cNvSpPr/>
          <p:nvPr/>
        </p:nvSpPr>
        <p:spPr>
          <a:xfrm>
            <a:off x="411480" y="6492240"/>
            <a:ext cx="20116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457200" y="6492240"/>
            <a:ext cx="192024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Use it for</a:t>
            </a:r>
          </a:p>
        </p:txBody>
      </p:sp>
      <p:sp>
        <p:nvSpPr>
          <p:cNvPr id="43" name="Rectangle 42"/>
          <p:cNvSpPr/>
          <p:nvPr/>
        </p:nvSpPr>
        <p:spPr>
          <a:xfrm>
            <a:off x="2423160" y="6492240"/>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2468880" y="6492240"/>
            <a:ext cx="3931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boundaries, reset, protocol corners</a:t>
            </a:r>
          </a:p>
        </p:txBody>
      </p:sp>
      <p:sp>
        <p:nvSpPr>
          <p:cNvPr id="45" name="Rectangle 44"/>
          <p:cNvSpPr/>
          <p:nvPr/>
        </p:nvSpPr>
        <p:spPr>
          <a:xfrm>
            <a:off x="6446520" y="6492240"/>
            <a:ext cx="52120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492240" y="6492240"/>
            <a:ext cx="51206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volume, and the long tail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5A · CHECKING</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Four Ways to Decide Whether the Answer Was Right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8</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This is the single biggest determinant of how good a testbench is. </a:t>
            </a:r>
            <a:r>
              <a:rPr sz="1100" b="0" i="0">
                <a:solidFill>
                  <a:srgbClr val="33414F"/>
                </a:solidFill>
                <a:latin typeface="Calibri"/>
              </a:rPr>
              <a:t>Not how many test cases it runs — how it decides whether each one was correct.</a:t>
            </a:r>
          </a:p>
        </p:txBody>
      </p:sp>
      <p:pic>
        <p:nvPicPr>
          <p:cNvPr id="10" name="Picture 9" descr="checker_taxonomy.png"/>
          <p:cNvPicPr>
            <a:picLocks noChangeAspect="1"/>
          </p:cNvPicPr>
          <p:nvPr/>
        </p:nvPicPr>
        <p:blipFill>
          <a:blip r:embed="rId2"/>
          <a:stretch>
            <a:fillRect/>
          </a:stretch>
        </p:blipFill>
        <p:spPr>
          <a:xfrm>
            <a:off x="1744799" y="1737360"/>
            <a:ext cx="8580483" cy="3566160"/>
          </a:xfrm>
          <a:prstGeom prst="rect">
            <a:avLst/>
          </a:prstGeom>
        </p:spPr>
      </p:pic>
      <p:sp>
        <p:nvSpPr>
          <p:cNvPr id="11" name="Rounded Rectangle 10"/>
          <p:cNvSpPr/>
          <p:nvPr/>
        </p:nvSpPr>
        <p:spPr>
          <a:xfrm>
            <a:off x="411480" y="5394960"/>
            <a:ext cx="11247120" cy="86868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458968"/>
            <a:ext cx="10917936"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The line that separates a testbench from a demonstration</a:t>
            </a:r>
          </a:p>
        </p:txBody>
      </p:sp>
      <p:sp>
        <p:nvSpPr>
          <p:cNvPr id="13" name="TextBox 12"/>
          <p:cNvSpPr txBox="1"/>
          <p:nvPr/>
        </p:nvSpPr>
        <p:spPr>
          <a:xfrm>
            <a:off x="576072" y="5733288"/>
            <a:ext cx="10917936" cy="466344"/>
          </a:xfrm>
          <a:prstGeom prst="rect">
            <a:avLst/>
          </a:prstGeom>
          <a:noFill/>
        </p:spPr>
        <p:txBody>
          <a:bodyPr wrap="square" lIns="0" rIns="0" tIns="0" bIns="0" anchor="t">
            <a:spAutoFit/>
          </a:bodyPr>
          <a:lstStyle/>
          <a:p>
            <a:pPr algn="l">
              <a:lnSpc>
                <a:spcPct val="103000"/>
              </a:lnSpc>
              <a:spcAft>
                <a:spcPts val="400"/>
              </a:spcAft>
            </a:pPr>
            <a:r>
              <a:rPr sz="1100" b="1" i="0">
                <a:solidFill>
                  <a:srgbClr val="C01F43"/>
                </a:solidFill>
                <a:latin typeface="Calibri"/>
              </a:rPr>
              <a:t>If deciding whether the run was correct requires a human to look at a waveform, you cannot put it in a regression, you cannot run it overnight, and you will stop running it within a week. </a:t>
            </a:r>
            <a:r>
              <a:rPr sz="1100" b="0" i="0">
                <a:solidFill>
                  <a:srgbClr val="33414F"/>
                </a:solidFill>
                <a:latin typeface="Calibri"/>
              </a:rPr>
              <a:t>The verdict must be a line of text a machine can grep for.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5A · COVERAGE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Code Coverage and Functional Coverage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9</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Coverage answers the question a passing test cannot: WHAT DID I ACTUALLY TEST? </a:t>
            </a:r>
            <a:r>
              <a:rPr sz="1100" b="0" i="0">
                <a:solidFill>
                  <a:srgbClr val="33414F"/>
                </a:solidFill>
                <a:latin typeface="Calibri"/>
              </a:rPr>
              <a:t>There are two kinds, they measure different things, and you need both.</a:t>
            </a:r>
          </a:p>
        </p:txBody>
      </p:sp>
      <p:pic>
        <p:nvPicPr>
          <p:cNvPr id="10" name="Picture 9" descr="coverage_types.png"/>
          <p:cNvPicPr>
            <a:picLocks noChangeAspect="1"/>
          </p:cNvPicPr>
          <p:nvPr/>
        </p:nvPicPr>
        <p:blipFill>
          <a:blip r:embed="rId2"/>
          <a:stretch>
            <a:fillRect/>
          </a:stretch>
        </p:blipFill>
        <p:spPr>
          <a:xfrm>
            <a:off x="1788877" y="1737360"/>
            <a:ext cx="8492325" cy="3383280"/>
          </a:xfrm>
          <a:prstGeom prst="rect">
            <a:avLst/>
          </a:prstGeom>
        </p:spPr>
      </p:pic>
      <p:sp>
        <p:nvSpPr>
          <p:cNvPr id="11" name="Rounded Rectangle 10"/>
          <p:cNvSpPr/>
          <p:nvPr/>
        </p:nvSpPr>
        <p:spPr>
          <a:xfrm>
            <a:off x="411480" y="5212080"/>
            <a:ext cx="11247120" cy="100584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276088"/>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The trap that catches every team once</a:t>
            </a:r>
          </a:p>
        </p:txBody>
      </p:sp>
      <p:sp>
        <p:nvSpPr>
          <p:cNvPr id="13" name="TextBox 12"/>
          <p:cNvSpPr txBox="1"/>
          <p:nvPr/>
        </p:nvSpPr>
        <p:spPr>
          <a:xfrm>
            <a:off x="576072" y="5550408"/>
            <a:ext cx="10917936" cy="603504"/>
          </a:xfrm>
          <a:prstGeom prst="rect">
            <a:avLst/>
          </a:prstGeom>
          <a:noFill/>
        </p:spPr>
        <p:txBody>
          <a:bodyPr wrap="square" lIns="0" rIns="0" tIns="0" bIns="0" anchor="t">
            <a:spAutoFit/>
          </a:bodyPr>
          <a:lstStyle/>
          <a:p>
            <a:pPr algn="l">
              <a:lnSpc>
                <a:spcPct val="103000"/>
              </a:lnSpc>
              <a:spcAft>
                <a:spcPts val="400"/>
              </a:spcAft>
            </a:pPr>
            <a:r>
              <a:rPr sz="1100" b="1" i="0">
                <a:solidFill>
                  <a:srgbClr val="C77514"/>
                </a:solidFill>
                <a:latin typeface="Calibri"/>
              </a:rPr>
              <a:t>100% code coverage does not mean the design is verified. </a:t>
            </a:r>
            <a:r>
              <a:rPr sz="1100" b="0" i="0">
                <a:solidFill>
                  <a:srgbClr val="33414F"/>
                </a:solidFill>
                <a:latin typeface="Calibri"/>
              </a:rPr>
              <a:t>It means every line you wrote was executed. It says nothing about the behaviour you FORGOT to write code for, nothing about whether the outputs were checked, and nothing about whether the FIFO ever went full. Functional coverage is the one written from the specification — and it is the one that says when you are finished.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5A · THE PLAN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Verification Plan Is One Table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10</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verification plan does not need to be a document. </a:t>
            </a:r>
            <a:r>
              <a:rPr sz="1100" b="0" i="0">
                <a:solidFill>
                  <a:srgbClr val="33414F"/>
                </a:solidFill>
                <a:latin typeface="Calibri"/>
              </a:rPr>
              <a:t>It needs to be a table, written before the testbench, reviewed like the design, with one row per feature in the specification and a column that says how each is checked.</a:t>
            </a:r>
          </a:p>
        </p:txBody>
      </p:sp>
      <p:pic>
        <p:nvPicPr>
          <p:cNvPr id="10" name="Picture 9" descr="ver_plan.png"/>
          <p:cNvPicPr>
            <a:picLocks noChangeAspect="1"/>
          </p:cNvPicPr>
          <p:nvPr/>
        </p:nvPicPr>
        <p:blipFill>
          <a:blip r:embed="rId2"/>
          <a:stretch>
            <a:fillRect/>
          </a:stretch>
        </p:blipFill>
        <p:spPr>
          <a:xfrm>
            <a:off x="2121578" y="1783080"/>
            <a:ext cx="7826924" cy="3383280"/>
          </a:xfrm>
          <a:prstGeom prst="rect">
            <a:avLst/>
          </a:prstGeom>
        </p:spPr>
      </p:pic>
      <p:sp>
        <p:nvSpPr>
          <p:cNvPr id="11" name="Rounded Rectangle 10"/>
          <p:cNvSpPr/>
          <p:nvPr/>
        </p:nvSpPr>
        <p:spPr>
          <a:xfrm>
            <a:off x="411480" y="5257800"/>
            <a:ext cx="5532120" cy="118872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48640" y="5321808"/>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Why writing it first matters</a:t>
            </a:r>
          </a:p>
        </p:txBody>
      </p:sp>
      <p:sp>
        <p:nvSpPr>
          <p:cNvPr id="13" name="TextBox 12"/>
          <p:cNvSpPr txBox="1"/>
          <p:nvPr/>
        </p:nvSpPr>
        <p:spPr>
          <a:xfrm>
            <a:off x="548640" y="5596128"/>
            <a:ext cx="5257800" cy="7863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A plan written afterwards documents what you happened to build. A plan written first tells you what to build — and the gaps are visible while they are still cheap to close.</a:t>
            </a:r>
          </a:p>
        </p:txBody>
      </p:sp>
      <p:sp>
        <p:nvSpPr>
          <p:cNvPr id="14" name="Rounded Rectangle 13"/>
          <p:cNvSpPr/>
          <p:nvPr/>
        </p:nvSpPr>
        <p:spPr>
          <a:xfrm>
            <a:off x="6126480" y="5257800"/>
            <a:ext cx="5532120" cy="118872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63640" y="532180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Why the Status column matters</a:t>
            </a:r>
          </a:p>
        </p:txBody>
      </p:sp>
      <p:sp>
        <p:nvSpPr>
          <p:cNvPr id="16" name="TextBox 15"/>
          <p:cNvSpPr txBox="1"/>
          <p:nvPr/>
        </p:nvSpPr>
        <p:spPr>
          <a:xfrm>
            <a:off x="6263640" y="5596128"/>
            <a:ext cx="5257800" cy="78638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It is the only honest answer to "are we done?". Not "the tests pass" — </a:t>
            </a:r>
            <a:r>
              <a:rPr sz="1050" b="1" i="0">
                <a:solidFill>
                  <a:srgbClr val="2A9D5C"/>
                </a:solidFill>
                <a:latin typeface="Calibri"/>
              </a:rPr>
              <a:t>"these features are checked, by these mechanisms, and here are the ones that are not".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5A · THE FILTERS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Each Stage Catches What the Previous One Cannot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11</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No single technique catches everything. </a:t>
            </a:r>
            <a:r>
              <a:rPr sz="1100" b="0" i="0">
                <a:solidFill>
                  <a:srgbClr val="33414F"/>
                </a:solidFill>
                <a:latin typeface="Calibri"/>
              </a:rPr>
              <a:t>Each is a filter with a different mesh, and skipping one lets a whole class of bug through to the next — where it costs more.</a:t>
            </a:r>
          </a:p>
        </p:txBody>
      </p:sp>
      <p:pic>
        <p:nvPicPr>
          <p:cNvPr id="10" name="Picture 9" descr="bug_escape.png"/>
          <p:cNvPicPr>
            <a:picLocks noChangeAspect="1"/>
          </p:cNvPicPr>
          <p:nvPr/>
        </p:nvPicPr>
        <p:blipFill>
          <a:blip r:embed="rId2"/>
          <a:stretch>
            <a:fillRect/>
          </a:stretch>
        </p:blipFill>
        <p:spPr>
          <a:xfrm>
            <a:off x="771823" y="1737360"/>
            <a:ext cx="10526434" cy="3200400"/>
          </a:xfrm>
          <a:prstGeom prst="rect">
            <a:avLst/>
          </a:prstGeom>
        </p:spPr>
      </p:pic>
      <p:sp>
        <p:nvSpPr>
          <p:cNvPr id="11" name="Rounded Rectangle 10"/>
          <p:cNvSpPr/>
          <p:nvPr/>
        </p:nvSpPr>
        <p:spPr>
          <a:xfrm>
            <a:off x="411480" y="5029200"/>
            <a:ext cx="11247120" cy="96012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09320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Run them in cost order, every time</a:t>
            </a:r>
          </a:p>
        </p:txBody>
      </p:sp>
      <p:sp>
        <p:nvSpPr>
          <p:cNvPr id="13" name="TextBox 12"/>
          <p:cNvSpPr txBox="1"/>
          <p:nvPr/>
        </p:nvSpPr>
        <p:spPr>
          <a:xfrm>
            <a:off x="576072" y="5367528"/>
            <a:ext cx="10917936" cy="55778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Lint is one second and catches width truncation and inferred latches. Simulation is a minute and catches wrong behaviour. Assertions cost nothing extra once written and catch a broken rule at the cycle it breaks. Coverage catches what was never exercised at all. Synthesis catches the structural surprises the simulator hid from you.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01F43"/>
                </a:solidFill>
                <a:latin typeface="Calibri"/>
              </a:rPr>
              <a:t>TOPIC 5A · THE PROOF</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Three Testbenches, Five Broken Designs, One Table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12</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Everything in this topic reduces to this experiment. </a:t>
            </a:r>
            <a:r>
              <a:rPr sz="1100" b="0" i="0">
                <a:solidFill>
                  <a:srgbClr val="33414F"/>
                </a:solidFill>
                <a:latin typeface="Calibri"/>
              </a:rPr>
              <a:t>One correct FIFO and five copies with a single realistic bug each. All five lint clean, all five synthesise, and all five pass a testbench that most students would call finished.</a:t>
            </a:r>
          </a:p>
        </p:txBody>
      </p:sp>
      <p:pic>
        <p:nvPicPr>
          <p:cNvPr id="10" name="Picture 9" descr="clinic_matrix.png"/>
          <p:cNvPicPr>
            <a:picLocks noChangeAspect="1"/>
          </p:cNvPicPr>
          <p:nvPr/>
        </p:nvPicPr>
        <p:blipFill>
          <a:blip r:embed="rId2"/>
          <a:stretch>
            <a:fillRect/>
          </a:stretch>
        </p:blipFill>
        <p:spPr>
          <a:xfrm>
            <a:off x="2392808" y="1783080"/>
            <a:ext cx="7284464" cy="3657600"/>
          </a:xfrm>
          <a:prstGeom prst="rect">
            <a:avLst/>
          </a:prstGeom>
        </p:spPr>
      </p:pic>
      <p:sp>
        <p:nvSpPr>
          <p:cNvPr id="11" name="Rounded Rectangle 10"/>
          <p:cNvSpPr/>
          <p:nvPr/>
        </p:nvSpPr>
        <p:spPr>
          <a:xfrm>
            <a:off x="411480" y="5532120"/>
            <a:ext cx="11247120" cy="86868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596128"/>
            <a:ext cx="10917936"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Run it yourself in ten seconds</a:t>
            </a:r>
          </a:p>
        </p:txBody>
      </p:sp>
      <p:sp>
        <p:nvSpPr>
          <p:cNvPr id="13" name="TextBox 12"/>
          <p:cNvSpPr txBox="1"/>
          <p:nvPr/>
        </p:nvSpPr>
        <p:spPr>
          <a:xfrm>
            <a:off x="576072" y="5870448"/>
            <a:ext cx="10917936" cy="466344"/>
          </a:xfrm>
          <a:prstGeom prst="rect">
            <a:avLst/>
          </a:prstGeom>
          <a:noFill/>
        </p:spPr>
        <p:txBody>
          <a:bodyPr wrap="square" lIns="0" rIns="0" tIns="0" bIns="0" anchor="t">
            <a:spAutoFit/>
          </a:bodyPr>
          <a:lstStyle/>
          <a:p>
            <a:pPr algn="l">
              <a:lnSpc>
                <a:spcPct val="103000"/>
              </a:lnSpc>
              <a:spcAft>
                <a:spcPts val="400"/>
              </a:spcAft>
            </a:pPr>
            <a:r>
              <a:rPr sz="1100" b="1" i="0">
                <a:solidFill>
                  <a:srgbClr val="2A9D5C"/>
                </a:solidFill>
                <a:latin typeface="Consolas"/>
              </a:rPr>
              <a:t>cd Topic5_Lab &amp;&amp; ./scripts/clinic.sh</a:t>
            </a:r>
            <a:r>
              <a:rPr sz="1100" b="0" i="0">
                <a:solidFill>
                  <a:srgbClr val="33414F"/>
                </a:solidFill>
                <a:latin typeface="Calibri"/>
              </a:rPr>
              <a:t>   — every cell in that table is produced by that command, on the code in the lab folder. Show it to the room before you explain anything else; the rest of the topic is the explanation of why the numbers come out that way.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5A · READING THE TABLE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What Actually Changed Between V1, V2 and V3</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13</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The three testbenches do not differ in size or effort. </a:t>
            </a:r>
            <a:r>
              <a:rPr sz="1100" b="0" i="0">
                <a:solidFill>
                  <a:srgbClr val="33414F"/>
                </a:solidFill>
                <a:latin typeface="Calibri"/>
              </a:rPr>
              <a:t>They differ in three specific decisions, and each decision is worth a row of that table.</a:t>
            </a:r>
          </a:p>
        </p:txBody>
      </p:sp>
      <p:sp>
        <p:nvSpPr>
          <p:cNvPr id="10" name="Rounded Rectangle 9"/>
          <p:cNvSpPr/>
          <p:nvPr/>
        </p:nvSpPr>
        <p:spPr>
          <a:xfrm>
            <a:off x="411480" y="1737360"/>
            <a:ext cx="11247120" cy="82296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411480" y="1737360"/>
            <a:ext cx="1737360" cy="822960"/>
          </a:xfrm>
          <a:prstGeom prst="roundRect">
            <a:avLst>
              <a:gd name="adj" fmla="val 5714"/>
            </a:avLst>
          </a:prstGeom>
          <a:solidFill>
            <a:srgbClr val="2A9D5C"/>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11480" y="1737360"/>
            <a:ext cx="1737360" cy="82296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V1  →  V2</a:t>
            </a:r>
          </a:p>
        </p:txBody>
      </p:sp>
      <p:sp>
        <p:nvSpPr>
          <p:cNvPr id="13" name="TextBox 12"/>
          <p:cNvSpPr txBox="1"/>
          <p:nvPr/>
        </p:nvSpPr>
        <p:spPr>
          <a:xfrm>
            <a:off x="2331720" y="1783080"/>
            <a:ext cx="9144000" cy="73152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Stopped typing expected values by hand and built a REFERENCE MODEL — an independent implementation of the specification. Once you have one, you can check every cycle instead of the few you remembered. Then added the boundary cases: fill to full, drain to empty, write while full, read while empty. Result: 0 of 5 becomes 4 of 5.</a:t>
            </a:r>
          </a:p>
        </p:txBody>
      </p:sp>
      <p:sp>
        <p:nvSpPr>
          <p:cNvPr id="14" name="Rounded Rectangle 13"/>
          <p:cNvSpPr/>
          <p:nvPr/>
        </p:nvSpPr>
        <p:spPr>
          <a:xfrm>
            <a:off x="411480" y="2606040"/>
            <a:ext cx="11247120" cy="82296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411480" y="2606040"/>
            <a:ext cx="1737360" cy="822960"/>
          </a:xfrm>
          <a:prstGeom prst="roundRect">
            <a:avLst>
              <a:gd name="adj" fmla="val 5714"/>
            </a:avLst>
          </a:prstGeom>
          <a:solidFill>
            <a:srgbClr val="1B9AAA"/>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11480" y="2606040"/>
            <a:ext cx="1737360" cy="82296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V2  →  V3</a:t>
            </a:r>
          </a:p>
        </p:txBody>
      </p:sp>
      <p:sp>
        <p:nvSpPr>
          <p:cNvPr id="17" name="TextBox 16"/>
          <p:cNvSpPr txBox="1"/>
          <p:nvPr/>
        </p:nvSpPr>
        <p:spPr>
          <a:xfrm>
            <a:off x="2331720" y="2651760"/>
            <a:ext cx="9144000" cy="73152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Replaced hand-written stimulus with WEIGHTED RANDOM stimulus, seeded so any failure reproduces exactly. The fifth bug only appears when a read and a write are asserted together on an EMPTY FIFO — a combination no directed test in V2 ever produces, and one nobody thinks to write. Result: 4 of 5 becomes 5 of 5.</a:t>
            </a:r>
          </a:p>
        </p:txBody>
      </p:sp>
      <p:sp>
        <p:nvSpPr>
          <p:cNvPr id="18" name="Rounded Rectangle 17"/>
          <p:cNvSpPr/>
          <p:nvPr/>
        </p:nvSpPr>
        <p:spPr>
          <a:xfrm>
            <a:off x="411480" y="3474720"/>
            <a:ext cx="11247120" cy="82296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411480" y="3474720"/>
            <a:ext cx="1737360" cy="822960"/>
          </a:xfrm>
          <a:prstGeom prst="roundRect">
            <a:avLst>
              <a:gd name="adj" fmla="val 5714"/>
            </a:avLst>
          </a:prstGeom>
          <a:solidFill>
            <a:srgbClr val="C77514"/>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11480" y="3474720"/>
            <a:ext cx="1737360" cy="82296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V3  →  V4</a:t>
            </a:r>
          </a:p>
        </p:txBody>
      </p:sp>
      <p:sp>
        <p:nvSpPr>
          <p:cNvPr id="21" name="TextBox 20"/>
          <p:cNvSpPr txBox="1"/>
          <p:nvPr/>
        </p:nvSpPr>
        <p:spPr>
          <a:xfrm>
            <a:off x="2331720" y="3520440"/>
            <a:ext cx="9144000" cy="73152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Added a COVERAGE MODEL, so a run that passes also reports what it reached. Without it you cannot tell a thorough run from a lucky one — and the write-heavy profile, which passes cleanly, never reaches empty at all.</a:t>
            </a:r>
          </a:p>
        </p:txBody>
      </p:sp>
      <p:sp>
        <p:nvSpPr>
          <p:cNvPr id="22" name="Rounded Rectangle 21"/>
          <p:cNvSpPr/>
          <p:nvPr/>
        </p:nvSpPr>
        <p:spPr>
          <a:xfrm>
            <a:off x="411480" y="4343400"/>
            <a:ext cx="11247120" cy="82296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411480" y="4343400"/>
            <a:ext cx="1737360" cy="822960"/>
          </a:xfrm>
          <a:prstGeom prst="roundRect">
            <a:avLst>
              <a:gd name="adj" fmla="val 5714"/>
            </a:avLst>
          </a:prstGeom>
          <a:solidFill>
            <a:srgbClr val="6B45A8"/>
          </a:solidFill>
          <a:ln w="13970">
            <a:solidFill>
              <a:srgbClr val="6B45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11480" y="4343400"/>
            <a:ext cx="1737360" cy="82296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V3  →  V6</a:t>
            </a:r>
          </a:p>
        </p:txBody>
      </p:sp>
      <p:sp>
        <p:nvSpPr>
          <p:cNvPr id="25" name="TextBox 24"/>
          <p:cNvSpPr txBox="1"/>
          <p:nvPr/>
        </p:nvSpPr>
        <p:spPr>
          <a:xfrm>
            <a:off x="2331720" y="4389120"/>
            <a:ext cx="9144000" cy="73152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Added ASSERTIONS bound to the DUT, so a broken rule is reported at the cycle it breaks with the name of the rule — rather than three hundred cycles later, at an output, as a wrong number.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5A · CHECKPOINT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Eight Questions Before We Build Anything</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14</a:t>
            </a:r>
          </a:p>
        </p:txBody>
      </p:sp>
      <p:sp>
        <p:nvSpPr>
          <p:cNvPr id="9" name="TextBox 8"/>
          <p:cNvSpPr txBox="1"/>
          <p:nvPr/>
        </p:nvSpPr>
        <p:spPr>
          <a:xfrm>
            <a:off x="411480" y="1143000"/>
            <a:ext cx="11247120" cy="41148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Ask the room. These are all conceptual — no code yet. </a:t>
            </a:r>
            <a:r>
              <a:rPr sz="1100" b="0" i="0">
                <a:solidFill>
                  <a:srgbClr val="33414F"/>
                </a:solidFill>
                <a:latin typeface="Calibri"/>
              </a:rPr>
              <a:t>Answers are in workbook section T5-A.</a:t>
            </a:r>
          </a:p>
        </p:txBody>
      </p:sp>
      <p:sp>
        <p:nvSpPr>
          <p:cNvPr id="10" name="Rounded Rectangle 9"/>
          <p:cNvSpPr/>
          <p:nvPr/>
        </p:nvSpPr>
        <p:spPr>
          <a:xfrm>
            <a:off x="411480" y="1554480"/>
            <a:ext cx="5532120" cy="201168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48640" y="1618488"/>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Questions 1–4</a:t>
            </a:r>
          </a:p>
        </p:txBody>
      </p:sp>
      <p:sp>
        <p:nvSpPr>
          <p:cNvPr id="12" name="TextBox 11"/>
          <p:cNvSpPr txBox="1"/>
          <p:nvPr/>
        </p:nvSpPr>
        <p:spPr>
          <a:xfrm>
            <a:off x="548640" y="1892808"/>
            <a:ext cx="5257800" cy="160934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1. Why is 100% code coverage not the same as "verified"?</a:t>
            </a:r>
          </a:p>
          <a:p>
            <a:pPr algn="l">
              <a:lnSpc>
                <a:spcPct val="103000"/>
              </a:lnSpc>
              <a:spcAft>
                <a:spcPts val="400"/>
              </a:spcAft>
            </a:pPr>
            <a:r>
              <a:rPr sz="1050" b="0" i="0">
                <a:solidFill>
                  <a:srgbClr val="33414F"/>
                </a:solidFill>
                <a:latin typeface="Calibri"/>
              </a:rPr>
              <a:t>2. A testbench passes on a design you know is broken. What does that tell you about the testbench?</a:t>
            </a:r>
          </a:p>
          <a:p>
            <a:pPr algn="l">
              <a:lnSpc>
                <a:spcPct val="103000"/>
              </a:lnSpc>
              <a:spcAft>
                <a:spcPts val="400"/>
              </a:spcAft>
            </a:pPr>
            <a:r>
              <a:rPr sz="1050" b="0" i="0">
                <a:solidFill>
                  <a:srgbClr val="33414F"/>
                </a:solidFill>
                <a:latin typeface="Calibri"/>
              </a:rPr>
              <a:t>3. Why must a reference model be written from the specification and not from the RTL?</a:t>
            </a:r>
          </a:p>
          <a:p>
            <a:pPr algn="l">
              <a:lnSpc>
                <a:spcPct val="103000"/>
              </a:lnSpc>
              <a:spcAft>
                <a:spcPts val="400"/>
              </a:spcAft>
            </a:pPr>
            <a:r>
              <a:rPr sz="1050" b="0" i="0">
                <a:solidFill>
                  <a:srgbClr val="33414F"/>
                </a:solidFill>
                <a:latin typeface="Calibri"/>
              </a:rPr>
              <a:t>4. What does the SEED give you that makes random stimulus usable in a regression?</a:t>
            </a:r>
          </a:p>
        </p:txBody>
      </p:sp>
      <p:sp>
        <p:nvSpPr>
          <p:cNvPr id="13" name="Rounded Rectangle 12"/>
          <p:cNvSpPr/>
          <p:nvPr/>
        </p:nvSpPr>
        <p:spPr>
          <a:xfrm>
            <a:off x="6126480" y="1554480"/>
            <a:ext cx="5532120" cy="201168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263640" y="161848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Questions 5–8</a:t>
            </a:r>
          </a:p>
        </p:txBody>
      </p:sp>
      <p:sp>
        <p:nvSpPr>
          <p:cNvPr id="15" name="TextBox 14"/>
          <p:cNvSpPr txBox="1"/>
          <p:nvPr/>
        </p:nvSpPr>
        <p:spPr>
          <a:xfrm>
            <a:off x="6263640" y="1892808"/>
            <a:ext cx="5257800" cy="160934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5. Name one bug an assertion catches earlier than a scoreboard, and one it cannot catch at all.</a:t>
            </a:r>
          </a:p>
          <a:p>
            <a:pPr algn="l">
              <a:lnSpc>
                <a:spcPct val="103000"/>
              </a:lnSpc>
              <a:spcAft>
                <a:spcPts val="400"/>
              </a:spcAft>
            </a:pPr>
            <a:r>
              <a:rPr sz="1050" b="0" i="0">
                <a:solidFill>
                  <a:srgbClr val="33414F"/>
                </a:solidFill>
                <a:latin typeface="Calibri"/>
              </a:rPr>
              <a:t>6. What is the difference between a coverage HOLE and a test FAILURE?</a:t>
            </a:r>
          </a:p>
          <a:p>
            <a:pPr algn="l">
              <a:lnSpc>
                <a:spcPct val="103000"/>
              </a:lnSpc>
              <a:spcAft>
                <a:spcPts val="400"/>
              </a:spcAft>
            </a:pPr>
            <a:r>
              <a:rPr sz="1050" b="0" i="0">
                <a:solidFill>
                  <a:srgbClr val="33414F"/>
                </a:solidFill>
                <a:latin typeface="Calibri"/>
              </a:rPr>
              <a:t>7. Why does a regression usually dump no waveforms?</a:t>
            </a:r>
          </a:p>
          <a:p>
            <a:pPr algn="l">
              <a:lnSpc>
                <a:spcPct val="103000"/>
              </a:lnSpc>
              <a:spcAft>
                <a:spcPts val="400"/>
              </a:spcAft>
            </a:pPr>
            <a:r>
              <a:rPr sz="1050" b="0" i="0">
                <a:solidFill>
                  <a:srgbClr val="33414F"/>
                </a:solidFill>
                <a:latin typeface="Calibri"/>
              </a:rPr>
              <a:t>8. Your random test has passed 10 000 seeds. Are you finished? What would you need to see?</a:t>
            </a:r>
          </a:p>
        </p:txBody>
      </p:sp>
      <p:sp>
        <p:nvSpPr>
          <p:cNvPr id="16" name="Rounded Rectangle 15"/>
          <p:cNvSpPr/>
          <p:nvPr/>
        </p:nvSpPr>
        <p:spPr>
          <a:xfrm>
            <a:off x="411480" y="3657600"/>
            <a:ext cx="11247120" cy="776224"/>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76072" y="3721608"/>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If question 2 or 8 gave the room trouble</a:t>
            </a:r>
          </a:p>
        </p:txBody>
      </p:sp>
      <p:sp>
        <p:nvSpPr>
          <p:cNvPr id="18" name="TextBox 17"/>
          <p:cNvSpPr txBox="1"/>
          <p:nvPr/>
        </p:nvSpPr>
        <p:spPr>
          <a:xfrm>
            <a:off x="576072" y="3995928"/>
            <a:ext cx="10917936" cy="373888"/>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Those two are the whole topic. Go back to the clinic table and run </a:t>
            </a:r>
            <a:r>
              <a:rPr sz="1100" b="1" i="0">
                <a:solidFill>
                  <a:srgbClr val="2A9D5C"/>
                </a:solidFill>
                <a:latin typeface="Consolas"/>
              </a:rPr>
              <a:t>./scripts/clinic.sh</a:t>
            </a:r>
            <a:r>
              <a:rPr sz="1100" b="0" i="0">
                <a:solidFill>
                  <a:srgbClr val="33414F"/>
                </a:solidFill>
                <a:latin typeface="Calibri"/>
              </a:rPr>
              <a:t> live before continuing — the measured result convinces people in a way that an argument does not.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9144000" y="-1828800"/>
            <a:ext cx="6400800" cy="64008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1600200"/>
            <a:ext cx="7315200" cy="365760"/>
          </a:xfrm>
          <a:prstGeom prst="rect">
            <a:avLst/>
          </a:prstGeom>
          <a:noFill/>
        </p:spPr>
        <p:txBody>
          <a:bodyPr wrap="square" lIns="0" rIns="0" tIns="0" bIns="0" anchor="ctr">
            <a:spAutoFit/>
          </a:bodyPr>
          <a:lstStyle/>
          <a:p>
            <a:pPr algn="l">
              <a:lnSpc>
                <a:spcPct val="103000"/>
              </a:lnSpc>
            </a:pPr>
            <a:r>
              <a:rPr sz="1400" b="1" i="0" spc="300">
                <a:solidFill>
                  <a:srgbClr val="2A9D5C"/>
                </a:solidFill>
                <a:latin typeface="Calibri"/>
              </a:rPr>
              <a:t>SUBTOPIC 5B</a:t>
            </a:r>
          </a:p>
        </p:txBody>
      </p:sp>
      <p:sp>
        <p:nvSpPr>
          <p:cNvPr id="4" name="TextBox 3"/>
          <p:cNvSpPr txBox="1"/>
          <p:nvPr/>
        </p:nvSpPr>
        <p:spPr>
          <a:xfrm>
            <a:off x="566928" y="2011680"/>
            <a:ext cx="9601200" cy="914400"/>
          </a:xfrm>
          <a:prstGeom prst="rect">
            <a:avLst/>
          </a:prstGeom>
          <a:noFill/>
        </p:spPr>
        <p:txBody>
          <a:bodyPr wrap="square" lIns="0" rIns="0" tIns="0" bIns="0" anchor="ctr">
            <a:spAutoFit/>
          </a:bodyPr>
          <a:lstStyle/>
          <a:p>
            <a:pPr algn="l">
              <a:lnSpc>
                <a:spcPct val="103000"/>
              </a:lnSpc>
            </a:pPr>
            <a:r>
              <a:rPr sz="3000" b="1" i="0">
                <a:solidFill>
                  <a:srgbClr val="FFFFFF"/>
                </a:solidFill>
                <a:latin typeface="Cambria"/>
              </a:rPr>
              <a:t>Introduction to Test Benches and Testbench Development</a:t>
            </a:r>
          </a:p>
        </p:txBody>
      </p:sp>
      <p:sp>
        <p:nvSpPr>
          <p:cNvPr id="5" name="TextBox 4"/>
          <p:cNvSpPr txBox="1"/>
          <p:nvPr/>
        </p:nvSpPr>
        <p:spPr>
          <a:xfrm>
            <a:off x="640080" y="2971800"/>
            <a:ext cx="8686800" cy="640080"/>
          </a:xfrm>
          <a:prstGeom prst="rect">
            <a:avLst/>
          </a:prstGeom>
          <a:noFill/>
        </p:spPr>
        <p:txBody>
          <a:bodyPr wrap="square" lIns="0" rIns="0" tIns="0" bIns="0" anchor="ctr">
            <a:spAutoFit/>
          </a:bodyPr>
          <a:lstStyle/>
          <a:p>
            <a:pPr algn="l">
              <a:lnSpc>
                <a:spcPct val="103000"/>
              </a:lnSpc>
            </a:pPr>
            <a:r>
              <a:rPr sz="1350" b="0" i="0">
                <a:solidFill>
                  <a:srgbClr val="C9D6E3"/>
                </a:solidFill>
                <a:latin typeface="Calibri"/>
              </a:rPr>
              <a:t>Built up in six stages, each one measured against five broken designs.</a:t>
            </a:r>
          </a:p>
        </p:txBody>
      </p:sp>
      <p:sp>
        <p:nvSpPr>
          <p:cNvPr id="6" name="Rectangle 5"/>
          <p:cNvSpPr/>
          <p:nvPr/>
        </p:nvSpPr>
        <p:spPr>
          <a:xfrm>
            <a:off x="640080" y="394106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14400" y="38404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The six parts every testbench has, and the DUT under test</a:t>
            </a:r>
          </a:p>
        </p:txBody>
      </p:sp>
      <p:sp>
        <p:nvSpPr>
          <p:cNvPr id="8" name="Rectangle 7"/>
          <p:cNvSpPr/>
          <p:nvPr/>
        </p:nvSpPr>
        <p:spPr>
          <a:xfrm>
            <a:off x="640080" y="435254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425196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Clock, reset, and when to drive and when to sample</a:t>
            </a:r>
          </a:p>
        </p:txBody>
      </p:sp>
      <p:sp>
        <p:nvSpPr>
          <p:cNvPr id="10" name="Rectangle 9"/>
          <p:cNvSpPr/>
          <p:nvPr/>
        </p:nvSpPr>
        <p:spPr>
          <a:xfrm>
            <a:off x="640080" y="476402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66344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Reference models and scoreboards</a:t>
            </a:r>
          </a:p>
        </p:txBody>
      </p:sp>
      <p:sp>
        <p:nvSpPr>
          <p:cNvPr id="12" name="Rectangle 11"/>
          <p:cNvSpPr/>
          <p:nvPr/>
        </p:nvSpPr>
        <p:spPr>
          <a:xfrm>
            <a:off x="640080" y="517550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507492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Constrained-random stimulus, seeds and regressions</a:t>
            </a:r>
          </a:p>
        </p:txBody>
      </p:sp>
      <p:sp>
        <p:nvSpPr>
          <p:cNvPr id="14" name="Rectangle 13"/>
          <p:cNvSpPr/>
          <p:nvPr/>
        </p:nvSpPr>
        <p:spPr>
          <a:xfrm>
            <a:off x="640080" y="558698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14400" y="548640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Functional coverage, and closing it</a:t>
            </a:r>
          </a:p>
        </p:txBody>
      </p:sp>
      <p:sp>
        <p:nvSpPr>
          <p:cNvPr id="16" name="Rectangle 15"/>
          <p:cNvSpPr/>
          <p:nvPr/>
        </p:nvSpPr>
        <p:spPr>
          <a:xfrm>
            <a:off x="640080" y="599846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14400" y="58978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Assertions, and a layered testbench environment</a:t>
            </a:r>
          </a:p>
        </p:txBody>
      </p:sp>
      <p:sp>
        <p:nvSpPr>
          <p:cNvPr id="18" name="TextBox 17"/>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Chip Design Associate · Module 2 · Verilog RTL Coding for Synthesis · Topic 5: RTL Simulation and Verification</a:t>
            </a:r>
          </a:p>
        </p:txBody>
      </p:sp>
      <p:sp>
        <p:nvSpPr>
          <p:cNvPr id="19" name="TextBox 18"/>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M2-T5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5B · THE DUT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One Design, Six Testbenches — Meet the FIFO</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16</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Everything in 5b is built against a single device under test. </a:t>
            </a:r>
            <a:r>
              <a:rPr sz="1100" b="0" i="0">
                <a:solidFill>
                  <a:srgbClr val="33414F"/>
                </a:solidFill>
                <a:latin typeface="Calibri"/>
              </a:rPr>
              <a:t>A small synchronous FIFO — big enough to have interesting corners, small enough to hold in your head. Its header comment IS the specification your testbench checks.</a:t>
            </a:r>
          </a:p>
        </p:txBody>
      </p:sp>
      <p:sp>
        <p:nvSpPr>
          <p:cNvPr id="10" name="Rounded Rectangle 9"/>
          <p:cNvSpPr/>
          <p:nvPr/>
        </p:nvSpPr>
        <p:spPr>
          <a:xfrm>
            <a:off x="411480" y="1783080"/>
            <a:ext cx="11247120" cy="200660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189738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Topic5_Lab/rtl/fifo.v — the interface contract</a:t>
            </a:r>
          </a:p>
        </p:txBody>
      </p:sp>
      <p:sp>
        <p:nvSpPr>
          <p:cNvPr id="12" name="TextBox 11"/>
          <p:cNvSpPr txBox="1"/>
          <p:nvPr/>
        </p:nvSpPr>
        <p:spPr>
          <a:xfrm>
            <a:off x="594360" y="2171700"/>
            <a:ext cx="10881360" cy="1503680"/>
          </a:xfrm>
          <a:prstGeom prst="rect">
            <a:avLst/>
          </a:prstGeom>
          <a:noFill/>
        </p:spPr>
        <p:txBody>
          <a:bodyPr wrap="square" lIns="0" rIns="0" tIns="0" bIns="0" anchor="t">
            <a:spAutoFit/>
          </a:bodyPr>
          <a:lstStyle/>
          <a:p>
            <a:pPr algn="l">
              <a:lnSpc>
                <a:spcPct val="112000"/>
              </a:lnSpc>
            </a:pPr>
            <a:r>
              <a:rPr sz="1000" b="0" i="0">
                <a:solidFill>
                  <a:srgbClr val="7F9CB5"/>
                </a:solidFill>
                <a:latin typeface="Consolas"/>
              </a:rPr>
              <a:t>//  * A write is accepted when wr_en=1 and full=0. A write while FULL is IGNORED</a:t>
            </a:r>
          </a:p>
          <a:p>
            <a:pPr algn="l">
              <a:lnSpc>
                <a:spcPct val="112000"/>
              </a:lnSpc>
            </a:pPr>
            <a:r>
              <a:rPr sz="1000" b="0" i="0">
                <a:solidFill>
                  <a:srgbClr val="7F9CB5"/>
                </a:solidFill>
                <a:latin typeface="Consolas"/>
              </a:rPr>
              <a:t>//    and must not corrupt anything.</a:t>
            </a:r>
          </a:p>
          <a:p>
            <a:pPr algn="l">
              <a:lnSpc>
                <a:spcPct val="112000"/>
              </a:lnSpc>
            </a:pPr>
            <a:r>
              <a:rPr sz="1000" b="0" i="0">
                <a:solidFill>
                  <a:srgbClr val="7F9CB5"/>
                </a:solidFill>
                <a:latin typeface="Consolas"/>
              </a:rPr>
              <a:t>//  * A read is accepted when rd_en=1 and empty=0. A read while EMPTY is IGNORED.</a:t>
            </a:r>
          </a:p>
          <a:p>
            <a:pPr algn="l">
              <a:lnSpc>
                <a:spcPct val="112000"/>
              </a:lnSpc>
            </a:pPr>
            <a:r>
              <a:rPr sz="1000" b="0" i="0">
                <a:solidFill>
                  <a:srgbClr val="7F9CB5"/>
                </a:solidFill>
                <a:latin typeface="Consolas"/>
              </a:rPr>
              <a:t>//  * rd_data shows the OLDEST unread word at all times (first-word fall-through).</a:t>
            </a:r>
          </a:p>
          <a:p>
            <a:pPr algn="l">
              <a:lnSpc>
                <a:spcPct val="112000"/>
              </a:lnSpc>
            </a:pPr>
            <a:r>
              <a:rPr sz="1000" b="0" i="0">
                <a:solidFill>
                  <a:srgbClr val="7F9CB5"/>
                </a:solidFill>
                <a:latin typeface="Consolas"/>
              </a:rPr>
              <a:t>//  * count is the number of words stored, 0..DEPTH.</a:t>
            </a:r>
          </a:p>
          <a:p>
            <a:pPr algn="l">
              <a:lnSpc>
                <a:spcPct val="112000"/>
              </a:lnSpc>
            </a:pPr>
            <a:r>
              <a:rPr sz="1000" b="0" i="0">
                <a:solidFill>
                  <a:srgbClr val="7F9CB5"/>
                </a:solidFill>
                <a:latin typeface="Consolas"/>
              </a:rPr>
              <a:t>//  * empty &lt;=&gt; count==0.   full &lt;=&gt; count==DEPTH.</a:t>
            </a:r>
          </a:p>
          <a:p>
            <a:pPr algn="l">
              <a:lnSpc>
                <a:spcPct val="112000"/>
              </a:lnSpc>
            </a:pPr>
            <a:r>
              <a:rPr sz="1000" b="0" i="0">
                <a:solidFill>
                  <a:srgbClr val="7F9CB5"/>
                </a:solidFill>
                <a:latin typeface="Consolas"/>
              </a:rPr>
              <a:t>//  * Words come out in the ORDER they went in. None is lost or duplicated.</a:t>
            </a:r>
          </a:p>
          <a:p>
            <a:pPr algn="l">
              <a:lnSpc>
                <a:spcPct val="112000"/>
              </a:lnSpc>
            </a:pPr>
            <a:r>
              <a:rPr sz="1000" b="0" i="0">
                <a:solidFill>
                  <a:srgbClr val="7F9CB5"/>
                </a:solidFill>
                <a:latin typeface="Consolas"/>
              </a:rPr>
              <a:t>//  * Asynchronous active-low reset empties the FIFO.</a:t>
            </a:r>
          </a:p>
        </p:txBody>
      </p:sp>
      <p:sp>
        <p:nvSpPr>
          <p:cNvPr id="13" name="Rounded Rectangle 12"/>
          <p:cNvSpPr/>
          <p:nvPr/>
        </p:nvSpPr>
        <p:spPr>
          <a:xfrm>
            <a:off x="411480" y="3881120"/>
            <a:ext cx="5532120" cy="123444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48640" y="3945128"/>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Every line of that comment becomes a check</a:t>
            </a:r>
          </a:p>
        </p:txBody>
      </p:sp>
      <p:sp>
        <p:nvSpPr>
          <p:cNvPr id="15" name="TextBox 14"/>
          <p:cNvSpPr txBox="1"/>
          <p:nvPr/>
        </p:nvSpPr>
        <p:spPr>
          <a:xfrm>
            <a:off x="548640" y="4219448"/>
            <a:ext cx="5257800" cy="83210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There are eight bullets. A finished testbench has a check for each one, and a coverage bin proving the situation actually arose. That mapping — spec bullet to check to bin — is the whole verification plan.</a:t>
            </a:r>
          </a:p>
        </p:txBody>
      </p:sp>
      <p:sp>
        <p:nvSpPr>
          <p:cNvPr id="16" name="Rounded Rectangle 15"/>
          <p:cNvSpPr/>
          <p:nvPr/>
        </p:nvSpPr>
        <p:spPr>
          <a:xfrm>
            <a:off x="6126480" y="3881120"/>
            <a:ext cx="5532120" cy="123444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63640" y="3945128"/>
            <a:ext cx="5257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And five broken copies</a:t>
            </a:r>
          </a:p>
        </p:txBody>
      </p:sp>
      <p:sp>
        <p:nvSpPr>
          <p:cNvPr id="18" name="TextBox 17"/>
          <p:cNvSpPr txBox="1"/>
          <p:nvPr/>
        </p:nvSpPr>
        <p:spPr>
          <a:xfrm>
            <a:off x="6263640" y="4219448"/>
            <a:ext cx="5257800" cy="832104"/>
          </a:xfrm>
          <a:prstGeom prst="rect">
            <a:avLst/>
          </a:prstGeom>
          <a:noFill/>
        </p:spPr>
        <p:txBody>
          <a:bodyPr wrap="square" lIns="0" rIns="0" tIns="0" bIns="0" anchor="t">
            <a:spAutoFit/>
          </a:bodyPr>
          <a:lstStyle/>
          <a:p>
            <a:pPr algn="l">
              <a:lnSpc>
                <a:spcPct val="103000"/>
              </a:lnSpc>
              <a:spcAft>
                <a:spcPts val="400"/>
              </a:spcAft>
            </a:pPr>
            <a:r>
              <a:rPr sz="1050" b="1" i="0">
                <a:solidFill>
                  <a:srgbClr val="C01F43"/>
                </a:solidFill>
                <a:latin typeface="Consolas"/>
              </a:rPr>
              <a:t>Topic5_Lab/rtl/fifo_bugs.v</a:t>
            </a:r>
            <a:r>
              <a:rPr sz="1050" b="0" i="0">
                <a:solidFill>
                  <a:srgbClr val="33414F"/>
                </a:solidFill>
                <a:latin typeface="Calibri"/>
              </a:rPr>
              <a:t>  holds five variants with one realistic bug each. They all lint clean, all synthesise, and all pass a naive testbench. Do not read the bug list before attempting the clinic.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5B · ANATOMY</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Six Parts of Every Testbench</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17</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testbench is a module with no ports. </a:t>
            </a:r>
            <a:r>
              <a:rPr sz="1100" b="0" i="0">
                <a:solidFill>
                  <a:srgbClr val="33414F"/>
                </a:solidFill>
                <a:latin typeface="Calibri"/>
              </a:rPr>
              <a:t>It is never synthesised, so the entire language is available — and every testbench you will ever write has these six parts, whatever the design.</a:t>
            </a:r>
          </a:p>
        </p:txBody>
      </p:sp>
      <p:pic>
        <p:nvPicPr>
          <p:cNvPr id="10" name="Picture 9" descr="tb_anatomy.png"/>
          <p:cNvPicPr>
            <a:picLocks noChangeAspect="1"/>
          </p:cNvPicPr>
          <p:nvPr/>
        </p:nvPicPr>
        <p:blipFill>
          <a:blip r:embed="rId2"/>
          <a:stretch>
            <a:fillRect/>
          </a:stretch>
        </p:blipFill>
        <p:spPr>
          <a:xfrm>
            <a:off x="2881090" y="1737360"/>
            <a:ext cx="6307900" cy="3474720"/>
          </a:xfrm>
          <a:prstGeom prst="rect">
            <a:avLst/>
          </a:prstGeom>
        </p:spPr>
      </p:pic>
      <p:sp>
        <p:nvSpPr>
          <p:cNvPr id="11" name="Rounded Rectangle 10"/>
          <p:cNvSpPr/>
          <p:nvPr/>
        </p:nvSpPr>
        <p:spPr>
          <a:xfrm>
            <a:off x="411480" y="5303520"/>
            <a:ext cx="11247120" cy="96012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367528"/>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Missing part 6 is the commonest omission</a:t>
            </a:r>
          </a:p>
        </p:txBody>
      </p:sp>
      <p:sp>
        <p:nvSpPr>
          <p:cNvPr id="13" name="TextBox 12"/>
          <p:cNvSpPr txBox="1"/>
          <p:nvPr/>
        </p:nvSpPr>
        <p:spPr>
          <a:xfrm>
            <a:off x="576072" y="5641848"/>
            <a:ext cx="10917936" cy="55778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A testbench that never calls </a:t>
            </a:r>
            <a:r>
              <a:rPr sz="1100" b="1" i="0">
                <a:solidFill>
                  <a:srgbClr val="0E2A47"/>
                </a:solidFill>
                <a:latin typeface="Consolas"/>
              </a:rPr>
              <a:t>$finish</a:t>
            </a:r>
            <a:r>
              <a:rPr sz="1100" b="0" i="0">
                <a:solidFill>
                  <a:srgbClr val="33414F"/>
                </a:solidFill>
                <a:latin typeface="Calibri"/>
              </a:rPr>
              <a:t> runs until somebody kills it, which in a regression means the whole run hangs. Add a watchdog too: a second initial block that prints FAIL and finishes after a generous timeout, so a hung DUT FAILS rather than stalling the regression.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5B · LAB V1</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Testbench Everybody Writes First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18</a:t>
            </a:r>
          </a:p>
        </p:txBody>
      </p:sp>
      <p:sp>
        <p:nvSpPr>
          <p:cNvPr id="9" name="Rounded Rectangle 8"/>
          <p:cNvSpPr/>
          <p:nvPr/>
        </p:nvSpPr>
        <p:spPr>
          <a:xfrm>
            <a:off x="411480" y="1143000"/>
            <a:ext cx="11247120" cy="4562856"/>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Topic5_Lab/tb/tb_v1_naive.v — all six parts, and it does check its results</a:t>
            </a:r>
          </a:p>
        </p:txBody>
      </p:sp>
      <p:sp>
        <p:nvSpPr>
          <p:cNvPr id="11" name="TextBox 10"/>
          <p:cNvSpPr txBox="1"/>
          <p:nvPr/>
        </p:nvSpPr>
        <p:spPr>
          <a:xfrm>
            <a:off x="594360" y="1531620"/>
            <a:ext cx="10881360" cy="4059936"/>
          </a:xfrm>
          <a:prstGeom prst="rect">
            <a:avLst/>
          </a:prstGeom>
          <a:noFill/>
        </p:spPr>
        <p:txBody>
          <a:bodyPr wrap="square" lIns="0" rIns="0" tIns="0" bIns="0" anchor="t">
            <a:spAutoFit/>
          </a:bodyPr>
          <a:lstStyle/>
          <a:p>
            <a:pPr algn="l">
              <a:lnSpc>
                <a:spcPct val="112000"/>
              </a:lnSpc>
            </a:pPr>
            <a:r>
              <a:rPr sz="900" b="0" i="0">
                <a:solidFill>
                  <a:srgbClr val="D8E4F0"/>
                </a:solidFill>
                <a:latin typeface="Consolas"/>
              </a:rPr>
              <a:t>module tb_v1_naive;</a:t>
            </a:r>
          </a:p>
          <a:p>
            <a:pPr algn="l">
              <a:lnSpc>
                <a:spcPct val="112000"/>
              </a:lnSpc>
            </a:pPr>
            <a:r>
              <a:rPr sz="900" b="0" i="0">
                <a:solidFill>
                  <a:srgbClr val="D8E4F0"/>
                </a:solidFill>
                <a:latin typeface="Consolas"/>
              </a:rPr>
              <a:t>  fifo #(.W(8), .DEPTH(8)) u_dut (.clk(clk), .rst_n(rst_n), ...);   // 1. instantiate</a:t>
            </a:r>
          </a:p>
          <a:p>
            <a:pPr algn="l">
              <a:lnSpc>
                <a:spcPct val="112000"/>
              </a:lnSpc>
            </a:pPr>
            <a:r>
              <a:rPr sz="900" b="0" i="0">
                <a:solidFill>
                  <a:srgbClr val="D8E4F0"/>
                </a:solidFill>
                <a:latin typeface="Consolas"/>
              </a:rPr>
              <a:t> </a:t>
            </a:r>
          </a:p>
          <a:p>
            <a:pPr algn="l">
              <a:lnSpc>
                <a:spcPct val="112000"/>
              </a:lnSpc>
            </a:pPr>
            <a:r>
              <a:rPr sz="900" b="0" i="0">
                <a:solidFill>
                  <a:srgbClr val="7F9CB5"/>
                </a:solidFill>
                <a:latin typeface="Consolas"/>
              </a:rPr>
              <a:t>  // 2. ONE place that decides pass or fail</a:t>
            </a:r>
          </a:p>
          <a:p>
            <a:pPr algn="l">
              <a:lnSpc>
                <a:spcPct val="112000"/>
              </a:lnSpc>
            </a:pPr>
            <a:r>
              <a:rPr sz="900" b="0" i="0">
                <a:solidFill>
                  <a:srgbClr val="D8E4F0"/>
                </a:solidFill>
                <a:latin typeface="Consolas"/>
              </a:rPr>
              <a:t>  task check(input [7:0] got, input [7:0] exp, input [255:0] msg);</a:t>
            </a:r>
          </a:p>
          <a:p>
            <a:pPr algn="l">
              <a:lnSpc>
                <a:spcPct val="112000"/>
              </a:lnSpc>
            </a:pPr>
            <a:r>
              <a:rPr sz="900" b="0" i="0">
                <a:solidFill>
                  <a:srgbClr val="D8E4F0"/>
                </a:solidFill>
                <a:latin typeface="Consolas"/>
              </a:rPr>
              <a:t>    if (got !== exp) begin</a:t>
            </a:r>
          </a:p>
          <a:p>
            <a:pPr algn="l">
              <a:lnSpc>
                <a:spcPct val="112000"/>
              </a:lnSpc>
            </a:pPr>
            <a:r>
              <a:rPr sz="900" b="0" i="0">
                <a:solidFill>
                  <a:srgbClr val="D8E4F0"/>
                </a:solidFill>
                <a:latin typeface="Consolas"/>
              </a:rPr>
              <a:t>      $display("FAIL %0t : %0s  got %h expected %h", $time, msg, got, exp);</a:t>
            </a:r>
          </a:p>
          <a:p>
            <a:pPr algn="l">
              <a:lnSpc>
                <a:spcPct val="112000"/>
              </a:lnSpc>
            </a:pPr>
            <a:r>
              <a:rPr sz="900" b="0" i="0">
                <a:solidFill>
                  <a:srgbClr val="D8E4F0"/>
                </a:solidFill>
                <a:latin typeface="Consolas"/>
              </a:rPr>
              <a:t>      errors = errors + 1;</a:t>
            </a:r>
          </a:p>
          <a:p>
            <a:pPr algn="l">
              <a:lnSpc>
                <a:spcPct val="112000"/>
              </a:lnSpc>
            </a:pPr>
            <a:r>
              <a:rPr sz="900" b="0" i="0">
                <a:solidFill>
                  <a:srgbClr val="D8E4F0"/>
                </a:solidFill>
                <a:latin typeface="Consolas"/>
              </a:rPr>
              <a:t>    end</a:t>
            </a:r>
          </a:p>
          <a:p>
            <a:pPr algn="l">
              <a:lnSpc>
                <a:spcPct val="112000"/>
              </a:lnSpc>
            </a:pPr>
            <a:r>
              <a:rPr sz="900" b="0" i="0">
                <a:solidFill>
                  <a:srgbClr val="D8E4F0"/>
                </a:solidFill>
                <a:latin typeface="Consolas"/>
              </a:rPr>
              <a:t>  endtask</a:t>
            </a:r>
          </a:p>
          <a:p>
            <a:pPr algn="l">
              <a:lnSpc>
                <a:spcPct val="112000"/>
              </a:lnSpc>
            </a:pPr>
            <a:r>
              <a:rPr sz="900" b="0" i="0">
                <a:solidFill>
                  <a:srgbClr val="D8E4F0"/>
                </a:solidFill>
                <a:latin typeface="Consolas"/>
              </a:rPr>
              <a:t> </a:t>
            </a:r>
          </a:p>
          <a:p>
            <a:pPr algn="l">
              <a:lnSpc>
                <a:spcPct val="112000"/>
              </a:lnSpc>
            </a:pPr>
            <a:r>
              <a:rPr sz="900" b="0" i="0">
                <a:solidFill>
                  <a:srgbClr val="D8E4F0"/>
                </a:solidFill>
                <a:latin typeface="Consolas"/>
              </a:rPr>
              <a:t>  initial begin</a:t>
            </a:r>
          </a:p>
          <a:p>
            <a:pPr algn="l">
              <a:lnSpc>
                <a:spcPct val="112000"/>
              </a:lnSpc>
            </a:pPr>
            <a:r>
              <a:rPr sz="900" b="0" i="0">
                <a:solidFill>
                  <a:srgbClr val="D8E4F0"/>
                </a:solidFill>
                <a:latin typeface="Consolas"/>
              </a:rPr>
              <a:t>    $dumpfile("v1.vcd");  $dumpvars(0, tb_v1_naive);          // 3. waveform dump</a:t>
            </a:r>
          </a:p>
          <a:p>
            <a:pPr algn="l">
              <a:lnSpc>
                <a:spcPct val="112000"/>
              </a:lnSpc>
            </a:pPr>
            <a:r>
              <a:rPr sz="900" b="0" i="0">
                <a:solidFill>
                  <a:srgbClr val="D8E4F0"/>
                </a:solidFill>
                <a:latin typeface="Consolas"/>
              </a:rPr>
              <a:t>    rst_n = 1'b0; repeat (3) @(posedge clk); #1 rst_n = 1'b1;  // reset, released</a:t>
            </a:r>
          </a:p>
          <a:p>
            <a:pPr algn="l">
              <a:lnSpc>
                <a:spcPct val="112000"/>
              </a:lnSpc>
            </a:pPr>
            <a:r>
              <a:rPr sz="900" b="0" i="0">
                <a:solidFill>
                  <a:srgbClr val="D8E4F0"/>
                </a:solidFill>
                <a:latin typeface="Consolas"/>
              </a:rPr>
              <a:t>                                                              //   BETWEEN edges</a:t>
            </a:r>
          </a:p>
          <a:p>
            <a:pPr algn="l">
              <a:lnSpc>
                <a:spcPct val="112000"/>
              </a:lnSpc>
            </a:pPr>
            <a:r>
              <a:rPr sz="900" b="0" i="0">
                <a:solidFill>
                  <a:srgbClr val="D8E4F0"/>
                </a:solidFill>
                <a:latin typeface="Consolas"/>
              </a:rPr>
              <a:t>    push(8'hA1); push(8'hB2); push(8'hC3);                    // 4. stimulus</a:t>
            </a:r>
          </a:p>
          <a:p>
            <a:pPr algn="l">
              <a:lnSpc>
                <a:spcPct val="112000"/>
              </a:lnSpc>
            </a:pPr>
            <a:r>
              <a:rPr sz="900" b="0" i="0">
                <a:solidFill>
                  <a:srgbClr val="D8E4F0"/>
                </a:solidFill>
                <a:latin typeface="Consolas"/>
              </a:rPr>
              <a:t>    pop(got); check(got, 8'hA1, "first word out");            //    and checks</a:t>
            </a:r>
          </a:p>
          <a:p>
            <a:pPr algn="l">
              <a:lnSpc>
                <a:spcPct val="112000"/>
              </a:lnSpc>
            </a:pPr>
            <a:r>
              <a:rPr sz="900" b="0" i="0">
                <a:solidFill>
                  <a:srgbClr val="D8E4F0"/>
                </a:solidFill>
                <a:latin typeface="Consolas"/>
              </a:rPr>
              <a:t>    pop(got); check(got, 8'hB2, "second word out");</a:t>
            </a:r>
          </a:p>
          <a:p>
            <a:pPr algn="l">
              <a:lnSpc>
                <a:spcPct val="112000"/>
              </a:lnSpc>
            </a:pPr>
            <a:r>
              <a:rPr sz="900" b="0" i="0">
                <a:solidFill>
                  <a:srgbClr val="D8E4F0"/>
                </a:solidFill>
                <a:latin typeface="Consolas"/>
              </a:rPr>
              <a:t>    pop(got); check(got, 8'hC3, "third word out");</a:t>
            </a:r>
          </a:p>
          <a:p>
            <a:pPr algn="l">
              <a:lnSpc>
                <a:spcPct val="112000"/>
              </a:lnSpc>
            </a:pPr>
            <a:r>
              <a:rPr sz="900" b="0" i="0">
                <a:solidFill>
                  <a:srgbClr val="D8E4F0"/>
                </a:solidFill>
                <a:latin typeface="Consolas"/>
              </a:rPr>
              <a:t> </a:t>
            </a:r>
          </a:p>
          <a:p>
            <a:pPr algn="l">
              <a:lnSpc>
                <a:spcPct val="112000"/>
              </a:lnSpc>
            </a:pPr>
            <a:r>
              <a:rPr sz="900" b="0" i="0">
                <a:solidFill>
                  <a:srgbClr val="D8E4F0"/>
                </a:solidFill>
                <a:latin typeface="Consolas"/>
              </a:rPr>
              <a:t>    if (errors == 0) $display("PASS - 3 words in, 3 words out");  // 5. verdict</a:t>
            </a:r>
          </a:p>
          <a:p>
            <a:pPr algn="l">
              <a:lnSpc>
                <a:spcPct val="112000"/>
              </a:lnSpc>
            </a:pPr>
            <a:r>
              <a:rPr sz="900" b="0" i="0">
                <a:solidFill>
                  <a:srgbClr val="D8E4F0"/>
                </a:solidFill>
                <a:latin typeface="Consolas"/>
              </a:rPr>
              <a:t>    $finish;                                                       // 6. stop</a:t>
            </a:r>
          </a:p>
          <a:p>
            <a:pPr algn="l">
              <a:lnSpc>
                <a:spcPct val="112000"/>
              </a:lnSpc>
            </a:pPr>
            <a:r>
              <a:rPr sz="900" b="0" i="0">
                <a:solidFill>
                  <a:srgbClr val="D8E4F0"/>
                </a:solidFill>
                <a:latin typeface="Consolas"/>
              </a:rPr>
              <a:t>  end</a:t>
            </a:r>
          </a:p>
          <a:p>
            <a:pPr algn="l">
              <a:lnSpc>
                <a:spcPct val="112000"/>
              </a:lnSpc>
            </a:pPr>
            <a:r>
              <a:rPr sz="900" b="0" i="0">
                <a:solidFill>
                  <a:srgbClr val="D8E4F0"/>
                </a:solidFill>
                <a:latin typeface="Consolas"/>
              </a:rPr>
              <a:t>endmodule</a:t>
            </a:r>
          </a:p>
        </p:txBody>
      </p:sp>
      <p:sp>
        <p:nvSpPr>
          <p:cNvPr id="12" name="TextBox 11"/>
          <p:cNvSpPr txBox="1"/>
          <p:nvPr/>
        </p:nvSpPr>
        <p:spPr>
          <a:xfrm>
            <a:off x="411480" y="5751576"/>
            <a:ext cx="11247120" cy="274320"/>
          </a:xfrm>
          <a:prstGeom prst="rect">
            <a:avLst/>
          </a:prstGeom>
          <a:noFill/>
        </p:spPr>
        <p:txBody>
          <a:bodyPr wrap="square" lIns="0" rIns="0" tIns="0" bIns="0" anchor="t">
            <a:spAutoFit/>
          </a:bodyPr>
          <a:lstStyle/>
          <a:p>
            <a:pPr algn="l">
              <a:lnSpc>
                <a:spcPct val="103000"/>
              </a:lnSpc>
            </a:pPr>
            <a:r>
              <a:rPr sz="1050" b="0" i="0">
                <a:solidFill>
                  <a:srgbClr val="33414F"/>
                </a:solidFill>
                <a:latin typeface="Calibri"/>
              </a:rPr>
              <a:t>This is not a bad testbench. It has every structural part, and it decides pass or fail without a human. It is still worth </a:t>
            </a:r>
            <a:r>
              <a:rPr sz="1050" b="1" i="1">
                <a:solidFill>
                  <a:srgbClr val="C01F43"/>
                </a:solidFill>
                <a:latin typeface="Calibri"/>
              </a:rPr>
              <a:t>nothing</a:t>
            </a:r>
            <a:r>
              <a:rPr sz="1050" b="0" i="0">
                <a:solidFill>
                  <a:srgbClr val="33414F"/>
                </a:solidFill>
                <a:latin typeface="Calibri"/>
              </a:rPr>
              <a:t> — and the next slide says why.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01F43"/>
                </a:solidFill>
                <a:latin typeface="Calibri"/>
              </a:rPr>
              <a:t>TOPIC 5B · LAB V1</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…and It Passes on Every Broken Design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19</a:t>
            </a:r>
          </a:p>
        </p:txBody>
      </p:sp>
      <p:sp>
        <p:nvSpPr>
          <p:cNvPr id="9" name="TextBox 8"/>
          <p:cNvSpPr txBox="1"/>
          <p:nvPr/>
        </p:nvSpPr>
        <p:spPr>
          <a:xfrm>
            <a:off x="411480" y="1143000"/>
            <a:ext cx="11247120" cy="45720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Run that testbench against the golden FIFO and against all five broken ones. </a:t>
            </a:r>
            <a:r>
              <a:rPr sz="1100" b="0" i="0">
                <a:solidFill>
                  <a:srgbClr val="33414F"/>
                </a:solidFill>
                <a:latin typeface="Calibri"/>
              </a:rPr>
              <a:t>This is real output.</a:t>
            </a:r>
          </a:p>
        </p:txBody>
      </p:sp>
      <p:sp>
        <p:nvSpPr>
          <p:cNvPr id="10" name="Rounded Rectangle 9"/>
          <p:cNvSpPr/>
          <p:nvPr/>
        </p:nvSpPr>
        <p:spPr>
          <a:xfrm>
            <a:off x="411480" y="1645920"/>
            <a:ext cx="11247120" cy="1630680"/>
          </a:xfrm>
          <a:prstGeom prst="roundRect">
            <a:avLst>
              <a:gd name="adj" fmla="val 3000"/>
            </a:avLst>
          </a:prstGeom>
          <a:solidFill>
            <a:srgbClr val="112233"/>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176022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Verified output</a:t>
            </a:r>
          </a:p>
        </p:txBody>
      </p:sp>
      <p:sp>
        <p:nvSpPr>
          <p:cNvPr id="12" name="TextBox 11"/>
          <p:cNvSpPr txBox="1"/>
          <p:nvPr/>
        </p:nvSpPr>
        <p:spPr>
          <a:xfrm>
            <a:off x="594360" y="2034540"/>
            <a:ext cx="10881360" cy="1127760"/>
          </a:xfrm>
          <a:prstGeom prst="rect">
            <a:avLst/>
          </a:prstGeom>
          <a:noFill/>
        </p:spPr>
        <p:txBody>
          <a:bodyPr wrap="square" lIns="0" rIns="0" tIns="0" bIns="0" anchor="t">
            <a:spAutoFit/>
          </a:bodyPr>
          <a:lstStyle/>
          <a:p>
            <a:pPr algn="l">
              <a:lnSpc>
                <a:spcPct val="112000"/>
              </a:lnSpc>
            </a:pPr>
            <a:r>
              <a:rPr sz="1000" b="0" i="0">
                <a:solidFill>
                  <a:srgbClr val="1B9AAA"/>
                </a:solidFill>
                <a:latin typeface="Consolas"/>
              </a:rPr>
              <a:t>$ ./scripts/clinic.sh</a:t>
            </a:r>
          </a:p>
          <a:p>
            <a:pPr algn="l">
              <a:lnSpc>
                <a:spcPct val="112000"/>
              </a:lnSpc>
            </a:pPr>
            <a:r>
              <a:rPr sz="1000" b="0" i="0">
                <a:solidFill>
                  <a:srgbClr val="D8E4F0"/>
                </a:solidFill>
                <a:latin typeface="Consolas"/>
              </a:rPr>
              <a:t> </a:t>
            </a:r>
          </a:p>
          <a:p>
            <a:pPr algn="l">
              <a:lnSpc>
                <a:spcPct val="112000"/>
              </a:lnSpc>
            </a:pPr>
            <a:r>
              <a:rPr sz="1000" b="0" i="0">
                <a:solidFill>
                  <a:srgbClr val="D8E4F0"/>
                </a:solidFill>
                <a:latin typeface="Consolas"/>
              </a:rPr>
              <a:t>  V1 naive directed      pass      pass      pass      pass      pass      pass</a:t>
            </a:r>
          </a:p>
          <a:p>
            <a:pPr algn="l">
              <a:lnSpc>
                <a:spcPct val="112000"/>
              </a:lnSpc>
            </a:pPr>
            <a:r>
              <a:rPr sz="1000" b="0" i="0">
                <a:solidFill>
                  <a:srgbClr val="D8E4F0"/>
                </a:solidFill>
                <a:latin typeface="Consolas"/>
              </a:rPr>
              <a:t>                         fifo      fifo_b1   fifo_b2   fifo_b3   fifo_b4   fifo_b5</a:t>
            </a:r>
          </a:p>
          <a:p>
            <a:pPr algn="l">
              <a:lnSpc>
                <a:spcPct val="112000"/>
              </a:lnSpc>
            </a:pPr>
            <a:r>
              <a:rPr sz="1000" b="0" i="0">
                <a:solidFill>
                  <a:srgbClr val="D8E4F0"/>
                </a:solidFill>
                <a:latin typeface="Consolas"/>
              </a:rPr>
              <a:t> </a:t>
            </a:r>
          </a:p>
          <a:p>
            <a:pPr algn="l">
              <a:lnSpc>
                <a:spcPct val="112000"/>
              </a:lnSpc>
            </a:pPr>
            <a:r>
              <a:rPr sz="1000" b="0" i="0">
                <a:solidFill>
                  <a:srgbClr val="D8E4F0"/>
                </a:solidFill>
                <a:latin typeface="Consolas"/>
              </a:rPr>
              <a:t>  V1 : 0 of 5 bugs caught, golden design passes (no false alarm)</a:t>
            </a:r>
          </a:p>
        </p:txBody>
      </p:sp>
      <p:sp>
        <p:nvSpPr>
          <p:cNvPr id="13" name="Rounded Rectangle 12"/>
          <p:cNvSpPr/>
          <p:nvPr/>
        </p:nvSpPr>
        <p:spPr>
          <a:xfrm>
            <a:off x="411480" y="3368040"/>
            <a:ext cx="11247120" cy="118872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76072" y="3432048"/>
            <a:ext cx="10917936"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Why it misses everything</a:t>
            </a:r>
          </a:p>
        </p:txBody>
      </p:sp>
      <p:sp>
        <p:nvSpPr>
          <p:cNvPr id="15" name="TextBox 14"/>
          <p:cNvSpPr txBox="1"/>
          <p:nvPr/>
        </p:nvSpPr>
        <p:spPr>
          <a:xfrm>
            <a:off x="576072" y="3706368"/>
            <a:ext cx="10917936" cy="78638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It never fills the FIFO. It never empties it past zero. It never asserts read and write on the same cycle. It never wraps the pointers. It never attempts a write while full or a read while empty.</a:t>
            </a:r>
          </a:p>
          <a:p>
            <a:pPr algn="l">
              <a:lnSpc>
                <a:spcPct val="103000"/>
              </a:lnSpc>
              <a:spcAft>
                <a:spcPts val="400"/>
              </a:spcAft>
            </a:pPr>
            <a:r>
              <a:rPr sz="1100" b="1" i="0">
                <a:solidFill>
                  <a:srgbClr val="C01F43"/>
                </a:solidFill>
                <a:latin typeface="Calibri"/>
              </a:rPr>
              <a:t>Three words in and three words out exercises the one path where a broken FIFO and a correct FIFO behave identically. </a:t>
            </a:r>
            <a:r>
              <a:rPr sz="1100" b="0" i="0">
                <a:solidFill>
                  <a:srgbClr val="33414F"/>
                </a:solidFill>
                <a:latin typeface="Calibri"/>
              </a:rPr>
              <a:t>The bugs are all at the boundaries — which is where bugs generally are.</a:t>
            </a:r>
          </a:p>
        </p:txBody>
      </p:sp>
      <p:sp>
        <p:nvSpPr>
          <p:cNvPr id="16" name="Rounded Rectangle 15"/>
          <p:cNvSpPr/>
          <p:nvPr/>
        </p:nvSpPr>
        <p:spPr>
          <a:xfrm>
            <a:off x="411480" y="4648200"/>
            <a:ext cx="11247120" cy="685800"/>
          </a:xfrm>
          <a:prstGeom prst="roundRect">
            <a:avLst>
              <a:gd name="adj" fmla="val 5714"/>
            </a:avLst>
          </a:prstGeom>
          <a:solidFill>
            <a:srgbClr val="F4F8FB"/>
          </a:solidFill>
          <a:ln w="1397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76072" y="4712208"/>
            <a:ext cx="10917936" cy="274320"/>
          </a:xfrm>
          <a:prstGeom prst="rect">
            <a:avLst/>
          </a:prstGeom>
          <a:noFill/>
        </p:spPr>
        <p:txBody>
          <a:bodyPr wrap="square" lIns="0" rIns="0" tIns="0" bIns="0" anchor="ctr">
            <a:spAutoFit/>
          </a:bodyPr>
          <a:lstStyle/>
          <a:p>
            <a:pPr algn="l">
              <a:lnSpc>
                <a:spcPct val="103000"/>
              </a:lnSpc>
            </a:pPr>
            <a:r>
              <a:rPr sz="1150" b="1" i="0">
                <a:solidFill>
                  <a:srgbClr val="0E2A47"/>
                </a:solidFill>
                <a:latin typeface="Cambria"/>
              </a:rPr>
              <a:t>The lesson to state explicitly</a:t>
            </a:r>
          </a:p>
        </p:txBody>
      </p:sp>
      <p:sp>
        <p:nvSpPr>
          <p:cNvPr id="18" name="TextBox 17"/>
          <p:cNvSpPr txBox="1"/>
          <p:nvPr/>
        </p:nvSpPr>
        <p:spPr>
          <a:xfrm>
            <a:off x="576072" y="4986528"/>
            <a:ext cx="10917936" cy="283464"/>
          </a:xfrm>
          <a:prstGeom prst="rect">
            <a:avLst/>
          </a:prstGeom>
          <a:noFill/>
        </p:spPr>
        <p:txBody>
          <a:bodyPr wrap="square" lIns="0" rIns="0" tIns="0" bIns="0" anchor="t">
            <a:spAutoFit/>
          </a:bodyPr>
          <a:lstStyle/>
          <a:p>
            <a:pPr algn="l">
              <a:lnSpc>
                <a:spcPct val="103000"/>
              </a:lnSpc>
              <a:spcAft>
                <a:spcPts val="400"/>
              </a:spcAft>
            </a:pPr>
            <a:r>
              <a:rPr sz="1100" b="1" i="0">
                <a:solidFill>
                  <a:srgbClr val="0E2A47"/>
                </a:solidFill>
                <a:latin typeface="Calibri"/>
              </a:rPr>
              <a:t>Coverage of the SPECIFICATION, not volume of stimulus, is what makes a testbench worth having.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5B · TIMING</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When to Drive and When to Sample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20</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More 'the design is broken' reports come from this than from any other cause. </a:t>
            </a:r>
            <a:r>
              <a:rPr sz="1100" b="0" i="0">
                <a:solidFill>
                  <a:srgbClr val="33414F"/>
                </a:solidFill>
                <a:latin typeface="Calibri"/>
              </a:rPr>
              <a:t>If you change an input at the same instant as the clock edge, you have created a race — and which value the DUT sees is not defined.</a:t>
            </a:r>
          </a:p>
        </p:txBody>
      </p:sp>
      <p:pic>
        <p:nvPicPr>
          <p:cNvPr id="10" name="Picture 9" descr="stimulus_timing.png"/>
          <p:cNvPicPr>
            <a:picLocks noChangeAspect="1"/>
          </p:cNvPicPr>
          <p:nvPr/>
        </p:nvPicPr>
        <p:blipFill>
          <a:blip r:embed="rId2"/>
          <a:stretch>
            <a:fillRect/>
          </a:stretch>
        </p:blipFill>
        <p:spPr>
          <a:xfrm>
            <a:off x="2406392" y="1783080"/>
            <a:ext cx="7257295" cy="3383280"/>
          </a:xfrm>
          <a:prstGeom prst="rect">
            <a:avLst/>
          </a:prstGeom>
        </p:spPr>
      </p:pic>
      <p:sp>
        <p:nvSpPr>
          <p:cNvPr id="11" name="Rounded Rectangle 10"/>
          <p:cNvSpPr/>
          <p:nvPr/>
        </p:nvSpPr>
        <p:spPr>
          <a:xfrm>
            <a:off x="411480" y="5257800"/>
            <a:ext cx="11247120" cy="105156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321808"/>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Two real examples from these labs</a:t>
            </a:r>
          </a:p>
        </p:txBody>
      </p:sp>
      <p:sp>
        <p:nvSpPr>
          <p:cNvPr id="13" name="TextBox 12"/>
          <p:cNvSpPr txBox="1"/>
          <p:nvPr/>
        </p:nvSpPr>
        <p:spPr>
          <a:xfrm>
            <a:off x="576072" y="5596128"/>
            <a:ext cx="10917936" cy="649224"/>
          </a:xfrm>
          <a:prstGeom prst="rect">
            <a:avLst/>
          </a:prstGeom>
          <a:noFill/>
        </p:spPr>
        <p:txBody>
          <a:bodyPr wrap="square" lIns="0" rIns="0" tIns="0" bIns="0" anchor="t">
            <a:spAutoFit/>
          </a:bodyPr>
          <a:lstStyle/>
          <a:p>
            <a:pPr algn="l">
              <a:lnSpc>
                <a:spcPct val="103000"/>
              </a:lnSpc>
              <a:spcAft>
                <a:spcPts val="400"/>
              </a:spcAft>
            </a:pPr>
            <a:r>
              <a:rPr sz="1100" b="1" i="0">
                <a:solidFill>
                  <a:srgbClr val="C77514"/>
                </a:solidFill>
                <a:latin typeface="Calibri"/>
              </a:rPr>
              <a:t>Topic 4: </a:t>
            </a:r>
            <a:r>
              <a:rPr sz="1100" b="0" i="0">
                <a:solidFill>
                  <a:srgbClr val="33414F"/>
                </a:solidFill>
                <a:latin typeface="Calibri"/>
              </a:rPr>
              <a:t>an edge-detector test failed because the stimulus changed mid-cycle, so the pulse was half a cycle wide and the check sampled at the wrong moment.</a:t>
            </a:r>
          </a:p>
          <a:p>
            <a:pPr algn="l">
              <a:lnSpc>
                <a:spcPct val="103000"/>
              </a:lnSpc>
              <a:spcAft>
                <a:spcPts val="400"/>
              </a:spcAft>
            </a:pPr>
            <a:r>
              <a:rPr sz="1100" b="1" i="0">
                <a:solidFill>
                  <a:srgbClr val="C77514"/>
                </a:solidFill>
                <a:latin typeface="Calibri"/>
              </a:rPr>
              <a:t>Topic 4: </a:t>
            </a:r>
            <a:r>
              <a:rPr sz="1100" b="0" i="0">
                <a:solidFill>
                  <a:srgbClr val="33414F"/>
                </a:solidFill>
                <a:latin typeface="Calibri"/>
              </a:rPr>
              <a:t>an FSM testbench released reset exactly ON a clock edge; the state register saw an ambiguous condition and stayed x for two cycles, and the sequence detector found one match instead of two. Neither design was broken.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5B · REFERENCE MODEL</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Step That Changes Everything</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21</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Hand-written expected values do not scale past about twenty cases. </a:t>
            </a:r>
            <a:r>
              <a:rPr sz="1100" b="0" i="0">
                <a:solidFill>
                  <a:srgbClr val="33414F"/>
                </a:solidFill>
                <a:latin typeface="Calibri"/>
              </a:rPr>
              <a:t>A reference model is a second, independent implementation of the specification — usually far simpler than the RTL, because it need not be efficient or synthesisable.</a:t>
            </a:r>
          </a:p>
        </p:txBody>
      </p:sp>
      <p:pic>
        <p:nvPicPr>
          <p:cNvPr id="10" name="Picture 9" descr="refmodel.png"/>
          <p:cNvPicPr>
            <a:picLocks noChangeAspect="1"/>
          </p:cNvPicPr>
          <p:nvPr/>
        </p:nvPicPr>
        <p:blipFill>
          <a:blip r:embed="rId2"/>
          <a:stretch>
            <a:fillRect/>
          </a:stretch>
        </p:blipFill>
        <p:spPr>
          <a:xfrm>
            <a:off x="2773160" y="1783080"/>
            <a:ext cx="6523760" cy="3291840"/>
          </a:xfrm>
          <a:prstGeom prst="rect">
            <a:avLst/>
          </a:prstGeom>
        </p:spPr>
      </p:pic>
      <p:sp>
        <p:nvSpPr>
          <p:cNvPr id="11" name="Rounded Rectangle 10"/>
          <p:cNvSpPr/>
          <p:nvPr/>
        </p:nvSpPr>
        <p:spPr>
          <a:xfrm>
            <a:off x="411480" y="5166360"/>
            <a:ext cx="11247120" cy="1217168"/>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94360" y="528066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Topic5_Lab/tb/tb_v2_selfcheck.v</a:t>
            </a:r>
          </a:p>
        </p:txBody>
      </p:sp>
      <p:sp>
        <p:nvSpPr>
          <p:cNvPr id="13" name="TextBox 12"/>
          <p:cNvSpPr txBox="1"/>
          <p:nvPr/>
        </p:nvSpPr>
        <p:spPr>
          <a:xfrm>
            <a:off x="594360" y="5554980"/>
            <a:ext cx="10881360" cy="714248"/>
          </a:xfrm>
          <a:prstGeom prst="rect">
            <a:avLst/>
          </a:prstGeom>
          <a:noFill/>
        </p:spPr>
        <p:txBody>
          <a:bodyPr wrap="square" lIns="0" rIns="0" tIns="0" bIns="0" anchor="t">
            <a:spAutoFit/>
          </a:bodyPr>
          <a:lstStyle/>
          <a:p>
            <a:pPr algn="l">
              <a:lnSpc>
                <a:spcPct val="112000"/>
              </a:lnSpc>
            </a:pPr>
            <a:r>
              <a:rPr sz="950" b="0" i="0">
                <a:solidFill>
                  <a:srgbClr val="7F9CB5"/>
                </a:solidFill>
                <a:latin typeface="Consolas"/>
              </a:rPr>
              <a:t>// The FIFO's model: an array and two indices. That is all it needs to be.</a:t>
            </a:r>
          </a:p>
          <a:p>
            <a:pPr algn="l">
              <a:lnSpc>
                <a:spcPct val="112000"/>
              </a:lnSpc>
            </a:pPr>
            <a:r>
              <a:rPr sz="950" b="0" i="0">
                <a:solidFill>
                  <a:srgbClr val="D8E4F0"/>
                </a:solidFill>
                <a:latin typeface="Consolas"/>
              </a:rPr>
              <a:t>reg [W-1:0] model [0:DEPTH-1];</a:t>
            </a:r>
          </a:p>
          <a:p>
            <a:pPr algn="l">
              <a:lnSpc>
                <a:spcPct val="112000"/>
              </a:lnSpc>
            </a:pPr>
            <a:r>
              <a:rPr sz="950" b="0" i="0">
                <a:solidFill>
                  <a:srgbClr val="D8E4F0"/>
                </a:solidFill>
                <a:latin typeface="Consolas"/>
              </a:rPr>
              <a:t>integer     mhead, mtail;             // mtail - mhead is the occupancy</a:t>
            </a:r>
          </a:p>
          <a:p>
            <a:pPr algn="l">
              <a:lnSpc>
                <a:spcPct val="112000"/>
              </a:lnSpc>
            </a:pPr>
            <a:r>
              <a:rPr sz="950" b="0" i="0">
                <a:solidFill>
                  <a:srgbClr val="D8E4F0"/>
                </a:solidFill>
                <a:latin typeface="Consolas"/>
              </a:rPr>
              <a:t>function [$clog2(DEPTH):0] mcount; input dummy; mcount = mtail - mhead; endfunction</a:t>
            </a:r>
          </a:p>
        </p:txBody>
      </p:sp>
      <p:sp>
        <p:nvSpPr>
          <p:cNvPr id="14" name="TextBox 13"/>
          <p:cNvSpPr txBox="1"/>
          <p:nvPr/>
        </p:nvSpPr>
        <p:spPr>
          <a:xfrm>
            <a:off x="411480" y="6429248"/>
            <a:ext cx="11247120" cy="274320"/>
          </a:xfrm>
          <a:prstGeom prst="rect">
            <a:avLst/>
          </a:prstGeom>
          <a:noFill/>
        </p:spPr>
        <p:txBody>
          <a:bodyPr wrap="square" lIns="0" rIns="0" tIns="0" bIns="0" anchor="t">
            <a:spAutoFit/>
          </a:bodyPr>
          <a:lstStyle/>
          <a:p>
            <a:pPr algn="l">
              <a:lnSpc>
                <a:spcPct val="103000"/>
              </a:lnSpc>
            </a:pPr>
            <a:r>
              <a:rPr sz="1050" b="0" i="1">
                <a:solidFill>
                  <a:srgbClr val="5A6B7B"/>
                </a:solidFill>
                <a:latin typeface="Calibri"/>
              </a:rPr>
              <a:t>Once the model exists you can compare EVERY cycle — count, empty, full and the output word — instead of only at the points where you happened to write a check.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01F43"/>
                </a:solidFill>
                <a:latin typeface="Calibri"/>
              </a:rPr>
              <a:t>TOPIC 5B · CASE STUDY</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A Real Bug — in the Reference Model</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22</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The model is code, and code has bugs. </a:t>
            </a:r>
            <a:r>
              <a:rPr sz="1100" b="0" i="0">
                <a:solidFill>
                  <a:srgbClr val="33414F"/>
                </a:solidFill>
                <a:latin typeface="Calibri"/>
              </a:rPr>
              <a:t>This one was found while writing this lab, and it is the most instructive failure in the whole topic: the CORRECT FIFO failed, and a BROKEN one passed.</a:t>
            </a:r>
          </a:p>
        </p:txBody>
      </p:sp>
      <p:pic>
        <p:nvPicPr>
          <p:cNvPr id="10" name="Picture 9" descr="model_order_bug.png"/>
          <p:cNvPicPr>
            <a:picLocks noChangeAspect="1"/>
          </p:cNvPicPr>
          <p:nvPr/>
        </p:nvPicPr>
        <p:blipFill>
          <a:blip r:embed="rId2"/>
          <a:stretch>
            <a:fillRect/>
          </a:stretch>
        </p:blipFill>
        <p:spPr>
          <a:xfrm>
            <a:off x="2798091" y="1783080"/>
            <a:ext cx="6473897" cy="3566160"/>
          </a:xfrm>
          <a:prstGeom prst="rect">
            <a:avLst/>
          </a:prstGeom>
        </p:spPr>
      </p:pic>
      <p:sp>
        <p:nvSpPr>
          <p:cNvPr id="11" name="Rounded Rectangle 10"/>
          <p:cNvSpPr/>
          <p:nvPr/>
        </p:nvSpPr>
        <p:spPr>
          <a:xfrm>
            <a:off x="411480" y="5440680"/>
            <a:ext cx="11247120" cy="96012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504688"/>
            <a:ext cx="10917936"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The general rule this teaches</a:t>
            </a:r>
          </a:p>
        </p:txBody>
      </p:sp>
      <p:sp>
        <p:nvSpPr>
          <p:cNvPr id="13" name="TextBox 12"/>
          <p:cNvSpPr txBox="1"/>
          <p:nvPr/>
        </p:nvSpPr>
        <p:spPr>
          <a:xfrm>
            <a:off x="576072" y="5779008"/>
            <a:ext cx="10917936" cy="557784"/>
          </a:xfrm>
          <a:prstGeom prst="rect">
            <a:avLst/>
          </a:prstGeom>
          <a:noFill/>
        </p:spPr>
        <p:txBody>
          <a:bodyPr wrap="square" lIns="0" rIns="0" tIns="0" bIns="0" anchor="t">
            <a:spAutoFit/>
          </a:bodyPr>
          <a:lstStyle/>
          <a:p>
            <a:pPr algn="l">
              <a:lnSpc>
                <a:spcPct val="103000"/>
              </a:lnSpc>
              <a:spcAft>
                <a:spcPts val="400"/>
              </a:spcAft>
            </a:pPr>
            <a:r>
              <a:rPr sz="1100" b="1" i="0">
                <a:solidFill>
                  <a:srgbClr val="2A9D5C"/>
                </a:solidFill>
                <a:latin typeface="Calibri"/>
              </a:rPr>
              <a:t>A model must make its decisions from the same state the hardware does. </a:t>
            </a:r>
            <a:r>
              <a:rPr sz="1100" b="0" i="0">
                <a:solidFill>
                  <a:srgbClr val="33414F"/>
                </a:solidFill>
                <a:latin typeface="Calibri"/>
              </a:rPr>
              <a:t>Hardware evaluates every enable from the state that existed BEFORE the clock edge, all at once. A model that applies one operation and then tests its own updated state is modelling something the hardware never does. Sample first; then apply.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5B · LAB V2</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Model Plus Corners — 4 of 5</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23</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V2 adds two things to V1: the reference model, and the boundary cases. </a:t>
            </a:r>
            <a:r>
              <a:rPr sz="1100" b="0" i="0">
                <a:solidFill>
                  <a:srgbClr val="33414F"/>
                </a:solidFill>
                <a:latin typeface="Calibri"/>
              </a:rPr>
              <a:t>It is not a longer test — it is a better-chosen one.</a:t>
            </a:r>
          </a:p>
        </p:txBody>
      </p:sp>
      <p:sp>
        <p:nvSpPr>
          <p:cNvPr id="10" name="Rounded Rectangle 9"/>
          <p:cNvSpPr/>
          <p:nvPr/>
        </p:nvSpPr>
        <p:spPr>
          <a:xfrm>
            <a:off x="411480" y="1691640"/>
            <a:ext cx="11247120" cy="200660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180594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The eight directed tests in tb_v2_selfcheck.v</a:t>
            </a:r>
          </a:p>
        </p:txBody>
      </p:sp>
      <p:sp>
        <p:nvSpPr>
          <p:cNvPr id="12" name="TextBox 11"/>
          <p:cNvSpPr txBox="1"/>
          <p:nvPr/>
        </p:nvSpPr>
        <p:spPr>
          <a:xfrm>
            <a:off x="594360" y="2080260"/>
            <a:ext cx="10881360" cy="1503680"/>
          </a:xfrm>
          <a:prstGeom prst="rect">
            <a:avLst/>
          </a:prstGeom>
          <a:noFill/>
        </p:spPr>
        <p:txBody>
          <a:bodyPr wrap="square" lIns="0" rIns="0" tIns="0" bIns="0" anchor="t">
            <a:spAutoFit/>
          </a:bodyPr>
          <a:lstStyle/>
          <a:p>
            <a:pPr algn="l">
              <a:lnSpc>
                <a:spcPct val="112000"/>
              </a:lnSpc>
            </a:pPr>
            <a:r>
              <a:rPr sz="1000" b="0" i="0">
                <a:solidFill>
                  <a:srgbClr val="D8E4F0"/>
                </a:solidFill>
                <a:latin typeface="Consolas"/>
              </a:rPr>
              <a:t>T1  state immediately after reset</a:t>
            </a:r>
          </a:p>
          <a:p>
            <a:pPr algn="l">
              <a:lnSpc>
                <a:spcPct val="112000"/>
              </a:lnSpc>
            </a:pPr>
            <a:r>
              <a:rPr sz="1000" b="0" i="0">
                <a:solidFill>
                  <a:srgbClr val="D8E4F0"/>
                </a:solidFill>
                <a:latin typeface="Consolas"/>
              </a:rPr>
              <a:t>T2  fill to exactly full            -&gt; full must assert, empty must not</a:t>
            </a:r>
          </a:p>
          <a:p>
            <a:pPr algn="l">
              <a:lnSpc>
                <a:spcPct val="112000"/>
              </a:lnSpc>
            </a:pPr>
            <a:r>
              <a:rPr sz="1000" b="0" i="0">
                <a:solidFill>
                  <a:srgbClr val="D8E4F0"/>
                </a:solidFill>
                <a:latin typeface="Consolas"/>
              </a:rPr>
              <a:t>T3  a write WHILE FULL              -&gt; must be ignored, occupancy unchanged</a:t>
            </a:r>
          </a:p>
          <a:p>
            <a:pPr algn="l">
              <a:lnSpc>
                <a:spcPct val="112000"/>
              </a:lnSpc>
            </a:pPr>
            <a:r>
              <a:rPr sz="1000" b="0" i="0">
                <a:solidFill>
                  <a:srgbClr val="D8E4F0"/>
                </a:solidFill>
                <a:latin typeface="Consolas"/>
              </a:rPr>
              <a:t>T4  drain to exactly empty          -&gt; empty must assert, full must not</a:t>
            </a:r>
          </a:p>
          <a:p>
            <a:pPr algn="l">
              <a:lnSpc>
                <a:spcPct val="112000"/>
              </a:lnSpc>
            </a:pPr>
            <a:r>
              <a:rPr sz="1000" b="0" i="0">
                <a:solidFill>
                  <a:srgbClr val="D8E4F0"/>
                </a:solidFill>
                <a:latin typeface="Consolas"/>
              </a:rPr>
              <a:t>T5  a read WHILE EMPTY              -&gt; must be ignored, occupancy unchanged</a:t>
            </a:r>
          </a:p>
          <a:p>
            <a:pPr algn="l">
              <a:lnSpc>
                <a:spcPct val="112000"/>
              </a:lnSpc>
            </a:pPr>
            <a:r>
              <a:rPr sz="1000" b="0" i="0">
                <a:solidFill>
                  <a:srgbClr val="D8E4F0"/>
                </a:solidFill>
                <a:latin typeface="Consolas"/>
              </a:rPr>
              <a:t>T6  read and write on the SAME cycle, held half full</a:t>
            </a:r>
          </a:p>
          <a:p>
            <a:pPr algn="l">
              <a:lnSpc>
                <a:spcPct val="112000"/>
              </a:lnSpc>
            </a:pPr>
            <a:r>
              <a:rPr sz="1000" b="0" i="0">
                <a:solidFill>
                  <a:srgbClr val="D8E4F0"/>
                </a:solidFill>
                <a:latin typeface="Consolas"/>
              </a:rPr>
              <a:t>T7  keep going long enough to WRAP the pointers</a:t>
            </a:r>
          </a:p>
          <a:p>
            <a:pPr algn="l">
              <a:lnSpc>
                <a:spcPct val="112000"/>
              </a:lnSpc>
            </a:pPr>
            <a:r>
              <a:rPr sz="1000" b="0" i="0">
                <a:solidFill>
                  <a:srgbClr val="D8E4F0"/>
                </a:solidFill>
                <a:latin typeface="Consolas"/>
              </a:rPr>
              <a:t>T8  final drain, and the FIFO must end empty</a:t>
            </a:r>
          </a:p>
        </p:txBody>
      </p:sp>
      <p:sp>
        <p:nvSpPr>
          <p:cNvPr id="13" name="Rounded Rectangle 12"/>
          <p:cNvSpPr/>
          <p:nvPr/>
        </p:nvSpPr>
        <p:spPr>
          <a:xfrm>
            <a:off x="411480" y="3789680"/>
            <a:ext cx="11247120" cy="792480"/>
          </a:xfrm>
          <a:prstGeom prst="roundRect">
            <a:avLst>
              <a:gd name="adj" fmla="val 3000"/>
            </a:avLst>
          </a:prstGeom>
          <a:solidFill>
            <a:srgbClr val="112233"/>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94360" y="3903980"/>
            <a:ext cx="10881360" cy="563880"/>
          </a:xfrm>
          <a:prstGeom prst="rect">
            <a:avLst/>
          </a:prstGeom>
          <a:noFill/>
        </p:spPr>
        <p:txBody>
          <a:bodyPr wrap="square" lIns="0" rIns="0" tIns="0" bIns="0" anchor="t">
            <a:spAutoFit/>
          </a:bodyPr>
          <a:lstStyle/>
          <a:p>
            <a:pPr algn="l">
              <a:lnSpc>
                <a:spcPct val="112000"/>
              </a:lnSpc>
            </a:pPr>
            <a:r>
              <a:rPr sz="1000" b="0" i="0">
                <a:solidFill>
                  <a:srgbClr val="1B9AAA"/>
                </a:solidFill>
                <a:latin typeface="Consolas"/>
              </a:rPr>
              <a:t>$ ./scripts/clinic.sh</a:t>
            </a:r>
          </a:p>
          <a:p>
            <a:pPr algn="l">
              <a:lnSpc>
                <a:spcPct val="112000"/>
              </a:lnSpc>
            </a:pPr>
            <a:r>
              <a:rPr sz="1000" b="0" i="0">
                <a:solidFill>
                  <a:srgbClr val="D8E4F0"/>
                </a:solidFill>
                <a:latin typeface="Consolas"/>
              </a:rPr>
              <a:t>  V2 model + corners     pass     CAUGHT   CAUGHT   CAUGHT   CAUGHT   pass</a:t>
            </a:r>
          </a:p>
          <a:p>
            <a:pPr algn="l">
              <a:lnSpc>
                <a:spcPct val="112000"/>
              </a:lnSpc>
            </a:pPr>
            <a:r>
              <a:rPr sz="1000" b="0" i="0">
                <a:solidFill>
                  <a:srgbClr val="D8E4F0"/>
                </a:solidFill>
                <a:latin typeface="Consolas"/>
              </a:rPr>
              <a:t>  V2 : 4 of 5 bugs caught, golden design passes (no false alarm)</a:t>
            </a:r>
          </a:p>
        </p:txBody>
      </p:sp>
      <p:sp>
        <p:nvSpPr>
          <p:cNvPr id="15" name="TextBox 14"/>
          <p:cNvSpPr txBox="1"/>
          <p:nvPr/>
        </p:nvSpPr>
        <p:spPr>
          <a:xfrm>
            <a:off x="411480" y="4627880"/>
            <a:ext cx="11247120" cy="274320"/>
          </a:xfrm>
          <a:prstGeom prst="rect">
            <a:avLst/>
          </a:prstGeom>
          <a:noFill/>
        </p:spPr>
        <p:txBody>
          <a:bodyPr wrap="square" lIns="0" rIns="0" tIns="0" bIns="0" anchor="t">
            <a:spAutoFit/>
          </a:bodyPr>
          <a:lstStyle/>
          <a:p>
            <a:pPr algn="l">
              <a:lnSpc>
                <a:spcPct val="103000"/>
              </a:lnSpc>
            </a:pPr>
            <a:r>
              <a:rPr sz="1050" b="0" i="1">
                <a:solidFill>
                  <a:srgbClr val="5A6B7B"/>
                </a:solidFill>
                <a:latin typeface="Calibri"/>
              </a:rPr>
              <a:t>Four bugs, from eight well-chosen directed tests and a model. Nothing exotic — just the boundaries, checked against something that knows the right answer.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5B · RANDOM</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Constraints ARE the Test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24</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Constrained-random does not mean 'random'. </a:t>
            </a:r>
            <a:r>
              <a:rPr sz="1100" b="0" i="0">
                <a:solidFill>
                  <a:srgbClr val="33414F"/>
                </a:solidFill>
                <a:latin typeface="Calibri"/>
              </a:rPr>
              <a:t>You still decide what the test does — you just express it as weights and let the generator produce the sequences. Change the weights and you are testing a different part of the design.</a:t>
            </a:r>
          </a:p>
        </p:txBody>
      </p:sp>
      <p:pic>
        <p:nvPicPr>
          <p:cNvPr id="10" name="Picture 9" descr="random_weights.png"/>
          <p:cNvPicPr>
            <a:picLocks noChangeAspect="1"/>
          </p:cNvPicPr>
          <p:nvPr/>
        </p:nvPicPr>
        <p:blipFill>
          <a:blip r:embed="rId2"/>
          <a:stretch>
            <a:fillRect/>
          </a:stretch>
        </p:blipFill>
        <p:spPr>
          <a:xfrm>
            <a:off x="2562229" y="1783080"/>
            <a:ext cx="6945622" cy="3474720"/>
          </a:xfrm>
          <a:prstGeom prst="rect">
            <a:avLst/>
          </a:prstGeom>
        </p:spPr>
      </p:pic>
      <p:sp>
        <p:nvSpPr>
          <p:cNvPr id="11" name="Rounded Rectangle 10"/>
          <p:cNvSpPr/>
          <p:nvPr/>
        </p:nvSpPr>
        <p:spPr>
          <a:xfrm>
            <a:off x="411480" y="5349240"/>
            <a:ext cx="11247120" cy="1038606"/>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94360" y="546354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Topic5_Lab/tb/tb_v3_random.v — three lines of generator</a:t>
            </a:r>
          </a:p>
        </p:txBody>
      </p:sp>
      <p:sp>
        <p:nvSpPr>
          <p:cNvPr id="13" name="TextBox 12"/>
          <p:cNvSpPr txBox="1"/>
          <p:nvPr/>
        </p:nvSpPr>
        <p:spPr>
          <a:xfrm>
            <a:off x="594360" y="5737860"/>
            <a:ext cx="10881360" cy="535686"/>
          </a:xfrm>
          <a:prstGeom prst="rect">
            <a:avLst/>
          </a:prstGeom>
          <a:noFill/>
        </p:spPr>
        <p:txBody>
          <a:bodyPr wrap="square" lIns="0" rIns="0" tIns="0" bIns="0" anchor="t">
            <a:spAutoFit/>
          </a:bodyPr>
          <a:lstStyle/>
          <a:p>
            <a:pPr algn="l">
              <a:lnSpc>
                <a:spcPct val="112000"/>
              </a:lnSpc>
            </a:pPr>
            <a:r>
              <a:rPr sz="950" b="0" i="0">
                <a:solidFill>
                  <a:srgbClr val="D8E4F0"/>
                </a:solidFill>
                <a:latin typeface="Consolas"/>
              </a:rPr>
              <a:t>do_w = (({$random(seed)} % 100) &lt; p_wr);      // p_wr and p_rd are the CONSTRAINTS</a:t>
            </a:r>
          </a:p>
          <a:p>
            <a:pPr algn="l">
              <a:lnSpc>
                <a:spcPct val="112000"/>
              </a:lnSpc>
            </a:pPr>
            <a:r>
              <a:rPr sz="950" b="0" i="0">
                <a:solidFill>
                  <a:srgbClr val="D8E4F0"/>
                </a:solidFill>
                <a:latin typeface="Consolas"/>
              </a:rPr>
              <a:t>do_r = (({$random(seed)} % 100) &lt; p_rd);</a:t>
            </a:r>
          </a:p>
          <a:p>
            <a:pPr algn="l">
              <a:lnSpc>
                <a:spcPct val="112000"/>
              </a:lnSpc>
            </a:pPr>
            <a:r>
              <a:rPr sz="950" b="0" i="0">
                <a:solidFill>
                  <a:srgbClr val="D8E4F0"/>
                </a:solidFill>
                <a:latin typeface="Consolas"/>
              </a:rPr>
              <a:t>d    = $random(seed);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5B · SEEDS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Reproducibility Is What Makes Random Usable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25</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random failure you cannot reproduce is not a bug report — it is a rumour. </a:t>
            </a:r>
            <a:r>
              <a:rPr sz="1100" b="0" i="0">
                <a:solidFill>
                  <a:srgbClr val="33414F"/>
                </a:solidFill>
                <a:latin typeface="Calibri"/>
              </a:rPr>
              <a:t>The seed makes every run deterministic, so any failure can be replayed exactly, with waveforms this time.</a:t>
            </a:r>
          </a:p>
        </p:txBody>
      </p:sp>
      <p:pic>
        <p:nvPicPr>
          <p:cNvPr id="10" name="Picture 9" descr="seed_repro.png"/>
          <p:cNvPicPr>
            <a:picLocks noChangeAspect="1"/>
          </p:cNvPicPr>
          <p:nvPr/>
        </p:nvPicPr>
        <p:blipFill>
          <a:blip r:embed="rId2"/>
          <a:stretch>
            <a:fillRect/>
          </a:stretch>
        </p:blipFill>
        <p:spPr>
          <a:xfrm>
            <a:off x="2129543" y="1737360"/>
            <a:ext cx="7810994" cy="2560320"/>
          </a:xfrm>
          <a:prstGeom prst="rect">
            <a:avLst/>
          </a:prstGeom>
        </p:spPr>
      </p:pic>
      <p:sp>
        <p:nvSpPr>
          <p:cNvPr id="11" name="Rounded Rectangle 10"/>
          <p:cNvSpPr/>
          <p:nvPr/>
        </p:nvSpPr>
        <p:spPr>
          <a:xfrm>
            <a:off x="411480" y="4389120"/>
            <a:ext cx="11247120" cy="2025396"/>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94360" y="450342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Verified output</a:t>
            </a:r>
          </a:p>
        </p:txBody>
      </p:sp>
      <p:sp>
        <p:nvSpPr>
          <p:cNvPr id="13" name="TextBox 12"/>
          <p:cNvSpPr txBox="1"/>
          <p:nvPr/>
        </p:nvSpPr>
        <p:spPr>
          <a:xfrm>
            <a:off x="594360" y="4777740"/>
            <a:ext cx="10881360" cy="1522476"/>
          </a:xfrm>
          <a:prstGeom prst="rect">
            <a:avLst/>
          </a:prstGeom>
          <a:noFill/>
        </p:spPr>
        <p:txBody>
          <a:bodyPr wrap="square" lIns="0" rIns="0" tIns="0" bIns="0" anchor="t">
            <a:spAutoFit/>
          </a:bodyPr>
          <a:lstStyle/>
          <a:p>
            <a:pPr algn="l">
              <a:lnSpc>
                <a:spcPct val="112000"/>
              </a:lnSpc>
            </a:pPr>
            <a:r>
              <a:rPr sz="900" b="0" i="0">
                <a:solidFill>
                  <a:srgbClr val="1B9AAA"/>
                </a:solidFill>
                <a:latin typeface="Consolas"/>
              </a:rPr>
              <a:t>$ ./scripts/regress.sh 4        # 4 seeds x 3 profiles</a:t>
            </a:r>
          </a:p>
          <a:p>
            <a:pPr algn="l">
              <a:lnSpc>
                <a:spcPct val="112000"/>
              </a:lnSpc>
            </a:pPr>
            <a:r>
              <a:rPr sz="900" b="0" i="0">
                <a:solidFill>
                  <a:srgbClr val="D8E4F0"/>
                </a:solidFill>
                <a:latin typeface="Consolas"/>
              </a:rPr>
              <a:t>  profile        seed     cycles   result</a:t>
            </a:r>
          </a:p>
          <a:p>
            <a:pPr algn="l">
              <a:lnSpc>
                <a:spcPct val="112000"/>
              </a:lnSpc>
            </a:pPr>
            <a:r>
              <a:rPr sz="900" b="0" i="0">
                <a:solidFill>
                  <a:srgbClr val="D8E4F0"/>
                </a:solidFill>
                <a:latin typeface="Consolas"/>
              </a:rPr>
              <a:t>  balanced       1        3000     pass</a:t>
            </a:r>
          </a:p>
          <a:p>
            <a:pPr algn="l">
              <a:lnSpc>
                <a:spcPct val="112000"/>
              </a:lnSpc>
            </a:pPr>
            <a:r>
              <a:rPr sz="900" b="0" i="0">
                <a:solidFill>
                  <a:srgbClr val="D8E4F0"/>
                </a:solidFill>
                <a:latin typeface="Consolas"/>
              </a:rPr>
              <a:t>  balanced       2        3000     pass</a:t>
            </a:r>
          </a:p>
          <a:p>
            <a:pPr algn="l">
              <a:lnSpc>
                <a:spcPct val="112000"/>
              </a:lnSpc>
            </a:pPr>
            <a:r>
              <a:rPr sz="900" b="0" i="0">
                <a:solidFill>
                  <a:srgbClr val="D8E4F0"/>
                </a:solidFill>
                <a:latin typeface="Consolas"/>
              </a:rPr>
              <a:t>  write-heavy    1        3000     pass</a:t>
            </a:r>
          </a:p>
          <a:p>
            <a:pPr algn="l">
              <a:lnSpc>
                <a:spcPct val="112000"/>
              </a:lnSpc>
            </a:pPr>
            <a:r>
              <a:rPr sz="900" b="0" i="0">
                <a:solidFill>
                  <a:srgbClr val="D8E4F0"/>
                </a:solidFill>
                <a:latin typeface="Consolas"/>
              </a:rPr>
              <a:t>  read-heavy     1        3000     pass</a:t>
            </a:r>
          </a:p>
          <a:p>
            <a:pPr algn="l">
              <a:lnSpc>
                <a:spcPct val="112000"/>
              </a:lnSpc>
            </a:pPr>
            <a:r>
              <a:rPr sz="900" b="0" i="0">
                <a:solidFill>
                  <a:srgbClr val="D8E4F0"/>
                </a:solidFill>
                <a:latin typeface="Consolas"/>
              </a:rPr>
              <a:t>  ...</a:t>
            </a:r>
          </a:p>
          <a:p>
            <a:pPr algn="l">
              <a:lnSpc>
                <a:spcPct val="112000"/>
              </a:lnSpc>
            </a:pPr>
            <a:r>
              <a:rPr sz="900" b="0" i="0">
                <a:solidFill>
                  <a:srgbClr val="D8E4F0"/>
                </a:solidFill>
                <a:latin typeface="Consolas"/>
              </a:rPr>
              <a:t>  12 passed, 0 failed</a:t>
            </a:r>
          </a:p>
          <a:p>
            <a:pPr algn="l">
              <a:lnSpc>
                <a:spcPct val="112000"/>
              </a:lnSpc>
            </a:pPr>
            <a:r>
              <a:rPr sz="900" b="0" i="0">
                <a:solidFill>
                  <a:srgbClr val="D8E4F0"/>
                </a:solidFill>
                <a:latin typeface="Consolas"/>
              </a:rPr>
              <a:t>  REGRESSION CLEAN</a:t>
            </a:r>
          </a:p>
        </p:txBody>
      </p:sp>
      <p:sp>
        <p:nvSpPr>
          <p:cNvPr id="14" name="TextBox 13"/>
          <p:cNvSpPr txBox="1"/>
          <p:nvPr/>
        </p:nvSpPr>
        <p:spPr>
          <a:xfrm>
            <a:off x="411480" y="6460236"/>
            <a:ext cx="11247120" cy="274320"/>
          </a:xfrm>
          <a:prstGeom prst="rect">
            <a:avLst/>
          </a:prstGeom>
          <a:noFill/>
        </p:spPr>
        <p:txBody>
          <a:bodyPr wrap="square" lIns="0" rIns="0" tIns="0" bIns="0" anchor="t">
            <a:spAutoFit/>
          </a:bodyPr>
          <a:lstStyle/>
          <a:p>
            <a:pPr algn="l">
              <a:lnSpc>
                <a:spcPct val="103000"/>
              </a:lnSpc>
            </a:pPr>
            <a:r>
              <a:rPr sz="1050" b="1" i="0">
                <a:solidFill>
                  <a:srgbClr val="C01F43"/>
                </a:solidFill>
                <a:latin typeface="Calibri"/>
              </a:rPr>
              <a:t>Two traps: </a:t>
            </a:r>
            <a:r>
              <a:rPr sz="1050" b="1" i="0">
                <a:solidFill>
                  <a:srgbClr val="0E2A47"/>
                </a:solidFill>
                <a:latin typeface="Consolas"/>
              </a:rPr>
              <a:t>$random(seed)</a:t>
            </a:r>
            <a:r>
              <a:rPr sz="1050" b="0" i="0">
                <a:solidFill>
                  <a:srgbClr val="33414F"/>
                </a:solidFill>
                <a:latin typeface="Calibri"/>
              </a:rPr>
              <a:t> UPDATES seed in place, so save the original before the loop if you want to print it; and in SystemVerilog </a:t>
            </a:r>
            <a:r>
              <a:rPr sz="1050" b="1" i="0">
                <a:solidFill>
                  <a:srgbClr val="C01F43"/>
                </a:solidFill>
                <a:latin typeface="Consolas"/>
              </a:rPr>
              <a:t>$urandom(seed)</a:t>
            </a:r>
            <a:r>
              <a:rPr sz="1050" b="0" i="0">
                <a:solidFill>
                  <a:srgbClr val="33414F"/>
                </a:solidFill>
                <a:latin typeface="Calibri"/>
              </a:rPr>
              <a:t> RE-SEEDS on every call — seed once, then call </a:t>
            </a:r>
            <a:r>
              <a:rPr sz="1050" b="1" i="0">
                <a:solidFill>
                  <a:srgbClr val="2A9D5C"/>
                </a:solidFill>
                <a:latin typeface="Consolas"/>
              </a:rPr>
              <a:t>$urandom()</a:t>
            </a:r>
            <a:r>
              <a:rPr sz="1050" b="0" i="0">
                <a:solidFill>
                  <a:srgbClr val="33414F"/>
                </a:solidFill>
                <a:latin typeface="Calibri"/>
              </a:rPr>
              <a:t> with no argument.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5B · LAB V3</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Constrained-Random — 5 of 5</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26</a:t>
            </a:r>
          </a:p>
        </p:txBody>
      </p:sp>
      <p:sp>
        <p:nvSpPr>
          <p:cNvPr id="9" name="Rounded Rectangle 8"/>
          <p:cNvSpPr/>
          <p:nvPr/>
        </p:nvSpPr>
        <p:spPr>
          <a:xfrm>
            <a:off x="411480" y="1143000"/>
            <a:ext cx="11247120" cy="257048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The full clinic result — verified</a:t>
            </a:r>
          </a:p>
        </p:txBody>
      </p:sp>
      <p:sp>
        <p:nvSpPr>
          <p:cNvPr id="11" name="TextBox 10"/>
          <p:cNvSpPr txBox="1"/>
          <p:nvPr/>
        </p:nvSpPr>
        <p:spPr>
          <a:xfrm>
            <a:off x="594360" y="1531620"/>
            <a:ext cx="10881360" cy="2067560"/>
          </a:xfrm>
          <a:prstGeom prst="rect">
            <a:avLst/>
          </a:prstGeom>
          <a:noFill/>
        </p:spPr>
        <p:txBody>
          <a:bodyPr wrap="square" lIns="0" rIns="0" tIns="0" bIns="0" anchor="t">
            <a:spAutoFit/>
          </a:bodyPr>
          <a:lstStyle/>
          <a:p>
            <a:pPr algn="l">
              <a:lnSpc>
                <a:spcPct val="112000"/>
              </a:lnSpc>
            </a:pPr>
            <a:r>
              <a:rPr sz="1000" b="0" i="0">
                <a:solidFill>
                  <a:srgbClr val="1B9AAA"/>
                </a:solidFill>
                <a:latin typeface="Consolas"/>
              </a:rPr>
              <a:t>$ ./scripts/clinic.sh</a:t>
            </a:r>
          </a:p>
          <a:p>
            <a:pPr algn="l">
              <a:lnSpc>
                <a:spcPct val="112000"/>
              </a:lnSpc>
            </a:pPr>
            <a:r>
              <a:rPr sz="1000" b="0" i="0">
                <a:solidFill>
                  <a:srgbClr val="D8E4F0"/>
                </a:solidFill>
                <a:latin typeface="Consolas"/>
              </a:rPr>
              <a:t> </a:t>
            </a:r>
          </a:p>
          <a:p>
            <a:pPr algn="l">
              <a:lnSpc>
                <a:spcPct val="112000"/>
              </a:lnSpc>
            </a:pPr>
            <a:r>
              <a:rPr sz="1000" b="0" i="0">
                <a:solidFill>
                  <a:srgbClr val="D8E4F0"/>
                </a:solidFill>
                <a:latin typeface="Consolas"/>
              </a:rPr>
              <a:t>  testbench               fifo      fifo_b1   fifo_b2   fifo_b3   fifo_b4   fifo_b5</a:t>
            </a:r>
          </a:p>
          <a:p>
            <a:pPr algn="l">
              <a:lnSpc>
                <a:spcPct val="112000"/>
              </a:lnSpc>
            </a:pPr>
            <a:r>
              <a:rPr sz="1000" b="0" i="0">
                <a:solidFill>
                  <a:srgbClr val="D8E4F0"/>
                </a:solidFill>
                <a:latin typeface="Consolas"/>
              </a:rPr>
              <a:t>  ---------------------------------------------------------------------------------</a:t>
            </a:r>
          </a:p>
          <a:p>
            <a:pPr algn="l">
              <a:lnSpc>
                <a:spcPct val="112000"/>
              </a:lnSpc>
            </a:pPr>
            <a:r>
              <a:rPr sz="1000" b="0" i="0">
                <a:solidFill>
                  <a:srgbClr val="D8E4F0"/>
                </a:solidFill>
                <a:latin typeface="Consolas"/>
              </a:rPr>
              <a:t>  V1 naive directed       pass      pass      pass      pass      pass      pass</a:t>
            </a:r>
          </a:p>
          <a:p>
            <a:pPr algn="l">
              <a:lnSpc>
                <a:spcPct val="112000"/>
              </a:lnSpc>
            </a:pPr>
            <a:r>
              <a:rPr sz="1000" b="0" i="0">
                <a:solidFill>
                  <a:srgbClr val="D8E4F0"/>
                </a:solidFill>
                <a:latin typeface="Consolas"/>
              </a:rPr>
              <a:t>  V2 model + corners      pass      CAUGHT    CAUGHT    CAUGHT    CAUGHT    pass</a:t>
            </a:r>
          </a:p>
          <a:p>
            <a:pPr algn="l">
              <a:lnSpc>
                <a:spcPct val="112000"/>
              </a:lnSpc>
            </a:pPr>
            <a:r>
              <a:rPr sz="1000" b="0" i="0">
                <a:solidFill>
                  <a:srgbClr val="D8E4F0"/>
                </a:solidFill>
                <a:latin typeface="Consolas"/>
              </a:rPr>
              <a:t>  V3 constrained-random   pass      CAUGHT    CAUGHT    CAUGHT    CAUGHT    CAUGHT</a:t>
            </a:r>
          </a:p>
          <a:p>
            <a:pPr algn="l">
              <a:lnSpc>
                <a:spcPct val="112000"/>
              </a:lnSpc>
            </a:pPr>
            <a:r>
              <a:rPr sz="1000" b="0" i="0">
                <a:solidFill>
                  <a:srgbClr val="D8E4F0"/>
                </a:solidFill>
                <a:latin typeface="Consolas"/>
              </a:rPr>
              <a:t> </a:t>
            </a:r>
          </a:p>
          <a:p>
            <a:pPr algn="l">
              <a:lnSpc>
                <a:spcPct val="112000"/>
              </a:lnSpc>
            </a:pPr>
            <a:r>
              <a:rPr sz="1000" b="0" i="0">
                <a:solidFill>
                  <a:srgbClr val="D8E4F0"/>
                </a:solidFill>
                <a:latin typeface="Consolas"/>
              </a:rPr>
              <a:t>  V1 : 0 of 5 bugs caught, golden design passes (no false alarm)</a:t>
            </a:r>
          </a:p>
          <a:p>
            <a:pPr algn="l">
              <a:lnSpc>
                <a:spcPct val="112000"/>
              </a:lnSpc>
            </a:pPr>
            <a:r>
              <a:rPr sz="1000" b="0" i="0">
                <a:solidFill>
                  <a:srgbClr val="D8E4F0"/>
                </a:solidFill>
                <a:latin typeface="Consolas"/>
              </a:rPr>
              <a:t>  V2 : 4 of 5 bugs caught, golden design passes (no false alarm)</a:t>
            </a:r>
          </a:p>
          <a:p>
            <a:pPr algn="l">
              <a:lnSpc>
                <a:spcPct val="112000"/>
              </a:lnSpc>
            </a:pPr>
            <a:r>
              <a:rPr sz="1000" b="0" i="0">
                <a:solidFill>
                  <a:srgbClr val="D8E4F0"/>
                </a:solidFill>
                <a:latin typeface="Consolas"/>
              </a:rPr>
              <a:t>  V3 : 5 of 5 bugs caught, golden design passes (no false alarm)</a:t>
            </a:r>
          </a:p>
        </p:txBody>
      </p:sp>
      <p:sp>
        <p:nvSpPr>
          <p:cNvPr id="12" name="Rounded Rectangle 11"/>
          <p:cNvSpPr/>
          <p:nvPr/>
        </p:nvSpPr>
        <p:spPr>
          <a:xfrm>
            <a:off x="411480" y="3804920"/>
            <a:ext cx="11247120" cy="118872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76072" y="3868928"/>
            <a:ext cx="10917936"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What the fifth bug was, and why only random found it</a:t>
            </a:r>
          </a:p>
        </p:txBody>
      </p:sp>
      <p:sp>
        <p:nvSpPr>
          <p:cNvPr id="14" name="TextBox 13"/>
          <p:cNvSpPr txBox="1"/>
          <p:nvPr/>
        </p:nvSpPr>
        <p:spPr>
          <a:xfrm>
            <a:off x="576072" y="4143248"/>
            <a:ext cx="10917936" cy="786384"/>
          </a:xfrm>
          <a:prstGeom prst="rect">
            <a:avLst/>
          </a:prstGeom>
          <a:noFill/>
        </p:spPr>
        <p:txBody>
          <a:bodyPr wrap="square" lIns="0" rIns="0" tIns="0" bIns="0" anchor="t">
            <a:spAutoFit/>
          </a:bodyPr>
          <a:lstStyle/>
          <a:p>
            <a:pPr algn="l">
              <a:lnSpc>
                <a:spcPct val="103000"/>
              </a:lnSpc>
              <a:spcAft>
                <a:spcPts val="400"/>
              </a:spcAft>
            </a:pPr>
            <a:r>
              <a:rPr sz="1100" b="1" i="0">
                <a:solidFill>
                  <a:srgbClr val="C01F43"/>
                </a:solidFill>
                <a:latin typeface="Consolas"/>
              </a:rPr>
              <a:t>fifo_b5</a:t>
            </a:r>
            <a:r>
              <a:rPr sz="1100" b="0" i="0">
                <a:solidFill>
                  <a:srgbClr val="33414F"/>
                </a:solidFill>
                <a:latin typeface="Calibri"/>
              </a:rPr>
              <a:t> drops a write when wr_en and rd_en are asserted together while the FIFO is EMPTY. That is a legal, sensible combination — and no directed test in V2 ever produces it, because nobody thinks to write "read and write at once, from an empty FIFO" as a test case.</a:t>
            </a:r>
          </a:p>
          <a:p>
            <a:pPr algn="l">
              <a:lnSpc>
                <a:spcPct val="103000"/>
              </a:lnSpc>
              <a:spcAft>
                <a:spcPts val="400"/>
              </a:spcAft>
            </a:pPr>
            <a:r>
              <a:rPr sz="1100" b="1" i="0">
                <a:solidFill>
                  <a:srgbClr val="2A9D5C"/>
                </a:solidFill>
                <a:latin typeface="Calibri"/>
              </a:rPr>
              <a:t>The random generator produced it ten times in three thousand cycles without being asked. </a:t>
            </a:r>
            <a:r>
              <a:rPr sz="1100" b="0" i="0">
                <a:solidFill>
                  <a:srgbClr val="33414F"/>
                </a:solidFill>
                <a:latin typeface="Calibri"/>
              </a:rPr>
              <a:t>That is the entire argument for constrained-random stimulus.</a:t>
            </a:r>
          </a:p>
        </p:txBody>
      </p:sp>
      <p:sp>
        <p:nvSpPr>
          <p:cNvPr id="15" name="Rounded Rectangle 14"/>
          <p:cNvSpPr/>
          <p:nvPr/>
        </p:nvSpPr>
        <p:spPr>
          <a:xfrm>
            <a:off x="411480" y="5085080"/>
            <a:ext cx="11247120" cy="685800"/>
          </a:xfrm>
          <a:prstGeom prst="roundRect">
            <a:avLst>
              <a:gd name="adj" fmla="val 5714"/>
            </a:avLst>
          </a:prstGeom>
          <a:solidFill>
            <a:srgbClr val="F4F8FB"/>
          </a:solidFill>
          <a:ln w="1397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76072" y="5149088"/>
            <a:ext cx="10917936" cy="274320"/>
          </a:xfrm>
          <a:prstGeom prst="rect">
            <a:avLst/>
          </a:prstGeom>
          <a:noFill/>
        </p:spPr>
        <p:txBody>
          <a:bodyPr wrap="square" lIns="0" rIns="0" tIns="0" bIns="0" anchor="ctr">
            <a:spAutoFit/>
          </a:bodyPr>
          <a:lstStyle/>
          <a:p>
            <a:pPr algn="l">
              <a:lnSpc>
                <a:spcPct val="103000"/>
              </a:lnSpc>
            </a:pPr>
            <a:r>
              <a:rPr sz="1150" b="1" i="0">
                <a:solidFill>
                  <a:srgbClr val="0E2A47"/>
                </a:solidFill>
                <a:latin typeface="Cambria"/>
              </a:rPr>
              <a:t>And note the first column</a:t>
            </a:r>
          </a:p>
        </p:txBody>
      </p:sp>
      <p:sp>
        <p:nvSpPr>
          <p:cNvPr id="17" name="TextBox 16"/>
          <p:cNvSpPr txBox="1"/>
          <p:nvPr/>
        </p:nvSpPr>
        <p:spPr>
          <a:xfrm>
            <a:off x="576072" y="5423408"/>
            <a:ext cx="10917936" cy="28346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Every testbench passes on the golden design. A checker that fires on correct hardware is worse than no checker — the team learns to ignore 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5B · COVERAGE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Writing a Coverage Model by Hand</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27</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SystemVerilog has covergroups. Plain Verilog does not — so you write one counter per interesting situation. </a:t>
            </a:r>
            <a:r>
              <a:rPr sz="1100" b="0" i="0">
                <a:solidFill>
                  <a:srgbClr val="33414F"/>
                </a:solidFill>
                <a:latin typeface="Calibri"/>
              </a:rPr>
              <a:t>Doing it by hand once is the best way to understand what the tool does for you later.</a:t>
            </a:r>
          </a:p>
        </p:txBody>
      </p:sp>
      <p:sp>
        <p:nvSpPr>
          <p:cNvPr id="10" name="Rounded Rectangle 9"/>
          <p:cNvSpPr/>
          <p:nvPr/>
        </p:nvSpPr>
        <p:spPr>
          <a:xfrm>
            <a:off x="411480" y="1783080"/>
            <a:ext cx="11247120" cy="228854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189738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Topic5_Lab/tb/tb_v4_coverage.v</a:t>
            </a:r>
          </a:p>
        </p:txBody>
      </p:sp>
      <p:sp>
        <p:nvSpPr>
          <p:cNvPr id="12" name="TextBox 11"/>
          <p:cNvSpPr txBox="1"/>
          <p:nvPr/>
        </p:nvSpPr>
        <p:spPr>
          <a:xfrm>
            <a:off x="594360" y="2171700"/>
            <a:ext cx="10881360" cy="1785620"/>
          </a:xfrm>
          <a:prstGeom prst="rect">
            <a:avLst/>
          </a:prstGeom>
          <a:noFill/>
        </p:spPr>
        <p:txBody>
          <a:bodyPr wrap="square" lIns="0" rIns="0" tIns="0" bIns="0" anchor="t">
            <a:spAutoFit/>
          </a:bodyPr>
          <a:lstStyle/>
          <a:p>
            <a:pPr algn="l">
              <a:lnSpc>
                <a:spcPct val="112000"/>
              </a:lnSpc>
            </a:pPr>
            <a:r>
              <a:rPr sz="950" b="0" i="0">
                <a:solidFill>
                  <a:srgbClr val="7F9CB5"/>
                </a:solidFill>
                <a:latin typeface="Consolas"/>
              </a:rPr>
              <a:t>// THE COVERAGE MODEL. Write this list BEFORE the stimulus.</a:t>
            </a:r>
          </a:p>
          <a:p>
            <a:pPr algn="l">
              <a:lnSpc>
                <a:spcPct val="112000"/>
              </a:lnSpc>
            </a:pPr>
            <a:r>
              <a:rPr sz="950" b="0" i="0">
                <a:solidFill>
                  <a:srgbClr val="D8E4F0"/>
                </a:solidFill>
                <a:latin typeface="Consolas"/>
              </a:rPr>
              <a:t>//   0  write accepted            6  occupancy reached DEPTH (full)</a:t>
            </a:r>
          </a:p>
          <a:p>
            <a:pPr algn="l">
              <a:lnSpc>
                <a:spcPct val="112000"/>
              </a:lnSpc>
            </a:pPr>
            <a:r>
              <a:rPr sz="950" b="0" i="0">
                <a:solidFill>
                  <a:srgbClr val="D8E4F0"/>
                </a:solidFill>
                <a:latin typeface="Consolas"/>
              </a:rPr>
              <a:t>//   1  read accepted             7  occupancy reached 0 (empty)</a:t>
            </a:r>
          </a:p>
          <a:p>
            <a:pPr algn="l">
              <a:lnSpc>
                <a:spcPct val="112000"/>
              </a:lnSpc>
            </a:pPr>
            <a:r>
              <a:rPr sz="950" b="0" i="0">
                <a:solidFill>
                  <a:srgbClr val="D8E4F0"/>
                </a:solidFill>
                <a:latin typeface="Consolas"/>
              </a:rPr>
              <a:t>//   2  read+write same cycle     8  pointers wrapped at least once</a:t>
            </a:r>
          </a:p>
          <a:p>
            <a:pPr algn="l">
              <a:lnSpc>
                <a:spcPct val="112000"/>
              </a:lnSpc>
            </a:pPr>
            <a:r>
              <a:rPr sz="950" b="0" i="0">
                <a:solidFill>
                  <a:srgbClr val="D8E4F0"/>
                </a:solidFill>
                <a:latin typeface="Consolas"/>
              </a:rPr>
              <a:t>//   3  idle cycle                9  write attempted while full</a:t>
            </a:r>
          </a:p>
          <a:p>
            <a:pPr algn="l">
              <a:lnSpc>
                <a:spcPct val="112000"/>
              </a:lnSpc>
            </a:pPr>
            <a:r>
              <a:rPr sz="950" b="0" i="0">
                <a:solidFill>
                  <a:srgbClr val="D8E4F0"/>
                </a:solidFill>
                <a:latin typeface="Consolas"/>
              </a:rPr>
              <a:t>//   4  read+write while EMPTY   10  read attempted while empty</a:t>
            </a:r>
          </a:p>
          <a:p>
            <a:pPr algn="l">
              <a:lnSpc>
                <a:spcPct val="112000"/>
              </a:lnSpc>
            </a:pPr>
            <a:r>
              <a:rPr sz="950" b="0" i="0">
                <a:solidFill>
                  <a:srgbClr val="D8E4F0"/>
                </a:solidFill>
                <a:latin typeface="Consolas"/>
              </a:rPr>
              <a:t>//   5  read+write while FULL    11  a full -&gt; empty -&gt; full round trip</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if (do_w &amp;&amp; !was_full)         cov[0] = cov[0] + 1;      // sample, every cycle</a:t>
            </a:r>
          </a:p>
          <a:p>
            <a:pPr algn="l">
              <a:lnSpc>
                <a:spcPct val="112000"/>
              </a:lnSpc>
            </a:pPr>
            <a:r>
              <a:rPr sz="950" b="0" i="0">
                <a:solidFill>
                  <a:srgbClr val="D8E4F0"/>
                </a:solidFill>
                <a:latin typeface="Consolas"/>
              </a:rPr>
              <a:t>if (do_w &amp;&amp; do_r &amp;&amp; was_empty) cov[4] = cov[4] + 1;</a:t>
            </a:r>
          </a:p>
        </p:txBody>
      </p:sp>
      <p:sp>
        <p:nvSpPr>
          <p:cNvPr id="13" name="Rounded Rectangle 12"/>
          <p:cNvSpPr/>
          <p:nvPr/>
        </p:nvSpPr>
        <p:spPr>
          <a:xfrm>
            <a:off x="411480" y="4163060"/>
            <a:ext cx="11247120" cy="96012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76072" y="422706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Bin 11 is the one worth pointing at</a:t>
            </a:r>
          </a:p>
        </p:txBody>
      </p:sp>
      <p:sp>
        <p:nvSpPr>
          <p:cNvPr id="15" name="TextBox 14"/>
          <p:cNvSpPr txBox="1"/>
          <p:nvPr/>
        </p:nvSpPr>
        <p:spPr>
          <a:xfrm>
            <a:off x="576072" y="4501388"/>
            <a:ext cx="10917936" cy="55778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"full → empty → full" is not a state; it is a SEQUENCE over time, and it needs a little state machine in the testbench to detect. Real coverage models are full of these — 'a request followed by a retry', 'back-to-back bursts', 'reset in the middle of a transfer'. They are also where the interesting bugs live.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5B · LAB V4</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Coverage Holes, and Closing Them</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28</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Here is the result that surprises students: a run can PASS and still prove almost nothing. </a:t>
            </a:r>
            <a:r>
              <a:rPr sz="1100" b="0" i="0">
                <a:solidFill>
                  <a:srgbClr val="33414F"/>
                </a:solidFill>
                <a:latin typeface="Calibri"/>
              </a:rPr>
              <a:t>The write-heavy profile passes cleanly — and never reaches empty at all.</a:t>
            </a:r>
          </a:p>
        </p:txBody>
      </p:sp>
      <p:pic>
        <p:nvPicPr>
          <p:cNvPr id="10" name="Picture 9" descr="cov_bins.png"/>
          <p:cNvPicPr>
            <a:picLocks noChangeAspect="1"/>
          </p:cNvPicPr>
          <p:nvPr/>
        </p:nvPicPr>
        <p:blipFill>
          <a:blip r:embed="rId2"/>
          <a:stretch>
            <a:fillRect/>
          </a:stretch>
        </p:blipFill>
        <p:spPr>
          <a:xfrm>
            <a:off x="3462936" y="1737360"/>
            <a:ext cx="5144207" cy="3566160"/>
          </a:xfrm>
          <a:prstGeom prst="rect">
            <a:avLst/>
          </a:prstGeom>
        </p:spPr>
      </p:pic>
      <p:sp>
        <p:nvSpPr>
          <p:cNvPr id="11" name="Rounded Rectangle 10"/>
          <p:cNvSpPr/>
          <p:nvPr/>
        </p:nvSpPr>
        <p:spPr>
          <a:xfrm>
            <a:off x="411480" y="5394960"/>
            <a:ext cx="11247120" cy="96012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458968"/>
            <a:ext cx="10917936"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This is what closure looks like in practice</a:t>
            </a:r>
          </a:p>
        </p:txBody>
      </p:sp>
      <p:sp>
        <p:nvSpPr>
          <p:cNvPr id="13" name="TextBox 12"/>
          <p:cNvSpPr txBox="1"/>
          <p:nvPr/>
        </p:nvSpPr>
        <p:spPr>
          <a:xfrm>
            <a:off x="576072" y="5733288"/>
            <a:ext cx="10917936" cy="55778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No single profile closes coverage, and none has to. Each run contributes what it reached, the results are MERGED across the regression, and what is still missing is the specification for the next test you write. </a:t>
            </a:r>
            <a:r>
              <a:rPr sz="1100" b="1" i="0">
                <a:solidFill>
                  <a:srgbClr val="2A9D5C"/>
                </a:solidFill>
                <a:latin typeface="Consolas"/>
              </a:rPr>
              <a:t>./scripts/coverage.sh</a:t>
            </a:r>
            <a:r>
              <a:rPr sz="1100" b="0" i="0">
                <a:solidFill>
                  <a:srgbClr val="33414F"/>
                </a:solidFill>
                <a:latin typeface="Calibri"/>
              </a:rPr>
              <a:t> does exactly this and prints COVERAGE CLOSED.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5B · ASSERTIONS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Stating the Rule Instead of Checking the Output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29</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scoreboard checks the outputs at the points you compare them. </a:t>
            </a:r>
            <a:r>
              <a:rPr sz="1100" b="0" i="0">
                <a:solidFill>
                  <a:srgbClr val="33414F"/>
                </a:solidFill>
                <a:latin typeface="Calibri"/>
              </a:rPr>
              <a:t>An assertion states a RULE, and the simulator checks it on every clock edge of every test, for ever — and reports at the exact cycle and the exact line where it broke.</a:t>
            </a:r>
          </a:p>
        </p:txBody>
      </p:sp>
      <p:pic>
        <p:nvPicPr>
          <p:cNvPr id="10" name="Picture 9" descr="assertion_anatomy.png"/>
          <p:cNvPicPr>
            <a:picLocks noChangeAspect="1"/>
          </p:cNvPicPr>
          <p:nvPr/>
        </p:nvPicPr>
        <p:blipFill>
          <a:blip r:embed="rId2"/>
          <a:stretch>
            <a:fillRect/>
          </a:stretch>
        </p:blipFill>
        <p:spPr>
          <a:xfrm>
            <a:off x="2502560" y="1783080"/>
            <a:ext cx="7064961" cy="3200400"/>
          </a:xfrm>
          <a:prstGeom prst="rect">
            <a:avLst/>
          </a:prstGeom>
        </p:spPr>
      </p:pic>
      <p:sp>
        <p:nvSpPr>
          <p:cNvPr id="11" name="Rounded Rectangle 10"/>
          <p:cNvSpPr/>
          <p:nvPr/>
        </p:nvSpPr>
        <p:spPr>
          <a:xfrm>
            <a:off x="411480" y="5074920"/>
            <a:ext cx="5532120" cy="1325880"/>
          </a:xfrm>
          <a:prstGeom prst="roundRect">
            <a:avLst>
              <a:gd name="adj" fmla="val 5714"/>
            </a:avLst>
          </a:prstGeom>
          <a:solidFill>
            <a:srgbClr val="F4F8FB"/>
          </a:solidFill>
          <a:ln w="13970">
            <a:solidFill>
              <a:srgbClr val="6B45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48640" y="5138928"/>
            <a:ext cx="5257800" cy="274320"/>
          </a:xfrm>
          <a:prstGeom prst="rect">
            <a:avLst/>
          </a:prstGeom>
          <a:noFill/>
        </p:spPr>
        <p:txBody>
          <a:bodyPr wrap="square" lIns="0" rIns="0" tIns="0" bIns="0" anchor="ctr">
            <a:spAutoFit/>
          </a:bodyPr>
          <a:lstStyle/>
          <a:p>
            <a:pPr algn="l">
              <a:lnSpc>
                <a:spcPct val="103000"/>
              </a:lnSpc>
            </a:pPr>
            <a:r>
              <a:rPr sz="1150" b="1" i="0">
                <a:solidFill>
                  <a:srgbClr val="6B45A8"/>
                </a:solidFill>
                <a:latin typeface="Cambria"/>
              </a:rPr>
              <a:t>assert versus cover</a:t>
            </a:r>
          </a:p>
        </p:txBody>
      </p:sp>
      <p:sp>
        <p:nvSpPr>
          <p:cNvPr id="13" name="TextBox 12"/>
          <p:cNvSpPr txBox="1"/>
          <p:nvPr/>
        </p:nvSpPr>
        <p:spPr>
          <a:xfrm>
            <a:off x="548640" y="5413248"/>
            <a:ext cx="5257800" cy="923544"/>
          </a:xfrm>
          <a:prstGeom prst="rect">
            <a:avLst/>
          </a:prstGeom>
          <a:noFill/>
        </p:spPr>
        <p:txBody>
          <a:bodyPr wrap="square" lIns="0" rIns="0" tIns="0" bIns="0" anchor="t">
            <a:spAutoFit/>
          </a:bodyPr>
          <a:lstStyle/>
          <a:p>
            <a:pPr algn="l">
              <a:lnSpc>
                <a:spcPct val="103000"/>
              </a:lnSpc>
              <a:spcAft>
                <a:spcPts val="400"/>
              </a:spcAft>
            </a:pPr>
            <a:r>
              <a:rPr sz="1050" b="1" i="0">
                <a:solidFill>
                  <a:srgbClr val="6B45A8"/>
                </a:solidFill>
                <a:latin typeface="Consolas"/>
              </a:rPr>
              <a:t>assert property</a:t>
            </a:r>
            <a:r>
              <a:rPr sz="1050" b="0" i="0">
                <a:solidFill>
                  <a:srgbClr val="33414F"/>
                </a:solidFill>
                <a:latin typeface="Calibri"/>
              </a:rPr>
              <a:t>  — this must ALWAYS be true; fail loudly if not.</a:t>
            </a:r>
          </a:p>
          <a:p>
            <a:pPr algn="l">
              <a:lnSpc>
                <a:spcPct val="103000"/>
              </a:lnSpc>
              <a:spcAft>
                <a:spcPts val="400"/>
              </a:spcAft>
            </a:pPr>
            <a:r>
              <a:rPr sz="1050" b="1" i="0">
                <a:solidFill>
                  <a:srgbClr val="2A9D5C"/>
                </a:solidFill>
                <a:latin typeface="Consolas"/>
              </a:rPr>
              <a:t>cover property</a:t>
            </a:r>
            <a:r>
              <a:rPr sz="1050" b="0" i="0">
                <a:solidFill>
                  <a:srgbClr val="33414F"/>
                </a:solidFill>
                <a:latin typeface="Calibri"/>
              </a:rPr>
              <a:t>  — this is not a rule, just RECORD whether it ever happened. That is functional coverage, expressed in the same language.</a:t>
            </a:r>
          </a:p>
        </p:txBody>
      </p:sp>
      <p:sp>
        <p:nvSpPr>
          <p:cNvPr id="14" name="Rounded Rectangle 13"/>
          <p:cNvSpPr/>
          <p:nvPr/>
        </p:nvSpPr>
        <p:spPr>
          <a:xfrm>
            <a:off x="6126480" y="5074920"/>
            <a:ext cx="5532120" cy="132588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63640" y="513892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Where to put them</a:t>
            </a:r>
          </a:p>
        </p:txBody>
      </p:sp>
      <p:sp>
        <p:nvSpPr>
          <p:cNvPr id="16" name="TextBox 15"/>
          <p:cNvSpPr txBox="1"/>
          <p:nvPr/>
        </p:nvSpPr>
        <p:spPr>
          <a:xfrm>
            <a:off x="6263640" y="5413248"/>
            <a:ext cx="5257800" cy="92354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In a separate module bound to the DUT's signals — as in </a:t>
            </a:r>
            <a:r>
              <a:rPr sz="1050" b="1" i="0">
                <a:solidFill>
                  <a:srgbClr val="0E2A47"/>
                </a:solidFill>
                <a:latin typeface="Consolas"/>
              </a:rPr>
              <a:t>sva/fifo_sva.sv</a:t>
            </a:r>
            <a:r>
              <a:rPr sz="1050" b="0" i="0">
                <a:solidFill>
                  <a:srgbClr val="33414F"/>
                </a:solidFill>
                <a:latin typeface="Calibri"/>
              </a:rPr>
              <a:t>. The design source stays clean, the assertions can be maintained by the verification engineer, and they can be switched off for synthesis without touching the RTL.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5B · ASSERTIONS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FIFO's Specification, Written as Properties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30</a:t>
            </a:r>
          </a:p>
        </p:txBody>
      </p:sp>
      <p:sp>
        <p:nvSpPr>
          <p:cNvPr id="9" name="Rounded Rectangle 8"/>
          <p:cNvSpPr/>
          <p:nvPr/>
        </p:nvSpPr>
        <p:spPr>
          <a:xfrm>
            <a:off x="411480" y="1143000"/>
            <a:ext cx="11247120" cy="3378708"/>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Topic5_Lab/sva/fifo_sva.sv — lint-clean under Verilator 5.020</a:t>
            </a:r>
          </a:p>
        </p:txBody>
      </p:sp>
      <p:sp>
        <p:nvSpPr>
          <p:cNvPr id="11" name="TextBox 10"/>
          <p:cNvSpPr txBox="1"/>
          <p:nvPr/>
        </p:nvSpPr>
        <p:spPr>
          <a:xfrm>
            <a:off x="594360" y="1531620"/>
            <a:ext cx="10881360" cy="2875788"/>
          </a:xfrm>
          <a:prstGeom prst="rect">
            <a:avLst/>
          </a:prstGeom>
          <a:noFill/>
        </p:spPr>
        <p:txBody>
          <a:bodyPr wrap="square" lIns="0" rIns="0" tIns="0" bIns="0" anchor="t">
            <a:spAutoFit/>
          </a:bodyPr>
          <a:lstStyle/>
          <a:p>
            <a:pPr algn="l">
              <a:lnSpc>
                <a:spcPct val="112000"/>
              </a:lnSpc>
            </a:pPr>
            <a:r>
              <a:rPr sz="900" b="0" i="0">
                <a:solidFill>
                  <a:srgbClr val="7F9CB5"/>
                </a:solidFill>
                <a:latin typeface="Consolas"/>
              </a:rPr>
              <a:t>// 1. count and the flags must always agree</a:t>
            </a:r>
          </a:p>
          <a:p>
            <a:pPr algn="l">
              <a:lnSpc>
                <a:spcPct val="112000"/>
              </a:lnSpc>
            </a:pPr>
            <a:r>
              <a:rPr sz="900" b="0" i="0">
                <a:solidFill>
                  <a:srgbClr val="D8E4F0"/>
                </a:solidFill>
                <a:latin typeface="Consolas"/>
              </a:rPr>
              <a:t>a_empty_iff_zero: assert property (@(posedge clk) disable iff (!rst_n)</a:t>
            </a:r>
          </a:p>
          <a:p>
            <a:pPr algn="l">
              <a:lnSpc>
                <a:spcPct val="112000"/>
              </a:lnSpc>
            </a:pPr>
            <a:r>
              <a:rPr sz="900" b="0" i="0">
                <a:solidFill>
                  <a:srgbClr val="D8E4F0"/>
                </a:solidFill>
                <a:latin typeface="Consolas"/>
              </a:rPr>
              <a:t>    empty == (count == 0))       else $error("empty=%0b but count=%0d", empty, count);</a:t>
            </a:r>
          </a:p>
          <a:p>
            <a:pPr algn="l">
              <a:lnSpc>
                <a:spcPct val="112000"/>
              </a:lnSpc>
            </a:pPr>
            <a:r>
              <a:rPr sz="900" b="0" i="0">
                <a:solidFill>
                  <a:srgbClr val="D8E4F0"/>
                </a:solidFill>
                <a:latin typeface="Consolas"/>
              </a:rPr>
              <a:t> </a:t>
            </a:r>
          </a:p>
          <a:p>
            <a:pPr algn="l">
              <a:lnSpc>
                <a:spcPct val="112000"/>
              </a:lnSpc>
            </a:pPr>
            <a:r>
              <a:rPr sz="900" b="0" i="0">
                <a:solidFill>
                  <a:srgbClr val="D8E4F0"/>
                </a:solidFill>
                <a:latin typeface="Consolas"/>
              </a:rPr>
              <a:t>a_full_iff_depth: assert property (@(posedge clk) disable iff (!rst_n)</a:t>
            </a:r>
          </a:p>
          <a:p>
            <a:pPr algn="l">
              <a:lnSpc>
                <a:spcPct val="112000"/>
              </a:lnSpc>
            </a:pPr>
            <a:r>
              <a:rPr sz="900" b="0" i="0">
                <a:solidFill>
                  <a:srgbClr val="D8E4F0"/>
                </a:solidFill>
                <a:latin typeface="Consolas"/>
              </a:rPr>
              <a:t>    full == (count == DEPTH_C))  else $error("full=%0b but count=%0d", full, count);</a:t>
            </a:r>
          </a:p>
          <a:p>
            <a:pPr algn="l">
              <a:lnSpc>
                <a:spcPct val="112000"/>
              </a:lnSpc>
            </a:pPr>
            <a:r>
              <a:rPr sz="900" b="0" i="0">
                <a:solidFill>
                  <a:srgbClr val="D8E4F0"/>
                </a:solidFill>
                <a:latin typeface="Consolas"/>
              </a:rPr>
              <a:t> </a:t>
            </a:r>
          </a:p>
          <a:p>
            <a:pPr algn="l">
              <a:lnSpc>
                <a:spcPct val="112000"/>
              </a:lnSpc>
            </a:pPr>
            <a:r>
              <a:rPr sz="900" b="0" i="0">
                <a:solidFill>
                  <a:srgbClr val="7F9CB5"/>
                </a:solidFill>
                <a:latin typeface="Consolas"/>
              </a:rPr>
              <a:t>// 2. occupancy may only move by one per cycle, in the right direction</a:t>
            </a:r>
          </a:p>
          <a:p>
            <a:pPr algn="l">
              <a:lnSpc>
                <a:spcPct val="112000"/>
              </a:lnSpc>
            </a:pPr>
            <a:r>
              <a:rPr sz="900" b="0" i="0">
                <a:solidFill>
                  <a:srgbClr val="D8E4F0"/>
                </a:solidFill>
                <a:latin typeface="Consolas"/>
              </a:rPr>
              <a:t>a_step_up:   assert property (@(posedge clk) disable iff (!rst_n)</a:t>
            </a:r>
          </a:p>
          <a:p>
            <a:pPr algn="l">
              <a:lnSpc>
                <a:spcPct val="112000"/>
              </a:lnSpc>
            </a:pPr>
            <a:r>
              <a:rPr sz="900" b="0" i="0">
                <a:solidFill>
                  <a:srgbClr val="D8E4F0"/>
                </a:solidFill>
                <a:latin typeface="Consolas"/>
              </a:rPr>
              <a:t>    (wr_en &amp;&amp; !full &amp;&amp; !(rd_en &amp;&amp; !empty)) |=&gt; (count == $past(count) + 1));</a:t>
            </a:r>
          </a:p>
          <a:p>
            <a:pPr algn="l">
              <a:lnSpc>
                <a:spcPct val="112000"/>
              </a:lnSpc>
            </a:pPr>
            <a:r>
              <a:rPr sz="900" b="0" i="0">
                <a:solidFill>
                  <a:srgbClr val="D8E4F0"/>
                </a:solidFill>
                <a:latin typeface="Consolas"/>
              </a:rPr>
              <a:t> </a:t>
            </a:r>
          </a:p>
          <a:p>
            <a:pPr algn="l">
              <a:lnSpc>
                <a:spcPct val="112000"/>
              </a:lnSpc>
            </a:pPr>
            <a:r>
              <a:rPr sz="900" b="0" i="0">
                <a:solidFill>
                  <a:srgbClr val="D8E4F0"/>
                </a:solidFill>
                <a:latin typeface="Consolas"/>
              </a:rPr>
              <a:t>a_step_both: assert property (@(posedge clk) disable iff (!rst_n)</a:t>
            </a:r>
          </a:p>
          <a:p>
            <a:pPr algn="l">
              <a:lnSpc>
                <a:spcPct val="112000"/>
              </a:lnSpc>
            </a:pPr>
            <a:r>
              <a:rPr sz="900" b="0" i="0">
                <a:solidFill>
                  <a:srgbClr val="D8E4F0"/>
                </a:solidFill>
                <a:latin typeface="Consolas"/>
              </a:rPr>
              <a:t>    (wr_en &amp;&amp; !full &amp;&amp; rd_en &amp;&amp; !empty)    |=&gt; (count == $past(count)));</a:t>
            </a:r>
          </a:p>
          <a:p>
            <a:pPr algn="l">
              <a:lnSpc>
                <a:spcPct val="112000"/>
              </a:lnSpc>
            </a:pPr>
            <a:r>
              <a:rPr sz="900" b="0" i="0">
                <a:solidFill>
                  <a:srgbClr val="D8E4F0"/>
                </a:solidFill>
                <a:latin typeface="Consolas"/>
              </a:rPr>
              <a:t> </a:t>
            </a:r>
          </a:p>
          <a:p>
            <a:pPr algn="l">
              <a:lnSpc>
                <a:spcPct val="112000"/>
              </a:lnSpc>
            </a:pPr>
            <a:r>
              <a:rPr sz="900" b="0" i="0">
                <a:solidFill>
                  <a:srgbClr val="7F9CB5"/>
                </a:solidFill>
                <a:latin typeface="Consolas"/>
              </a:rPr>
              <a:t>// 3. COVER: not checks. They record that the interesting situations HAPPENED.</a:t>
            </a:r>
          </a:p>
          <a:p>
            <a:pPr algn="l">
              <a:lnSpc>
                <a:spcPct val="112000"/>
              </a:lnSpc>
            </a:pPr>
            <a:r>
              <a:rPr sz="900" b="0" i="0">
                <a:solidFill>
                  <a:srgbClr val="D8E4F0"/>
                </a:solidFill>
                <a:latin typeface="Consolas"/>
              </a:rPr>
              <a:t>c_both_empty: cover property (@(posedge clk) disable iff (!rst_n)</a:t>
            </a:r>
          </a:p>
          <a:p>
            <a:pPr algn="l">
              <a:lnSpc>
                <a:spcPct val="112000"/>
              </a:lnSpc>
            </a:pPr>
            <a:r>
              <a:rPr sz="900" b="0" i="0">
                <a:solidFill>
                  <a:srgbClr val="D8E4F0"/>
                </a:solidFill>
                <a:latin typeface="Consolas"/>
              </a:rPr>
              <a:t>    wr_en &amp;&amp; rd_en &amp;&amp; empty);</a:t>
            </a:r>
          </a:p>
        </p:txBody>
      </p:sp>
      <p:sp>
        <p:nvSpPr>
          <p:cNvPr id="12" name="TextBox 11"/>
          <p:cNvSpPr txBox="1"/>
          <p:nvPr/>
        </p:nvSpPr>
        <p:spPr>
          <a:xfrm>
            <a:off x="411480" y="4567428"/>
            <a:ext cx="11247120" cy="274320"/>
          </a:xfrm>
          <a:prstGeom prst="rect">
            <a:avLst/>
          </a:prstGeom>
          <a:noFill/>
        </p:spPr>
        <p:txBody>
          <a:bodyPr wrap="square" lIns="0" rIns="0" tIns="0" bIns="0" anchor="t">
            <a:spAutoFit/>
          </a:bodyPr>
          <a:lstStyle/>
          <a:p>
            <a:pPr algn="l">
              <a:lnSpc>
                <a:spcPct val="103000"/>
              </a:lnSpc>
            </a:pPr>
            <a:r>
              <a:rPr sz="1050" b="0" i="1">
                <a:solidFill>
                  <a:srgbClr val="5A6B7B"/>
                </a:solidFill>
                <a:latin typeface="Calibri"/>
              </a:rPr>
              <a:t>Read the property names aloud and they are the specification: "empty if and only if count is zero", "a write steps the count up by one". That readability is the point — an assertion nobody can read is an assertion nobody will maintain.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5B · LAB V6</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Which Caught Which — and the One That Slipped Through</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31</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Assertions and scoreboards are not alternatives. </a:t>
            </a:r>
            <a:r>
              <a:rPr sz="1100" b="0" i="0">
                <a:solidFill>
                  <a:srgbClr val="33414F"/>
                </a:solidFill>
                <a:latin typeface="Calibri"/>
              </a:rPr>
              <a:t>Here is the measured proof, from the same five broken FIFOs.</a:t>
            </a:r>
          </a:p>
        </p:txBody>
      </p:sp>
      <p:pic>
        <p:nvPicPr>
          <p:cNvPr id="10" name="Picture 9" descr="assert_vs_scoreboard.png"/>
          <p:cNvPicPr>
            <a:picLocks noChangeAspect="1"/>
          </p:cNvPicPr>
          <p:nvPr/>
        </p:nvPicPr>
        <p:blipFill>
          <a:blip r:embed="rId2"/>
          <a:stretch>
            <a:fillRect/>
          </a:stretch>
        </p:blipFill>
        <p:spPr>
          <a:xfrm>
            <a:off x="3154558" y="1691640"/>
            <a:ext cx="5760964" cy="3566160"/>
          </a:xfrm>
          <a:prstGeom prst="rect">
            <a:avLst/>
          </a:prstGeom>
        </p:spPr>
      </p:pic>
      <p:sp>
        <p:nvSpPr>
          <p:cNvPr id="11" name="Rounded Rectangle 10"/>
          <p:cNvSpPr/>
          <p:nvPr/>
        </p:nvSpPr>
        <p:spPr>
          <a:xfrm>
            <a:off x="411480" y="5349240"/>
            <a:ext cx="11247120" cy="100584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413248"/>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Read the fourth row to the class twice</a:t>
            </a:r>
          </a:p>
        </p:txBody>
      </p:sp>
      <p:sp>
        <p:nvSpPr>
          <p:cNvPr id="13" name="TextBox 12"/>
          <p:cNvSpPr txBox="1"/>
          <p:nvPr/>
        </p:nvSpPr>
        <p:spPr>
          <a:xfrm>
            <a:off x="576072" y="5687568"/>
            <a:ext cx="10917936" cy="60350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Four bugs are caught by a NAMED assertion, at the exact cycle, with a message that says which rule broke. One is not caught by any assertion — because these assertions describe the CONTROL interface and that bug corrupts DATA. </a:t>
            </a:r>
            <a:r>
              <a:rPr sz="1100" b="1" i="0">
                <a:solidFill>
                  <a:srgbClr val="C77514"/>
                </a:solidFill>
                <a:latin typeface="Calibri"/>
              </a:rPr>
              <a:t>Assertions catch what you described; scoreboards catch what you compared.</a:t>
            </a:r>
            <a:r>
              <a:rPr sz="1100" b="0" i="0">
                <a:solidFill>
                  <a:srgbClr val="33414F"/>
                </a:solidFill>
                <a:latin typeface="Calibri"/>
              </a:rPr>
              <a:t> You need both, and neither is a substitute for the other.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5B · ARCHITECTURE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A Layered Testbench</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32</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flat testbench works for one design. </a:t>
            </a:r>
            <a:r>
              <a:rPr sz="1100" b="0" i="0">
                <a:solidFill>
                  <a:srgbClr val="33414F"/>
                </a:solidFill>
                <a:latin typeface="Calibri"/>
              </a:rPr>
              <a:t>A layered one survives contact with the second, because the part that decides WHAT to test is separate from the part that knows HOW to wiggle the pins.</a:t>
            </a:r>
          </a:p>
        </p:txBody>
      </p:sp>
      <p:pic>
        <p:nvPicPr>
          <p:cNvPr id="10" name="Picture 9" descr="tb_layers.png"/>
          <p:cNvPicPr>
            <a:picLocks noChangeAspect="1"/>
          </p:cNvPicPr>
          <p:nvPr/>
        </p:nvPicPr>
        <p:blipFill>
          <a:blip r:embed="rId2"/>
          <a:stretch>
            <a:fillRect/>
          </a:stretch>
        </p:blipFill>
        <p:spPr>
          <a:xfrm>
            <a:off x="2252788" y="1737360"/>
            <a:ext cx="7564503" cy="3383280"/>
          </a:xfrm>
          <a:prstGeom prst="rect">
            <a:avLst/>
          </a:prstGeom>
        </p:spPr>
      </p:pic>
      <p:sp>
        <p:nvSpPr>
          <p:cNvPr id="11" name="Rectangle 10"/>
          <p:cNvSpPr/>
          <p:nvPr/>
        </p:nvSpPr>
        <p:spPr>
          <a:xfrm>
            <a:off x="411480" y="5212080"/>
            <a:ext cx="201168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57200" y="5212080"/>
            <a:ext cx="192024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Layer</a:t>
            </a:r>
          </a:p>
        </p:txBody>
      </p:sp>
      <p:sp>
        <p:nvSpPr>
          <p:cNvPr id="13" name="Rectangle 12"/>
          <p:cNvSpPr/>
          <p:nvPr/>
        </p:nvSpPr>
        <p:spPr>
          <a:xfrm>
            <a:off x="2423160" y="5212080"/>
            <a:ext cx="475488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468880" y="5212080"/>
            <a:ext cx="466344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Knows about</a:t>
            </a:r>
          </a:p>
        </p:txBody>
      </p:sp>
      <p:sp>
        <p:nvSpPr>
          <p:cNvPr id="15" name="Rectangle 14"/>
          <p:cNvSpPr/>
          <p:nvPr/>
        </p:nvSpPr>
        <p:spPr>
          <a:xfrm>
            <a:off x="7178040" y="5212080"/>
            <a:ext cx="448056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223760" y="5212080"/>
            <a:ext cx="438912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Does NOT know about</a:t>
            </a:r>
          </a:p>
        </p:txBody>
      </p:sp>
      <p:sp>
        <p:nvSpPr>
          <p:cNvPr id="17" name="Rectangle 16"/>
          <p:cNvSpPr/>
          <p:nvPr/>
        </p:nvSpPr>
        <p:spPr>
          <a:xfrm>
            <a:off x="411480" y="5495544"/>
            <a:ext cx="20116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57200" y="5495544"/>
            <a:ext cx="192024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Generator</a:t>
            </a:r>
          </a:p>
        </p:txBody>
      </p:sp>
      <p:sp>
        <p:nvSpPr>
          <p:cNvPr id="19" name="Rectangle 18"/>
          <p:cNvSpPr/>
          <p:nvPr/>
        </p:nvSpPr>
        <p:spPr>
          <a:xfrm>
            <a:off x="2423160" y="5495544"/>
            <a:ext cx="47548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468880" y="5495544"/>
            <a:ext cx="46634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test intent — what scenarios matter</a:t>
            </a:r>
          </a:p>
        </p:txBody>
      </p:sp>
      <p:sp>
        <p:nvSpPr>
          <p:cNvPr id="21" name="Rectangle 20"/>
          <p:cNvSpPr/>
          <p:nvPr/>
        </p:nvSpPr>
        <p:spPr>
          <a:xfrm>
            <a:off x="7178040" y="5495544"/>
            <a:ext cx="44805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223760" y="5495544"/>
            <a:ext cx="43891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pins, timing, the DUT</a:t>
            </a:r>
          </a:p>
        </p:txBody>
      </p:sp>
      <p:sp>
        <p:nvSpPr>
          <p:cNvPr id="23" name="Rectangle 22"/>
          <p:cNvSpPr/>
          <p:nvPr/>
        </p:nvSpPr>
        <p:spPr>
          <a:xfrm>
            <a:off x="411480" y="5779008"/>
            <a:ext cx="20116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57200" y="5779008"/>
            <a:ext cx="192024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Driver</a:t>
            </a:r>
          </a:p>
        </p:txBody>
      </p:sp>
      <p:sp>
        <p:nvSpPr>
          <p:cNvPr id="25" name="Rectangle 24"/>
          <p:cNvSpPr/>
          <p:nvPr/>
        </p:nvSpPr>
        <p:spPr>
          <a:xfrm>
            <a:off x="2423160" y="5779008"/>
            <a:ext cx="47548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2468880" y="5779008"/>
            <a:ext cx="46634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pin-level protocol and its timing</a:t>
            </a:r>
          </a:p>
        </p:txBody>
      </p:sp>
      <p:sp>
        <p:nvSpPr>
          <p:cNvPr id="27" name="Rectangle 26"/>
          <p:cNvSpPr/>
          <p:nvPr/>
        </p:nvSpPr>
        <p:spPr>
          <a:xfrm>
            <a:off x="7178040" y="5779008"/>
            <a:ext cx="44805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223760" y="5779008"/>
            <a:ext cx="43891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why this transaction was chosen</a:t>
            </a:r>
          </a:p>
        </p:txBody>
      </p:sp>
      <p:sp>
        <p:nvSpPr>
          <p:cNvPr id="29" name="Rectangle 28"/>
          <p:cNvSpPr/>
          <p:nvPr/>
        </p:nvSpPr>
        <p:spPr>
          <a:xfrm>
            <a:off x="411480" y="6062472"/>
            <a:ext cx="20116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57200" y="6062472"/>
            <a:ext cx="192024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Monitor</a:t>
            </a:r>
          </a:p>
        </p:txBody>
      </p:sp>
      <p:sp>
        <p:nvSpPr>
          <p:cNvPr id="31" name="Rectangle 30"/>
          <p:cNvSpPr/>
          <p:nvPr/>
        </p:nvSpPr>
        <p:spPr>
          <a:xfrm>
            <a:off x="2423160" y="6062472"/>
            <a:ext cx="47548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2468880" y="6062472"/>
            <a:ext cx="46634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how to observe the pins</a:t>
            </a:r>
          </a:p>
        </p:txBody>
      </p:sp>
      <p:sp>
        <p:nvSpPr>
          <p:cNvPr id="33" name="Rectangle 32"/>
          <p:cNvSpPr/>
          <p:nvPr/>
        </p:nvSpPr>
        <p:spPr>
          <a:xfrm>
            <a:off x="7178040" y="6062472"/>
            <a:ext cx="44805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223760" y="6062472"/>
            <a:ext cx="43891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how to drive anything</a:t>
            </a:r>
          </a:p>
        </p:txBody>
      </p:sp>
      <p:sp>
        <p:nvSpPr>
          <p:cNvPr id="35" name="Rectangle 34"/>
          <p:cNvSpPr/>
          <p:nvPr/>
        </p:nvSpPr>
        <p:spPr>
          <a:xfrm>
            <a:off x="411480" y="6345936"/>
            <a:ext cx="20116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57200" y="6345936"/>
            <a:ext cx="192024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Scoreboard</a:t>
            </a:r>
          </a:p>
        </p:txBody>
      </p:sp>
      <p:sp>
        <p:nvSpPr>
          <p:cNvPr id="37" name="Rectangle 36"/>
          <p:cNvSpPr/>
          <p:nvPr/>
        </p:nvSpPr>
        <p:spPr>
          <a:xfrm>
            <a:off x="2423160" y="6345936"/>
            <a:ext cx="47548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2468880" y="6345936"/>
            <a:ext cx="46634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what 'correct' means</a:t>
            </a:r>
          </a:p>
        </p:txBody>
      </p:sp>
      <p:sp>
        <p:nvSpPr>
          <p:cNvPr id="39" name="Rectangle 38"/>
          <p:cNvSpPr/>
          <p:nvPr/>
        </p:nvSpPr>
        <p:spPr>
          <a:xfrm>
            <a:off x="7178040" y="6345936"/>
            <a:ext cx="44805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7223760" y="6345936"/>
            <a:ext cx="43891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pins, timing, protocol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5B · LAB V6</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Capstone Testbench</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33</a:t>
            </a:r>
          </a:p>
        </p:txBody>
      </p:sp>
      <p:sp>
        <p:nvSpPr>
          <p:cNvPr id="9" name="Rounded Rectangle 8"/>
          <p:cNvSpPr/>
          <p:nvPr/>
        </p:nvSpPr>
        <p:spPr>
          <a:xfrm>
            <a:off x="411480" y="1143000"/>
            <a:ext cx="11247120" cy="4337304"/>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Topic5_Lab/tb/tb_v6_assert.sv — verified: 2027 checks, 895 words in, 895 out</a:t>
            </a:r>
          </a:p>
        </p:txBody>
      </p:sp>
      <p:sp>
        <p:nvSpPr>
          <p:cNvPr id="11" name="TextBox 10"/>
          <p:cNvSpPr txBox="1"/>
          <p:nvPr/>
        </p:nvSpPr>
        <p:spPr>
          <a:xfrm>
            <a:off x="594360" y="1531620"/>
            <a:ext cx="10881360" cy="3834384"/>
          </a:xfrm>
          <a:prstGeom prst="rect">
            <a:avLst/>
          </a:prstGeom>
          <a:noFill/>
        </p:spPr>
        <p:txBody>
          <a:bodyPr wrap="square" lIns="0" rIns="0" tIns="0" bIns="0" anchor="t">
            <a:spAutoFit/>
          </a:bodyPr>
          <a:lstStyle/>
          <a:p>
            <a:pPr algn="l">
              <a:lnSpc>
                <a:spcPct val="112000"/>
              </a:lnSpc>
            </a:pPr>
            <a:r>
              <a:rPr sz="850" b="0" i="0">
                <a:solidFill>
                  <a:srgbClr val="7F9CB5"/>
                </a:solidFill>
                <a:latin typeface="Consolas"/>
              </a:rPr>
              <a:t>// LAYER 3: monitor -- watches the pins and tells the scoreboard what happened.</a:t>
            </a:r>
          </a:p>
          <a:p>
            <a:pPr algn="l">
              <a:lnSpc>
                <a:spcPct val="112000"/>
              </a:lnSpc>
            </a:pPr>
            <a:r>
              <a:rPr sz="850" b="0" i="0">
                <a:solidFill>
                  <a:srgbClr val="D8E4F0"/>
                </a:solidFill>
                <a:latin typeface="Consolas"/>
              </a:rPr>
              <a:t>task automatic mon_apply(bit did_wr, bit did_rd, logic [W-1:0] dat);</a:t>
            </a:r>
          </a:p>
          <a:p>
            <a:pPr algn="l">
              <a:lnSpc>
                <a:spcPct val="112000"/>
              </a:lnSpc>
            </a:pPr>
            <a:r>
              <a:rPr sz="850" b="0" i="0">
                <a:solidFill>
                  <a:srgbClr val="D8E4F0"/>
                </a:solidFill>
                <a:latin typeface="Consolas"/>
              </a:rPr>
              <a:t>  bit was_full  = m_full();          // sample BOTH before applying either</a:t>
            </a:r>
          </a:p>
          <a:p>
            <a:pPr algn="l">
              <a:lnSpc>
                <a:spcPct val="112000"/>
              </a:lnSpc>
            </a:pPr>
            <a:r>
              <a:rPr sz="850" b="0" i="0">
                <a:solidFill>
                  <a:srgbClr val="D8E4F0"/>
                </a:solidFill>
                <a:latin typeface="Consolas"/>
              </a:rPr>
              <a:t>  bit was_empty = m_empty();</a:t>
            </a:r>
          </a:p>
          <a:p>
            <a:pPr algn="l">
              <a:lnSpc>
                <a:spcPct val="112000"/>
              </a:lnSpc>
            </a:pPr>
            <a:r>
              <a:rPr sz="850" b="0" i="0">
                <a:solidFill>
                  <a:srgbClr val="D8E4F0"/>
                </a:solidFill>
                <a:latin typeface="Consolas"/>
              </a:rPr>
              <a:t>  if (did_wr &amp;&amp; !was_full)  begin model[mtail % DEPTH] = dat; mtail++; end</a:t>
            </a:r>
          </a:p>
          <a:p>
            <a:pPr algn="l">
              <a:lnSpc>
                <a:spcPct val="112000"/>
              </a:lnSpc>
            </a:pPr>
            <a:r>
              <a:rPr sz="850" b="0" i="0">
                <a:solidFill>
                  <a:srgbClr val="D8E4F0"/>
                </a:solidFill>
                <a:latin typeface="Consolas"/>
              </a:rPr>
              <a:t>  if (did_rd &amp;&amp; !was_empty) begin mhead++;                          end</a:t>
            </a:r>
          </a:p>
          <a:p>
            <a:pPr algn="l">
              <a:lnSpc>
                <a:spcPct val="112000"/>
              </a:lnSpc>
            </a:pPr>
            <a:r>
              <a:rPr sz="850" b="0" i="0">
                <a:solidFill>
                  <a:srgbClr val="D8E4F0"/>
                </a:solidFill>
                <a:latin typeface="Consolas"/>
              </a:rPr>
              <a:t>endtask</a:t>
            </a:r>
          </a:p>
          <a:p>
            <a:pPr algn="l">
              <a:lnSpc>
                <a:spcPct val="112000"/>
              </a:lnSpc>
            </a:pPr>
            <a:r>
              <a:rPr sz="850" b="0" i="0">
                <a:solidFill>
                  <a:srgbClr val="D8E4F0"/>
                </a:solidFill>
                <a:latin typeface="Consolas"/>
              </a:rPr>
              <a:t> </a:t>
            </a:r>
          </a:p>
          <a:p>
            <a:pPr algn="l">
              <a:lnSpc>
                <a:spcPct val="112000"/>
              </a:lnSpc>
            </a:pPr>
            <a:r>
              <a:rPr sz="850" b="0" i="0">
                <a:solidFill>
                  <a:srgbClr val="7F9CB5"/>
                </a:solidFill>
                <a:latin typeface="Consolas"/>
              </a:rPr>
              <a:t>// LAYER 2: driver -- knows the pin protocol and nothing else.</a:t>
            </a:r>
          </a:p>
          <a:p>
            <a:pPr algn="l">
              <a:lnSpc>
                <a:spcPct val="112000"/>
              </a:lnSpc>
            </a:pPr>
            <a:r>
              <a:rPr sz="850" b="0" i="0">
                <a:solidFill>
                  <a:srgbClr val="D8E4F0"/>
                </a:solidFill>
                <a:latin typeface="Consolas"/>
              </a:rPr>
              <a:t>task automatic drv_cycle(bit do_w, bit do_r, logic [W-1:0] dat, string where);</a:t>
            </a:r>
          </a:p>
          <a:p>
            <a:pPr algn="l">
              <a:lnSpc>
                <a:spcPct val="112000"/>
              </a:lnSpc>
            </a:pPr>
            <a:r>
              <a:rPr sz="850" b="0" i="0">
                <a:solidFill>
                  <a:srgbClr val="D8E4F0"/>
                </a:solidFill>
                <a:latin typeface="Consolas"/>
              </a:rPr>
              <a:t>  @(posedge clk); #1;  wr_en = do_w; rd_en = do_r; wr_data = dat;</a:t>
            </a:r>
          </a:p>
          <a:p>
            <a:pPr algn="l">
              <a:lnSpc>
                <a:spcPct val="112000"/>
              </a:lnSpc>
            </a:pPr>
            <a:r>
              <a:rPr sz="850" b="0" i="0">
                <a:solidFill>
                  <a:srgbClr val="D8E4F0"/>
                </a:solidFill>
                <a:latin typeface="Consolas"/>
              </a:rPr>
              <a:t>  @(posedge clk); #1;  wr_en = 1'b0; rd_en = 1'b0;</a:t>
            </a:r>
          </a:p>
          <a:p>
            <a:pPr algn="l">
              <a:lnSpc>
                <a:spcPct val="112000"/>
              </a:lnSpc>
            </a:pPr>
            <a:r>
              <a:rPr sz="850" b="0" i="0">
                <a:solidFill>
                  <a:srgbClr val="D8E4F0"/>
                </a:solidFill>
                <a:latin typeface="Consolas"/>
              </a:rPr>
              <a:t>  mon_apply(do_w, do_r, dat);</a:t>
            </a:r>
          </a:p>
          <a:p>
            <a:pPr algn="l">
              <a:lnSpc>
                <a:spcPct val="112000"/>
              </a:lnSpc>
            </a:pPr>
            <a:r>
              <a:rPr sz="850" b="0" i="0">
                <a:solidFill>
                  <a:srgbClr val="D8E4F0"/>
                </a:solidFill>
                <a:latin typeface="Consolas"/>
              </a:rPr>
              <a:t>  sb_check(where);</a:t>
            </a:r>
          </a:p>
          <a:p>
            <a:pPr algn="l">
              <a:lnSpc>
                <a:spcPct val="112000"/>
              </a:lnSpc>
            </a:pPr>
            <a:r>
              <a:rPr sz="850" b="0" i="0">
                <a:solidFill>
                  <a:srgbClr val="D8E4F0"/>
                </a:solidFill>
                <a:latin typeface="Consolas"/>
              </a:rPr>
              <a:t>endtask</a:t>
            </a:r>
          </a:p>
          <a:p>
            <a:pPr algn="l">
              <a:lnSpc>
                <a:spcPct val="112000"/>
              </a:lnSpc>
            </a:pPr>
            <a:r>
              <a:rPr sz="850" b="0" i="0">
                <a:solidFill>
                  <a:srgbClr val="D8E4F0"/>
                </a:solidFill>
                <a:latin typeface="Consolas"/>
              </a:rPr>
              <a:t> </a:t>
            </a:r>
          </a:p>
          <a:p>
            <a:pPr algn="l">
              <a:lnSpc>
                <a:spcPct val="112000"/>
              </a:lnSpc>
            </a:pPr>
            <a:r>
              <a:rPr sz="850" b="0" i="0">
                <a:solidFill>
                  <a:srgbClr val="7F9CB5"/>
                </a:solidFill>
                <a:latin typeface="Consolas"/>
              </a:rPr>
              <a:t>// LAYER 1: generator -- corners first (cheap, deterministic), then random.</a:t>
            </a:r>
          </a:p>
          <a:p>
            <a:pPr algn="l">
              <a:lnSpc>
                <a:spcPct val="112000"/>
              </a:lnSpc>
            </a:pPr>
            <a:r>
              <a:rPr sz="850" b="0" i="0">
                <a:solidFill>
                  <a:srgbClr val="D8E4F0"/>
                </a:solidFill>
                <a:latin typeface="Consolas"/>
              </a:rPr>
              <a:t>for (int i = 0; i &lt; DEPTH + 2; i++) drv_cycle(1'b1, 1'b0, 8'h10+i[7:0], "fill");</a:t>
            </a:r>
          </a:p>
          <a:p>
            <a:pPr algn="l">
              <a:lnSpc>
                <a:spcPct val="112000"/>
              </a:lnSpc>
            </a:pPr>
            <a:r>
              <a:rPr sz="850" b="0" i="0">
                <a:solidFill>
                  <a:srgbClr val="D8E4F0"/>
                </a:solidFill>
                <a:latin typeface="Consolas"/>
              </a:rPr>
              <a:t>drv_cycle(1'b1, 1'b1, 8'hAA, "read+write while empty");</a:t>
            </a:r>
          </a:p>
          <a:p>
            <a:pPr algn="l">
              <a:lnSpc>
                <a:spcPct val="112000"/>
              </a:lnSpc>
            </a:pPr>
            <a:r>
              <a:rPr sz="850" b="0" i="0">
                <a:solidFill>
                  <a:srgbClr val="D8E4F0"/>
                </a:solidFill>
                <a:latin typeface="Consolas"/>
              </a:rPr>
              <a:t>for (int i = 0; i &lt; cycles; i++) begin</a:t>
            </a:r>
          </a:p>
          <a:p>
            <a:pPr algn="l">
              <a:lnSpc>
                <a:spcPct val="112000"/>
              </a:lnSpc>
            </a:pPr>
            <a:r>
              <a:rPr sz="850" b="0" i="0">
                <a:solidFill>
                  <a:srgbClr val="D8E4F0"/>
                </a:solidFill>
                <a:latin typeface="Consolas"/>
              </a:rPr>
              <a:t>  bit b_w = (($urandom() % 100) &lt; p_wr);      // seeded ONCE, before the loop</a:t>
            </a:r>
          </a:p>
          <a:p>
            <a:pPr algn="l">
              <a:lnSpc>
                <a:spcPct val="112000"/>
              </a:lnSpc>
            </a:pPr>
            <a:r>
              <a:rPr sz="850" b="0" i="0">
                <a:solidFill>
                  <a:srgbClr val="D8E4F0"/>
                </a:solidFill>
                <a:latin typeface="Consolas"/>
              </a:rPr>
              <a:t>  bit b_r = (($urandom() % 100) &lt; p_rd);</a:t>
            </a:r>
          </a:p>
          <a:p>
            <a:pPr algn="l">
              <a:lnSpc>
                <a:spcPct val="112000"/>
              </a:lnSpc>
            </a:pPr>
            <a:r>
              <a:rPr sz="850" b="0" i="0">
                <a:solidFill>
                  <a:srgbClr val="D8E4F0"/>
                </a:solidFill>
                <a:latin typeface="Consolas"/>
              </a:rPr>
              <a:t>  drv_cycle(b_w, b_r, W'($urandom()), "random");</a:t>
            </a:r>
          </a:p>
          <a:p>
            <a:pPr algn="l">
              <a:lnSpc>
                <a:spcPct val="112000"/>
              </a:lnSpc>
            </a:pPr>
            <a:r>
              <a:rPr sz="850" b="0" i="0">
                <a:solidFill>
                  <a:srgbClr val="D8E4F0"/>
                </a:solidFill>
                <a:latin typeface="Consolas"/>
              </a:rPr>
              <a:t>end</a:t>
            </a:r>
          </a:p>
        </p:txBody>
      </p:sp>
      <p:sp>
        <p:nvSpPr>
          <p:cNvPr id="12" name="TextBox 11"/>
          <p:cNvSpPr txBox="1"/>
          <p:nvPr/>
        </p:nvSpPr>
        <p:spPr>
          <a:xfrm>
            <a:off x="411480" y="5526024"/>
            <a:ext cx="11247120" cy="274320"/>
          </a:xfrm>
          <a:prstGeom prst="rect">
            <a:avLst/>
          </a:prstGeom>
          <a:noFill/>
        </p:spPr>
        <p:txBody>
          <a:bodyPr wrap="square" lIns="0" rIns="0" tIns="0" bIns="0" anchor="t">
            <a:spAutoFit/>
          </a:bodyPr>
          <a:lstStyle/>
          <a:p>
            <a:pPr algn="l">
              <a:lnSpc>
                <a:spcPct val="103000"/>
              </a:lnSpc>
            </a:pPr>
            <a:r>
              <a:rPr sz="1050" b="0" i="1">
                <a:solidFill>
                  <a:srgbClr val="5A6B7B"/>
                </a:solidFill>
                <a:latin typeface="Calibri"/>
              </a:rPr>
              <a:t>Directed corners first, then the random body. The corners fail fast and cheaply; the random body finds what the corners did not.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5B · CHECKPOINT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Build It Yourself — Eight Tasks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34</a:t>
            </a:r>
          </a:p>
        </p:txBody>
      </p:sp>
      <p:sp>
        <p:nvSpPr>
          <p:cNvPr id="9" name="TextBox 8"/>
          <p:cNvSpPr txBox="1"/>
          <p:nvPr/>
        </p:nvSpPr>
        <p:spPr>
          <a:xfrm>
            <a:off x="411480" y="1143000"/>
            <a:ext cx="11247120" cy="45720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These are the tasks that make the difference between reading about verification and being able to do it. </a:t>
            </a:r>
            <a:r>
              <a:rPr sz="1100" b="0" i="0">
                <a:solidFill>
                  <a:srgbClr val="33414F"/>
                </a:solidFill>
                <a:latin typeface="Calibri"/>
              </a:rPr>
              <a:t>Full solutions in workbook section T5-B.</a:t>
            </a:r>
          </a:p>
        </p:txBody>
      </p:sp>
      <p:sp>
        <p:nvSpPr>
          <p:cNvPr id="10" name="Rounded Rectangle 9"/>
          <p:cNvSpPr/>
          <p:nvPr/>
        </p:nvSpPr>
        <p:spPr>
          <a:xfrm>
            <a:off x="411480" y="1600200"/>
            <a:ext cx="5532120" cy="210312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48640" y="1664208"/>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Tasks 1–4</a:t>
            </a:r>
          </a:p>
        </p:txBody>
      </p:sp>
      <p:sp>
        <p:nvSpPr>
          <p:cNvPr id="12" name="TextBox 11"/>
          <p:cNvSpPr txBox="1"/>
          <p:nvPr/>
        </p:nvSpPr>
        <p:spPr>
          <a:xfrm>
            <a:off x="548640" y="1938528"/>
            <a:ext cx="5257800" cy="17007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1. Add a ninth directed test to V2 that V2 currently lacks. What does it check?</a:t>
            </a:r>
          </a:p>
          <a:p>
            <a:pPr algn="l">
              <a:lnSpc>
                <a:spcPct val="103000"/>
              </a:lnSpc>
              <a:spcAft>
                <a:spcPts val="400"/>
              </a:spcAft>
            </a:pPr>
            <a:r>
              <a:rPr sz="1050" b="0" i="0">
                <a:solidFill>
                  <a:srgbClr val="33414F"/>
                </a:solidFill>
                <a:latin typeface="Calibri"/>
              </a:rPr>
              <a:t>2. Change V3's weights so the FIFO spends most of its time empty. Which coverage bins go MISS?</a:t>
            </a:r>
          </a:p>
          <a:p>
            <a:pPr algn="l">
              <a:lnSpc>
                <a:spcPct val="103000"/>
              </a:lnSpc>
              <a:spcAft>
                <a:spcPts val="400"/>
              </a:spcAft>
            </a:pPr>
            <a:r>
              <a:rPr sz="1050" b="0" i="0">
                <a:solidFill>
                  <a:srgbClr val="33414F"/>
                </a:solidFill>
                <a:latin typeface="Calibri"/>
              </a:rPr>
              <a:t>3. Break the golden FIFO with a one-character change. Which stage catches it — V1, V2 or V3?</a:t>
            </a:r>
          </a:p>
          <a:p>
            <a:pPr algn="l">
              <a:lnSpc>
                <a:spcPct val="103000"/>
              </a:lnSpc>
              <a:spcAft>
                <a:spcPts val="400"/>
              </a:spcAft>
            </a:pPr>
            <a:r>
              <a:rPr sz="1050" b="0" i="0">
                <a:solidFill>
                  <a:srgbClr val="33414F"/>
                </a:solidFill>
                <a:latin typeface="Calibri"/>
              </a:rPr>
              <a:t>4. Write a bug that V3 misses. What kind of bug is it, and what would catch it?</a:t>
            </a:r>
          </a:p>
        </p:txBody>
      </p:sp>
      <p:sp>
        <p:nvSpPr>
          <p:cNvPr id="13" name="Rounded Rectangle 12"/>
          <p:cNvSpPr/>
          <p:nvPr/>
        </p:nvSpPr>
        <p:spPr>
          <a:xfrm>
            <a:off x="6126480" y="1600200"/>
            <a:ext cx="5532120" cy="210312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263640" y="166420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Tasks 5–8</a:t>
            </a:r>
          </a:p>
        </p:txBody>
      </p:sp>
      <p:sp>
        <p:nvSpPr>
          <p:cNvPr id="15" name="TextBox 14"/>
          <p:cNvSpPr txBox="1"/>
          <p:nvPr/>
        </p:nvSpPr>
        <p:spPr>
          <a:xfrm>
            <a:off x="6263640" y="1938528"/>
            <a:ext cx="5257800" cy="17007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5. Add a coverage bin for "three consecutive idle cycles". Does anything hit it?</a:t>
            </a:r>
          </a:p>
          <a:p>
            <a:pPr algn="l">
              <a:lnSpc>
                <a:spcPct val="103000"/>
              </a:lnSpc>
              <a:spcAft>
                <a:spcPts val="400"/>
              </a:spcAft>
            </a:pPr>
            <a:r>
              <a:rPr sz="1050" b="0" i="0">
                <a:solidFill>
                  <a:srgbClr val="33414F"/>
                </a:solidFill>
                <a:latin typeface="Calibri"/>
              </a:rPr>
              <a:t>6. Add an assertion that would have caught fifo_b4. Why is it harder than the others?</a:t>
            </a:r>
          </a:p>
          <a:p>
            <a:pPr algn="l">
              <a:lnSpc>
                <a:spcPct val="103000"/>
              </a:lnSpc>
              <a:spcAft>
                <a:spcPts val="400"/>
              </a:spcAft>
            </a:pPr>
            <a:r>
              <a:rPr sz="1050" b="0" i="0">
                <a:solidFill>
                  <a:srgbClr val="33414F"/>
                </a:solidFill>
                <a:latin typeface="Calibri"/>
              </a:rPr>
              <a:t>7. Comment out a_step_both and re-run assert.sh. What changes about fifo_b3's diagnosis?</a:t>
            </a:r>
          </a:p>
          <a:p>
            <a:pPr algn="l">
              <a:lnSpc>
                <a:spcPct val="103000"/>
              </a:lnSpc>
              <a:spcAft>
                <a:spcPts val="400"/>
              </a:spcAft>
            </a:pPr>
            <a:r>
              <a:rPr sz="1050" b="0" i="0">
                <a:solidFill>
                  <a:srgbClr val="33414F"/>
                </a:solidFill>
                <a:latin typeface="Calibri"/>
              </a:rPr>
              <a:t>8. Run the same seed twice and diff the transcripts. Then change the seed. Explain both results.</a:t>
            </a:r>
          </a:p>
        </p:txBody>
      </p:sp>
      <p:sp>
        <p:nvSpPr>
          <p:cNvPr id="16" name="Rounded Rectangle 15"/>
          <p:cNvSpPr/>
          <p:nvPr/>
        </p:nvSpPr>
        <p:spPr>
          <a:xfrm>
            <a:off x="411480" y="3794760"/>
            <a:ext cx="11247120" cy="776224"/>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76072" y="3858768"/>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Task 4 is the one that teaches the most</a:t>
            </a:r>
          </a:p>
        </p:txBody>
      </p:sp>
      <p:sp>
        <p:nvSpPr>
          <p:cNvPr id="18" name="TextBox 17"/>
          <p:cNvSpPr txBox="1"/>
          <p:nvPr/>
        </p:nvSpPr>
        <p:spPr>
          <a:xfrm>
            <a:off x="576072" y="4133088"/>
            <a:ext cx="10917936" cy="373888"/>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Writing a bug that survives a good testbench forces you to think about what the testbench does NOT check — which is exactly the skill a verification plan is supposed to produce.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5B · MECHANICS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Tasks, Functions and Concurrency in a Testbench</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35</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testbench is not synthesised, so the whole language is available — including everything Topic 4 told you never to use in design code. </a:t>
            </a:r>
            <a:r>
              <a:rPr sz="1100" b="0" i="0">
                <a:solidFill>
                  <a:srgbClr val="33414F"/>
                </a:solidFill>
                <a:latin typeface="Calibri"/>
              </a:rPr>
              <a:t>Delays, while loops, file I/O, hierarchical references: all legal, all useful here.</a:t>
            </a:r>
          </a:p>
        </p:txBody>
      </p:sp>
      <p:sp>
        <p:nvSpPr>
          <p:cNvPr id="10" name="Rounded Rectangle 9"/>
          <p:cNvSpPr/>
          <p:nvPr/>
        </p:nvSpPr>
        <p:spPr>
          <a:xfrm>
            <a:off x="411480" y="1691640"/>
            <a:ext cx="11247120" cy="3209544"/>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180594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The testbench-only constructs you will actually use</a:t>
            </a:r>
          </a:p>
        </p:txBody>
      </p:sp>
      <p:sp>
        <p:nvSpPr>
          <p:cNvPr id="12" name="TextBox 11"/>
          <p:cNvSpPr txBox="1"/>
          <p:nvPr/>
        </p:nvSpPr>
        <p:spPr>
          <a:xfrm>
            <a:off x="594360" y="2080260"/>
            <a:ext cx="10881360" cy="2706624"/>
          </a:xfrm>
          <a:prstGeom prst="rect">
            <a:avLst/>
          </a:prstGeom>
          <a:noFill/>
        </p:spPr>
        <p:txBody>
          <a:bodyPr wrap="square" lIns="0" rIns="0" tIns="0" bIns="0" anchor="t">
            <a:spAutoFit/>
          </a:bodyPr>
          <a:lstStyle/>
          <a:p>
            <a:pPr algn="l">
              <a:lnSpc>
                <a:spcPct val="112000"/>
              </a:lnSpc>
            </a:pPr>
            <a:r>
              <a:rPr sz="900" b="0" i="0">
                <a:solidFill>
                  <a:srgbClr val="7F9CB5"/>
                </a:solidFill>
                <a:latin typeface="Consolas"/>
              </a:rPr>
              <a:t>// A TASK may consume time. This is how you package a bus transaction.</a:t>
            </a:r>
          </a:p>
          <a:p>
            <a:pPr algn="l">
              <a:lnSpc>
                <a:spcPct val="112000"/>
              </a:lnSpc>
            </a:pPr>
            <a:r>
              <a:rPr sz="900" b="0" i="0">
                <a:solidFill>
                  <a:srgbClr val="D8E4F0"/>
                </a:solidFill>
                <a:latin typeface="Consolas"/>
              </a:rPr>
              <a:t>task automatic push(input [W-1:0] dat);</a:t>
            </a:r>
          </a:p>
          <a:p>
            <a:pPr algn="l">
              <a:lnSpc>
                <a:spcPct val="112000"/>
              </a:lnSpc>
            </a:pPr>
            <a:r>
              <a:rPr sz="900" b="0" i="0">
                <a:solidFill>
                  <a:srgbClr val="D8E4F0"/>
                </a:solidFill>
                <a:latin typeface="Consolas"/>
              </a:rPr>
              <a:t>  begin</a:t>
            </a:r>
          </a:p>
          <a:p>
            <a:pPr algn="l">
              <a:lnSpc>
                <a:spcPct val="112000"/>
              </a:lnSpc>
            </a:pPr>
            <a:r>
              <a:rPr sz="900" b="0" i="0">
                <a:solidFill>
                  <a:srgbClr val="D8E4F0"/>
                </a:solidFill>
                <a:latin typeface="Consolas"/>
              </a:rPr>
              <a:t>    @(posedge clk); #1;  wr_en = 1'b1; wr_data = dat;</a:t>
            </a:r>
          </a:p>
          <a:p>
            <a:pPr algn="l">
              <a:lnSpc>
                <a:spcPct val="112000"/>
              </a:lnSpc>
            </a:pPr>
            <a:r>
              <a:rPr sz="900" b="0" i="0">
                <a:solidFill>
                  <a:srgbClr val="D8E4F0"/>
                </a:solidFill>
                <a:latin typeface="Consolas"/>
              </a:rPr>
              <a:t>    @(posedge clk); #1;  wr_en = 1'b0;</a:t>
            </a:r>
          </a:p>
          <a:p>
            <a:pPr algn="l">
              <a:lnSpc>
                <a:spcPct val="112000"/>
              </a:lnSpc>
            </a:pPr>
            <a:r>
              <a:rPr sz="900" b="0" i="0">
                <a:solidFill>
                  <a:srgbClr val="D8E4F0"/>
                </a:solidFill>
                <a:latin typeface="Consolas"/>
              </a:rPr>
              <a:t>  end</a:t>
            </a:r>
          </a:p>
          <a:p>
            <a:pPr algn="l">
              <a:lnSpc>
                <a:spcPct val="112000"/>
              </a:lnSpc>
            </a:pPr>
            <a:r>
              <a:rPr sz="900" b="0" i="0">
                <a:solidFill>
                  <a:srgbClr val="D8E4F0"/>
                </a:solidFill>
                <a:latin typeface="Consolas"/>
              </a:rPr>
              <a:t>endtask</a:t>
            </a:r>
          </a:p>
          <a:p>
            <a:pPr algn="l">
              <a:lnSpc>
                <a:spcPct val="112000"/>
              </a:lnSpc>
            </a:pPr>
            <a:r>
              <a:rPr sz="900" b="0" i="0">
                <a:solidFill>
                  <a:srgbClr val="D8E4F0"/>
                </a:solidFill>
                <a:latin typeface="Consolas"/>
              </a:rPr>
              <a:t> </a:t>
            </a:r>
          </a:p>
          <a:p>
            <a:pPr algn="l">
              <a:lnSpc>
                <a:spcPct val="112000"/>
              </a:lnSpc>
            </a:pPr>
            <a:r>
              <a:rPr sz="900" b="0" i="0">
                <a:solidFill>
                  <a:srgbClr val="7F9CB5"/>
                </a:solidFill>
                <a:latin typeface="Consolas"/>
              </a:rPr>
              <a:t>// FORK/JOIN runs several stimulus threads at once - a writer and a reader,</a:t>
            </a:r>
          </a:p>
          <a:p>
            <a:pPr algn="l">
              <a:lnSpc>
                <a:spcPct val="112000"/>
              </a:lnSpc>
            </a:pPr>
            <a:r>
              <a:rPr sz="900" b="0" i="0">
                <a:solidFill>
                  <a:srgbClr val="7F9CB5"/>
                </a:solidFill>
                <a:latin typeface="Consolas"/>
              </a:rPr>
              <a:t>// independent of each other, exactly as two masters on a bus would be.</a:t>
            </a:r>
          </a:p>
          <a:p>
            <a:pPr algn="l">
              <a:lnSpc>
                <a:spcPct val="112000"/>
              </a:lnSpc>
            </a:pPr>
            <a:r>
              <a:rPr sz="900" b="0" i="0">
                <a:solidFill>
                  <a:srgbClr val="D8E4F0"/>
                </a:solidFill>
                <a:latin typeface="Consolas"/>
              </a:rPr>
              <a:t>fork</a:t>
            </a:r>
          </a:p>
          <a:p>
            <a:pPr algn="l">
              <a:lnSpc>
                <a:spcPct val="112000"/>
              </a:lnSpc>
            </a:pPr>
            <a:r>
              <a:rPr sz="900" b="0" i="0">
                <a:solidFill>
                  <a:srgbClr val="D8E4F0"/>
                </a:solidFill>
                <a:latin typeface="Consolas"/>
              </a:rPr>
              <a:t>  begin : writer  repeat (100) push($random(seed));      end</a:t>
            </a:r>
          </a:p>
          <a:p>
            <a:pPr algn="l">
              <a:lnSpc>
                <a:spcPct val="112000"/>
              </a:lnSpc>
            </a:pPr>
            <a:r>
              <a:rPr sz="900" b="0" i="0">
                <a:solidFill>
                  <a:srgbClr val="D8E4F0"/>
                </a:solidFill>
                <a:latin typeface="Consolas"/>
              </a:rPr>
              <a:t>  begin : reader  repeat (100) pop();                    end</a:t>
            </a:r>
          </a:p>
          <a:p>
            <a:pPr algn="l">
              <a:lnSpc>
                <a:spcPct val="112000"/>
              </a:lnSpc>
            </a:pPr>
            <a:r>
              <a:rPr sz="900" b="0" i="0">
                <a:solidFill>
                  <a:srgbClr val="D8E4F0"/>
                </a:solidFill>
                <a:latin typeface="Consolas"/>
              </a:rPr>
              <a:t>join</a:t>
            </a:r>
          </a:p>
          <a:p>
            <a:pPr algn="l">
              <a:lnSpc>
                <a:spcPct val="112000"/>
              </a:lnSpc>
            </a:pPr>
            <a:r>
              <a:rPr sz="900" b="0" i="0">
                <a:solidFill>
                  <a:srgbClr val="D8E4F0"/>
                </a:solidFill>
                <a:latin typeface="Consolas"/>
              </a:rPr>
              <a:t> </a:t>
            </a:r>
          </a:p>
          <a:p>
            <a:pPr algn="l">
              <a:lnSpc>
                <a:spcPct val="112000"/>
              </a:lnSpc>
            </a:pPr>
            <a:r>
              <a:rPr sz="900" b="0" i="0">
                <a:solidFill>
                  <a:srgbClr val="7F9CB5"/>
                </a:solidFill>
                <a:latin typeface="Consolas"/>
              </a:rPr>
              <a:t>// join_any + disable fork is the standard TIMEOUT idiom in SystemVerilog.</a:t>
            </a:r>
          </a:p>
        </p:txBody>
      </p:sp>
      <p:sp>
        <p:nvSpPr>
          <p:cNvPr id="13" name="Rounded Rectangle 12"/>
          <p:cNvSpPr/>
          <p:nvPr/>
        </p:nvSpPr>
        <p:spPr>
          <a:xfrm>
            <a:off x="411480" y="4992624"/>
            <a:ext cx="5532120" cy="118872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48640" y="5056632"/>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automatic matters</a:t>
            </a:r>
          </a:p>
        </p:txBody>
      </p:sp>
      <p:sp>
        <p:nvSpPr>
          <p:cNvPr id="15" name="TextBox 14"/>
          <p:cNvSpPr txBox="1"/>
          <p:nvPr/>
        </p:nvSpPr>
        <p:spPr>
          <a:xfrm>
            <a:off x="548640" y="5330952"/>
            <a:ext cx="5257800" cy="786384"/>
          </a:xfrm>
          <a:prstGeom prst="rect">
            <a:avLst/>
          </a:prstGeom>
          <a:noFill/>
        </p:spPr>
        <p:txBody>
          <a:bodyPr wrap="square" lIns="0" rIns="0" tIns="0" bIns="0" anchor="t">
            <a:spAutoFit/>
          </a:bodyPr>
          <a:lstStyle/>
          <a:p>
            <a:pPr algn="l">
              <a:lnSpc>
                <a:spcPct val="103000"/>
              </a:lnSpc>
              <a:spcAft>
                <a:spcPts val="400"/>
              </a:spcAft>
            </a:pPr>
            <a:r>
              <a:rPr sz="1050" b="1" i="0">
                <a:solidFill>
                  <a:srgbClr val="2A9D5C"/>
                </a:solidFill>
                <a:latin typeface="Consolas"/>
              </a:rPr>
              <a:t>task automatic</a:t>
            </a:r>
            <a:r>
              <a:rPr sz="1050" b="0" i="0">
                <a:solidFill>
                  <a:srgbClr val="33414F"/>
                </a:solidFill>
                <a:latin typeface="Calibri"/>
              </a:rPr>
              <a:t>  gives each call its own copy of the arguments and locals. Without it, two concurrent calls from a fork share one set — and corrupt each other in a way that looks like a DUT bug.</a:t>
            </a:r>
          </a:p>
        </p:txBody>
      </p:sp>
      <p:sp>
        <p:nvSpPr>
          <p:cNvPr id="16" name="Rounded Rectangle 15"/>
          <p:cNvSpPr/>
          <p:nvPr/>
        </p:nvSpPr>
        <p:spPr>
          <a:xfrm>
            <a:off x="6126480" y="4992624"/>
            <a:ext cx="5532120" cy="118872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63640" y="5056632"/>
            <a:ext cx="5257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A watchdog is not optional</a:t>
            </a:r>
          </a:p>
        </p:txBody>
      </p:sp>
      <p:sp>
        <p:nvSpPr>
          <p:cNvPr id="18" name="TextBox 17"/>
          <p:cNvSpPr txBox="1"/>
          <p:nvPr/>
        </p:nvSpPr>
        <p:spPr>
          <a:xfrm>
            <a:off x="6263640" y="5330952"/>
            <a:ext cx="5257800" cy="7863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Every testbench needs a second initial block that prints FAIL and calls $finish after a generous timeout. Without one, a hung DUT stalls the whole regression instead of failing it — and a regression that hangs is a regression nobody runs.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5B · FILE I/O</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Golden Vectors — When the Answer Comes From Elsewhere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36</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Sometimes the reference is not a model you write but a file somebody else produced </a:t>
            </a:r>
            <a:r>
              <a:rPr sz="1100" b="0" i="0">
                <a:solidFill>
                  <a:srgbClr val="33414F"/>
                </a:solidFill>
                <a:latin typeface="Calibri"/>
              </a:rPr>
              <a:t>— a C reference implementation, a MATLAB run, the output of the previous chip. The testbench then reads stimulus and expected results from files.</a:t>
            </a:r>
          </a:p>
        </p:txBody>
      </p:sp>
      <p:sp>
        <p:nvSpPr>
          <p:cNvPr id="10" name="Rounded Rectangle 9"/>
          <p:cNvSpPr/>
          <p:nvPr/>
        </p:nvSpPr>
        <p:spPr>
          <a:xfrm>
            <a:off x="411480" y="1691640"/>
            <a:ext cx="11247120" cy="3378708"/>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180594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$readmemh, $fopen, $fdisplay, $fclose</a:t>
            </a:r>
          </a:p>
        </p:txBody>
      </p:sp>
      <p:sp>
        <p:nvSpPr>
          <p:cNvPr id="12" name="TextBox 11"/>
          <p:cNvSpPr txBox="1"/>
          <p:nvPr/>
        </p:nvSpPr>
        <p:spPr>
          <a:xfrm>
            <a:off x="594360" y="2080260"/>
            <a:ext cx="10881360" cy="2875788"/>
          </a:xfrm>
          <a:prstGeom prst="rect">
            <a:avLst/>
          </a:prstGeom>
          <a:noFill/>
        </p:spPr>
        <p:txBody>
          <a:bodyPr wrap="square" lIns="0" rIns="0" tIns="0" bIns="0" anchor="t">
            <a:spAutoFit/>
          </a:bodyPr>
          <a:lstStyle/>
          <a:p>
            <a:pPr algn="l">
              <a:lnSpc>
                <a:spcPct val="112000"/>
              </a:lnSpc>
            </a:pPr>
            <a:r>
              <a:rPr sz="900" b="0" i="0">
                <a:solidFill>
                  <a:srgbClr val="D8E4F0"/>
                </a:solidFill>
                <a:latin typeface="Consolas"/>
              </a:rPr>
              <a:t>reg [7:0] stim   [0:1023];</a:t>
            </a:r>
          </a:p>
          <a:p>
            <a:pPr algn="l">
              <a:lnSpc>
                <a:spcPct val="112000"/>
              </a:lnSpc>
            </a:pPr>
            <a:r>
              <a:rPr sz="900" b="0" i="0">
                <a:solidFill>
                  <a:srgbClr val="D8E4F0"/>
                </a:solidFill>
                <a:latin typeface="Consolas"/>
              </a:rPr>
              <a:t>reg [7:0] golden [0:1023];</a:t>
            </a:r>
          </a:p>
          <a:p>
            <a:pPr algn="l">
              <a:lnSpc>
                <a:spcPct val="112000"/>
              </a:lnSpc>
            </a:pPr>
            <a:r>
              <a:rPr sz="900" b="0" i="0">
                <a:solidFill>
                  <a:srgbClr val="D8E4F0"/>
                </a:solidFill>
                <a:latin typeface="Consolas"/>
              </a:rPr>
              <a:t>integer   i, fd, errors;</a:t>
            </a:r>
          </a:p>
          <a:p>
            <a:pPr algn="l">
              <a:lnSpc>
                <a:spcPct val="112000"/>
              </a:lnSpc>
            </a:pPr>
            <a:r>
              <a:rPr sz="900" b="0" i="0">
                <a:solidFill>
                  <a:srgbClr val="D8E4F0"/>
                </a:solidFill>
                <a:latin typeface="Consolas"/>
              </a:rPr>
              <a:t> </a:t>
            </a:r>
          </a:p>
          <a:p>
            <a:pPr algn="l">
              <a:lnSpc>
                <a:spcPct val="112000"/>
              </a:lnSpc>
            </a:pPr>
            <a:r>
              <a:rPr sz="900" b="0" i="0">
                <a:solidFill>
                  <a:srgbClr val="D8E4F0"/>
                </a:solidFill>
                <a:latin typeface="Consolas"/>
              </a:rPr>
              <a:t>initial begin</a:t>
            </a:r>
          </a:p>
          <a:p>
            <a:pPr algn="l">
              <a:lnSpc>
                <a:spcPct val="112000"/>
              </a:lnSpc>
            </a:pPr>
            <a:r>
              <a:rPr sz="900" b="0" i="0">
                <a:solidFill>
                  <a:srgbClr val="D8E4F0"/>
                </a:solidFill>
                <a:latin typeface="Consolas"/>
              </a:rPr>
              <a:t>  $readmemh("vectors/stim.hex",   stim);      // one hex value per line</a:t>
            </a:r>
          </a:p>
          <a:p>
            <a:pPr algn="l">
              <a:lnSpc>
                <a:spcPct val="112000"/>
              </a:lnSpc>
            </a:pPr>
            <a:r>
              <a:rPr sz="900" b="0" i="0">
                <a:solidFill>
                  <a:srgbClr val="D8E4F0"/>
                </a:solidFill>
                <a:latin typeface="Consolas"/>
              </a:rPr>
              <a:t>  $readmemh("vectors/golden.hex", golden);</a:t>
            </a:r>
          </a:p>
          <a:p>
            <a:pPr algn="l">
              <a:lnSpc>
                <a:spcPct val="112000"/>
              </a:lnSpc>
            </a:pPr>
            <a:r>
              <a:rPr sz="900" b="0" i="0">
                <a:solidFill>
                  <a:srgbClr val="D8E4F0"/>
                </a:solidFill>
                <a:latin typeface="Consolas"/>
              </a:rPr>
              <a:t>  fd = $fopen("build/mismatch.log", "w");     // and write our own report</a:t>
            </a:r>
          </a:p>
          <a:p>
            <a:pPr algn="l">
              <a:lnSpc>
                <a:spcPct val="112000"/>
              </a:lnSpc>
            </a:pPr>
            <a:r>
              <a:rPr sz="900" b="0" i="0">
                <a:solidFill>
                  <a:srgbClr val="D8E4F0"/>
                </a:solidFill>
                <a:latin typeface="Consolas"/>
              </a:rPr>
              <a:t>  for (i = 0; i &lt; 1024; i = i + 1) begin</a:t>
            </a:r>
          </a:p>
          <a:p>
            <a:pPr algn="l">
              <a:lnSpc>
                <a:spcPct val="112000"/>
              </a:lnSpc>
            </a:pPr>
            <a:r>
              <a:rPr sz="900" b="0" i="0">
                <a:solidFill>
                  <a:srgbClr val="D8E4F0"/>
                </a:solidFill>
                <a:latin typeface="Consolas"/>
              </a:rPr>
              <a:t>    apply(stim[i]);</a:t>
            </a:r>
          </a:p>
          <a:p>
            <a:pPr algn="l">
              <a:lnSpc>
                <a:spcPct val="112000"/>
              </a:lnSpc>
            </a:pPr>
            <a:r>
              <a:rPr sz="900" b="0" i="0">
                <a:solidFill>
                  <a:srgbClr val="D8E4F0"/>
                </a:solidFill>
                <a:latin typeface="Consolas"/>
              </a:rPr>
              <a:t>    if (dut_out !== golden[i]) begin</a:t>
            </a:r>
          </a:p>
          <a:p>
            <a:pPr algn="l">
              <a:lnSpc>
                <a:spcPct val="112000"/>
              </a:lnSpc>
            </a:pPr>
            <a:r>
              <a:rPr sz="900" b="0" i="0">
                <a:solidFill>
                  <a:srgbClr val="D8E4F0"/>
                </a:solidFill>
                <a:latin typeface="Consolas"/>
              </a:rPr>
              <a:t>      $fdisplay(fd, "%0d  sent %h  got %h  expected %h", i, stim[i], dut_out, golden[i]);</a:t>
            </a:r>
          </a:p>
          <a:p>
            <a:pPr algn="l">
              <a:lnSpc>
                <a:spcPct val="112000"/>
              </a:lnSpc>
            </a:pPr>
            <a:r>
              <a:rPr sz="900" b="0" i="0">
                <a:solidFill>
                  <a:srgbClr val="D8E4F0"/>
                </a:solidFill>
                <a:latin typeface="Consolas"/>
              </a:rPr>
              <a:t>      errors = errors + 1;</a:t>
            </a:r>
          </a:p>
          <a:p>
            <a:pPr algn="l">
              <a:lnSpc>
                <a:spcPct val="112000"/>
              </a:lnSpc>
            </a:pPr>
            <a:r>
              <a:rPr sz="900" b="0" i="0">
                <a:solidFill>
                  <a:srgbClr val="D8E4F0"/>
                </a:solidFill>
                <a:latin typeface="Consolas"/>
              </a:rPr>
              <a:t>    end</a:t>
            </a:r>
          </a:p>
          <a:p>
            <a:pPr algn="l">
              <a:lnSpc>
                <a:spcPct val="112000"/>
              </a:lnSpc>
            </a:pPr>
            <a:r>
              <a:rPr sz="900" b="0" i="0">
                <a:solidFill>
                  <a:srgbClr val="D8E4F0"/>
                </a:solidFill>
                <a:latin typeface="Consolas"/>
              </a:rPr>
              <a:t>  end</a:t>
            </a:r>
          </a:p>
          <a:p>
            <a:pPr algn="l">
              <a:lnSpc>
                <a:spcPct val="112000"/>
              </a:lnSpc>
            </a:pPr>
            <a:r>
              <a:rPr sz="900" b="0" i="0">
                <a:solidFill>
                  <a:srgbClr val="D8E4F0"/>
                </a:solidFill>
                <a:latin typeface="Consolas"/>
              </a:rPr>
              <a:t>  $fclose(fd);</a:t>
            </a:r>
          </a:p>
          <a:p>
            <a:pPr algn="l">
              <a:lnSpc>
                <a:spcPct val="112000"/>
              </a:lnSpc>
            </a:pPr>
            <a:r>
              <a:rPr sz="900" b="0" i="0">
                <a:solidFill>
                  <a:srgbClr val="D8E4F0"/>
                </a:solidFill>
                <a:latin typeface="Consolas"/>
              </a:rPr>
              <a:t>end</a:t>
            </a:r>
          </a:p>
        </p:txBody>
      </p:sp>
      <p:sp>
        <p:nvSpPr>
          <p:cNvPr id="13" name="Rounded Rectangle 12"/>
          <p:cNvSpPr/>
          <p:nvPr/>
        </p:nvSpPr>
        <p:spPr>
          <a:xfrm>
            <a:off x="411480" y="5161788"/>
            <a:ext cx="5532120" cy="123444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48640" y="5225796"/>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When golden vectors are the right answer</a:t>
            </a:r>
          </a:p>
        </p:txBody>
      </p:sp>
      <p:sp>
        <p:nvSpPr>
          <p:cNvPr id="15" name="TextBox 14"/>
          <p:cNvSpPr txBox="1"/>
          <p:nvPr/>
        </p:nvSpPr>
        <p:spPr>
          <a:xfrm>
            <a:off x="548640" y="5500116"/>
            <a:ext cx="5257800" cy="83210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 A published standard with official test vectors (AES, CRC, a codec).</a:t>
            </a:r>
          </a:p>
          <a:p>
            <a:pPr algn="l">
              <a:lnSpc>
                <a:spcPct val="103000"/>
              </a:lnSpc>
              <a:spcAft>
                <a:spcPts val="400"/>
              </a:spcAft>
            </a:pPr>
            <a:r>
              <a:rPr sz="1050" b="0" i="0">
                <a:solidFill>
                  <a:srgbClr val="33414F"/>
                </a:solidFill>
                <a:latin typeface="Calibri"/>
              </a:rPr>
              <a:t>· A bit-exact C or MATLAB reference that already exists and is trusted.</a:t>
            </a:r>
          </a:p>
          <a:p>
            <a:pPr algn="l">
              <a:lnSpc>
                <a:spcPct val="103000"/>
              </a:lnSpc>
              <a:spcAft>
                <a:spcPts val="400"/>
              </a:spcAft>
            </a:pPr>
            <a:r>
              <a:rPr sz="1050" b="0" i="0">
                <a:solidFill>
                  <a:srgbClr val="33414F"/>
                </a:solidFill>
                <a:latin typeface="Calibri"/>
              </a:rPr>
              <a:t>· Regression against the PREVIOUS revision of the same block.</a:t>
            </a:r>
          </a:p>
        </p:txBody>
      </p:sp>
      <p:sp>
        <p:nvSpPr>
          <p:cNvPr id="16" name="Rounded Rectangle 15"/>
          <p:cNvSpPr/>
          <p:nvPr/>
        </p:nvSpPr>
        <p:spPr>
          <a:xfrm>
            <a:off x="6126480" y="5161788"/>
            <a:ext cx="5532120" cy="123444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63640" y="5225796"/>
            <a:ext cx="5257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And when they are not</a:t>
            </a:r>
          </a:p>
        </p:txBody>
      </p:sp>
      <p:sp>
        <p:nvSpPr>
          <p:cNvPr id="18" name="TextBox 17"/>
          <p:cNvSpPr txBox="1"/>
          <p:nvPr/>
        </p:nvSpPr>
        <p:spPr>
          <a:xfrm>
            <a:off x="6263640" y="5500116"/>
            <a:ext cx="5257800" cy="83210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 They fix the stimulus, so they cannot find the corner nobody generated.</a:t>
            </a:r>
          </a:p>
          <a:p>
            <a:pPr algn="l">
              <a:lnSpc>
                <a:spcPct val="103000"/>
              </a:lnSpc>
              <a:spcAft>
                <a:spcPts val="400"/>
              </a:spcAft>
            </a:pPr>
            <a:r>
              <a:rPr sz="1050" b="0" i="0">
                <a:solidFill>
                  <a:srgbClr val="33414F"/>
                </a:solidFill>
                <a:latin typeface="Calibri"/>
              </a:rPr>
              <a:t>· They rot: the file and the specification drift apart and nobody notices.</a:t>
            </a:r>
          </a:p>
          <a:p>
            <a:pPr algn="l">
              <a:lnSpc>
                <a:spcPct val="103000"/>
              </a:lnSpc>
              <a:spcAft>
                <a:spcPts val="400"/>
              </a:spcAft>
            </a:pPr>
            <a:r>
              <a:rPr sz="1050" b="0" i="0">
                <a:solidFill>
                  <a:srgbClr val="33414F"/>
                </a:solidFill>
                <a:latin typeface="Calibri"/>
              </a:rPr>
              <a:t>· A mismatch tells you WHICH vector failed, not which rule was broken.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5B · REUSE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A Testbench That Survives the Next Project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37</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The testbenches in this lab are parameterised the same way the design is. </a:t>
            </a:r>
            <a:r>
              <a:rPr sz="1100" b="0" i="0">
                <a:solidFill>
                  <a:srgbClr val="33414F"/>
                </a:solidFill>
                <a:latin typeface="Calibri"/>
              </a:rPr>
              <a:t>Change W or DEPTH in one place and everything — stimulus, model, coverage bins — follows. That is not tidiness; it is what makes the testbench reusable at all.</a:t>
            </a:r>
          </a:p>
        </p:txBody>
      </p:sp>
      <p:sp>
        <p:nvSpPr>
          <p:cNvPr id="10" name="Rounded Rectangle 9"/>
          <p:cNvSpPr/>
          <p:nvPr/>
        </p:nvSpPr>
        <p:spPr>
          <a:xfrm>
            <a:off x="411480" y="1783080"/>
            <a:ext cx="11247120" cy="2467102"/>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189738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How the clinic runs one testbench against six designs</a:t>
            </a:r>
          </a:p>
        </p:txBody>
      </p:sp>
      <p:sp>
        <p:nvSpPr>
          <p:cNvPr id="12" name="TextBox 11"/>
          <p:cNvSpPr txBox="1"/>
          <p:nvPr/>
        </p:nvSpPr>
        <p:spPr>
          <a:xfrm>
            <a:off x="594360" y="2171700"/>
            <a:ext cx="10881360" cy="1964182"/>
          </a:xfrm>
          <a:prstGeom prst="rect">
            <a:avLst/>
          </a:prstGeom>
          <a:noFill/>
        </p:spPr>
        <p:txBody>
          <a:bodyPr wrap="square" lIns="0" rIns="0" tIns="0" bIns="0" anchor="t">
            <a:spAutoFit/>
          </a:bodyPr>
          <a:lstStyle/>
          <a:p>
            <a:pPr algn="l">
              <a:lnSpc>
                <a:spcPct val="112000"/>
              </a:lnSpc>
            </a:pPr>
            <a:r>
              <a:rPr sz="950" b="0" i="0">
                <a:solidFill>
                  <a:srgbClr val="7F9CB5"/>
                </a:solidFill>
                <a:latin typeface="Consolas"/>
              </a:rPr>
              <a:t>// The DUT is selected by a `define, so ONE testbench runs against SIX designs.</a:t>
            </a:r>
          </a:p>
          <a:p>
            <a:pPr algn="l">
              <a:lnSpc>
                <a:spcPct val="112000"/>
              </a:lnSpc>
            </a:pPr>
            <a:r>
              <a:rPr sz="950" b="0" i="0">
                <a:solidFill>
                  <a:srgbClr val="D8E4F0"/>
                </a:solidFill>
                <a:latin typeface="Consolas"/>
              </a:rPr>
              <a:t>`ifndef DUT</a:t>
            </a:r>
          </a:p>
          <a:p>
            <a:pPr algn="l">
              <a:lnSpc>
                <a:spcPct val="112000"/>
              </a:lnSpc>
            </a:pPr>
            <a:r>
              <a:rPr sz="950" b="0" i="0">
                <a:solidFill>
                  <a:srgbClr val="D8E4F0"/>
                </a:solidFill>
                <a:latin typeface="Consolas"/>
              </a:rPr>
              <a:t>  `define DUT fifo</a:t>
            </a:r>
          </a:p>
          <a:p>
            <a:pPr algn="l">
              <a:lnSpc>
                <a:spcPct val="112000"/>
              </a:lnSpc>
            </a:pPr>
            <a:r>
              <a:rPr sz="950" b="0" i="0">
                <a:solidFill>
                  <a:srgbClr val="D8E4F0"/>
                </a:solidFill>
                <a:latin typeface="Consolas"/>
              </a:rPr>
              <a:t>`endif</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`DUT #(.W(W), .DEPTH(DEPTH)) u_dut ( .clk(clk), .rst_n(rst_n), ... );</a:t>
            </a:r>
          </a:p>
          <a:p>
            <a:pPr algn="l">
              <a:lnSpc>
                <a:spcPct val="112000"/>
              </a:lnSpc>
            </a:pPr>
            <a:r>
              <a:rPr sz="950" b="0" i="0">
                <a:solidFill>
                  <a:srgbClr val="D8E4F0"/>
                </a:solidFill>
                <a:latin typeface="Consolas"/>
              </a:rPr>
              <a:t> </a:t>
            </a:r>
          </a:p>
          <a:p>
            <a:pPr algn="l">
              <a:lnSpc>
                <a:spcPct val="112000"/>
              </a:lnSpc>
            </a:pPr>
            <a:r>
              <a:rPr sz="950" b="0" i="0">
                <a:solidFill>
                  <a:srgbClr val="7F9CB5"/>
                </a:solidFill>
                <a:latin typeface="Consolas"/>
              </a:rPr>
              <a:t>// and on the command line:</a:t>
            </a:r>
          </a:p>
          <a:p>
            <a:pPr algn="l">
              <a:lnSpc>
                <a:spcPct val="112000"/>
              </a:lnSpc>
            </a:pPr>
            <a:r>
              <a:rPr sz="950" b="0" i="0">
                <a:solidFill>
                  <a:srgbClr val="D8E4F0"/>
                </a:solidFill>
                <a:latin typeface="Consolas"/>
              </a:rPr>
              <a:t>iverilog -DDUT=fifo_b3 -DDUTNAME=\"fifo_b3\" rtl/*.v tb/tb_v3_random.v</a:t>
            </a:r>
          </a:p>
          <a:p>
            <a:pPr algn="l">
              <a:lnSpc>
                <a:spcPct val="112000"/>
              </a:lnSpc>
            </a:pPr>
            <a:r>
              <a:rPr sz="950" b="0" i="0">
                <a:solidFill>
                  <a:srgbClr val="D8E4F0"/>
                </a:solidFill>
                <a:latin typeface="Consolas"/>
              </a:rPr>
              <a:t>xvlog    -d DUT=fifo_b3 ...                     # Vivado</a:t>
            </a:r>
          </a:p>
          <a:p>
            <a:pPr algn="l">
              <a:lnSpc>
                <a:spcPct val="112000"/>
              </a:lnSpc>
            </a:pPr>
            <a:r>
              <a:rPr sz="950" b="0" i="0">
                <a:solidFill>
                  <a:srgbClr val="D8E4F0"/>
                </a:solidFill>
                <a:latin typeface="Consolas"/>
              </a:rPr>
              <a:t>vlog     +define+DUT=fifo_b3 ...                # ModelSim</a:t>
            </a:r>
          </a:p>
        </p:txBody>
      </p:sp>
      <p:sp>
        <p:nvSpPr>
          <p:cNvPr id="13" name="Rounded Rectangle 12"/>
          <p:cNvSpPr/>
          <p:nvPr/>
        </p:nvSpPr>
        <p:spPr>
          <a:xfrm>
            <a:off x="411480" y="4341622"/>
            <a:ext cx="11247120" cy="123444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76072" y="4405630"/>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Three habits that make a testbench outlive its design</a:t>
            </a:r>
          </a:p>
        </p:txBody>
      </p:sp>
      <p:sp>
        <p:nvSpPr>
          <p:cNvPr id="15" name="TextBox 14"/>
          <p:cNvSpPr txBox="1"/>
          <p:nvPr/>
        </p:nvSpPr>
        <p:spPr>
          <a:xfrm>
            <a:off x="576072" y="4679950"/>
            <a:ext cx="10917936" cy="83210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1. Parameterise everything the DUT parameterises, and derive nothing by hand.</a:t>
            </a:r>
          </a:p>
          <a:p>
            <a:pPr algn="l">
              <a:lnSpc>
                <a:spcPct val="103000"/>
              </a:lnSpc>
              <a:spcAft>
                <a:spcPts val="400"/>
              </a:spcAft>
            </a:pPr>
            <a:r>
              <a:rPr sz="1100" b="0" i="0">
                <a:solidFill>
                  <a:srgbClr val="33414F"/>
                </a:solidFill>
                <a:latin typeface="Calibri"/>
              </a:rPr>
              <a:t>2. Keep the layers separate — a new DUT usually needs a new DRIVER only, and the generator, monitor and scoreboard survive unchanged.</a:t>
            </a:r>
          </a:p>
          <a:p>
            <a:pPr algn="l">
              <a:lnSpc>
                <a:spcPct val="103000"/>
              </a:lnSpc>
              <a:spcAft>
                <a:spcPts val="400"/>
              </a:spcAft>
            </a:pPr>
            <a:r>
              <a:rPr sz="1100" b="0" i="0">
                <a:solidFill>
                  <a:srgbClr val="33414F"/>
                </a:solidFill>
                <a:latin typeface="Calibri"/>
              </a:rPr>
              <a:t>3. Never reach inside the DUT from the scoreboard. A white-box check is fine for debugging and fatal for reuse: the moment the design is refactored, the testbench breaks and nobody can tell whether the design did too.</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5B · BY DESIGN TYPE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What to Check, for Each Kind of Block</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38</a:t>
            </a:r>
          </a:p>
        </p:txBody>
      </p:sp>
      <p:sp>
        <p:nvSpPr>
          <p:cNvPr id="9" name="TextBox 8"/>
          <p:cNvSpPr txBox="1"/>
          <p:nvPr/>
        </p:nvSpPr>
        <p:spPr>
          <a:xfrm>
            <a:off x="411480" y="1143000"/>
            <a:ext cx="11247120" cy="41148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The six parts of a testbench are always the same. </a:t>
            </a:r>
            <a:r>
              <a:rPr sz="1100" b="0" i="0">
                <a:solidFill>
                  <a:srgbClr val="33414F"/>
                </a:solidFill>
                <a:latin typeface="Calibri"/>
              </a:rPr>
              <a:t>What changes is what you check, and where the bugs hide.</a:t>
            </a:r>
          </a:p>
        </p:txBody>
      </p:sp>
      <p:sp>
        <p:nvSpPr>
          <p:cNvPr id="10" name="Rectangle 9"/>
          <p:cNvSpPr/>
          <p:nvPr/>
        </p:nvSpPr>
        <p:spPr>
          <a:xfrm>
            <a:off x="411480" y="1554480"/>
            <a:ext cx="2377440" cy="41148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1554480"/>
            <a:ext cx="2286000" cy="41148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Kind of DUT</a:t>
            </a:r>
          </a:p>
        </p:txBody>
      </p:sp>
      <p:sp>
        <p:nvSpPr>
          <p:cNvPr id="12" name="Rectangle 11"/>
          <p:cNvSpPr/>
          <p:nvPr/>
        </p:nvSpPr>
        <p:spPr>
          <a:xfrm>
            <a:off x="2788920" y="1554480"/>
            <a:ext cx="4754880" cy="41148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834640" y="1554480"/>
            <a:ext cx="4663440" cy="41148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The checks that matter</a:t>
            </a:r>
          </a:p>
        </p:txBody>
      </p:sp>
      <p:sp>
        <p:nvSpPr>
          <p:cNvPr id="14" name="Rectangle 13"/>
          <p:cNvSpPr/>
          <p:nvPr/>
        </p:nvSpPr>
        <p:spPr>
          <a:xfrm>
            <a:off x="7543800" y="1554480"/>
            <a:ext cx="4114800" cy="41148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589520" y="1554480"/>
            <a:ext cx="4023360" cy="41148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Where the bugs actually are</a:t>
            </a:r>
          </a:p>
        </p:txBody>
      </p:sp>
      <p:sp>
        <p:nvSpPr>
          <p:cNvPr id="16" name="Rectangle 15"/>
          <p:cNvSpPr/>
          <p:nvPr/>
        </p:nvSpPr>
        <p:spPr>
          <a:xfrm>
            <a:off x="411480" y="1965960"/>
            <a:ext cx="2377440" cy="41148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57200" y="1965960"/>
            <a:ext cx="2286000" cy="411480"/>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Combinational</a:t>
            </a:r>
          </a:p>
        </p:txBody>
      </p:sp>
      <p:sp>
        <p:nvSpPr>
          <p:cNvPr id="18" name="Rectangle 17"/>
          <p:cNvSpPr/>
          <p:nvPr/>
        </p:nvSpPr>
        <p:spPr>
          <a:xfrm>
            <a:off x="2788920" y="1965960"/>
            <a:ext cx="4754880" cy="41148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834640" y="1965960"/>
            <a:ext cx="4663440" cy="41148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exhaustive if the input space is small; otherwise random + a reference function</a:t>
            </a:r>
          </a:p>
        </p:txBody>
      </p:sp>
      <p:sp>
        <p:nvSpPr>
          <p:cNvPr id="20" name="Rectangle 19"/>
          <p:cNvSpPr/>
          <p:nvPr/>
        </p:nvSpPr>
        <p:spPr>
          <a:xfrm>
            <a:off x="7543800" y="1965960"/>
            <a:ext cx="4114800" cy="41148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589520" y="1965960"/>
            <a:ext cx="4023360" cy="41148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boundaries, sign, and width truncation</a:t>
            </a:r>
          </a:p>
        </p:txBody>
      </p:sp>
      <p:sp>
        <p:nvSpPr>
          <p:cNvPr id="22" name="Rectangle 21"/>
          <p:cNvSpPr/>
          <p:nvPr/>
        </p:nvSpPr>
        <p:spPr>
          <a:xfrm>
            <a:off x="411480" y="2377440"/>
            <a:ext cx="2377440" cy="41148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57200" y="2377440"/>
            <a:ext cx="2286000" cy="411480"/>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Registered / pipelined</a:t>
            </a:r>
          </a:p>
        </p:txBody>
      </p:sp>
      <p:sp>
        <p:nvSpPr>
          <p:cNvPr id="24" name="Rectangle 23"/>
          <p:cNvSpPr/>
          <p:nvPr/>
        </p:nvSpPr>
        <p:spPr>
          <a:xfrm>
            <a:off x="2788920" y="2377440"/>
            <a:ext cx="4754880" cy="41148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834640" y="2377440"/>
            <a:ext cx="4663440" cy="41148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output correct AND arriving at the right cycle; valid delayed with the data</a:t>
            </a:r>
          </a:p>
        </p:txBody>
      </p:sp>
      <p:sp>
        <p:nvSpPr>
          <p:cNvPr id="26" name="Rectangle 25"/>
          <p:cNvSpPr/>
          <p:nvPr/>
        </p:nvSpPr>
        <p:spPr>
          <a:xfrm>
            <a:off x="7543800" y="2377440"/>
            <a:ext cx="4114800" cy="41148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589520" y="2377440"/>
            <a:ext cx="4023360" cy="41148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latency, and control not pipelined with the data</a:t>
            </a:r>
          </a:p>
        </p:txBody>
      </p:sp>
      <p:sp>
        <p:nvSpPr>
          <p:cNvPr id="28" name="Rectangle 27"/>
          <p:cNvSpPr/>
          <p:nvPr/>
        </p:nvSpPr>
        <p:spPr>
          <a:xfrm>
            <a:off x="411480" y="2788920"/>
            <a:ext cx="2377440" cy="41148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57200" y="2788920"/>
            <a:ext cx="2286000" cy="411480"/>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Counter / timer</a:t>
            </a:r>
          </a:p>
        </p:txBody>
      </p:sp>
      <p:sp>
        <p:nvSpPr>
          <p:cNvPr id="30" name="Rectangle 29"/>
          <p:cNvSpPr/>
          <p:nvPr/>
        </p:nvSpPr>
        <p:spPr>
          <a:xfrm>
            <a:off x="2788920" y="2788920"/>
            <a:ext cx="4754880" cy="41148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2834640" y="2788920"/>
            <a:ext cx="4663440" cy="41148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wrap, load, enable priority, terminal count</a:t>
            </a:r>
          </a:p>
        </p:txBody>
      </p:sp>
      <p:sp>
        <p:nvSpPr>
          <p:cNvPr id="32" name="Rectangle 31"/>
          <p:cNvSpPr/>
          <p:nvPr/>
        </p:nvSpPr>
        <p:spPr>
          <a:xfrm>
            <a:off x="7543800" y="2788920"/>
            <a:ext cx="4114800" cy="41148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589520" y="2788920"/>
            <a:ext cx="4023360" cy="41148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off-by-one at the wrap, and at the reload</a:t>
            </a:r>
          </a:p>
        </p:txBody>
      </p:sp>
      <p:sp>
        <p:nvSpPr>
          <p:cNvPr id="34" name="Rectangle 33"/>
          <p:cNvSpPr/>
          <p:nvPr/>
        </p:nvSpPr>
        <p:spPr>
          <a:xfrm>
            <a:off x="411480" y="3200400"/>
            <a:ext cx="2377440" cy="41148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57200" y="3200400"/>
            <a:ext cx="2286000" cy="411480"/>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FSM</a:t>
            </a:r>
          </a:p>
        </p:txBody>
      </p:sp>
      <p:sp>
        <p:nvSpPr>
          <p:cNvPr id="36" name="Rectangle 35"/>
          <p:cNvSpPr/>
          <p:nvPr/>
        </p:nvSpPr>
        <p:spPr>
          <a:xfrm>
            <a:off x="2788920" y="3200400"/>
            <a:ext cx="4754880" cy="41148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2834640" y="3200400"/>
            <a:ext cx="4663440" cy="41148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every state entered, every arc taken, illegal states recovered from</a:t>
            </a:r>
          </a:p>
        </p:txBody>
      </p:sp>
      <p:sp>
        <p:nvSpPr>
          <p:cNvPr id="38" name="Rectangle 37"/>
          <p:cNvSpPr/>
          <p:nvPr/>
        </p:nvSpPr>
        <p:spPr>
          <a:xfrm>
            <a:off x="7543800" y="3200400"/>
            <a:ext cx="4114800" cy="41148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589520" y="3200400"/>
            <a:ext cx="4023360" cy="41148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the arcs nobody drew, and the missing default</a:t>
            </a:r>
          </a:p>
        </p:txBody>
      </p:sp>
      <p:sp>
        <p:nvSpPr>
          <p:cNvPr id="40" name="Rectangle 39"/>
          <p:cNvSpPr/>
          <p:nvPr/>
        </p:nvSpPr>
        <p:spPr>
          <a:xfrm>
            <a:off x="411480" y="3611880"/>
            <a:ext cx="2377440" cy="41148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57200" y="3611880"/>
            <a:ext cx="2286000" cy="411480"/>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Memory / FIFO</a:t>
            </a:r>
          </a:p>
        </p:txBody>
      </p:sp>
      <p:sp>
        <p:nvSpPr>
          <p:cNvPr id="42" name="Rectangle 41"/>
          <p:cNvSpPr/>
          <p:nvPr/>
        </p:nvSpPr>
        <p:spPr>
          <a:xfrm>
            <a:off x="2788920" y="3611880"/>
            <a:ext cx="4754880" cy="41148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2834640" y="3611880"/>
            <a:ext cx="4663440" cy="41148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order, occupancy, full, empty, simultaneous access</a:t>
            </a:r>
          </a:p>
        </p:txBody>
      </p:sp>
      <p:sp>
        <p:nvSpPr>
          <p:cNvPr id="44" name="Rectangle 43"/>
          <p:cNvSpPr/>
          <p:nvPr/>
        </p:nvSpPr>
        <p:spPr>
          <a:xfrm>
            <a:off x="7543800" y="3611880"/>
            <a:ext cx="4114800" cy="41148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7589520" y="3611880"/>
            <a:ext cx="4023360" cy="41148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the boundaries: full, empty, and both at once</a:t>
            </a:r>
          </a:p>
        </p:txBody>
      </p:sp>
      <p:sp>
        <p:nvSpPr>
          <p:cNvPr id="46" name="Rectangle 45"/>
          <p:cNvSpPr/>
          <p:nvPr/>
        </p:nvSpPr>
        <p:spPr>
          <a:xfrm>
            <a:off x="411480" y="4023360"/>
            <a:ext cx="2377440" cy="41148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457200" y="4023360"/>
            <a:ext cx="2286000" cy="411480"/>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Protocol / bus</a:t>
            </a:r>
          </a:p>
        </p:txBody>
      </p:sp>
      <p:sp>
        <p:nvSpPr>
          <p:cNvPr id="48" name="Rectangle 47"/>
          <p:cNvSpPr/>
          <p:nvPr/>
        </p:nvSpPr>
        <p:spPr>
          <a:xfrm>
            <a:off x="2788920" y="4023360"/>
            <a:ext cx="4754880" cy="41148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2834640" y="4023360"/>
            <a:ext cx="4663440" cy="41148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handshake rules as assertions; a checker independent of the DUT</a:t>
            </a:r>
          </a:p>
        </p:txBody>
      </p:sp>
      <p:sp>
        <p:nvSpPr>
          <p:cNvPr id="50" name="Rectangle 49"/>
          <p:cNvSpPr/>
          <p:nvPr/>
        </p:nvSpPr>
        <p:spPr>
          <a:xfrm>
            <a:off x="7543800" y="4023360"/>
            <a:ext cx="4114800" cy="41148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7589520" y="4023360"/>
            <a:ext cx="4023360" cy="41148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the rule the other end violates, not the one you do</a:t>
            </a:r>
          </a:p>
        </p:txBody>
      </p:sp>
      <p:sp>
        <p:nvSpPr>
          <p:cNvPr id="52" name="Rectangle 51"/>
          <p:cNvSpPr/>
          <p:nvPr/>
        </p:nvSpPr>
        <p:spPr>
          <a:xfrm>
            <a:off x="411480" y="4434840"/>
            <a:ext cx="2377440" cy="41148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457200" y="4434840"/>
            <a:ext cx="2286000" cy="411480"/>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CDC</a:t>
            </a:r>
          </a:p>
        </p:txBody>
      </p:sp>
      <p:sp>
        <p:nvSpPr>
          <p:cNvPr id="54" name="Rectangle 53"/>
          <p:cNvSpPr/>
          <p:nvPr/>
        </p:nvSpPr>
        <p:spPr>
          <a:xfrm>
            <a:off x="2788920" y="4434840"/>
            <a:ext cx="4754880" cy="41148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2834640" y="4434840"/>
            <a:ext cx="4663440" cy="41148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not by simulation alone — structural CDC checks and a Gray/handshake review</a:t>
            </a:r>
          </a:p>
        </p:txBody>
      </p:sp>
      <p:sp>
        <p:nvSpPr>
          <p:cNvPr id="56" name="Rectangle 55"/>
          <p:cNvSpPr/>
          <p:nvPr/>
        </p:nvSpPr>
        <p:spPr>
          <a:xfrm>
            <a:off x="7543800" y="4434840"/>
            <a:ext cx="4114800" cy="41148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7589520" y="4434840"/>
            <a:ext cx="4023360" cy="41148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multi-bit buses crossing without a handshake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5B · SYSTEMVERILOG</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What SystemVerilog Adds for Verification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39</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Verilog-2005 is enough to build everything in this lab, and doing it by hand once is worth the effort. </a:t>
            </a:r>
            <a:r>
              <a:rPr sz="1100" b="0" i="0">
                <a:solidFill>
                  <a:srgbClr val="33414F"/>
                </a:solidFill>
                <a:latin typeface="Calibri"/>
              </a:rPr>
              <a:t>SystemVerilog then gives you the same things as language features — and you will meet them in every professional environment.</a:t>
            </a:r>
          </a:p>
        </p:txBody>
      </p:sp>
      <p:sp>
        <p:nvSpPr>
          <p:cNvPr id="10" name="Rectangle 9"/>
          <p:cNvSpPr/>
          <p:nvPr/>
        </p:nvSpPr>
        <p:spPr>
          <a:xfrm>
            <a:off x="411480" y="1783080"/>
            <a:ext cx="338328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1783080"/>
            <a:ext cx="329184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SystemVerilog feature</a:t>
            </a:r>
          </a:p>
        </p:txBody>
      </p:sp>
      <p:sp>
        <p:nvSpPr>
          <p:cNvPr id="12" name="Rectangle 11"/>
          <p:cNvSpPr/>
          <p:nvPr/>
        </p:nvSpPr>
        <p:spPr>
          <a:xfrm>
            <a:off x="3794760" y="1783080"/>
            <a:ext cx="548640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840480" y="1783080"/>
            <a:ext cx="539496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What it replaces in this lab</a:t>
            </a:r>
          </a:p>
        </p:txBody>
      </p:sp>
      <p:sp>
        <p:nvSpPr>
          <p:cNvPr id="14" name="Rectangle 13"/>
          <p:cNvSpPr/>
          <p:nvPr/>
        </p:nvSpPr>
        <p:spPr>
          <a:xfrm>
            <a:off x="9281160" y="1783080"/>
            <a:ext cx="237744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326880" y="1783080"/>
            <a:ext cx="228600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Support</a:t>
            </a:r>
          </a:p>
        </p:txBody>
      </p:sp>
      <p:sp>
        <p:nvSpPr>
          <p:cNvPr id="16" name="Rectangle 15"/>
          <p:cNvSpPr/>
          <p:nvPr/>
        </p:nvSpPr>
        <p:spPr>
          <a:xfrm>
            <a:off x="411480" y="2066544"/>
            <a:ext cx="33832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57200" y="2066544"/>
            <a:ext cx="329184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logic</a:t>
            </a:r>
          </a:p>
        </p:txBody>
      </p:sp>
      <p:sp>
        <p:nvSpPr>
          <p:cNvPr id="18" name="Rectangle 17"/>
          <p:cNvSpPr/>
          <p:nvPr/>
        </p:nvSpPr>
        <p:spPr>
          <a:xfrm>
            <a:off x="3794760" y="2066544"/>
            <a:ext cx="5486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840480" y="2066544"/>
            <a:ext cx="539496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the wire / reg decision</a:t>
            </a:r>
          </a:p>
        </p:txBody>
      </p:sp>
      <p:sp>
        <p:nvSpPr>
          <p:cNvPr id="20" name="Rectangle 19"/>
          <p:cNvSpPr/>
          <p:nvPr/>
        </p:nvSpPr>
        <p:spPr>
          <a:xfrm>
            <a:off x="9281160" y="2066544"/>
            <a:ext cx="23774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326880" y="2066544"/>
            <a:ext cx="228600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everywhere</a:t>
            </a:r>
          </a:p>
        </p:txBody>
      </p:sp>
      <p:sp>
        <p:nvSpPr>
          <p:cNvPr id="22" name="Rectangle 21"/>
          <p:cNvSpPr/>
          <p:nvPr/>
        </p:nvSpPr>
        <p:spPr>
          <a:xfrm>
            <a:off x="411480" y="2350008"/>
            <a:ext cx="33832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57200" y="2350008"/>
            <a:ext cx="329184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always_comb / always_ff</a:t>
            </a:r>
          </a:p>
        </p:txBody>
      </p:sp>
      <p:sp>
        <p:nvSpPr>
          <p:cNvPr id="24" name="Rectangle 23"/>
          <p:cNvSpPr/>
          <p:nvPr/>
        </p:nvSpPr>
        <p:spPr>
          <a:xfrm>
            <a:off x="3794760" y="2350008"/>
            <a:ext cx="54864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840480" y="2350008"/>
            <a:ext cx="539496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always @(*) and the latch you inferred by mistake</a:t>
            </a:r>
          </a:p>
        </p:txBody>
      </p:sp>
      <p:sp>
        <p:nvSpPr>
          <p:cNvPr id="26" name="Rectangle 25"/>
          <p:cNvSpPr/>
          <p:nvPr/>
        </p:nvSpPr>
        <p:spPr>
          <a:xfrm>
            <a:off x="9281160" y="2350008"/>
            <a:ext cx="23774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326880" y="2350008"/>
            <a:ext cx="228600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everywhere</a:t>
            </a:r>
          </a:p>
        </p:txBody>
      </p:sp>
      <p:sp>
        <p:nvSpPr>
          <p:cNvPr id="28" name="Rectangle 27"/>
          <p:cNvSpPr/>
          <p:nvPr/>
        </p:nvSpPr>
        <p:spPr>
          <a:xfrm>
            <a:off x="411480" y="2633472"/>
            <a:ext cx="33832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57200" y="2633472"/>
            <a:ext cx="329184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assert / cover property</a:t>
            </a:r>
          </a:p>
        </p:txBody>
      </p:sp>
      <p:sp>
        <p:nvSpPr>
          <p:cNvPr id="30" name="Rectangle 29"/>
          <p:cNvSpPr/>
          <p:nvPr/>
        </p:nvSpPr>
        <p:spPr>
          <a:xfrm>
            <a:off x="3794760" y="2633472"/>
            <a:ext cx="5486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840480" y="2633472"/>
            <a:ext cx="539496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hand-written checks scattered through the code</a:t>
            </a:r>
          </a:p>
        </p:txBody>
      </p:sp>
      <p:sp>
        <p:nvSpPr>
          <p:cNvPr id="32" name="Rectangle 31"/>
          <p:cNvSpPr/>
          <p:nvPr/>
        </p:nvSpPr>
        <p:spPr>
          <a:xfrm>
            <a:off x="9281160" y="2633472"/>
            <a:ext cx="23774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326880" y="2633472"/>
            <a:ext cx="228600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vendor: full; open-source: a subset</a:t>
            </a:r>
          </a:p>
        </p:txBody>
      </p:sp>
      <p:sp>
        <p:nvSpPr>
          <p:cNvPr id="34" name="Rectangle 33"/>
          <p:cNvSpPr/>
          <p:nvPr/>
        </p:nvSpPr>
        <p:spPr>
          <a:xfrm>
            <a:off x="411480" y="2916936"/>
            <a:ext cx="33832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57200" y="2916936"/>
            <a:ext cx="329184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covergroup / coverpoint / bins</a:t>
            </a:r>
          </a:p>
        </p:txBody>
      </p:sp>
      <p:sp>
        <p:nvSpPr>
          <p:cNvPr id="36" name="Rectangle 35"/>
          <p:cNvSpPr/>
          <p:nvPr/>
        </p:nvSpPr>
        <p:spPr>
          <a:xfrm>
            <a:off x="3794760" y="2916936"/>
            <a:ext cx="54864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840480" y="2916936"/>
            <a:ext cx="539496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the twelve integer counters in Lab V4</a:t>
            </a:r>
          </a:p>
        </p:txBody>
      </p:sp>
      <p:sp>
        <p:nvSpPr>
          <p:cNvPr id="38" name="Rectangle 37"/>
          <p:cNvSpPr/>
          <p:nvPr/>
        </p:nvSpPr>
        <p:spPr>
          <a:xfrm>
            <a:off x="9281160" y="2916936"/>
            <a:ext cx="23774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9326880" y="2916936"/>
            <a:ext cx="228600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vendor tools</a:t>
            </a:r>
          </a:p>
        </p:txBody>
      </p:sp>
      <p:sp>
        <p:nvSpPr>
          <p:cNvPr id="40" name="Rectangle 39"/>
          <p:cNvSpPr/>
          <p:nvPr/>
        </p:nvSpPr>
        <p:spPr>
          <a:xfrm>
            <a:off x="411480" y="3200400"/>
            <a:ext cx="33832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57200" y="3200400"/>
            <a:ext cx="329184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rand / randc + constraint blocks</a:t>
            </a:r>
          </a:p>
        </p:txBody>
      </p:sp>
      <p:sp>
        <p:nvSpPr>
          <p:cNvPr id="42" name="Rectangle 41"/>
          <p:cNvSpPr/>
          <p:nvPr/>
        </p:nvSpPr>
        <p:spPr>
          <a:xfrm>
            <a:off x="3794760" y="3200400"/>
            <a:ext cx="5486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3840480" y="3200400"/>
            <a:ext cx="539496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the weighted $random in Lab V3</a:t>
            </a:r>
          </a:p>
        </p:txBody>
      </p:sp>
      <p:sp>
        <p:nvSpPr>
          <p:cNvPr id="44" name="Rectangle 43"/>
          <p:cNvSpPr/>
          <p:nvPr/>
        </p:nvSpPr>
        <p:spPr>
          <a:xfrm>
            <a:off x="9281160" y="3200400"/>
            <a:ext cx="23774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9326880" y="3200400"/>
            <a:ext cx="228600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vendor tools</a:t>
            </a:r>
          </a:p>
        </p:txBody>
      </p:sp>
      <p:sp>
        <p:nvSpPr>
          <p:cNvPr id="46" name="Rectangle 45"/>
          <p:cNvSpPr/>
          <p:nvPr/>
        </p:nvSpPr>
        <p:spPr>
          <a:xfrm>
            <a:off x="411480" y="3483864"/>
            <a:ext cx="33832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457200" y="3483864"/>
            <a:ext cx="329184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classes, mailboxes, semaphores</a:t>
            </a:r>
          </a:p>
        </p:txBody>
      </p:sp>
      <p:sp>
        <p:nvSpPr>
          <p:cNvPr id="48" name="Rectangle 47"/>
          <p:cNvSpPr/>
          <p:nvPr/>
        </p:nvSpPr>
        <p:spPr>
          <a:xfrm>
            <a:off x="3794760" y="3483864"/>
            <a:ext cx="54864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3840480" y="3483864"/>
            <a:ext cx="539496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the layers written as tasks in Lab V6</a:t>
            </a:r>
          </a:p>
        </p:txBody>
      </p:sp>
      <p:sp>
        <p:nvSpPr>
          <p:cNvPr id="50" name="Rectangle 49"/>
          <p:cNvSpPr/>
          <p:nvPr/>
        </p:nvSpPr>
        <p:spPr>
          <a:xfrm>
            <a:off x="9281160" y="3483864"/>
            <a:ext cx="23774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9326880" y="3483864"/>
            <a:ext cx="228600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vendor tools</a:t>
            </a:r>
          </a:p>
        </p:txBody>
      </p:sp>
      <p:sp>
        <p:nvSpPr>
          <p:cNvPr id="52" name="Rectangle 51"/>
          <p:cNvSpPr/>
          <p:nvPr/>
        </p:nvSpPr>
        <p:spPr>
          <a:xfrm>
            <a:off x="411480" y="3767328"/>
            <a:ext cx="33832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457200" y="3767328"/>
            <a:ext cx="329184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interface / modport</a:t>
            </a:r>
          </a:p>
        </p:txBody>
      </p:sp>
      <p:sp>
        <p:nvSpPr>
          <p:cNvPr id="54" name="Rectangle 53"/>
          <p:cNvSpPr/>
          <p:nvPr/>
        </p:nvSpPr>
        <p:spPr>
          <a:xfrm>
            <a:off x="3794760" y="3767328"/>
            <a:ext cx="5486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3840480" y="3767328"/>
            <a:ext cx="539496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the long port lists in every instantiation</a:t>
            </a:r>
          </a:p>
        </p:txBody>
      </p:sp>
      <p:sp>
        <p:nvSpPr>
          <p:cNvPr id="56" name="Rectangle 55"/>
          <p:cNvSpPr/>
          <p:nvPr/>
        </p:nvSpPr>
        <p:spPr>
          <a:xfrm>
            <a:off x="9281160" y="3767328"/>
            <a:ext cx="23774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9326880" y="3767328"/>
            <a:ext cx="228600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vendor tools</a:t>
            </a:r>
          </a:p>
        </p:txBody>
      </p:sp>
      <p:sp>
        <p:nvSpPr>
          <p:cNvPr id="58" name="Rectangle 57"/>
          <p:cNvSpPr/>
          <p:nvPr/>
        </p:nvSpPr>
        <p:spPr>
          <a:xfrm>
            <a:off x="411480" y="4050792"/>
            <a:ext cx="33832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457200" y="4050792"/>
            <a:ext cx="329184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queues, dynamic arrays, associative arrays</a:t>
            </a:r>
          </a:p>
        </p:txBody>
      </p:sp>
      <p:sp>
        <p:nvSpPr>
          <p:cNvPr id="60" name="Rectangle 59"/>
          <p:cNvSpPr/>
          <p:nvPr/>
        </p:nvSpPr>
        <p:spPr>
          <a:xfrm>
            <a:off x="3794760" y="4050792"/>
            <a:ext cx="54864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3840480" y="4050792"/>
            <a:ext cx="539496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the fixed model array and its indices</a:t>
            </a:r>
          </a:p>
        </p:txBody>
      </p:sp>
      <p:sp>
        <p:nvSpPr>
          <p:cNvPr id="62" name="Rectangle 61"/>
          <p:cNvSpPr/>
          <p:nvPr/>
        </p:nvSpPr>
        <p:spPr>
          <a:xfrm>
            <a:off x="9281160" y="4050792"/>
            <a:ext cx="23774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9326880" y="4050792"/>
            <a:ext cx="228600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vendor tools</a:t>
            </a:r>
          </a:p>
        </p:txBody>
      </p:sp>
      <p:sp>
        <p:nvSpPr>
          <p:cNvPr id="64" name="Rounded Rectangle 63"/>
          <p:cNvSpPr/>
          <p:nvPr/>
        </p:nvSpPr>
        <p:spPr>
          <a:xfrm>
            <a:off x="411480" y="4425696"/>
            <a:ext cx="11247120" cy="96012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576072" y="4489704"/>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Why this lab is written in Verilog-2005</a:t>
            </a:r>
          </a:p>
        </p:txBody>
      </p:sp>
      <p:sp>
        <p:nvSpPr>
          <p:cNvPr id="66" name="TextBox 65"/>
          <p:cNvSpPr txBox="1"/>
          <p:nvPr/>
        </p:nvSpPr>
        <p:spPr>
          <a:xfrm>
            <a:off x="576072" y="4764024"/>
            <a:ext cx="10917936" cy="557784"/>
          </a:xfrm>
          <a:prstGeom prst="rect">
            <a:avLst/>
          </a:prstGeom>
          <a:noFill/>
        </p:spPr>
        <p:txBody>
          <a:bodyPr wrap="square" lIns="0" rIns="0" tIns="0" bIns="0" anchor="t">
            <a:spAutoFit/>
          </a:bodyPr>
          <a:lstStyle/>
          <a:p>
            <a:pPr algn="l">
              <a:lnSpc>
                <a:spcPct val="103000"/>
              </a:lnSpc>
              <a:spcAft>
                <a:spcPts val="400"/>
              </a:spcAft>
            </a:pPr>
            <a:r>
              <a:rPr sz="1100" b="1" i="0">
                <a:solidFill>
                  <a:srgbClr val="0E2A47"/>
                </a:solidFill>
                <a:latin typeface="Calibri"/>
              </a:rPr>
              <a:t>Because you learn what a covergroup IS by writing twelve counters once, and what a constraint IS by writing the weights yourself. </a:t>
            </a:r>
            <a:r>
              <a:rPr sz="1100" b="0" i="0">
                <a:solidFill>
                  <a:srgbClr val="33414F"/>
                </a:solidFill>
                <a:latin typeface="Calibri"/>
              </a:rPr>
              <a:t>And because it then runs on every tool on every machine, including the ones your students have at home. Move to SystemVerilog as soon as your tool flow allows — but move to it understanding what it is doing for you.</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5B · SYSTEMVERILOG</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Constraints, Written as Constraints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40</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In Verilog you weight a coin and hope. </a:t>
            </a:r>
            <a:r>
              <a:rPr sz="1100" b="0" i="0">
                <a:solidFill>
                  <a:srgbClr val="33414F"/>
                </a:solidFill>
                <a:latin typeface="Calibri"/>
              </a:rPr>
              <a:t>In SystemVerilog you state the rules and a constraint solver generates values that satisfy them — which is a considerably more powerful thing.</a:t>
            </a:r>
          </a:p>
        </p:txBody>
      </p:sp>
      <p:sp>
        <p:nvSpPr>
          <p:cNvPr id="10" name="Rounded Rectangle 9"/>
          <p:cNvSpPr/>
          <p:nvPr/>
        </p:nvSpPr>
        <p:spPr>
          <a:xfrm>
            <a:off x="411480" y="1737360"/>
            <a:ext cx="11247120" cy="3344868"/>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185166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The same generator as Lab V3, expressed declaratively</a:t>
            </a:r>
          </a:p>
        </p:txBody>
      </p:sp>
      <p:sp>
        <p:nvSpPr>
          <p:cNvPr id="12" name="TextBox 11"/>
          <p:cNvSpPr txBox="1"/>
          <p:nvPr/>
        </p:nvSpPr>
        <p:spPr>
          <a:xfrm>
            <a:off x="594360" y="2125980"/>
            <a:ext cx="10881360" cy="2841948"/>
          </a:xfrm>
          <a:prstGeom prst="rect">
            <a:avLst/>
          </a:prstGeom>
          <a:noFill/>
        </p:spPr>
        <p:txBody>
          <a:bodyPr wrap="square" lIns="0" rIns="0" tIns="0" bIns="0" anchor="t">
            <a:spAutoFit/>
          </a:bodyPr>
          <a:lstStyle/>
          <a:p>
            <a:pPr algn="l">
              <a:lnSpc>
                <a:spcPct val="112000"/>
              </a:lnSpc>
            </a:pPr>
            <a:r>
              <a:rPr sz="840" b="0" i="0">
                <a:solidFill>
                  <a:srgbClr val="D8E4F0"/>
                </a:solidFill>
                <a:latin typeface="Consolas"/>
              </a:rPr>
              <a:t>class fifo_txn;</a:t>
            </a:r>
          </a:p>
          <a:p>
            <a:pPr algn="l">
              <a:lnSpc>
                <a:spcPct val="112000"/>
              </a:lnSpc>
            </a:pPr>
            <a:r>
              <a:rPr sz="840" b="0" i="0">
                <a:solidFill>
                  <a:srgbClr val="D8E4F0"/>
                </a:solidFill>
                <a:latin typeface="Consolas"/>
              </a:rPr>
              <a:t>  rand bit        do_wr;</a:t>
            </a:r>
          </a:p>
          <a:p>
            <a:pPr algn="l">
              <a:lnSpc>
                <a:spcPct val="112000"/>
              </a:lnSpc>
            </a:pPr>
            <a:r>
              <a:rPr sz="840" b="0" i="0">
                <a:solidFill>
                  <a:srgbClr val="D8E4F0"/>
                </a:solidFill>
                <a:latin typeface="Consolas"/>
              </a:rPr>
              <a:t>  rand bit        do_rd;</a:t>
            </a:r>
          </a:p>
          <a:p>
            <a:pPr algn="l">
              <a:lnSpc>
                <a:spcPct val="112000"/>
              </a:lnSpc>
            </a:pPr>
            <a:r>
              <a:rPr sz="840" b="0" i="0">
                <a:solidFill>
                  <a:srgbClr val="D8E4F0"/>
                </a:solidFill>
                <a:latin typeface="Consolas"/>
              </a:rPr>
              <a:t>  rand bit [7:0]  data;</a:t>
            </a:r>
          </a:p>
          <a:p>
            <a:pPr algn="l">
              <a:lnSpc>
                <a:spcPct val="112000"/>
              </a:lnSpc>
            </a:pPr>
            <a:r>
              <a:rPr sz="840" b="0" i="0">
                <a:solidFill>
                  <a:srgbClr val="D8E4F0"/>
                </a:solidFill>
                <a:latin typeface="Consolas"/>
              </a:rPr>
              <a:t> </a:t>
            </a:r>
          </a:p>
          <a:p>
            <a:pPr algn="l">
              <a:lnSpc>
                <a:spcPct val="112000"/>
              </a:lnSpc>
            </a:pPr>
            <a:r>
              <a:rPr sz="840" b="0" i="0">
                <a:solidFill>
                  <a:srgbClr val="7F9CB5"/>
                </a:solidFill>
                <a:latin typeface="Consolas"/>
              </a:rPr>
              <a:t>  // weights, expressed directly</a:t>
            </a:r>
          </a:p>
          <a:p>
            <a:pPr algn="l">
              <a:lnSpc>
                <a:spcPct val="112000"/>
              </a:lnSpc>
            </a:pPr>
            <a:r>
              <a:rPr sz="840" b="0" i="0">
                <a:solidFill>
                  <a:srgbClr val="D8E4F0"/>
                </a:solidFill>
                <a:latin typeface="Consolas"/>
              </a:rPr>
              <a:t>  constraint c_mix   { do_wr dist { 1 := 55, 0 := 45 };</a:t>
            </a:r>
          </a:p>
          <a:p>
            <a:pPr algn="l">
              <a:lnSpc>
                <a:spcPct val="112000"/>
              </a:lnSpc>
            </a:pPr>
            <a:r>
              <a:rPr sz="840" b="0" i="0">
                <a:solidFill>
                  <a:srgbClr val="D8E4F0"/>
                </a:solidFill>
                <a:latin typeface="Consolas"/>
              </a:rPr>
              <a:t>                       do_rd dist { 1 := 45, 0 := 55 }; }</a:t>
            </a:r>
          </a:p>
          <a:p>
            <a:pPr algn="l">
              <a:lnSpc>
                <a:spcPct val="112000"/>
              </a:lnSpc>
            </a:pPr>
            <a:r>
              <a:rPr sz="840" b="0" i="0">
                <a:solidFill>
                  <a:srgbClr val="D8E4F0"/>
                </a:solidFill>
                <a:latin typeface="Consolas"/>
              </a:rPr>
              <a:t> </a:t>
            </a:r>
          </a:p>
          <a:p>
            <a:pPr algn="l">
              <a:lnSpc>
                <a:spcPct val="112000"/>
              </a:lnSpc>
            </a:pPr>
            <a:r>
              <a:rPr sz="840" b="0" i="0">
                <a:solidFill>
                  <a:srgbClr val="7F9CB5"/>
                </a:solidFill>
                <a:latin typeface="Consolas"/>
              </a:rPr>
              <a:t>  // and rules the generator must respect</a:t>
            </a:r>
          </a:p>
          <a:p>
            <a:pPr algn="l">
              <a:lnSpc>
                <a:spcPct val="112000"/>
              </a:lnSpc>
            </a:pPr>
            <a:r>
              <a:rPr sz="840" b="0" i="0">
                <a:solidFill>
                  <a:srgbClr val="D8E4F0"/>
                </a:solidFill>
                <a:latin typeface="Consolas"/>
              </a:rPr>
              <a:t>  constraint c_burst { (do_wr &amp;&amp; do_rd) -&gt; data inside {[8'h80:8'hFF]}; }</a:t>
            </a:r>
          </a:p>
          <a:p>
            <a:pPr algn="l">
              <a:lnSpc>
                <a:spcPct val="112000"/>
              </a:lnSpc>
            </a:pPr>
            <a:r>
              <a:rPr sz="840" b="0" i="0">
                <a:solidFill>
                  <a:srgbClr val="D8E4F0"/>
                </a:solidFill>
                <a:latin typeface="Consolas"/>
              </a:rPr>
              <a:t>endclass</a:t>
            </a:r>
          </a:p>
          <a:p>
            <a:pPr algn="l">
              <a:lnSpc>
                <a:spcPct val="112000"/>
              </a:lnSpc>
            </a:pPr>
            <a:r>
              <a:rPr sz="840" b="0" i="0">
                <a:solidFill>
                  <a:srgbClr val="D8E4F0"/>
                </a:solidFill>
                <a:latin typeface="Consolas"/>
              </a:rPr>
              <a:t> </a:t>
            </a:r>
          </a:p>
          <a:p>
            <a:pPr algn="l">
              <a:lnSpc>
                <a:spcPct val="112000"/>
              </a:lnSpc>
            </a:pPr>
            <a:r>
              <a:rPr sz="840" b="0" i="0">
                <a:solidFill>
                  <a:srgbClr val="D8E4F0"/>
                </a:solidFill>
                <a:latin typeface="Consolas"/>
              </a:rPr>
              <a:t>fifo_txn t = new();</a:t>
            </a:r>
          </a:p>
          <a:p>
            <a:pPr algn="l">
              <a:lnSpc>
                <a:spcPct val="112000"/>
              </a:lnSpc>
            </a:pPr>
            <a:r>
              <a:rPr sz="840" b="0" i="0">
                <a:solidFill>
                  <a:srgbClr val="D8E4F0"/>
                </a:solidFill>
                <a:latin typeface="Consolas"/>
              </a:rPr>
              <a:t>repeat (2000) begin</a:t>
            </a:r>
          </a:p>
          <a:p>
            <a:pPr algn="l">
              <a:lnSpc>
                <a:spcPct val="112000"/>
              </a:lnSpc>
            </a:pPr>
            <a:r>
              <a:rPr sz="840" b="0" i="0">
                <a:solidFill>
                  <a:srgbClr val="D8E4F0"/>
                </a:solidFill>
                <a:latin typeface="Consolas"/>
              </a:rPr>
              <a:t>  if (!t.randomize()) $fatal(1, "constraints are unsatisfiable");</a:t>
            </a:r>
          </a:p>
          <a:p>
            <a:pPr algn="l">
              <a:lnSpc>
                <a:spcPct val="112000"/>
              </a:lnSpc>
            </a:pPr>
            <a:r>
              <a:rPr sz="840" b="0" i="0">
                <a:solidFill>
                  <a:srgbClr val="D8E4F0"/>
                </a:solidFill>
                <a:latin typeface="Consolas"/>
              </a:rPr>
              <a:t>  drv_cycle(t.do_wr, t.do_rd, t.data);</a:t>
            </a:r>
          </a:p>
          <a:p>
            <a:pPr algn="l">
              <a:lnSpc>
                <a:spcPct val="112000"/>
              </a:lnSpc>
            </a:pPr>
            <a:r>
              <a:rPr sz="840" b="0" i="0">
                <a:solidFill>
                  <a:srgbClr val="D8E4F0"/>
                </a:solidFill>
                <a:latin typeface="Consolas"/>
              </a:rPr>
              <a:t>end</a:t>
            </a:r>
          </a:p>
        </p:txBody>
      </p:sp>
      <p:sp>
        <p:nvSpPr>
          <p:cNvPr id="13" name="Rounded Rectangle 12"/>
          <p:cNvSpPr/>
          <p:nvPr/>
        </p:nvSpPr>
        <p:spPr>
          <a:xfrm>
            <a:off x="411480" y="5173668"/>
            <a:ext cx="5532120" cy="118872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48640" y="5237676"/>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What the solver buys you</a:t>
            </a:r>
          </a:p>
        </p:txBody>
      </p:sp>
      <p:sp>
        <p:nvSpPr>
          <p:cNvPr id="15" name="TextBox 14"/>
          <p:cNvSpPr txBox="1"/>
          <p:nvPr/>
        </p:nvSpPr>
        <p:spPr>
          <a:xfrm>
            <a:off x="548640" y="5511996"/>
            <a:ext cx="5257800" cy="7863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 Constraints compose: add one and the others still hold.</a:t>
            </a:r>
          </a:p>
          <a:p>
            <a:pPr algn="l">
              <a:lnSpc>
                <a:spcPct val="103000"/>
              </a:lnSpc>
              <a:spcAft>
                <a:spcPts val="400"/>
              </a:spcAft>
            </a:pPr>
            <a:r>
              <a:rPr sz="1050" b="0" i="0">
                <a:solidFill>
                  <a:srgbClr val="33414F"/>
                </a:solidFill>
                <a:latin typeface="Calibri"/>
              </a:rPr>
              <a:t>· </a:t>
            </a:r>
            <a:r>
              <a:rPr sz="1050" b="1" i="0">
                <a:solidFill>
                  <a:srgbClr val="0E2A47"/>
                </a:solidFill>
                <a:latin typeface="Consolas"/>
              </a:rPr>
              <a:t>randomize() with { ... }</a:t>
            </a:r>
            <a:r>
              <a:rPr sz="1050" b="0" i="0">
                <a:solidFill>
                  <a:srgbClr val="33414F"/>
                </a:solidFill>
                <a:latin typeface="Calibri"/>
              </a:rPr>
              <a:t>  adds a temporary constraint at one call site — a directed test written as a narrowing of the random one.</a:t>
            </a:r>
          </a:p>
        </p:txBody>
      </p:sp>
      <p:sp>
        <p:nvSpPr>
          <p:cNvPr id="16" name="Rounded Rectangle 15"/>
          <p:cNvSpPr/>
          <p:nvPr/>
        </p:nvSpPr>
        <p:spPr>
          <a:xfrm>
            <a:off x="6126480" y="5173668"/>
            <a:ext cx="5532120" cy="118872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63640" y="5237676"/>
            <a:ext cx="5257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And the trap</a:t>
            </a:r>
          </a:p>
        </p:txBody>
      </p:sp>
      <p:sp>
        <p:nvSpPr>
          <p:cNvPr id="18" name="TextBox 17"/>
          <p:cNvSpPr txBox="1"/>
          <p:nvPr/>
        </p:nvSpPr>
        <p:spPr>
          <a:xfrm>
            <a:off x="6263640" y="5511996"/>
            <a:ext cx="5257800" cy="7863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An over-constrained set has no solution and </a:t>
            </a:r>
            <a:r>
              <a:rPr sz="1050" b="1" i="0">
                <a:solidFill>
                  <a:srgbClr val="C01F43"/>
                </a:solidFill>
                <a:latin typeface="Consolas"/>
              </a:rPr>
              <a:t>randomize()</a:t>
            </a:r>
            <a:r>
              <a:rPr sz="1050" b="0" i="0">
                <a:solidFill>
                  <a:srgbClr val="33414F"/>
                </a:solidFill>
                <a:latin typeface="Calibri"/>
              </a:rPr>
              <a:t> returns 0. If you ignore the return value the test silently drives the same unrandomised value for ever — and passes. Always check it, and always $fatal on failure.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5B · SYSTEMVERILOG</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Covergroups — the Same Twelve Bins, Declared</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41</a:t>
            </a:r>
          </a:p>
        </p:txBody>
      </p:sp>
      <p:sp>
        <p:nvSpPr>
          <p:cNvPr id="9" name="Rounded Rectangle 8"/>
          <p:cNvSpPr/>
          <p:nvPr/>
        </p:nvSpPr>
        <p:spPr>
          <a:xfrm>
            <a:off x="411480" y="1143000"/>
            <a:ext cx="11247120" cy="3344868"/>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Lab V4's coverage model, as a SystemVerilog covergroup</a:t>
            </a:r>
          </a:p>
        </p:txBody>
      </p:sp>
      <p:sp>
        <p:nvSpPr>
          <p:cNvPr id="11" name="TextBox 10"/>
          <p:cNvSpPr txBox="1"/>
          <p:nvPr/>
        </p:nvSpPr>
        <p:spPr>
          <a:xfrm>
            <a:off x="594360" y="1531620"/>
            <a:ext cx="10881360" cy="2841948"/>
          </a:xfrm>
          <a:prstGeom prst="rect">
            <a:avLst/>
          </a:prstGeom>
          <a:noFill/>
        </p:spPr>
        <p:txBody>
          <a:bodyPr wrap="square" lIns="0" rIns="0" tIns="0" bIns="0" anchor="t">
            <a:spAutoFit/>
          </a:bodyPr>
          <a:lstStyle/>
          <a:p>
            <a:pPr algn="l">
              <a:lnSpc>
                <a:spcPct val="112000"/>
              </a:lnSpc>
            </a:pPr>
            <a:r>
              <a:rPr sz="840" b="0" i="0">
                <a:solidFill>
                  <a:srgbClr val="D8E4F0"/>
                </a:solidFill>
                <a:latin typeface="Consolas"/>
              </a:rPr>
              <a:t>covergroup cg_fifo @(posedge clk);</a:t>
            </a:r>
          </a:p>
          <a:p>
            <a:pPr algn="l">
              <a:lnSpc>
                <a:spcPct val="112000"/>
              </a:lnSpc>
            </a:pPr>
            <a:r>
              <a:rPr sz="840" b="0" i="0">
                <a:solidFill>
                  <a:srgbClr val="D8E4F0"/>
                </a:solidFill>
                <a:latin typeface="Consolas"/>
              </a:rPr>
              <a:t>  cp_op : coverpoint {wr_en, rd_en} {</a:t>
            </a:r>
          </a:p>
          <a:p>
            <a:pPr algn="l">
              <a:lnSpc>
                <a:spcPct val="112000"/>
              </a:lnSpc>
            </a:pPr>
            <a:r>
              <a:rPr sz="840" b="0" i="0">
                <a:solidFill>
                  <a:srgbClr val="D8E4F0"/>
                </a:solidFill>
                <a:latin typeface="Consolas"/>
              </a:rPr>
              <a:t>            bins idle  = {2'b00};</a:t>
            </a:r>
          </a:p>
          <a:p>
            <a:pPr algn="l">
              <a:lnSpc>
                <a:spcPct val="112000"/>
              </a:lnSpc>
            </a:pPr>
            <a:r>
              <a:rPr sz="840" b="0" i="0">
                <a:solidFill>
                  <a:srgbClr val="D8E4F0"/>
                </a:solidFill>
                <a:latin typeface="Consolas"/>
              </a:rPr>
              <a:t>            bins wr    = {2'b10};</a:t>
            </a:r>
          </a:p>
          <a:p>
            <a:pPr algn="l">
              <a:lnSpc>
                <a:spcPct val="112000"/>
              </a:lnSpc>
            </a:pPr>
            <a:r>
              <a:rPr sz="840" b="0" i="0">
                <a:solidFill>
                  <a:srgbClr val="D8E4F0"/>
                </a:solidFill>
                <a:latin typeface="Consolas"/>
              </a:rPr>
              <a:t>            bins rd    = {2'b01};</a:t>
            </a:r>
          </a:p>
          <a:p>
            <a:pPr algn="l">
              <a:lnSpc>
                <a:spcPct val="112000"/>
              </a:lnSpc>
            </a:pPr>
            <a:r>
              <a:rPr sz="840" b="0" i="0">
                <a:solidFill>
                  <a:srgbClr val="D8E4F0"/>
                </a:solidFill>
                <a:latin typeface="Consolas"/>
              </a:rPr>
              <a:t>            bins both  = {2'b11};</a:t>
            </a:r>
          </a:p>
          <a:p>
            <a:pPr algn="l">
              <a:lnSpc>
                <a:spcPct val="112000"/>
              </a:lnSpc>
            </a:pPr>
            <a:r>
              <a:rPr sz="840" b="0" i="0">
                <a:solidFill>
                  <a:srgbClr val="D8E4F0"/>
                </a:solidFill>
                <a:latin typeface="Consolas"/>
              </a:rPr>
              <a:t>          }</a:t>
            </a:r>
          </a:p>
          <a:p>
            <a:pPr algn="l">
              <a:lnSpc>
                <a:spcPct val="112000"/>
              </a:lnSpc>
            </a:pPr>
            <a:r>
              <a:rPr sz="840" b="0" i="0">
                <a:solidFill>
                  <a:srgbClr val="D8E4F0"/>
                </a:solidFill>
                <a:latin typeface="Consolas"/>
              </a:rPr>
              <a:t>  cp_occ: coverpoint count {</a:t>
            </a:r>
          </a:p>
          <a:p>
            <a:pPr algn="l">
              <a:lnSpc>
                <a:spcPct val="112000"/>
              </a:lnSpc>
            </a:pPr>
            <a:r>
              <a:rPr sz="840" b="0" i="0">
                <a:solidFill>
                  <a:srgbClr val="D8E4F0"/>
                </a:solidFill>
                <a:latin typeface="Consolas"/>
              </a:rPr>
              <a:t>            bins empty = {0};</a:t>
            </a:r>
          </a:p>
          <a:p>
            <a:pPr algn="l">
              <a:lnSpc>
                <a:spcPct val="112000"/>
              </a:lnSpc>
            </a:pPr>
            <a:r>
              <a:rPr sz="840" b="0" i="0">
                <a:solidFill>
                  <a:srgbClr val="D8E4F0"/>
                </a:solidFill>
                <a:latin typeface="Consolas"/>
              </a:rPr>
              <a:t>            bins mid   = {[1:DEPTH-1]};</a:t>
            </a:r>
          </a:p>
          <a:p>
            <a:pPr algn="l">
              <a:lnSpc>
                <a:spcPct val="112000"/>
              </a:lnSpc>
            </a:pPr>
            <a:r>
              <a:rPr sz="840" b="0" i="0">
                <a:solidFill>
                  <a:srgbClr val="D8E4F0"/>
                </a:solidFill>
                <a:latin typeface="Consolas"/>
              </a:rPr>
              <a:t>            bins full  = {DEPTH};</a:t>
            </a:r>
          </a:p>
          <a:p>
            <a:pPr algn="l">
              <a:lnSpc>
                <a:spcPct val="112000"/>
              </a:lnSpc>
            </a:pPr>
            <a:r>
              <a:rPr sz="840" b="0" i="0">
                <a:solidFill>
                  <a:srgbClr val="D8E4F0"/>
                </a:solidFill>
                <a:latin typeface="Consolas"/>
              </a:rPr>
              <a:t>          }</a:t>
            </a:r>
          </a:p>
          <a:p>
            <a:pPr algn="l">
              <a:lnSpc>
                <a:spcPct val="112000"/>
              </a:lnSpc>
            </a:pPr>
            <a:r>
              <a:rPr sz="840" b="0" i="0">
                <a:solidFill>
                  <a:srgbClr val="7F9CB5"/>
                </a:solidFill>
                <a:latin typeface="Consolas"/>
              </a:rPr>
              <a:t>  // the CROSS is where the real value is: read+write WHILE empty, and</a:t>
            </a:r>
          </a:p>
          <a:p>
            <a:pPr algn="l">
              <a:lnSpc>
                <a:spcPct val="112000"/>
              </a:lnSpc>
            </a:pPr>
            <a:r>
              <a:rPr sz="840" b="0" i="0">
                <a:solidFill>
                  <a:srgbClr val="7F9CB5"/>
                </a:solidFill>
                <a:latin typeface="Consolas"/>
              </a:rPr>
              <a:t>  // read+write WHILE full, are cells of this cross - and both were bugs.</a:t>
            </a:r>
          </a:p>
          <a:p>
            <a:pPr algn="l">
              <a:lnSpc>
                <a:spcPct val="112000"/>
              </a:lnSpc>
            </a:pPr>
            <a:r>
              <a:rPr sz="840" b="0" i="0">
                <a:solidFill>
                  <a:srgbClr val="D8E4F0"/>
                </a:solidFill>
                <a:latin typeface="Consolas"/>
              </a:rPr>
              <a:t>  x_op_occ: cross cp_op, cp_occ;</a:t>
            </a:r>
          </a:p>
          <a:p>
            <a:pPr algn="l">
              <a:lnSpc>
                <a:spcPct val="112000"/>
              </a:lnSpc>
            </a:pPr>
            <a:r>
              <a:rPr sz="840" b="0" i="0">
                <a:solidFill>
                  <a:srgbClr val="D8E4F0"/>
                </a:solidFill>
                <a:latin typeface="Consolas"/>
              </a:rPr>
              <a:t>endgroup</a:t>
            </a:r>
          </a:p>
          <a:p>
            <a:pPr algn="l">
              <a:lnSpc>
                <a:spcPct val="112000"/>
              </a:lnSpc>
            </a:pPr>
            <a:r>
              <a:rPr sz="840" b="0" i="0">
                <a:solidFill>
                  <a:srgbClr val="D8E4F0"/>
                </a:solidFill>
                <a:latin typeface="Consolas"/>
              </a:rPr>
              <a:t> </a:t>
            </a:r>
          </a:p>
          <a:p>
            <a:pPr algn="l">
              <a:lnSpc>
                <a:spcPct val="112000"/>
              </a:lnSpc>
            </a:pPr>
            <a:r>
              <a:rPr sz="840" b="0" i="0">
                <a:solidFill>
                  <a:srgbClr val="D8E4F0"/>
                </a:solidFill>
                <a:latin typeface="Consolas"/>
              </a:rPr>
              <a:t>cg_fifo cg = new();          // sampled automatically on every posedge clk</a:t>
            </a:r>
          </a:p>
        </p:txBody>
      </p:sp>
      <p:sp>
        <p:nvSpPr>
          <p:cNvPr id="12" name="Rounded Rectangle 11"/>
          <p:cNvSpPr/>
          <p:nvPr/>
        </p:nvSpPr>
        <p:spPr>
          <a:xfrm>
            <a:off x="411480" y="4579308"/>
            <a:ext cx="11247120" cy="91440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76072" y="4643316"/>
            <a:ext cx="10917936"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The cross is the point</a:t>
            </a:r>
          </a:p>
        </p:txBody>
      </p:sp>
      <p:sp>
        <p:nvSpPr>
          <p:cNvPr id="14" name="TextBox 13"/>
          <p:cNvSpPr txBox="1"/>
          <p:nvPr/>
        </p:nvSpPr>
        <p:spPr>
          <a:xfrm>
            <a:off x="576072" y="4917636"/>
            <a:ext cx="10917936" cy="51206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cp_op has 4 bins and cp_occ has 3, so the cross has 12 cells — and two of them, "both while empty" and "both while full", are exactly where two of the five planted bugs live. </a:t>
            </a:r>
            <a:r>
              <a:rPr sz="1100" b="1" i="0">
                <a:solidFill>
                  <a:srgbClr val="2A9D5C"/>
                </a:solidFill>
                <a:latin typeface="Calibri"/>
              </a:rPr>
              <a:t>A cross says "this situation, in that state" in one line</a:t>
            </a:r>
            <a:r>
              <a:rPr sz="1100" b="0" i="0">
                <a:solidFill>
                  <a:srgbClr val="33414F"/>
                </a:solidFill>
                <a:latin typeface="Calibri"/>
              </a:rPr>
              <a:t> — the combination hand-written counters make tedious, and that people skip.</a:t>
            </a:r>
          </a:p>
        </p:txBody>
      </p:sp>
      <p:sp>
        <p:nvSpPr>
          <p:cNvPr id="15" name="Rounded Rectangle 14"/>
          <p:cNvSpPr/>
          <p:nvPr/>
        </p:nvSpPr>
        <p:spPr>
          <a:xfrm>
            <a:off x="411480" y="5585148"/>
            <a:ext cx="11247120" cy="776224"/>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76072" y="5649156"/>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Coverage is reported and merged by the tool</a:t>
            </a:r>
          </a:p>
        </p:txBody>
      </p:sp>
      <p:sp>
        <p:nvSpPr>
          <p:cNvPr id="17" name="TextBox 16"/>
          <p:cNvSpPr txBox="1"/>
          <p:nvPr/>
        </p:nvSpPr>
        <p:spPr>
          <a:xfrm>
            <a:off x="576072" y="5923476"/>
            <a:ext cx="10917936" cy="373888"/>
          </a:xfrm>
          <a:prstGeom prst="rect">
            <a:avLst/>
          </a:prstGeom>
          <a:noFill/>
        </p:spPr>
        <p:txBody>
          <a:bodyPr wrap="square" lIns="0" rIns="0" tIns="0" bIns="0" anchor="t">
            <a:spAutoFit/>
          </a:bodyPr>
          <a:lstStyle/>
          <a:p>
            <a:pPr algn="l">
              <a:lnSpc>
                <a:spcPct val="103000"/>
              </a:lnSpc>
              <a:spcAft>
                <a:spcPts val="400"/>
              </a:spcAft>
            </a:pPr>
            <a:r>
              <a:rPr sz="1100" b="1" i="0">
                <a:solidFill>
                  <a:srgbClr val="0E2A47"/>
                </a:solidFill>
                <a:latin typeface="Consolas"/>
              </a:rPr>
              <a:t>vsim -coverage ; coverage report -details</a:t>
            </a:r>
            <a:r>
              <a:rPr sz="1100" b="0" i="0">
                <a:solidFill>
                  <a:srgbClr val="33414F"/>
                </a:solidFill>
                <a:latin typeface="Calibri"/>
              </a:rPr>
              <a:t>   and merged across a regression with </a:t>
            </a:r>
            <a:r>
              <a:rPr sz="1100" b="1" i="0">
                <a:solidFill>
                  <a:srgbClr val="0E2A47"/>
                </a:solidFill>
                <a:latin typeface="Consolas"/>
              </a:rPr>
              <a:t>vcover merge</a:t>
            </a:r>
            <a:r>
              <a:rPr sz="1100" b="0" i="0">
                <a:solidFill>
                  <a:srgbClr val="33414F"/>
                </a:solidFill>
                <a:latin typeface="Calibri"/>
              </a:rPr>
              <a:t>. That is the vendor equivalent of the awk merge in scripts/coverage.sh.</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5B · UVM</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What UVM Is, and When It Is Worth It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42</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The Universal Verification Methodology is a SystemVerilog class library that standardises exactly the layers in Lab V6. </a:t>
            </a:r>
            <a:r>
              <a:rPr sz="1100" b="0" i="0">
                <a:solidFill>
                  <a:srgbClr val="33414F"/>
                </a:solidFill>
                <a:latin typeface="Calibri"/>
              </a:rPr>
              <a:t>It is what most professional verification environments are built from — and it is considerable overhead for a small block.</a:t>
            </a:r>
          </a:p>
        </p:txBody>
      </p:sp>
      <p:sp>
        <p:nvSpPr>
          <p:cNvPr id="10" name="Rectangle 9"/>
          <p:cNvSpPr/>
          <p:nvPr/>
        </p:nvSpPr>
        <p:spPr>
          <a:xfrm>
            <a:off x="411480" y="1783080"/>
            <a:ext cx="301752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1783080"/>
            <a:ext cx="292608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Lab V6 calls it</a:t>
            </a:r>
          </a:p>
        </p:txBody>
      </p:sp>
      <p:sp>
        <p:nvSpPr>
          <p:cNvPr id="12" name="Rectangle 11"/>
          <p:cNvSpPr/>
          <p:nvPr/>
        </p:nvSpPr>
        <p:spPr>
          <a:xfrm>
            <a:off x="3429000" y="1783080"/>
            <a:ext cx="393192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474720" y="1783080"/>
            <a:ext cx="384048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UVM calls it</a:t>
            </a:r>
          </a:p>
        </p:txBody>
      </p:sp>
      <p:sp>
        <p:nvSpPr>
          <p:cNvPr id="14" name="Rectangle 13"/>
          <p:cNvSpPr/>
          <p:nvPr/>
        </p:nvSpPr>
        <p:spPr>
          <a:xfrm>
            <a:off x="7360920" y="1783080"/>
            <a:ext cx="429768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06640" y="1783080"/>
            <a:ext cx="420624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What UVM adds</a:t>
            </a:r>
          </a:p>
        </p:txBody>
      </p:sp>
      <p:sp>
        <p:nvSpPr>
          <p:cNvPr id="16" name="Rectangle 15"/>
          <p:cNvSpPr/>
          <p:nvPr/>
        </p:nvSpPr>
        <p:spPr>
          <a:xfrm>
            <a:off x="411480" y="2066544"/>
            <a:ext cx="30175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57200" y="2066544"/>
            <a:ext cx="292608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generator</a:t>
            </a:r>
          </a:p>
        </p:txBody>
      </p:sp>
      <p:sp>
        <p:nvSpPr>
          <p:cNvPr id="18" name="Rectangle 17"/>
          <p:cNvSpPr/>
          <p:nvPr/>
        </p:nvSpPr>
        <p:spPr>
          <a:xfrm>
            <a:off x="3429000" y="2066544"/>
            <a:ext cx="39319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474720" y="2066544"/>
            <a:ext cx="384048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uvm_sequence / uvm_sequencer</a:t>
            </a:r>
          </a:p>
        </p:txBody>
      </p:sp>
      <p:sp>
        <p:nvSpPr>
          <p:cNvPr id="20" name="Rectangle 19"/>
          <p:cNvSpPr/>
          <p:nvPr/>
        </p:nvSpPr>
        <p:spPr>
          <a:xfrm>
            <a:off x="7360920" y="2066544"/>
            <a:ext cx="42976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406640" y="2066544"/>
            <a:ext cx="420624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reusable, layered, randomisable sequences</a:t>
            </a:r>
          </a:p>
        </p:txBody>
      </p:sp>
      <p:sp>
        <p:nvSpPr>
          <p:cNvPr id="22" name="Rectangle 21"/>
          <p:cNvSpPr/>
          <p:nvPr/>
        </p:nvSpPr>
        <p:spPr>
          <a:xfrm>
            <a:off x="411480" y="2350008"/>
            <a:ext cx="30175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57200" y="2350008"/>
            <a:ext cx="292608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driver</a:t>
            </a:r>
          </a:p>
        </p:txBody>
      </p:sp>
      <p:sp>
        <p:nvSpPr>
          <p:cNvPr id="24" name="Rectangle 23"/>
          <p:cNvSpPr/>
          <p:nvPr/>
        </p:nvSpPr>
        <p:spPr>
          <a:xfrm>
            <a:off x="3429000" y="2350008"/>
            <a:ext cx="39319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474720" y="2350008"/>
            <a:ext cx="384048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uvm_driver</a:t>
            </a:r>
          </a:p>
        </p:txBody>
      </p:sp>
      <p:sp>
        <p:nvSpPr>
          <p:cNvPr id="26" name="Rectangle 25"/>
          <p:cNvSpPr/>
          <p:nvPr/>
        </p:nvSpPr>
        <p:spPr>
          <a:xfrm>
            <a:off x="7360920" y="2350008"/>
            <a:ext cx="42976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406640" y="2350008"/>
            <a:ext cx="420624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a standard handshake with the sequencer</a:t>
            </a:r>
          </a:p>
        </p:txBody>
      </p:sp>
      <p:sp>
        <p:nvSpPr>
          <p:cNvPr id="28" name="Rectangle 27"/>
          <p:cNvSpPr/>
          <p:nvPr/>
        </p:nvSpPr>
        <p:spPr>
          <a:xfrm>
            <a:off x="411480" y="2633472"/>
            <a:ext cx="30175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57200" y="2633472"/>
            <a:ext cx="292608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monitor</a:t>
            </a:r>
          </a:p>
        </p:txBody>
      </p:sp>
      <p:sp>
        <p:nvSpPr>
          <p:cNvPr id="30" name="Rectangle 29"/>
          <p:cNvSpPr/>
          <p:nvPr/>
        </p:nvSpPr>
        <p:spPr>
          <a:xfrm>
            <a:off x="3429000" y="2633472"/>
            <a:ext cx="39319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474720" y="2633472"/>
            <a:ext cx="384048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uvm_monitor</a:t>
            </a:r>
          </a:p>
        </p:txBody>
      </p:sp>
      <p:sp>
        <p:nvSpPr>
          <p:cNvPr id="32" name="Rectangle 31"/>
          <p:cNvSpPr/>
          <p:nvPr/>
        </p:nvSpPr>
        <p:spPr>
          <a:xfrm>
            <a:off x="7360920" y="2633472"/>
            <a:ext cx="42976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406640" y="2633472"/>
            <a:ext cx="420624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publishes transactions to any number of subscribers</a:t>
            </a:r>
          </a:p>
        </p:txBody>
      </p:sp>
      <p:sp>
        <p:nvSpPr>
          <p:cNvPr id="34" name="Rectangle 33"/>
          <p:cNvSpPr/>
          <p:nvPr/>
        </p:nvSpPr>
        <p:spPr>
          <a:xfrm>
            <a:off x="411480" y="2916936"/>
            <a:ext cx="30175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57200" y="2916936"/>
            <a:ext cx="292608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scoreboard</a:t>
            </a:r>
          </a:p>
        </p:txBody>
      </p:sp>
      <p:sp>
        <p:nvSpPr>
          <p:cNvPr id="36" name="Rectangle 35"/>
          <p:cNvSpPr/>
          <p:nvPr/>
        </p:nvSpPr>
        <p:spPr>
          <a:xfrm>
            <a:off x="3429000" y="2916936"/>
            <a:ext cx="39319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474720" y="2916936"/>
            <a:ext cx="384048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uvm_scoreboard</a:t>
            </a:r>
          </a:p>
        </p:txBody>
      </p:sp>
      <p:sp>
        <p:nvSpPr>
          <p:cNvPr id="38" name="Rectangle 37"/>
          <p:cNvSpPr/>
          <p:nvPr/>
        </p:nvSpPr>
        <p:spPr>
          <a:xfrm>
            <a:off x="7360920" y="2916936"/>
            <a:ext cx="42976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406640" y="2916936"/>
            <a:ext cx="420624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standard comparison and reporting</a:t>
            </a:r>
          </a:p>
        </p:txBody>
      </p:sp>
      <p:sp>
        <p:nvSpPr>
          <p:cNvPr id="40" name="Rectangle 39"/>
          <p:cNvSpPr/>
          <p:nvPr/>
        </p:nvSpPr>
        <p:spPr>
          <a:xfrm>
            <a:off x="411480" y="3200400"/>
            <a:ext cx="30175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57200" y="3200400"/>
            <a:ext cx="292608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(the whole thing)</a:t>
            </a:r>
          </a:p>
        </p:txBody>
      </p:sp>
      <p:sp>
        <p:nvSpPr>
          <p:cNvPr id="42" name="Rectangle 41"/>
          <p:cNvSpPr/>
          <p:nvPr/>
        </p:nvSpPr>
        <p:spPr>
          <a:xfrm>
            <a:off x="3429000" y="3200400"/>
            <a:ext cx="39319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3474720" y="3200400"/>
            <a:ext cx="384048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uvm_env / uvm_agent</a:t>
            </a:r>
          </a:p>
        </p:txBody>
      </p:sp>
      <p:sp>
        <p:nvSpPr>
          <p:cNvPr id="44" name="Rectangle 43"/>
          <p:cNvSpPr/>
          <p:nvPr/>
        </p:nvSpPr>
        <p:spPr>
          <a:xfrm>
            <a:off x="7360920" y="3200400"/>
            <a:ext cx="42976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7406640" y="3200400"/>
            <a:ext cx="420624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a package you can instantiate twice, or reuse on the next project</a:t>
            </a:r>
          </a:p>
        </p:txBody>
      </p:sp>
      <p:sp>
        <p:nvSpPr>
          <p:cNvPr id="46" name="Rectangle 45"/>
          <p:cNvSpPr/>
          <p:nvPr/>
        </p:nvSpPr>
        <p:spPr>
          <a:xfrm>
            <a:off x="411480" y="3483864"/>
            <a:ext cx="30175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457200" y="3483864"/>
            <a:ext cx="292608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$display</a:t>
            </a:r>
          </a:p>
        </p:txBody>
      </p:sp>
      <p:sp>
        <p:nvSpPr>
          <p:cNvPr id="48" name="Rectangle 47"/>
          <p:cNvSpPr/>
          <p:nvPr/>
        </p:nvSpPr>
        <p:spPr>
          <a:xfrm>
            <a:off x="3429000" y="3483864"/>
            <a:ext cx="39319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3474720" y="3483864"/>
            <a:ext cx="384048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uvm_info / uvm_error with verbosity</a:t>
            </a:r>
          </a:p>
        </p:txBody>
      </p:sp>
      <p:sp>
        <p:nvSpPr>
          <p:cNvPr id="50" name="Rectangle 49"/>
          <p:cNvSpPr/>
          <p:nvPr/>
        </p:nvSpPr>
        <p:spPr>
          <a:xfrm>
            <a:off x="7360920" y="3483864"/>
            <a:ext cx="42976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7406640" y="3483864"/>
            <a:ext cx="420624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filterable, gradable reporting</a:t>
            </a:r>
          </a:p>
        </p:txBody>
      </p:sp>
      <p:sp>
        <p:nvSpPr>
          <p:cNvPr id="52" name="Rectangle 51"/>
          <p:cNvSpPr/>
          <p:nvPr/>
        </p:nvSpPr>
        <p:spPr>
          <a:xfrm>
            <a:off x="411480" y="3767328"/>
            <a:ext cx="30175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457200" y="3767328"/>
            <a:ext cx="292608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(nothing)</a:t>
            </a:r>
          </a:p>
        </p:txBody>
      </p:sp>
      <p:sp>
        <p:nvSpPr>
          <p:cNvPr id="54" name="Rectangle 53"/>
          <p:cNvSpPr/>
          <p:nvPr/>
        </p:nvSpPr>
        <p:spPr>
          <a:xfrm>
            <a:off x="3429000" y="3767328"/>
            <a:ext cx="39319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3474720" y="3767328"/>
            <a:ext cx="384048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the factory and config_db</a:t>
            </a:r>
          </a:p>
        </p:txBody>
      </p:sp>
      <p:sp>
        <p:nvSpPr>
          <p:cNvPr id="56" name="Rectangle 55"/>
          <p:cNvSpPr/>
          <p:nvPr/>
        </p:nvSpPr>
        <p:spPr>
          <a:xfrm>
            <a:off x="7360920" y="3767328"/>
            <a:ext cx="42976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7406640" y="3767328"/>
            <a:ext cx="420624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swap a component or a setting without editing the environment</a:t>
            </a:r>
          </a:p>
        </p:txBody>
      </p:sp>
      <p:sp>
        <p:nvSpPr>
          <p:cNvPr id="58" name="Rounded Rectangle 57"/>
          <p:cNvSpPr/>
          <p:nvPr/>
        </p:nvSpPr>
        <p:spPr>
          <a:xfrm>
            <a:off x="411480" y="4142232"/>
            <a:ext cx="5532120" cy="118872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548640" y="4206240"/>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Worth it when</a:t>
            </a:r>
          </a:p>
        </p:txBody>
      </p:sp>
      <p:sp>
        <p:nvSpPr>
          <p:cNvPr id="60" name="TextBox 59"/>
          <p:cNvSpPr txBox="1"/>
          <p:nvPr/>
        </p:nvSpPr>
        <p:spPr>
          <a:xfrm>
            <a:off x="548640" y="4480560"/>
            <a:ext cx="5257800" cy="7863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 The block has a real protocol interface that other blocks also use.</a:t>
            </a:r>
          </a:p>
          <a:p>
            <a:pPr algn="l">
              <a:lnSpc>
                <a:spcPct val="103000"/>
              </a:lnSpc>
              <a:spcAft>
                <a:spcPts val="400"/>
              </a:spcAft>
            </a:pPr>
            <a:r>
              <a:rPr sz="1050" b="0" i="0">
                <a:solidFill>
                  <a:srgbClr val="33414F"/>
                </a:solidFill>
                <a:latin typeface="Calibri"/>
              </a:rPr>
              <a:t>· Several people work on the environment at once.</a:t>
            </a:r>
          </a:p>
          <a:p>
            <a:pPr algn="l">
              <a:lnSpc>
                <a:spcPct val="103000"/>
              </a:lnSpc>
              <a:spcAft>
                <a:spcPts val="400"/>
              </a:spcAft>
            </a:pPr>
            <a:r>
              <a:rPr sz="1050" b="0" i="0">
                <a:solidFill>
                  <a:srgbClr val="33414F"/>
                </a:solidFill>
                <a:latin typeface="Calibri"/>
              </a:rPr>
              <a:t>· The environment will be reused across projects, or at chip level.</a:t>
            </a:r>
          </a:p>
        </p:txBody>
      </p:sp>
      <p:sp>
        <p:nvSpPr>
          <p:cNvPr id="61" name="Rounded Rectangle 60"/>
          <p:cNvSpPr/>
          <p:nvPr/>
        </p:nvSpPr>
        <p:spPr>
          <a:xfrm>
            <a:off x="6126480" y="4142232"/>
            <a:ext cx="5532120" cy="118872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6263640" y="4206240"/>
            <a:ext cx="5257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Not worth it when</a:t>
            </a:r>
          </a:p>
        </p:txBody>
      </p:sp>
      <p:sp>
        <p:nvSpPr>
          <p:cNvPr id="63" name="TextBox 62"/>
          <p:cNvSpPr txBox="1"/>
          <p:nvPr/>
        </p:nvSpPr>
        <p:spPr>
          <a:xfrm>
            <a:off x="6263640" y="4480560"/>
            <a:ext cx="5257800" cy="7863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 The block is a FIFO, and Lab V6 already verifies it in 160 lines.</a:t>
            </a:r>
          </a:p>
          <a:p>
            <a:pPr algn="l">
              <a:lnSpc>
                <a:spcPct val="103000"/>
              </a:lnSpc>
              <a:spcAft>
                <a:spcPts val="400"/>
              </a:spcAft>
            </a:pPr>
            <a:r>
              <a:rPr sz="1050" b="0" i="0">
                <a:solidFill>
                  <a:srgbClr val="33414F"/>
                </a:solidFill>
                <a:latin typeface="Calibri"/>
              </a:rPr>
              <a:t>· Nobody on the team has used UVM before and the schedule is four weeks.</a:t>
            </a:r>
          </a:p>
          <a:p>
            <a:pPr algn="l">
              <a:lnSpc>
                <a:spcPct val="103000"/>
              </a:lnSpc>
              <a:spcAft>
                <a:spcPts val="400"/>
              </a:spcAft>
            </a:pPr>
            <a:r>
              <a:rPr sz="1050" b="0" i="0">
                <a:solidFill>
                  <a:srgbClr val="33414F"/>
                </a:solidFill>
                <a:latin typeface="Calibri"/>
              </a:rPr>
              <a:t>· Your simulator licence does not include the class library.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5B · FORMAL</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Formal Verification — Proof Instead of Sampling</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43</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Simulation samples the state space. Formal tools SEARCH it. </a:t>
            </a:r>
            <a:r>
              <a:rPr sz="1100" b="0" i="0">
                <a:solidFill>
                  <a:srgbClr val="33414F"/>
                </a:solidFill>
                <a:latin typeface="Calibri"/>
              </a:rPr>
              <a:t>Given the same assertions you already wrote, a formal engine tries to prove no input sequence can ever violate them — or produces a counter-example waveform that does.</a:t>
            </a:r>
          </a:p>
        </p:txBody>
      </p:sp>
      <p:sp>
        <p:nvSpPr>
          <p:cNvPr id="10" name="Rounded Rectangle 9"/>
          <p:cNvSpPr/>
          <p:nvPr/>
        </p:nvSpPr>
        <p:spPr>
          <a:xfrm>
            <a:off x="411480" y="1783080"/>
            <a:ext cx="11247120" cy="82296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411480" y="1783080"/>
            <a:ext cx="1737360" cy="822960"/>
          </a:xfrm>
          <a:prstGeom prst="roundRect">
            <a:avLst>
              <a:gd name="adj" fmla="val 5714"/>
            </a:avLst>
          </a:prstGeom>
          <a:solidFill>
            <a:srgbClr val="2A9D5C"/>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11480" y="1783080"/>
            <a:ext cx="1737360" cy="82296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WHAT YOU GET</a:t>
            </a:r>
          </a:p>
        </p:txBody>
      </p:sp>
      <p:sp>
        <p:nvSpPr>
          <p:cNvPr id="13" name="TextBox 12"/>
          <p:cNvSpPr txBox="1"/>
          <p:nvPr/>
        </p:nvSpPr>
        <p:spPr>
          <a:xfrm>
            <a:off x="2331720" y="1828800"/>
            <a:ext cx="9144000" cy="73152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For a property that is PROVEN, no amount of simulation adds anything: it holds for every input sequence, for ever. For one that fails, you get the shortest counter-example — usually far easier to understand than a random failure at cycle 40 000.</a:t>
            </a:r>
          </a:p>
        </p:txBody>
      </p:sp>
      <p:sp>
        <p:nvSpPr>
          <p:cNvPr id="14" name="Rounded Rectangle 13"/>
          <p:cNvSpPr/>
          <p:nvPr/>
        </p:nvSpPr>
        <p:spPr>
          <a:xfrm>
            <a:off x="411480" y="2651760"/>
            <a:ext cx="11247120" cy="82296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411480" y="2651760"/>
            <a:ext cx="1737360" cy="822960"/>
          </a:xfrm>
          <a:prstGeom prst="roundRect">
            <a:avLst>
              <a:gd name="adj" fmla="val 5714"/>
            </a:avLst>
          </a:prstGeom>
          <a:solidFill>
            <a:srgbClr val="C77514"/>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11480" y="2651760"/>
            <a:ext cx="1737360" cy="82296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WHAT IT COSTS</a:t>
            </a:r>
          </a:p>
        </p:txBody>
      </p:sp>
      <p:sp>
        <p:nvSpPr>
          <p:cNvPr id="17" name="TextBox 16"/>
          <p:cNvSpPr txBox="1"/>
          <p:nvPr/>
        </p:nvSpPr>
        <p:spPr>
          <a:xfrm>
            <a:off x="2331720" y="2697480"/>
            <a:ext cx="9144000" cy="73152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The state space can explode. Formal works beautifully on control logic — FIFOs, arbiters, protocol adapters, CDC handshakes — and poorly on wide datapaths such as multipliers, where the engine runs out of memory rather than returning an answer.</a:t>
            </a:r>
          </a:p>
        </p:txBody>
      </p:sp>
      <p:sp>
        <p:nvSpPr>
          <p:cNvPr id="18" name="Rounded Rectangle 17"/>
          <p:cNvSpPr/>
          <p:nvPr/>
        </p:nvSpPr>
        <p:spPr>
          <a:xfrm>
            <a:off x="411480" y="3520440"/>
            <a:ext cx="11247120" cy="82296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411480" y="3520440"/>
            <a:ext cx="1737360" cy="822960"/>
          </a:xfrm>
          <a:prstGeom prst="roundRect">
            <a:avLst>
              <a:gd name="adj" fmla="val 5714"/>
            </a:avLst>
          </a:prstGeom>
          <a:solidFill>
            <a:srgbClr val="1B9AAA"/>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11480" y="3520440"/>
            <a:ext cx="1737360" cy="82296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THE OVERLAP</a:t>
            </a:r>
          </a:p>
        </p:txBody>
      </p:sp>
      <p:sp>
        <p:nvSpPr>
          <p:cNvPr id="21" name="TextBox 20"/>
          <p:cNvSpPr txBox="1"/>
          <p:nvPr/>
        </p:nvSpPr>
        <p:spPr>
          <a:xfrm>
            <a:off x="2331720" y="3566160"/>
            <a:ext cx="9144000" cy="73152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The assertions in sva/fifo_sva.sv are already formal properties. That is the practical point: writing assertions for simulation costs you nothing extra and gives you a formal testbench for free if you later get access to a tool.</a:t>
            </a:r>
          </a:p>
        </p:txBody>
      </p:sp>
      <p:sp>
        <p:nvSpPr>
          <p:cNvPr id="22" name="Rounded Rectangle 21"/>
          <p:cNvSpPr/>
          <p:nvPr/>
        </p:nvSpPr>
        <p:spPr>
          <a:xfrm>
            <a:off x="411480" y="4389120"/>
            <a:ext cx="11247120" cy="82296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411480" y="4389120"/>
            <a:ext cx="1737360" cy="822960"/>
          </a:xfrm>
          <a:prstGeom prst="roundRect">
            <a:avLst>
              <a:gd name="adj" fmla="val 5714"/>
            </a:avLst>
          </a:prstGeom>
          <a:solidFill>
            <a:srgbClr val="6B45A8"/>
          </a:solidFill>
          <a:ln w="13970">
            <a:solidFill>
              <a:srgbClr val="6B45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11480" y="4389120"/>
            <a:ext cx="1737360" cy="82296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WHERE IT IS USED</a:t>
            </a:r>
          </a:p>
        </p:txBody>
      </p:sp>
      <p:sp>
        <p:nvSpPr>
          <p:cNvPr id="25" name="TextBox 24"/>
          <p:cNvSpPr txBox="1"/>
          <p:nvPr/>
        </p:nvSpPr>
        <p:spPr>
          <a:xfrm>
            <a:off x="2331720" y="4434840"/>
            <a:ext cx="9144000" cy="73152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Almost universally for connectivity checks, register maps, clock-domain crossings, arbiters and cache coherence — and almost never as a replacement for simulation at the system level.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01F43"/>
                </a:solidFill>
                <a:latin typeface="Calibri"/>
              </a:rPr>
              <a:t>TOPIC 5B · CDC</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Why Simulation Alone Cannot Verify a Clock Crossing</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44</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This is the most important limitation to state out loud. </a:t>
            </a:r>
            <a:r>
              <a:rPr sz="1100" b="0" i="0">
                <a:solidFill>
                  <a:srgbClr val="33414F"/>
                </a:solidFill>
                <a:latin typeface="Calibri"/>
              </a:rPr>
              <a:t>A simulator has no model of metastability. It resolves every flip-flop to a clean 0 or 1, so a design with a genuinely broken clock crossing simulates perfectly and fails intermittently in the lab.</a:t>
            </a:r>
          </a:p>
        </p:txBody>
      </p:sp>
      <p:sp>
        <p:nvSpPr>
          <p:cNvPr id="10" name="Rounded Rectangle 9"/>
          <p:cNvSpPr/>
          <p:nvPr/>
        </p:nvSpPr>
        <p:spPr>
          <a:xfrm>
            <a:off x="411480" y="1783080"/>
            <a:ext cx="5532120" cy="155448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48640" y="1847088"/>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What simulation WILL catch</a:t>
            </a:r>
          </a:p>
        </p:txBody>
      </p:sp>
      <p:sp>
        <p:nvSpPr>
          <p:cNvPr id="12" name="TextBox 11"/>
          <p:cNvSpPr txBox="1"/>
          <p:nvPr/>
        </p:nvSpPr>
        <p:spPr>
          <a:xfrm>
            <a:off x="548640" y="2121408"/>
            <a:ext cx="5257800" cy="115214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 Functional errors in the handshake protocol itself.</a:t>
            </a:r>
          </a:p>
          <a:p>
            <a:pPr algn="l">
              <a:lnSpc>
                <a:spcPct val="103000"/>
              </a:lnSpc>
              <a:spcAft>
                <a:spcPts val="400"/>
              </a:spcAft>
            </a:pPr>
            <a:r>
              <a:rPr sz="1050" b="0" i="0">
                <a:solidFill>
                  <a:srgbClr val="33414F"/>
                </a:solidFill>
                <a:latin typeface="Calibri"/>
              </a:rPr>
              <a:t>· Data being sampled before it was stable, if you model the delay.</a:t>
            </a:r>
          </a:p>
          <a:p>
            <a:pPr algn="l">
              <a:lnSpc>
                <a:spcPct val="103000"/>
              </a:lnSpc>
              <a:spcAft>
                <a:spcPts val="400"/>
              </a:spcAft>
            </a:pPr>
            <a:r>
              <a:rPr sz="1050" b="0" i="0">
                <a:solidFill>
                  <a:srgbClr val="33414F"/>
                </a:solidFill>
                <a:latin typeface="Calibri"/>
              </a:rPr>
              <a:t>· A Gray-code pointer that is not actually Gray.</a:t>
            </a:r>
          </a:p>
          <a:p>
            <a:pPr algn="l">
              <a:lnSpc>
                <a:spcPct val="103000"/>
              </a:lnSpc>
              <a:spcAft>
                <a:spcPts val="400"/>
              </a:spcAft>
            </a:pPr>
            <a:r>
              <a:rPr sz="1050" b="0" i="0">
                <a:solidFill>
                  <a:srgbClr val="33414F"/>
                </a:solidFill>
                <a:latin typeface="Calibri"/>
              </a:rPr>
              <a:t>· With randomised clock phases, some — not all — sampling races.</a:t>
            </a:r>
          </a:p>
        </p:txBody>
      </p:sp>
      <p:sp>
        <p:nvSpPr>
          <p:cNvPr id="13" name="Rounded Rectangle 12"/>
          <p:cNvSpPr/>
          <p:nvPr/>
        </p:nvSpPr>
        <p:spPr>
          <a:xfrm>
            <a:off x="6126480" y="1783080"/>
            <a:ext cx="5532120" cy="155448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263640" y="1847088"/>
            <a:ext cx="5257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What it will NOT catch</a:t>
            </a:r>
          </a:p>
        </p:txBody>
      </p:sp>
      <p:sp>
        <p:nvSpPr>
          <p:cNvPr id="15" name="TextBox 14"/>
          <p:cNvSpPr txBox="1"/>
          <p:nvPr/>
        </p:nvSpPr>
        <p:spPr>
          <a:xfrm>
            <a:off x="6263640" y="2121408"/>
            <a:ext cx="5257800" cy="1152144"/>
          </a:xfrm>
          <a:prstGeom prst="rect">
            <a:avLst/>
          </a:prstGeom>
          <a:noFill/>
        </p:spPr>
        <p:txBody>
          <a:bodyPr wrap="square" lIns="0" rIns="0" tIns="0" bIns="0" anchor="t">
            <a:spAutoFit/>
          </a:bodyPr>
          <a:lstStyle/>
          <a:p>
            <a:pPr algn="l">
              <a:lnSpc>
                <a:spcPct val="103000"/>
              </a:lnSpc>
              <a:spcAft>
                <a:spcPts val="400"/>
              </a:spcAft>
            </a:pPr>
            <a:r>
              <a:rPr sz="1050" b="1" i="0">
                <a:solidFill>
                  <a:srgbClr val="C01F43"/>
                </a:solidFill>
                <a:latin typeface="Calibri"/>
              </a:rPr>
              <a:t>· Metastability. There is no such value in the simulator.</a:t>
            </a:r>
          </a:p>
          <a:p>
            <a:pPr algn="l">
              <a:lnSpc>
                <a:spcPct val="103000"/>
              </a:lnSpc>
              <a:spcAft>
                <a:spcPts val="400"/>
              </a:spcAft>
            </a:pPr>
            <a:r>
              <a:rPr sz="1050" b="1" i="0">
                <a:solidFill>
                  <a:srgbClr val="C01F43"/>
                </a:solidFill>
                <a:latin typeface="Calibri"/>
              </a:rPr>
              <a:t>· A missing synchroniser: two flip-flops or none simulate identically.</a:t>
            </a:r>
          </a:p>
          <a:p>
            <a:pPr algn="l">
              <a:lnSpc>
                <a:spcPct val="103000"/>
              </a:lnSpc>
              <a:spcAft>
                <a:spcPts val="400"/>
              </a:spcAft>
            </a:pPr>
            <a:r>
              <a:rPr sz="1050" b="1" i="0">
                <a:solidFill>
                  <a:srgbClr val="C01F43"/>
                </a:solidFill>
                <a:latin typeface="Calibri"/>
              </a:rPr>
              <a:t>· A multi-bit bus crossing without a handshake — in simulation all the bits arrive together, which is exactly what does not happen on silicon.</a:t>
            </a:r>
          </a:p>
        </p:txBody>
      </p:sp>
      <p:sp>
        <p:nvSpPr>
          <p:cNvPr id="16" name="Rounded Rectangle 15"/>
          <p:cNvSpPr/>
          <p:nvPr/>
        </p:nvSpPr>
        <p:spPr>
          <a:xfrm>
            <a:off x="411480" y="3429000"/>
            <a:ext cx="11247120" cy="96012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76072" y="3493008"/>
            <a:ext cx="10917936"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So CDC is verified structurally, not dynamically</a:t>
            </a:r>
          </a:p>
        </p:txBody>
      </p:sp>
      <p:sp>
        <p:nvSpPr>
          <p:cNvPr id="18" name="TextBox 17"/>
          <p:cNvSpPr txBox="1"/>
          <p:nvPr/>
        </p:nvSpPr>
        <p:spPr>
          <a:xfrm>
            <a:off x="576072" y="3767328"/>
            <a:ext cx="10917936" cy="55778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Every professional flow runs a dedicated CDC checker that reads the netlist, identifies every path between unrelated clocks, and demands a recognised synchroniser structure on each one. Review the crossings by eye as well: </a:t>
            </a:r>
            <a:r>
              <a:rPr sz="1100" b="1" i="0">
                <a:solidFill>
                  <a:srgbClr val="2A9D5C"/>
                </a:solidFill>
                <a:latin typeface="Calibri"/>
              </a:rPr>
              <a:t>two flip-flops for a single-bit level, Gray coding or a handshake for a bus, and never bit-by-bit synchronisation of a vector.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5B · METRICS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How a Project Decides Verification Is Finished</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45</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"We ran all the tests and they passed" is not a sign-off criterion. </a:t>
            </a:r>
            <a:r>
              <a:rPr sz="1100" b="0" i="0">
                <a:solidFill>
                  <a:srgbClr val="33414F"/>
                </a:solidFill>
                <a:latin typeface="Calibri"/>
              </a:rPr>
              <a:t>These are — and every one of them is a number somebody outside the team can read.</a:t>
            </a:r>
          </a:p>
        </p:txBody>
      </p:sp>
      <p:sp>
        <p:nvSpPr>
          <p:cNvPr id="10" name="Rectangle 9"/>
          <p:cNvSpPr/>
          <p:nvPr/>
        </p:nvSpPr>
        <p:spPr>
          <a:xfrm>
            <a:off x="411480" y="1737360"/>
            <a:ext cx="292608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1737360"/>
            <a:ext cx="283464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Metric</a:t>
            </a:r>
          </a:p>
        </p:txBody>
      </p:sp>
      <p:sp>
        <p:nvSpPr>
          <p:cNvPr id="12" name="Rectangle 11"/>
          <p:cNvSpPr/>
          <p:nvPr/>
        </p:nvSpPr>
        <p:spPr>
          <a:xfrm>
            <a:off x="3337560" y="1737360"/>
            <a:ext cx="429768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383280" y="1737360"/>
            <a:ext cx="420624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What it means</a:t>
            </a:r>
          </a:p>
        </p:txBody>
      </p:sp>
      <p:sp>
        <p:nvSpPr>
          <p:cNvPr id="14" name="Rectangle 13"/>
          <p:cNvSpPr/>
          <p:nvPr/>
        </p:nvSpPr>
        <p:spPr>
          <a:xfrm>
            <a:off x="7635240" y="1737360"/>
            <a:ext cx="402336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680960" y="1737360"/>
            <a:ext cx="393192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Typical sign-off bar</a:t>
            </a:r>
          </a:p>
        </p:txBody>
      </p:sp>
      <p:sp>
        <p:nvSpPr>
          <p:cNvPr id="16" name="Rectangle 15"/>
          <p:cNvSpPr/>
          <p:nvPr/>
        </p:nvSpPr>
        <p:spPr>
          <a:xfrm>
            <a:off x="411480" y="2066544"/>
            <a:ext cx="29260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57200" y="2066544"/>
            <a:ext cx="283464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Functional coverage</a:t>
            </a:r>
          </a:p>
        </p:txBody>
      </p:sp>
      <p:sp>
        <p:nvSpPr>
          <p:cNvPr id="18" name="Rectangle 17"/>
          <p:cNvSpPr/>
          <p:nvPr/>
        </p:nvSpPr>
        <p:spPr>
          <a:xfrm>
            <a:off x="3337560" y="2066544"/>
            <a:ext cx="42976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383280" y="2066544"/>
            <a:ext cx="4206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spec-level situations reached</a:t>
            </a:r>
          </a:p>
        </p:txBody>
      </p:sp>
      <p:sp>
        <p:nvSpPr>
          <p:cNvPr id="20" name="Rectangle 19"/>
          <p:cNvSpPr/>
          <p:nvPr/>
        </p:nvSpPr>
        <p:spPr>
          <a:xfrm>
            <a:off x="7635240" y="2066544"/>
            <a:ext cx="402336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680960" y="2066544"/>
            <a:ext cx="393192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100% of the plan, or every hole waived in writing</a:t>
            </a:r>
          </a:p>
        </p:txBody>
      </p:sp>
      <p:sp>
        <p:nvSpPr>
          <p:cNvPr id="22" name="Rectangle 21"/>
          <p:cNvSpPr/>
          <p:nvPr/>
        </p:nvSpPr>
        <p:spPr>
          <a:xfrm>
            <a:off x="411480" y="2395728"/>
            <a:ext cx="29260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57200" y="2395728"/>
            <a:ext cx="283464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Code coverage</a:t>
            </a:r>
          </a:p>
        </p:txBody>
      </p:sp>
      <p:sp>
        <p:nvSpPr>
          <p:cNvPr id="24" name="Rectangle 23"/>
          <p:cNvSpPr/>
          <p:nvPr/>
        </p:nvSpPr>
        <p:spPr>
          <a:xfrm>
            <a:off x="3337560" y="2395728"/>
            <a:ext cx="42976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383280" y="2395728"/>
            <a:ext cx="4206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lines, branches, conditions, toggles exercised</a:t>
            </a:r>
          </a:p>
        </p:txBody>
      </p:sp>
      <p:sp>
        <p:nvSpPr>
          <p:cNvPr id="26" name="Rectangle 25"/>
          <p:cNvSpPr/>
          <p:nvPr/>
        </p:nvSpPr>
        <p:spPr>
          <a:xfrm>
            <a:off x="7635240" y="2395728"/>
            <a:ext cx="402336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680960" y="2395728"/>
            <a:ext cx="393192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95–100%, with the rest explained</a:t>
            </a:r>
          </a:p>
        </p:txBody>
      </p:sp>
      <p:sp>
        <p:nvSpPr>
          <p:cNvPr id="28" name="Rectangle 27"/>
          <p:cNvSpPr/>
          <p:nvPr/>
        </p:nvSpPr>
        <p:spPr>
          <a:xfrm>
            <a:off x="411480" y="2724912"/>
            <a:ext cx="29260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57200" y="2724912"/>
            <a:ext cx="283464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Assertion coverage</a:t>
            </a:r>
          </a:p>
        </p:txBody>
      </p:sp>
      <p:sp>
        <p:nvSpPr>
          <p:cNvPr id="30" name="Rectangle 29"/>
          <p:cNvSpPr/>
          <p:nvPr/>
        </p:nvSpPr>
        <p:spPr>
          <a:xfrm>
            <a:off x="3337560" y="2724912"/>
            <a:ext cx="42976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383280" y="2724912"/>
            <a:ext cx="4206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each assertion actually evaluated, not vacuously true</a:t>
            </a:r>
          </a:p>
        </p:txBody>
      </p:sp>
      <p:sp>
        <p:nvSpPr>
          <p:cNvPr id="32" name="Rectangle 31"/>
          <p:cNvSpPr/>
          <p:nvPr/>
        </p:nvSpPr>
        <p:spPr>
          <a:xfrm>
            <a:off x="7635240" y="2724912"/>
            <a:ext cx="402336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680960" y="2724912"/>
            <a:ext cx="393192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every assertion hit at least once</a:t>
            </a:r>
          </a:p>
        </p:txBody>
      </p:sp>
      <p:sp>
        <p:nvSpPr>
          <p:cNvPr id="34" name="Rectangle 33"/>
          <p:cNvSpPr/>
          <p:nvPr/>
        </p:nvSpPr>
        <p:spPr>
          <a:xfrm>
            <a:off x="411480" y="3054096"/>
            <a:ext cx="29260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57200" y="3054096"/>
            <a:ext cx="283464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Regression pass rate</a:t>
            </a:r>
          </a:p>
        </p:txBody>
      </p:sp>
      <p:sp>
        <p:nvSpPr>
          <p:cNvPr id="36" name="Rectangle 35"/>
          <p:cNvSpPr/>
          <p:nvPr/>
        </p:nvSpPr>
        <p:spPr>
          <a:xfrm>
            <a:off x="3337560" y="3054096"/>
            <a:ext cx="42976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383280" y="3054096"/>
            <a:ext cx="4206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seeds passing over the last N runs</a:t>
            </a:r>
          </a:p>
        </p:txBody>
      </p:sp>
      <p:sp>
        <p:nvSpPr>
          <p:cNvPr id="38" name="Rectangle 37"/>
          <p:cNvSpPr/>
          <p:nvPr/>
        </p:nvSpPr>
        <p:spPr>
          <a:xfrm>
            <a:off x="7635240" y="3054096"/>
            <a:ext cx="402336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680960" y="3054096"/>
            <a:ext cx="393192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100%, sustained, not 'usually'</a:t>
            </a:r>
          </a:p>
        </p:txBody>
      </p:sp>
      <p:sp>
        <p:nvSpPr>
          <p:cNvPr id="40" name="Rectangle 39"/>
          <p:cNvSpPr/>
          <p:nvPr/>
        </p:nvSpPr>
        <p:spPr>
          <a:xfrm>
            <a:off x="411480" y="3383280"/>
            <a:ext cx="29260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57200" y="3383280"/>
            <a:ext cx="283464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Bug discovery rate</a:t>
            </a:r>
          </a:p>
        </p:txBody>
      </p:sp>
      <p:sp>
        <p:nvSpPr>
          <p:cNvPr id="42" name="Rectangle 41"/>
          <p:cNvSpPr/>
          <p:nvPr/>
        </p:nvSpPr>
        <p:spPr>
          <a:xfrm>
            <a:off x="3337560" y="3383280"/>
            <a:ext cx="42976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3383280" y="3383280"/>
            <a:ext cx="4206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new bugs found per week</a:t>
            </a:r>
          </a:p>
        </p:txBody>
      </p:sp>
      <p:sp>
        <p:nvSpPr>
          <p:cNvPr id="44" name="Rectangle 43"/>
          <p:cNvSpPr/>
          <p:nvPr/>
        </p:nvSpPr>
        <p:spPr>
          <a:xfrm>
            <a:off x="7635240" y="3383280"/>
            <a:ext cx="402336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7680960" y="3383280"/>
            <a:ext cx="393192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flattened, and staying flat</a:t>
            </a:r>
          </a:p>
        </p:txBody>
      </p:sp>
      <p:sp>
        <p:nvSpPr>
          <p:cNvPr id="46" name="Rectangle 45"/>
          <p:cNvSpPr/>
          <p:nvPr/>
        </p:nvSpPr>
        <p:spPr>
          <a:xfrm>
            <a:off x="411480" y="3712464"/>
            <a:ext cx="29260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457200" y="3712464"/>
            <a:ext cx="283464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Bug severity trend</a:t>
            </a:r>
          </a:p>
        </p:txBody>
      </p:sp>
      <p:sp>
        <p:nvSpPr>
          <p:cNvPr id="48" name="Rectangle 47"/>
          <p:cNvSpPr/>
          <p:nvPr/>
        </p:nvSpPr>
        <p:spPr>
          <a:xfrm>
            <a:off x="3337560" y="3712464"/>
            <a:ext cx="42976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3383280" y="3712464"/>
            <a:ext cx="4206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are the new ones getting less serious?</a:t>
            </a:r>
          </a:p>
        </p:txBody>
      </p:sp>
      <p:sp>
        <p:nvSpPr>
          <p:cNvPr id="50" name="Rectangle 49"/>
          <p:cNvSpPr/>
          <p:nvPr/>
        </p:nvSpPr>
        <p:spPr>
          <a:xfrm>
            <a:off x="7635240" y="3712464"/>
            <a:ext cx="402336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7680960" y="3712464"/>
            <a:ext cx="393192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no high-severity bugs for N weeks</a:t>
            </a:r>
          </a:p>
        </p:txBody>
      </p:sp>
      <p:sp>
        <p:nvSpPr>
          <p:cNvPr id="52" name="Rounded Rectangle 51"/>
          <p:cNvSpPr/>
          <p:nvPr/>
        </p:nvSpPr>
        <p:spPr>
          <a:xfrm>
            <a:off x="411480" y="4133088"/>
            <a:ext cx="11247120" cy="82296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576072" y="4197096"/>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The bug-rate curve is the one experienced teams watch</a:t>
            </a:r>
          </a:p>
        </p:txBody>
      </p:sp>
      <p:sp>
        <p:nvSpPr>
          <p:cNvPr id="54" name="TextBox 53"/>
          <p:cNvSpPr txBox="1"/>
          <p:nvPr/>
        </p:nvSpPr>
        <p:spPr>
          <a:xfrm>
            <a:off x="576072" y="4471416"/>
            <a:ext cx="10917936" cy="42062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If you are still finding serious bugs at the same rate as last month, you are not near the end however good the coverage number looks. If the rate has flattened AND coverage is closed AND the regression is green, you have as much evidence as this method can give you.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5B · CHECKPOINT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Six Questions on the Advanced Material</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46</a:t>
            </a:r>
          </a:p>
        </p:txBody>
      </p:sp>
      <p:sp>
        <p:nvSpPr>
          <p:cNvPr id="9" name="TextBox 8"/>
          <p:cNvSpPr txBox="1"/>
          <p:nvPr/>
        </p:nvSpPr>
        <p:spPr>
          <a:xfrm>
            <a:off x="411480" y="1143000"/>
            <a:ext cx="11247120" cy="41148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Discussion questions — there is no code to type. </a:t>
            </a:r>
            <a:r>
              <a:rPr sz="1100" b="0" i="0">
                <a:solidFill>
                  <a:srgbClr val="33414F"/>
                </a:solidFill>
                <a:latin typeface="Calibri"/>
              </a:rPr>
              <a:t>Answers in workbook section T5-B.</a:t>
            </a:r>
          </a:p>
        </p:txBody>
      </p:sp>
      <p:sp>
        <p:nvSpPr>
          <p:cNvPr id="10" name="Rounded Rectangle 9"/>
          <p:cNvSpPr/>
          <p:nvPr/>
        </p:nvSpPr>
        <p:spPr>
          <a:xfrm>
            <a:off x="411480" y="1554480"/>
            <a:ext cx="5532120" cy="228600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48640" y="1618488"/>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Questions 1–3</a:t>
            </a:r>
          </a:p>
        </p:txBody>
      </p:sp>
      <p:sp>
        <p:nvSpPr>
          <p:cNvPr id="12" name="TextBox 11"/>
          <p:cNvSpPr txBox="1"/>
          <p:nvPr/>
        </p:nvSpPr>
        <p:spPr>
          <a:xfrm>
            <a:off x="548640" y="1892808"/>
            <a:ext cx="5257800" cy="188366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1. Your testbench uses golden vectors from a trusted C model and every vector passes. Name two classes of bug this cannot find.</a:t>
            </a:r>
          </a:p>
          <a:p>
            <a:pPr algn="l">
              <a:lnSpc>
                <a:spcPct val="103000"/>
              </a:lnSpc>
              <a:spcAft>
                <a:spcPts val="400"/>
              </a:spcAft>
            </a:pPr>
            <a:r>
              <a:rPr sz="1050" b="0" i="0">
                <a:solidFill>
                  <a:srgbClr val="33414F"/>
                </a:solidFill>
                <a:latin typeface="Calibri"/>
              </a:rPr>
              <a:t>2. Why does a scoreboard that reads the DUT's internal pointers make the testbench worse, even though it makes debugging easier?</a:t>
            </a:r>
          </a:p>
          <a:p>
            <a:pPr algn="l">
              <a:lnSpc>
                <a:spcPct val="103000"/>
              </a:lnSpc>
              <a:spcAft>
                <a:spcPts val="400"/>
              </a:spcAft>
            </a:pPr>
            <a:r>
              <a:rPr sz="1050" b="0" i="0">
                <a:solidFill>
                  <a:srgbClr val="33414F"/>
                </a:solidFill>
                <a:latin typeface="Calibri"/>
              </a:rPr>
              <a:t>3. A cross of a 4-bin and a 3-bin coverpoint has 12 cells, and two of them are impossible by construction. What do you do about them?</a:t>
            </a:r>
          </a:p>
        </p:txBody>
      </p:sp>
      <p:sp>
        <p:nvSpPr>
          <p:cNvPr id="13" name="Rounded Rectangle 12"/>
          <p:cNvSpPr/>
          <p:nvPr/>
        </p:nvSpPr>
        <p:spPr>
          <a:xfrm>
            <a:off x="6126480" y="1554480"/>
            <a:ext cx="5532120" cy="228600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263640" y="161848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Questions 4–6</a:t>
            </a:r>
          </a:p>
        </p:txBody>
      </p:sp>
      <p:sp>
        <p:nvSpPr>
          <p:cNvPr id="15" name="TextBox 14"/>
          <p:cNvSpPr txBox="1"/>
          <p:nvPr/>
        </p:nvSpPr>
        <p:spPr>
          <a:xfrm>
            <a:off x="6263640" y="1892808"/>
            <a:ext cx="5257800" cy="188366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4. randomize() returns 0 and the test still passes. Explain how, and what you should have written.</a:t>
            </a:r>
          </a:p>
          <a:p>
            <a:pPr algn="l">
              <a:lnSpc>
                <a:spcPct val="103000"/>
              </a:lnSpc>
              <a:spcAft>
                <a:spcPts val="400"/>
              </a:spcAft>
            </a:pPr>
            <a:r>
              <a:rPr sz="1050" b="0" i="0">
                <a:solidFill>
                  <a:srgbClr val="33414F"/>
                </a:solidFill>
                <a:latin typeface="Calibri"/>
              </a:rPr>
              <a:t>5. A design with no synchroniser at all simulates perfectly. Why, and what actually catches it?</a:t>
            </a:r>
          </a:p>
          <a:p>
            <a:pPr algn="l">
              <a:lnSpc>
                <a:spcPct val="103000"/>
              </a:lnSpc>
              <a:spcAft>
                <a:spcPts val="400"/>
              </a:spcAft>
            </a:pPr>
            <a:r>
              <a:rPr sz="1050" b="0" i="0">
                <a:solidFill>
                  <a:srgbClr val="33414F"/>
                </a:solidFill>
                <a:latin typeface="Calibri"/>
              </a:rPr>
              <a:t>6. Coverage is 100% and the regression is green, but the team is still finding two serious bugs a week. Are you finished? What does that tell you?</a:t>
            </a:r>
          </a:p>
        </p:txBody>
      </p:sp>
      <p:sp>
        <p:nvSpPr>
          <p:cNvPr id="16" name="Rounded Rectangle 15"/>
          <p:cNvSpPr/>
          <p:nvPr/>
        </p:nvSpPr>
        <p:spPr>
          <a:xfrm>
            <a:off x="411480" y="3931920"/>
            <a:ext cx="11247120" cy="776224"/>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76072" y="3995928"/>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Question 6 is the one to spend time on</a:t>
            </a:r>
          </a:p>
        </p:txBody>
      </p:sp>
      <p:sp>
        <p:nvSpPr>
          <p:cNvPr id="18" name="TextBox 17"/>
          <p:cNvSpPr txBox="1"/>
          <p:nvPr/>
        </p:nvSpPr>
        <p:spPr>
          <a:xfrm>
            <a:off x="576072" y="4270248"/>
            <a:ext cx="10917936" cy="373888"/>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It is the difference between measuring what you tested and knowing whether the measurement was the right one. A closed coverage model that misses a whole category of behaviour reports 100% and means nothing — which is why the verification plan is reviewed by somebody other than its author.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9144000" y="-1828800"/>
            <a:ext cx="6400800" cy="64008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1600200"/>
            <a:ext cx="7315200" cy="365760"/>
          </a:xfrm>
          <a:prstGeom prst="rect">
            <a:avLst/>
          </a:prstGeom>
          <a:noFill/>
        </p:spPr>
        <p:txBody>
          <a:bodyPr wrap="square" lIns="0" rIns="0" tIns="0" bIns="0" anchor="ctr">
            <a:spAutoFit/>
          </a:bodyPr>
          <a:lstStyle/>
          <a:p>
            <a:pPr algn="l">
              <a:lnSpc>
                <a:spcPct val="103000"/>
              </a:lnSpc>
            </a:pPr>
            <a:r>
              <a:rPr sz="1400" b="1" i="0" spc="300">
                <a:solidFill>
                  <a:srgbClr val="6B45A8"/>
                </a:solidFill>
                <a:latin typeface="Calibri"/>
              </a:rPr>
              <a:t>SUBTOPIC 5C</a:t>
            </a:r>
          </a:p>
        </p:txBody>
      </p:sp>
      <p:sp>
        <p:nvSpPr>
          <p:cNvPr id="4" name="TextBox 3"/>
          <p:cNvSpPr txBox="1"/>
          <p:nvPr/>
        </p:nvSpPr>
        <p:spPr>
          <a:xfrm>
            <a:off x="566928" y="2011680"/>
            <a:ext cx="9601200" cy="914400"/>
          </a:xfrm>
          <a:prstGeom prst="rect">
            <a:avLst/>
          </a:prstGeom>
          <a:noFill/>
        </p:spPr>
        <p:txBody>
          <a:bodyPr wrap="square" lIns="0" rIns="0" tIns="0" bIns="0" anchor="ctr">
            <a:spAutoFit/>
          </a:bodyPr>
          <a:lstStyle/>
          <a:p>
            <a:pPr algn="l">
              <a:lnSpc>
                <a:spcPct val="103000"/>
              </a:lnSpc>
            </a:pPr>
            <a:r>
              <a:rPr sz="3000" b="1" i="0">
                <a:solidFill>
                  <a:srgbClr val="FFFFFF"/>
                </a:solidFill>
                <a:latin typeface="Cambria"/>
              </a:rPr>
              <a:t>Simulation and Debugging of RTL Designs</a:t>
            </a:r>
          </a:p>
        </p:txBody>
      </p:sp>
      <p:sp>
        <p:nvSpPr>
          <p:cNvPr id="5" name="TextBox 4"/>
          <p:cNvSpPr txBox="1"/>
          <p:nvPr/>
        </p:nvSpPr>
        <p:spPr>
          <a:xfrm>
            <a:off x="640080" y="2971800"/>
            <a:ext cx="8686800" cy="640080"/>
          </a:xfrm>
          <a:prstGeom prst="rect">
            <a:avLst/>
          </a:prstGeom>
          <a:noFill/>
        </p:spPr>
        <p:txBody>
          <a:bodyPr wrap="square" lIns="0" rIns="0" tIns="0" bIns="0" anchor="ctr">
            <a:spAutoFit/>
          </a:bodyPr>
          <a:lstStyle/>
          <a:p>
            <a:pPr algn="l">
              <a:lnSpc>
                <a:spcPct val="103000"/>
              </a:lnSpc>
            </a:pPr>
            <a:r>
              <a:rPr sz="1350" b="0" i="0">
                <a:solidFill>
                  <a:srgbClr val="C9D6E3"/>
                </a:solidFill>
                <a:latin typeface="Calibri"/>
              </a:rPr>
              <a:t>How the simulator actually works, and what to do when the answer is wrong.</a:t>
            </a:r>
          </a:p>
        </p:txBody>
      </p:sp>
      <p:sp>
        <p:nvSpPr>
          <p:cNvPr id="6" name="Rectangle 5"/>
          <p:cNvSpPr/>
          <p:nvPr/>
        </p:nvSpPr>
        <p:spPr>
          <a:xfrm>
            <a:off x="640080" y="3941064"/>
            <a:ext cx="91440" cy="182880"/>
          </a:xfrm>
          <a:prstGeom prst="rect">
            <a:avLst/>
          </a:prstGeom>
          <a:solidFill>
            <a:srgbClr val="6B45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14400" y="38404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The event-driven engine, and what happens inside one time step</a:t>
            </a:r>
          </a:p>
        </p:txBody>
      </p:sp>
      <p:sp>
        <p:nvSpPr>
          <p:cNvPr id="8" name="Rectangle 7"/>
          <p:cNvSpPr/>
          <p:nvPr/>
        </p:nvSpPr>
        <p:spPr>
          <a:xfrm>
            <a:off x="640080" y="4352544"/>
            <a:ext cx="91440" cy="182880"/>
          </a:xfrm>
          <a:prstGeom prst="rect">
            <a:avLst/>
          </a:prstGeom>
          <a:solidFill>
            <a:srgbClr val="6B45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425196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Analyse, elaborate, run — the same three steps in every tool</a:t>
            </a:r>
          </a:p>
        </p:txBody>
      </p:sp>
      <p:sp>
        <p:nvSpPr>
          <p:cNvPr id="10" name="Rectangle 9"/>
          <p:cNvSpPr/>
          <p:nvPr/>
        </p:nvSpPr>
        <p:spPr>
          <a:xfrm>
            <a:off x="640080" y="4764024"/>
            <a:ext cx="91440" cy="182880"/>
          </a:xfrm>
          <a:prstGeom prst="rect">
            <a:avLst/>
          </a:prstGeom>
          <a:solidFill>
            <a:srgbClr val="6B45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66344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Waveforms: dumping, reading, and saving a view</a:t>
            </a:r>
          </a:p>
        </p:txBody>
      </p:sp>
      <p:sp>
        <p:nvSpPr>
          <p:cNvPr id="12" name="Rectangle 11"/>
          <p:cNvSpPr/>
          <p:nvPr/>
        </p:nvSpPr>
        <p:spPr>
          <a:xfrm>
            <a:off x="640080" y="5175504"/>
            <a:ext cx="91440" cy="182880"/>
          </a:xfrm>
          <a:prstGeom prst="rect">
            <a:avLst/>
          </a:prstGeom>
          <a:solidFill>
            <a:srgbClr val="6B45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507492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A debugging procedure: bisect in time, bisect in space, chase the x</a:t>
            </a:r>
          </a:p>
        </p:txBody>
      </p:sp>
      <p:sp>
        <p:nvSpPr>
          <p:cNvPr id="14" name="Rectangle 13"/>
          <p:cNvSpPr/>
          <p:nvPr/>
        </p:nvSpPr>
        <p:spPr>
          <a:xfrm>
            <a:off x="640080" y="5586984"/>
            <a:ext cx="91440" cy="182880"/>
          </a:xfrm>
          <a:prstGeom prst="rect">
            <a:avLst/>
          </a:prstGeom>
          <a:solidFill>
            <a:srgbClr val="6B45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14400" y="548640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Symptom-to-cause, and how to make simulation fast enough to live with</a:t>
            </a:r>
          </a:p>
        </p:txBody>
      </p:sp>
      <p:sp>
        <p:nvSpPr>
          <p:cNvPr id="16" name="TextBox 15"/>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Chip Design Associate · Module 2 · Verilog RTL Coding for Synthesis · Topic 5: RTL Simulation and Verification</a:t>
            </a:r>
          </a:p>
        </p:txBody>
      </p:sp>
      <p:sp>
        <p:nvSpPr>
          <p:cNvPr id="17" name="TextBox 16"/>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M2-T5 · 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5C · THE ENGINE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A Simulator Runs Events, Not Instructions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48</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digital simulator does not step through your code. </a:t>
            </a:r>
            <a:r>
              <a:rPr sz="1100" b="0" i="0">
                <a:solidFill>
                  <a:srgbClr val="33414F"/>
                </a:solidFill>
                <a:latin typeface="Calibri"/>
              </a:rPr>
              <a:t>It keeps a queue of scheduled EVENTS ordered by time, and at each time it wakes only the blocks sensitive to what changed. Understanding that explains almost every surprising thing a simulation does.</a:t>
            </a:r>
          </a:p>
        </p:txBody>
      </p:sp>
      <p:pic>
        <p:nvPicPr>
          <p:cNvPr id="10" name="Picture 9" descr="sim_engine.png"/>
          <p:cNvPicPr>
            <a:picLocks noChangeAspect="1"/>
          </p:cNvPicPr>
          <p:nvPr/>
        </p:nvPicPr>
        <p:blipFill>
          <a:blip r:embed="rId2"/>
          <a:stretch>
            <a:fillRect/>
          </a:stretch>
        </p:blipFill>
        <p:spPr>
          <a:xfrm>
            <a:off x="2273312" y="1783080"/>
            <a:ext cx="7523455" cy="3383280"/>
          </a:xfrm>
          <a:prstGeom prst="rect">
            <a:avLst/>
          </a:prstGeom>
        </p:spPr>
      </p:pic>
      <p:sp>
        <p:nvSpPr>
          <p:cNvPr id="11" name="Rounded Rectangle 10"/>
          <p:cNvSpPr/>
          <p:nvPr/>
        </p:nvSpPr>
        <p:spPr>
          <a:xfrm>
            <a:off x="411480" y="5257800"/>
            <a:ext cx="5532120" cy="118872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48640" y="5321808"/>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Why simulation time is not wall-clock time</a:t>
            </a:r>
          </a:p>
        </p:txBody>
      </p:sp>
      <p:sp>
        <p:nvSpPr>
          <p:cNvPr id="13" name="TextBox 12"/>
          <p:cNvSpPr txBox="1"/>
          <p:nvPr/>
        </p:nvSpPr>
        <p:spPr>
          <a:xfrm>
            <a:off x="548640" y="5596128"/>
            <a:ext cx="5257800" cy="7863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A million simulated clock cycles may take a second or an hour, depending entirely on how much of the design is switching. Time in the simulator advances only when there is nothing left to do at the current time.</a:t>
            </a:r>
          </a:p>
        </p:txBody>
      </p:sp>
      <p:sp>
        <p:nvSpPr>
          <p:cNvPr id="14" name="Rounded Rectangle 13"/>
          <p:cNvSpPr/>
          <p:nvPr/>
        </p:nvSpPr>
        <p:spPr>
          <a:xfrm>
            <a:off x="6126480" y="5257800"/>
            <a:ext cx="5532120" cy="118872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63640" y="5321808"/>
            <a:ext cx="5257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Why a loop with no delay hangs</a:t>
            </a:r>
          </a:p>
        </p:txBody>
      </p:sp>
      <p:sp>
        <p:nvSpPr>
          <p:cNvPr id="16" name="TextBox 15"/>
          <p:cNvSpPr txBox="1"/>
          <p:nvPr/>
        </p:nvSpPr>
        <p:spPr>
          <a:xfrm>
            <a:off x="6263640" y="5596128"/>
            <a:ext cx="5257800" cy="786384"/>
          </a:xfrm>
          <a:prstGeom prst="rect">
            <a:avLst/>
          </a:prstGeom>
          <a:noFill/>
        </p:spPr>
        <p:txBody>
          <a:bodyPr wrap="square" lIns="0" rIns="0" tIns="0" bIns="0" anchor="t">
            <a:spAutoFit/>
          </a:bodyPr>
          <a:lstStyle/>
          <a:p>
            <a:pPr algn="l">
              <a:lnSpc>
                <a:spcPct val="103000"/>
              </a:lnSpc>
              <a:spcAft>
                <a:spcPts val="400"/>
              </a:spcAft>
            </a:pPr>
            <a:r>
              <a:rPr sz="1050" b="1" i="0">
                <a:solidFill>
                  <a:srgbClr val="C01F43"/>
                </a:solidFill>
                <a:latin typeface="Consolas"/>
              </a:rPr>
              <a:t>while (!done) ;</a:t>
            </a:r>
            <a:r>
              <a:rPr sz="1050" b="0" i="0">
                <a:solidFill>
                  <a:srgbClr val="33414F"/>
                </a:solidFill>
                <a:latin typeface="Calibri"/>
              </a:rPr>
              <a:t>  in a testbench never lets simulation time advance, so </a:t>
            </a:r>
            <a:r>
              <a:rPr sz="1050" b="0" i="0">
                <a:solidFill>
                  <a:srgbClr val="33414F"/>
                </a:solidFill>
                <a:latin typeface="Consolas"/>
              </a:rPr>
              <a:t>done</a:t>
            </a:r>
            <a:r>
              <a:rPr sz="1050" b="0" i="0">
                <a:solidFill>
                  <a:srgbClr val="33414F"/>
                </a:solidFill>
                <a:latin typeface="Calibri"/>
              </a:rPr>
              <a:t> can never change. The simulator is not stuck — it is doing exactly what you wrote. Every wait loop needs an @ or a #.</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5C · ONE TIME STEP</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Stratified Event Queue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49</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Several events can be scheduled at the SAME simulation time. </a:t>
            </a:r>
            <a:r>
              <a:rPr sz="1100" b="0" i="0">
                <a:solidFill>
                  <a:srgbClr val="33414F"/>
                </a:solidFill>
                <a:latin typeface="Calibri"/>
              </a:rPr>
              <a:t>The standard defines regions that are processed in order, and that ordering is what makes non-blocking assignment model a flip-flop correctly.</a:t>
            </a:r>
          </a:p>
        </p:txBody>
      </p:sp>
      <p:pic>
        <p:nvPicPr>
          <p:cNvPr id="10" name="Picture 9" descr="event_regions.png"/>
          <p:cNvPicPr>
            <a:picLocks noChangeAspect="1"/>
          </p:cNvPicPr>
          <p:nvPr/>
        </p:nvPicPr>
        <p:blipFill>
          <a:blip r:embed="rId2"/>
          <a:stretch>
            <a:fillRect/>
          </a:stretch>
        </p:blipFill>
        <p:spPr>
          <a:xfrm>
            <a:off x="2964089" y="1737360"/>
            <a:ext cx="6141903" cy="3383280"/>
          </a:xfrm>
          <a:prstGeom prst="rect">
            <a:avLst/>
          </a:prstGeom>
        </p:spPr>
      </p:pic>
      <p:sp>
        <p:nvSpPr>
          <p:cNvPr id="11" name="Rounded Rectangle 10"/>
          <p:cNvSpPr/>
          <p:nvPr/>
        </p:nvSpPr>
        <p:spPr>
          <a:xfrm>
            <a:off x="411480" y="5212080"/>
            <a:ext cx="11247120" cy="96012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276088"/>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The practical consequence you will meet first</a:t>
            </a:r>
          </a:p>
        </p:txBody>
      </p:sp>
      <p:sp>
        <p:nvSpPr>
          <p:cNvPr id="13" name="TextBox 12"/>
          <p:cNvSpPr txBox="1"/>
          <p:nvPr/>
        </p:nvSpPr>
        <p:spPr>
          <a:xfrm>
            <a:off x="576072" y="5550408"/>
            <a:ext cx="10917936" cy="557784"/>
          </a:xfrm>
          <a:prstGeom prst="rect">
            <a:avLst/>
          </a:prstGeom>
          <a:noFill/>
        </p:spPr>
        <p:txBody>
          <a:bodyPr wrap="square" lIns="0" rIns="0" tIns="0" bIns="0" anchor="t">
            <a:spAutoFit/>
          </a:bodyPr>
          <a:lstStyle/>
          <a:p>
            <a:pPr algn="l">
              <a:lnSpc>
                <a:spcPct val="103000"/>
              </a:lnSpc>
              <a:spcAft>
                <a:spcPts val="400"/>
              </a:spcAft>
            </a:pPr>
            <a:r>
              <a:rPr sz="1100" b="1" i="0">
                <a:solidFill>
                  <a:srgbClr val="0E2A47"/>
                </a:solidFill>
                <a:latin typeface="Consolas"/>
              </a:rPr>
              <a:t>$display</a:t>
            </a:r>
            <a:r>
              <a:rPr sz="1100" b="0" i="0">
                <a:solidFill>
                  <a:srgbClr val="33414F"/>
                </a:solidFill>
                <a:latin typeface="Calibri"/>
              </a:rPr>
              <a:t> runs in the ACTIVE region, so at a clock edge it prints the value from BEFORE the edge. </a:t>
            </a:r>
            <a:r>
              <a:rPr sz="1100" b="1" i="0">
                <a:solidFill>
                  <a:srgbClr val="2A9D5C"/>
                </a:solidFill>
                <a:latin typeface="Consolas"/>
              </a:rPr>
              <a:t>$strobe</a:t>
            </a:r>
            <a:r>
              <a:rPr sz="1100" b="0" i="0">
                <a:solidFill>
                  <a:srgbClr val="33414F"/>
                </a:solidFill>
                <a:latin typeface="Calibri"/>
              </a:rPr>
              <a:t> runs in the MONITOR region, after every non-blocking update has landed, so it prints the settled value. If a printout disagrees with the waveform by exactly one cycle, this is why.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5C · THE FLOW</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Analyse, Elaborate, Run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50</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Every simulator you will ever use does the same three things. </a:t>
            </a:r>
            <a:r>
              <a:rPr sz="1100" b="0" i="0">
                <a:solidFill>
                  <a:srgbClr val="33414F"/>
                </a:solidFill>
                <a:latin typeface="Calibri"/>
              </a:rPr>
              <a:t>Only the command names change — which is why moving between Icarus, xsim and ModelSim is a morning's work rather than a new skill.</a:t>
            </a:r>
          </a:p>
        </p:txBody>
      </p:sp>
      <p:pic>
        <p:nvPicPr>
          <p:cNvPr id="10" name="Picture 9" descr="compile_elab_run.png"/>
          <p:cNvPicPr>
            <a:picLocks noChangeAspect="1"/>
          </p:cNvPicPr>
          <p:nvPr/>
        </p:nvPicPr>
        <p:blipFill>
          <a:blip r:embed="rId2"/>
          <a:stretch>
            <a:fillRect/>
          </a:stretch>
        </p:blipFill>
        <p:spPr>
          <a:xfrm>
            <a:off x="2379450" y="1737360"/>
            <a:ext cx="7311181" cy="3657600"/>
          </a:xfrm>
          <a:prstGeom prst="rect">
            <a:avLst/>
          </a:prstGeom>
        </p:spPr>
      </p:pic>
      <p:sp>
        <p:nvSpPr>
          <p:cNvPr id="11" name="Rounded Rectangle 10"/>
          <p:cNvSpPr/>
          <p:nvPr/>
        </p:nvSpPr>
        <p:spPr>
          <a:xfrm>
            <a:off x="411480" y="5486400"/>
            <a:ext cx="11247120" cy="86868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55040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Where each kind of error appears</a:t>
            </a:r>
          </a:p>
        </p:txBody>
      </p:sp>
      <p:sp>
        <p:nvSpPr>
          <p:cNvPr id="13" name="TextBox 12"/>
          <p:cNvSpPr txBox="1"/>
          <p:nvPr/>
        </p:nvSpPr>
        <p:spPr>
          <a:xfrm>
            <a:off x="576072" y="5824728"/>
            <a:ext cx="10917936" cy="466344"/>
          </a:xfrm>
          <a:prstGeom prst="rect">
            <a:avLst/>
          </a:prstGeom>
          <a:noFill/>
        </p:spPr>
        <p:txBody>
          <a:bodyPr wrap="square" lIns="0" rIns="0" tIns="0" bIns="0" anchor="t">
            <a:spAutoFit/>
          </a:bodyPr>
          <a:lstStyle/>
          <a:p>
            <a:pPr algn="l">
              <a:lnSpc>
                <a:spcPct val="103000"/>
              </a:lnSpc>
              <a:spcAft>
                <a:spcPts val="400"/>
              </a:spcAft>
            </a:pPr>
            <a:r>
              <a:rPr sz="1100" b="1" i="0">
                <a:solidFill>
                  <a:srgbClr val="1B9AAA"/>
                </a:solidFill>
                <a:latin typeface="Calibri"/>
              </a:rPr>
              <a:t>ANALYSE </a:t>
            </a:r>
            <a:r>
              <a:rPr sz="1100" b="0" i="0">
                <a:solidFill>
                  <a:srgbClr val="33414F"/>
                </a:solidFill>
                <a:latin typeface="Calibri"/>
              </a:rPr>
              <a:t>reports syntax errors and undeclared names — file and line.   </a:t>
            </a:r>
            <a:r>
              <a:rPr sz="1100" b="1" i="0">
                <a:solidFill>
                  <a:srgbClr val="6B45A8"/>
                </a:solidFill>
                <a:latin typeface="Calibri"/>
              </a:rPr>
              <a:t>ELABORATE </a:t>
            </a:r>
            <a:r>
              <a:rPr sz="1100" b="0" i="0">
                <a:solidFill>
                  <a:srgbClr val="33414F"/>
                </a:solidFill>
                <a:latin typeface="Calibri"/>
              </a:rPr>
              <a:t>reports missing modules, port mismatches and parameter problems.   </a:t>
            </a:r>
            <a:r>
              <a:rPr sz="1100" b="1" i="0">
                <a:solidFill>
                  <a:srgbClr val="2A9D5C"/>
                </a:solidFill>
                <a:latin typeface="Calibri"/>
              </a:rPr>
              <a:t>RUN </a:t>
            </a:r>
            <a:r>
              <a:rPr sz="1100" b="0" i="0">
                <a:solidFill>
                  <a:srgbClr val="33414F"/>
                </a:solidFill>
                <a:latin typeface="Calibri"/>
              </a:rPr>
              <a:t>is where your logic is finally wrong. Knowing which step failed tells you which kind of mistake you made.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5C · WAVEFORMS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How a Waveform Gets Onto Your Screen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51</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The simulator does not draw waveforms. </a:t>
            </a:r>
            <a:r>
              <a:rPr sz="1100" b="0" i="0">
                <a:solidFill>
                  <a:srgbClr val="33414F"/>
                </a:solidFill>
                <a:latin typeface="Calibri"/>
              </a:rPr>
              <a:t>Your testbench asks it to write a change-log file, and a separate program draws that. Knowing this explains why dumping is optional, why it is slow, and why the file can be enormous.</a:t>
            </a:r>
          </a:p>
        </p:txBody>
      </p:sp>
      <p:pic>
        <p:nvPicPr>
          <p:cNvPr id="10" name="Picture 9" descr="vcd_flow.png"/>
          <p:cNvPicPr>
            <a:picLocks noChangeAspect="1"/>
          </p:cNvPicPr>
          <p:nvPr/>
        </p:nvPicPr>
        <p:blipFill>
          <a:blip r:embed="rId2"/>
          <a:stretch>
            <a:fillRect/>
          </a:stretch>
        </p:blipFill>
        <p:spPr>
          <a:xfrm>
            <a:off x="1840856" y="1783080"/>
            <a:ext cx="8388368" cy="3200400"/>
          </a:xfrm>
          <a:prstGeom prst="rect">
            <a:avLst/>
          </a:prstGeom>
        </p:spPr>
      </p:pic>
      <p:sp>
        <p:nvSpPr>
          <p:cNvPr id="11" name="Rectangle 10"/>
          <p:cNvSpPr/>
          <p:nvPr/>
        </p:nvSpPr>
        <p:spPr>
          <a:xfrm>
            <a:off x="411480" y="5074920"/>
            <a:ext cx="201168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57200" y="5074920"/>
            <a:ext cx="192024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Format</a:t>
            </a:r>
          </a:p>
        </p:txBody>
      </p:sp>
      <p:sp>
        <p:nvSpPr>
          <p:cNvPr id="13" name="Rectangle 12"/>
          <p:cNvSpPr/>
          <p:nvPr/>
        </p:nvSpPr>
        <p:spPr>
          <a:xfrm>
            <a:off x="2423160" y="5074920"/>
            <a:ext cx="402336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468880" y="5074920"/>
            <a:ext cx="393192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Written by</a:t>
            </a:r>
          </a:p>
        </p:txBody>
      </p:sp>
      <p:sp>
        <p:nvSpPr>
          <p:cNvPr id="15" name="Rectangle 14"/>
          <p:cNvSpPr/>
          <p:nvPr/>
        </p:nvSpPr>
        <p:spPr>
          <a:xfrm>
            <a:off x="6446520" y="5074920"/>
            <a:ext cx="521208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92240" y="5074920"/>
            <a:ext cx="512064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Note</a:t>
            </a:r>
          </a:p>
        </p:txBody>
      </p:sp>
      <p:sp>
        <p:nvSpPr>
          <p:cNvPr id="17" name="Rectangle 16"/>
          <p:cNvSpPr/>
          <p:nvPr/>
        </p:nvSpPr>
        <p:spPr>
          <a:xfrm>
            <a:off x="411480" y="5358384"/>
            <a:ext cx="20116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57200" y="5358384"/>
            <a:ext cx="192024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VCD</a:t>
            </a:r>
          </a:p>
        </p:txBody>
      </p:sp>
      <p:sp>
        <p:nvSpPr>
          <p:cNvPr id="19" name="Rectangle 18"/>
          <p:cNvSpPr/>
          <p:nvPr/>
        </p:nvSpPr>
        <p:spPr>
          <a:xfrm>
            <a:off x="2423160" y="5358384"/>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468880" y="5358384"/>
            <a:ext cx="3931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any simulator; $dumpvars</a:t>
            </a:r>
          </a:p>
        </p:txBody>
      </p:sp>
      <p:sp>
        <p:nvSpPr>
          <p:cNvPr id="21" name="Rectangle 20"/>
          <p:cNvSpPr/>
          <p:nvPr/>
        </p:nvSpPr>
        <p:spPr>
          <a:xfrm>
            <a:off x="6446520" y="5358384"/>
            <a:ext cx="52120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92240" y="5358384"/>
            <a:ext cx="51206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plain text, universal, large</a:t>
            </a:r>
          </a:p>
        </p:txBody>
      </p:sp>
      <p:sp>
        <p:nvSpPr>
          <p:cNvPr id="23" name="Rectangle 22"/>
          <p:cNvSpPr/>
          <p:nvPr/>
        </p:nvSpPr>
        <p:spPr>
          <a:xfrm>
            <a:off x="411480" y="5641848"/>
            <a:ext cx="20116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57200" y="5641848"/>
            <a:ext cx="192024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FST</a:t>
            </a:r>
          </a:p>
        </p:txBody>
      </p:sp>
      <p:sp>
        <p:nvSpPr>
          <p:cNvPr id="25" name="Rectangle 24"/>
          <p:cNvSpPr/>
          <p:nvPr/>
        </p:nvSpPr>
        <p:spPr>
          <a:xfrm>
            <a:off x="2423160" y="5641848"/>
            <a:ext cx="4023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2468880" y="5641848"/>
            <a:ext cx="3931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Icarus (-fst), GTKWave</a:t>
            </a:r>
          </a:p>
        </p:txBody>
      </p:sp>
      <p:sp>
        <p:nvSpPr>
          <p:cNvPr id="27" name="Rectangle 26"/>
          <p:cNvSpPr/>
          <p:nvPr/>
        </p:nvSpPr>
        <p:spPr>
          <a:xfrm>
            <a:off x="6446520" y="5641848"/>
            <a:ext cx="52120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92240" y="5641848"/>
            <a:ext cx="51206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compressed VCD; much smaller and faster</a:t>
            </a:r>
          </a:p>
        </p:txBody>
      </p:sp>
      <p:sp>
        <p:nvSpPr>
          <p:cNvPr id="29" name="Rectangle 28"/>
          <p:cNvSpPr/>
          <p:nvPr/>
        </p:nvSpPr>
        <p:spPr>
          <a:xfrm>
            <a:off x="411480" y="5925312"/>
            <a:ext cx="20116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57200" y="5925312"/>
            <a:ext cx="192024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WLF</a:t>
            </a:r>
          </a:p>
        </p:txBody>
      </p:sp>
      <p:sp>
        <p:nvSpPr>
          <p:cNvPr id="31" name="Rectangle 30"/>
          <p:cNvSpPr/>
          <p:nvPr/>
        </p:nvSpPr>
        <p:spPr>
          <a:xfrm>
            <a:off x="2423160" y="5925312"/>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2468880" y="5925312"/>
            <a:ext cx="3931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ModelSim / Questa</a:t>
            </a:r>
          </a:p>
        </p:txBody>
      </p:sp>
      <p:sp>
        <p:nvSpPr>
          <p:cNvPr id="33" name="Rectangle 32"/>
          <p:cNvSpPr/>
          <p:nvPr/>
        </p:nvSpPr>
        <p:spPr>
          <a:xfrm>
            <a:off x="6446520" y="5925312"/>
            <a:ext cx="52120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92240" y="5925312"/>
            <a:ext cx="51206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native, fast, read by their own viewer</a:t>
            </a:r>
          </a:p>
        </p:txBody>
      </p:sp>
      <p:sp>
        <p:nvSpPr>
          <p:cNvPr id="35" name="Rectangle 34"/>
          <p:cNvSpPr/>
          <p:nvPr/>
        </p:nvSpPr>
        <p:spPr>
          <a:xfrm>
            <a:off x="411480" y="6208776"/>
            <a:ext cx="20116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57200" y="6208776"/>
            <a:ext cx="192024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FSDB</a:t>
            </a:r>
          </a:p>
        </p:txBody>
      </p:sp>
      <p:sp>
        <p:nvSpPr>
          <p:cNvPr id="37" name="Rectangle 36"/>
          <p:cNvSpPr/>
          <p:nvPr/>
        </p:nvSpPr>
        <p:spPr>
          <a:xfrm>
            <a:off x="2423160" y="6208776"/>
            <a:ext cx="4023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2468880" y="6208776"/>
            <a:ext cx="3931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commercial (Verdi)</a:t>
            </a:r>
          </a:p>
        </p:txBody>
      </p:sp>
      <p:sp>
        <p:nvSpPr>
          <p:cNvPr id="39" name="Rectangle 38"/>
          <p:cNvSpPr/>
          <p:nvPr/>
        </p:nvSpPr>
        <p:spPr>
          <a:xfrm>
            <a:off x="6446520" y="6208776"/>
            <a:ext cx="52120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492240" y="6208776"/>
            <a:ext cx="51206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industry standard on large projects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5C · WAVEFORMS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Reading a Waveform Viewer Properly</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52</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Most students open a viewer, drag in every signal, and stare. </a:t>
            </a:r>
            <a:r>
              <a:rPr sz="1100" b="0" i="0">
                <a:solidFill>
                  <a:srgbClr val="33414F"/>
                </a:solidFill>
                <a:latin typeface="Calibri"/>
              </a:rPr>
              <a:t>Four habits turn it from a wall of lines into an instrument.</a:t>
            </a:r>
          </a:p>
        </p:txBody>
      </p:sp>
      <p:pic>
        <p:nvPicPr>
          <p:cNvPr id="10" name="Picture 9" descr="gtkwave_tour.png"/>
          <p:cNvPicPr>
            <a:picLocks noChangeAspect="1"/>
          </p:cNvPicPr>
          <p:nvPr/>
        </p:nvPicPr>
        <p:blipFill>
          <a:blip r:embed="rId2"/>
          <a:stretch>
            <a:fillRect/>
          </a:stretch>
        </p:blipFill>
        <p:spPr>
          <a:xfrm>
            <a:off x="1323945" y="1691640"/>
            <a:ext cx="9422190" cy="3474720"/>
          </a:xfrm>
          <a:prstGeom prst="rect">
            <a:avLst/>
          </a:prstGeom>
        </p:spPr>
      </p:pic>
      <p:sp>
        <p:nvSpPr>
          <p:cNvPr id="11" name="Rounded Rectangle 10"/>
          <p:cNvSpPr/>
          <p:nvPr/>
        </p:nvSpPr>
        <p:spPr>
          <a:xfrm>
            <a:off x="411480" y="5257800"/>
            <a:ext cx="2674620" cy="118872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48640" y="5321808"/>
            <a:ext cx="24003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Group and order</a:t>
            </a:r>
          </a:p>
        </p:txBody>
      </p:sp>
      <p:sp>
        <p:nvSpPr>
          <p:cNvPr id="13" name="TextBox 12"/>
          <p:cNvSpPr txBox="1"/>
          <p:nvPr/>
        </p:nvSpPr>
        <p:spPr>
          <a:xfrm>
            <a:off x="548640" y="5596128"/>
            <a:ext cx="2400300" cy="786384"/>
          </a:xfrm>
          <a:prstGeom prst="rect">
            <a:avLst/>
          </a:prstGeom>
          <a:noFill/>
        </p:spPr>
        <p:txBody>
          <a:bodyPr wrap="square" lIns="0" rIns="0" tIns="0" bIns="0" anchor="t">
            <a:spAutoFit/>
          </a:bodyPr>
          <a:lstStyle/>
          <a:p>
            <a:pPr algn="l">
              <a:lnSpc>
                <a:spcPct val="103000"/>
              </a:lnSpc>
              <a:spcAft>
                <a:spcPts val="400"/>
              </a:spcAft>
            </a:pPr>
            <a:r>
              <a:rPr sz="950" b="0" i="0">
                <a:solidFill>
                  <a:srgbClr val="33414F"/>
                </a:solidFill>
                <a:latin typeface="Calibri"/>
              </a:rPr>
              <a:t>Stimulus at the top, DUT outputs next, internals last. A jumbled list hides the answer in plain sight.</a:t>
            </a:r>
          </a:p>
        </p:txBody>
      </p:sp>
      <p:sp>
        <p:nvSpPr>
          <p:cNvPr id="14" name="Rounded Rectangle 13"/>
          <p:cNvSpPr/>
          <p:nvPr/>
        </p:nvSpPr>
        <p:spPr>
          <a:xfrm>
            <a:off x="3268980" y="5257800"/>
            <a:ext cx="2674620" cy="1188720"/>
          </a:xfrm>
          <a:prstGeom prst="roundRect">
            <a:avLst>
              <a:gd name="adj" fmla="val 5714"/>
            </a:avLst>
          </a:prstGeom>
          <a:solidFill>
            <a:srgbClr val="F4F8FB"/>
          </a:solidFill>
          <a:ln w="13970">
            <a:solidFill>
              <a:srgbClr val="6B45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406140" y="5321808"/>
            <a:ext cx="2400300" cy="274320"/>
          </a:xfrm>
          <a:prstGeom prst="rect">
            <a:avLst/>
          </a:prstGeom>
          <a:noFill/>
        </p:spPr>
        <p:txBody>
          <a:bodyPr wrap="square" lIns="0" rIns="0" tIns="0" bIns="0" anchor="ctr">
            <a:spAutoFit/>
          </a:bodyPr>
          <a:lstStyle/>
          <a:p>
            <a:pPr algn="l">
              <a:lnSpc>
                <a:spcPct val="103000"/>
              </a:lnSpc>
            </a:pPr>
            <a:r>
              <a:rPr sz="1150" b="1" i="0">
                <a:solidFill>
                  <a:srgbClr val="6B45A8"/>
                </a:solidFill>
                <a:latin typeface="Cambria"/>
              </a:rPr>
              <a:t>Set the radix</a:t>
            </a:r>
          </a:p>
        </p:txBody>
      </p:sp>
      <p:sp>
        <p:nvSpPr>
          <p:cNvPr id="16" name="TextBox 15"/>
          <p:cNvSpPr txBox="1"/>
          <p:nvPr/>
        </p:nvSpPr>
        <p:spPr>
          <a:xfrm>
            <a:off x="3406140" y="5596128"/>
            <a:ext cx="2400300" cy="786384"/>
          </a:xfrm>
          <a:prstGeom prst="rect">
            <a:avLst/>
          </a:prstGeom>
          <a:noFill/>
        </p:spPr>
        <p:txBody>
          <a:bodyPr wrap="square" lIns="0" rIns="0" tIns="0" bIns="0" anchor="t">
            <a:spAutoFit/>
          </a:bodyPr>
          <a:lstStyle/>
          <a:p>
            <a:pPr algn="l">
              <a:lnSpc>
                <a:spcPct val="103000"/>
              </a:lnSpc>
              <a:spcAft>
                <a:spcPts val="400"/>
              </a:spcAft>
            </a:pPr>
            <a:r>
              <a:rPr sz="950" b="0" i="0">
                <a:solidFill>
                  <a:srgbClr val="33414F"/>
                </a:solidFill>
                <a:latin typeface="Calibri"/>
              </a:rPr>
              <a:t>A counter in binary is unreadable; in hex the pattern is obvious. Right-click the signal to change it.</a:t>
            </a:r>
          </a:p>
        </p:txBody>
      </p:sp>
      <p:sp>
        <p:nvSpPr>
          <p:cNvPr id="17" name="Rounded Rectangle 16"/>
          <p:cNvSpPr/>
          <p:nvPr/>
        </p:nvSpPr>
        <p:spPr>
          <a:xfrm>
            <a:off x="6126480" y="5257800"/>
            <a:ext cx="2674620" cy="118872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263640" y="5321808"/>
            <a:ext cx="24003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Use the marker</a:t>
            </a:r>
          </a:p>
        </p:txBody>
      </p:sp>
      <p:sp>
        <p:nvSpPr>
          <p:cNvPr id="19" name="TextBox 18"/>
          <p:cNvSpPr txBox="1"/>
          <p:nvPr/>
        </p:nvSpPr>
        <p:spPr>
          <a:xfrm>
            <a:off x="6263640" y="5596128"/>
            <a:ext cx="2400300" cy="786384"/>
          </a:xfrm>
          <a:prstGeom prst="rect">
            <a:avLst/>
          </a:prstGeom>
          <a:noFill/>
        </p:spPr>
        <p:txBody>
          <a:bodyPr wrap="square" lIns="0" rIns="0" tIns="0" bIns="0" anchor="t">
            <a:spAutoFit/>
          </a:bodyPr>
          <a:lstStyle/>
          <a:p>
            <a:pPr algn="l">
              <a:lnSpc>
                <a:spcPct val="103000"/>
              </a:lnSpc>
              <a:spcAft>
                <a:spcPts val="400"/>
              </a:spcAft>
            </a:pPr>
            <a:r>
              <a:rPr sz="950" b="0" i="0">
                <a:solidFill>
                  <a:srgbClr val="33414F"/>
                </a:solidFill>
                <a:latin typeface="Calibri"/>
              </a:rPr>
              <a:t>Put it on the FIRST wrong cycle named in the transcript, then walk backwards, signal by signal.</a:t>
            </a:r>
          </a:p>
        </p:txBody>
      </p:sp>
      <p:sp>
        <p:nvSpPr>
          <p:cNvPr id="20" name="Rounded Rectangle 19"/>
          <p:cNvSpPr/>
          <p:nvPr/>
        </p:nvSpPr>
        <p:spPr>
          <a:xfrm>
            <a:off x="8983980" y="5257800"/>
            <a:ext cx="2674620" cy="118872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121140" y="5321808"/>
            <a:ext cx="24003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Save the view</a:t>
            </a:r>
          </a:p>
        </p:txBody>
      </p:sp>
      <p:sp>
        <p:nvSpPr>
          <p:cNvPr id="22" name="TextBox 21"/>
          <p:cNvSpPr txBox="1"/>
          <p:nvPr/>
        </p:nvSpPr>
        <p:spPr>
          <a:xfrm>
            <a:off x="9121140" y="5596128"/>
            <a:ext cx="2400300" cy="78638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File → Write Save File writes a .gtkw. Commit it, open with </a:t>
            </a:r>
            <a:r>
              <a:rPr sz="860" b="1" i="0">
                <a:solidFill>
                  <a:srgbClr val="2A9D5C"/>
                </a:solidFill>
                <a:latin typeface="Consolas"/>
              </a:rPr>
              <a:t>gtkwave v3.vcd wave/v3_fifo.gtkw</a:t>
            </a:r>
            <a:r>
              <a:rPr sz="950" b="0" i="0">
                <a:solidFill>
                  <a:srgbClr val="33414F"/>
                </a:solidFill>
                <a:latin typeface="Calibri"/>
              </a:rPr>
              <a:t> and everyone sees the SAME picture.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5C · DEBUGGING</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A Procedure, Not a Talent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53</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Fast debuggers are not more clever — they are more systematic. </a:t>
            </a:r>
            <a:r>
              <a:rPr sz="1100" b="0" i="0">
                <a:solidFill>
                  <a:srgbClr val="33414F"/>
                </a:solidFill>
                <a:latin typeface="Calibri"/>
              </a:rPr>
              <a:t>Two searches, and a ladder of checks run in cost order.</a:t>
            </a:r>
          </a:p>
        </p:txBody>
      </p:sp>
      <p:pic>
        <p:nvPicPr>
          <p:cNvPr id="10" name="Picture 9" descr="debug_method.png"/>
          <p:cNvPicPr>
            <a:picLocks noChangeAspect="1"/>
          </p:cNvPicPr>
          <p:nvPr/>
        </p:nvPicPr>
        <p:blipFill>
          <a:blip r:embed="rId2"/>
          <a:stretch>
            <a:fillRect/>
          </a:stretch>
        </p:blipFill>
        <p:spPr>
          <a:xfrm>
            <a:off x="2411499" y="1691640"/>
            <a:ext cx="7247082" cy="3749040"/>
          </a:xfrm>
          <a:prstGeom prst="rect">
            <a:avLst/>
          </a:prstGeom>
        </p:spPr>
      </p:pic>
      <p:sp>
        <p:nvSpPr>
          <p:cNvPr id="11" name="Rounded Rectangle 10"/>
          <p:cNvSpPr/>
          <p:nvPr/>
        </p:nvSpPr>
        <p:spPr>
          <a:xfrm>
            <a:off x="411480" y="5532120"/>
            <a:ext cx="11247120" cy="82296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596128"/>
            <a:ext cx="10917936"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The single most important habit</a:t>
            </a:r>
          </a:p>
        </p:txBody>
      </p:sp>
      <p:sp>
        <p:nvSpPr>
          <p:cNvPr id="13" name="TextBox 12"/>
          <p:cNvSpPr txBox="1"/>
          <p:nvPr/>
        </p:nvSpPr>
        <p:spPr>
          <a:xfrm>
            <a:off x="576072" y="5870448"/>
            <a:ext cx="10917936" cy="420624"/>
          </a:xfrm>
          <a:prstGeom prst="rect">
            <a:avLst/>
          </a:prstGeom>
          <a:noFill/>
        </p:spPr>
        <p:txBody>
          <a:bodyPr wrap="square" lIns="0" rIns="0" tIns="0" bIns="0" anchor="t">
            <a:spAutoFit/>
          </a:bodyPr>
          <a:lstStyle/>
          <a:p>
            <a:pPr algn="l">
              <a:lnSpc>
                <a:spcPct val="103000"/>
              </a:lnSpc>
              <a:spcAft>
                <a:spcPts val="400"/>
              </a:spcAft>
            </a:pPr>
            <a:r>
              <a:rPr sz="1100" b="1" i="0">
                <a:solidFill>
                  <a:srgbClr val="C01F43"/>
                </a:solidFill>
                <a:latin typeface="Calibri"/>
              </a:rPr>
              <a:t>Find the FIRST moment things went wrong, never the moment you noticed. </a:t>
            </a:r>
            <a:r>
              <a:rPr sz="1100" b="0" i="0">
                <a:solidFill>
                  <a:srgbClr val="33414F"/>
                </a:solidFill>
                <a:latin typeface="Calibri"/>
              </a:rPr>
              <a:t>A wrong output is usually many cycles downstream of the cause, and every cycle you spend looking at the output is a cycle not spent looking at the cause.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5C · DEBUGGING</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Chasing an x</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54</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An x is the simulator saying "I cannot determine this". </a:t>
            </a:r>
            <a:r>
              <a:rPr sz="1100" b="0" i="0">
                <a:solidFill>
                  <a:srgbClr val="33414F"/>
                </a:solidFill>
                <a:latin typeface="Calibri"/>
              </a:rPr>
              <a:t>It spreads through every expression it touches, so by the time you see it on an output it may have travelled through ten signals.</a:t>
            </a:r>
          </a:p>
        </p:txBody>
      </p:sp>
      <p:pic>
        <p:nvPicPr>
          <p:cNvPr id="10" name="Picture 9" descr="x_chase.png"/>
          <p:cNvPicPr>
            <a:picLocks noChangeAspect="1"/>
          </p:cNvPicPr>
          <p:nvPr/>
        </p:nvPicPr>
        <p:blipFill>
          <a:blip r:embed="rId2"/>
          <a:stretch>
            <a:fillRect/>
          </a:stretch>
        </p:blipFill>
        <p:spPr>
          <a:xfrm>
            <a:off x="2290648" y="1737360"/>
            <a:ext cx="7488785" cy="3383280"/>
          </a:xfrm>
          <a:prstGeom prst="rect">
            <a:avLst/>
          </a:prstGeom>
        </p:spPr>
      </p:pic>
      <p:sp>
        <p:nvSpPr>
          <p:cNvPr id="11" name="Rounded Rectangle 10"/>
          <p:cNvSpPr/>
          <p:nvPr/>
        </p:nvSpPr>
        <p:spPr>
          <a:xfrm>
            <a:off x="411480" y="5212080"/>
            <a:ext cx="5532120" cy="123444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48640" y="5276088"/>
            <a:ext cx="5257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The five usual causes</a:t>
            </a:r>
          </a:p>
        </p:txBody>
      </p:sp>
      <p:sp>
        <p:nvSpPr>
          <p:cNvPr id="13" name="TextBox 12"/>
          <p:cNvSpPr txBox="1"/>
          <p:nvPr/>
        </p:nvSpPr>
        <p:spPr>
          <a:xfrm>
            <a:off x="548640" y="5550408"/>
            <a:ext cx="5257800" cy="83210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1. A register that was never reset.   2. A wire nothing drives — often a typo in a port connection.   3. A wire TWO things drive.</a:t>
            </a:r>
          </a:p>
          <a:p>
            <a:pPr algn="l">
              <a:lnSpc>
                <a:spcPct val="103000"/>
              </a:lnSpc>
              <a:spcAft>
                <a:spcPts val="400"/>
              </a:spcAft>
            </a:pPr>
            <a:r>
              <a:rPr sz="1050" b="0" i="0">
                <a:solidFill>
                  <a:srgbClr val="33414F"/>
                </a:solidFill>
                <a:latin typeface="Calibri"/>
              </a:rPr>
              <a:t>4. Reading past the end of a vector or an array.   5. Arithmetic on a value that was already x.</a:t>
            </a:r>
          </a:p>
        </p:txBody>
      </p:sp>
      <p:sp>
        <p:nvSpPr>
          <p:cNvPr id="14" name="Rounded Rectangle 13"/>
          <p:cNvSpPr/>
          <p:nvPr/>
        </p:nvSpPr>
        <p:spPr>
          <a:xfrm>
            <a:off x="6126480" y="5212080"/>
            <a:ext cx="5532120" cy="123444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63640" y="527608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And one prevention</a:t>
            </a:r>
          </a:p>
        </p:txBody>
      </p:sp>
      <p:sp>
        <p:nvSpPr>
          <p:cNvPr id="16" name="TextBox 15"/>
          <p:cNvSpPr txBox="1"/>
          <p:nvPr/>
        </p:nvSpPr>
        <p:spPr>
          <a:xfrm>
            <a:off x="6263640" y="5550408"/>
            <a:ext cx="5257800" cy="832104"/>
          </a:xfrm>
          <a:prstGeom prst="rect">
            <a:avLst/>
          </a:prstGeom>
          <a:noFill/>
        </p:spPr>
        <p:txBody>
          <a:bodyPr wrap="square" lIns="0" rIns="0" tIns="0" bIns="0" anchor="t">
            <a:spAutoFit/>
          </a:bodyPr>
          <a:lstStyle/>
          <a:p>
            <a:pPr algn="l">
              <a:lnSpc>
                <a:spcPct val="103000"/>
              </a:lnSpc>
              <a:spcAft>
                <a:spcPts val="400"/>
              </a:spcAft>
            </a:pPr>
            <a:r>
              <a:rPr sz="1050" b="1" i="0">
                <a:solidFill>
                  <a:srgbClr val="2A9D5C"/>
                </a:solidFill>
                <a:latin typeface="Consolas"/>
              </a:rPr>
              <a:t>`default_nettype none</a:t>
            </a:r>
            <a:r>
              <a:rPr sz="1050" b="0" i="0">
                <a:solidFill>
                  <a:srgbClr val="33414F"/>
                </a:solidFill>
                <a:latin typeface="Calibri"/>
              </a:rPr>
              <a:t> at the top of every file turns a misspelt port connection from a silent undriven wire into a compile error naming the line. It costs one line and removes an entire category of x.</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5C · TROUBLESHOOTING</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Symptom to Cause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55</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Most failures have a signature. </a:t>
            </a:r>
            <a:r>
              <a:rPr sz="1100" b="0" i="0">
                <a:solidFill>
                  <a:srgbClr val="33414F"/>
                </a:solidFill>
                <a:latin typeface="Calibri"/>
              </a:rPr>
              <a:t>Recognising it is most of the debugging — and this table is worth printing and putting on the wall of the lab.</a:t>
            </a:r>
          </a:p>
        </p:txBody>
      </p:sp>
      <p:pic>
        <p:nvPicPr>
          <p:cNvPr id="10" name="Picture 9" descr="failure_signatures.png"/>
          <p:cNvPicPr>
            <a:picLocks noChangeAspect="1"/>
          </p:cNvPicPr>
          <p:nvPr/>
        </p:nvPicPr>
        <p:blipFill>
          <a:blip r:embed="rId2"/>
          <a:stretch>
            <a:fillRect/>
          </a:stretch>
        </p:blipFill>
        <p:spPr>
          <a:xfrm>
            <a:off x="1881225" y="1691640"/>
            <a:ext cx="8307630" cy="429768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5C · SPEED</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Making Simulation Fast Enough to Live With</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56</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regression that takes all night gets run once a week; a regression that takes five minutes gets run on every commit. </a:t>
            </a:r>
            <a:r>
              <a:rPr sz="1100" b="0" i="0">
                <a:solidFill>
                  <a:srgbClr val="33414F"/>
                </a:solidFill>
                <a:latin typeface="Calibri"/>
              </a:rPr>
              <a:t>Simulation speed is therefore a verification-quality issue, not a convenience.</a:t>
            </a:r>
          </a:p>
        </p:txBody>
      </p:sp>
      <p:sp>
        <p:nvSpPr>
          <p:cNvPr id="10" name="Rectangle 9"/>
          <p:cNvSpPr/>
          <p:nvPr/>
        </p:nvSpPr>
        <p:spPr>
          <a:xfrm>
            <a:off x="411480" y="1783080"/>
            <a:ext cx="292608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1783080"/>
            <a:ext cx="283464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What costs time</a:t>
            </a:r>
          </a:p>
        </p:txBody>
      </p:sp>
      <p:sp>
        <p:nvSpPr>
          <p:cNvPr id="12" name="Rectangle 11"/>
          <p:cNvSpPr/>
          <p:nvPr/>
        </p:nvSpPr>
        <p:spPr>
          <a:xfrm>
            <a:off x="3337560" y="1783080"/>
            <a:ext cx="384048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383280" y="1783080"/>
            <a:ext cx="374904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Why</a:t>
            </a:r>
          </a:p>
        </p:txBody>
      </p:sp>
      <p:sp>
        <p:nvSpPr>
          <p:cNvPr id="14" name="Rectangle 13"/>
          <p:cNvSpPr/>
          <p:nvPr/>
        </p:nvSpPr>
        <p:spPr>
          <a:xfrm>
            <a:off x="7178040" y="1783080"/>
            <a:ext cx="448056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223760" y="1783080"/>
            <a:ext cx="438912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What to do about it</a:t>
            </a:r>
          </a:p>
        </p:txBody>
      </p:sp>
      <p:sp>
        <p:nvSpPr>
          <p:cNvPr id="16" name="Rectangle 15"/>
          <p:cNvSpPr/>
          <p:nvPr/>
        </p:nvSpPr>
        <p:spPr>
          <a:xfrm>
            <a:off x="411480" y="2112264"/>
            <a:ext cx="29260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57200" y="2112264"/>
            <a:ext cx="283464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Waveform dumping</a:t>
            </a:r>
          </a:p>
        </p:txBody>
      </p:sp>
      <p:sp>
        <p:nvSpPr>
          <p:cNvPr id="18" name="Rectangle 17"/>
          <p:cNvSpPr/>
          <p:nvPr/>
        </p:nvSpPr>
        <p:spPr>
          <a:xfrm>
            <a:off x="3337560" y="2112264"/>
            <a:ext cx="38404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383280" y="2112264"/>
            <a:ext cx="37490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every signal change becomes a line of text</a:t>
            </a:r>
          </a:p>
        </p:txBody>
      </p:sp>
      <p:sp>
        <p:nvSpPr>
          <p:cNvPr id="20" name="Rectangle 19"/>
          <p:cNvSpPr/>
          <p:nvPr/>
        </p:nvSpPr>
        <p:spPr>
          <a:xfrm>
            <a:off x="7178040" y="2112264"/>
            <a:ext cx="448056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223760" y="2112264"/>
            <a:ext cx="438912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dump nothing in a regression; re-run the failing seed with dumping on</a:t>
            </a:r>
          </a:p>
        </p:txBody>
      </p:sp>
      <p:sp>
        <p:nvSpPr>
          <p:cNvPr id="22" name="Rectangle 21"/>
          <p:cNvSpPr/>
          <p:nvPr/>
        </p:nvSpPr>
        <p:spPr>
          <a:xfrm>
            <a:off x="411480" y="2441448"/>
            <a:ext cx="29260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57200" y="2441448"/>
            <a:ext cx="283464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Dumping the whole hierarchy</a:t>
            </a:r>
          </a:p>
        </p:txBody>
      </p:sp>
      <p:sp>
        <p:nvSpPr>
          <p:cNvPr id="24" name="Rectangle 23"/>
          <p:cNvSpPr/>
          <p:nvPr/>
        </p:nvSpPr>
        <p:spPr>
          <a:xfrm>
            <a:off x="3337560" y="2441448"/>
            <a:ext cx="38404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383280" y="2441448"/>
            <a:ext cx="37490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$dumpvars(0, tb) includes every instance</a:t>
            </a:r>
          </a:p>
        </p:txBody>
      </p:sp>
      <p:sp>
        <p:nvSpPr>
          <p:cNvPr id="26" name="Rectangle 25"/>
          <p:cNvSpPr/>
          <p:nvPr/>
        </p:nvSpPr>
        <p:spPr>
          <a:xfrm>
            <a:off x="7178040" y="2441448"/>
            <a:ext cx="448056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223760" y="2441448"/>
            <a:ext cx="438912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$dumpvars(1, tb.u_dut) once you know where to look</a:t>
            </a:r>
          </a:p>
        </p:txBody>
      </p:sp>
      <p:sp>
        <p:nvSpPr>
          <p:cNvPr id="28" name="Rectangle 27"/>
          <p:cNvSpPr/>
          <p:nvPr/>
        </p:nvSpPr>
        <p:spPr>
          <a:xfrm>
            <a:off x="411480" y="2770632"/>
            <a:ext cx="29260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57200" y="2770632"/>
            <a:ext cx="283464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A clock that never stops</a:t>
            </a:r>
          </a:p>
        </p:txBody>
      </p:sp>
      <p:sp>
        <p:nvSpPr>
          <p:cNvPr id="30" name="Rectangle 29"/>
          <p:cNvSpPr/>
          <p:nvPr/>
        </p:nvSpPr>
        <p:spPr>
          <a:xfrm>
            <a:off x="3337560" y="2770632"/>
            <a:ext cx="38404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383280" y="2770632"/>
            <a:ext cx="37490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every edge wakes every clocked block</a:t>
            </a:r>
          </a:p>
        </p:txBody>
      </p:sp>
      <p:sp>
        <p:nvSpPr>
          <p:cNvPr id="32" name="Rectangle 31"/>
          <p:cNvSpPr/>
          <p:nvPr/>
        </p:nvSpPr>
        <p:spPr>
          <a:xfrm>
            <a:off x="7178040" y="2770632"/>
            <a:ext cx="448056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223760" y="2770632"/>
            <a:ext cx="438912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stop the clock when the test is idle, if the design allows it</a:t>
            </a:r>
          </a:p>
        </p:txBody>
      </p:sp>
      <p:sp>
        <p:nvSpPr>
          <p:cNvPr id="34" name="Rectangle 33"/>
          <p:cNvSpPr/>
          <p:nvPr/>
        </p:nvSpPr>
        <p:spPr>
          <a:xfrm>
            <a:off x="411480" y="3099816"/>
            <a:ext cx="29260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57200" y="3099816"/>
            <a:ext cx="283464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Very fine timescale</a:t>
            </a:r>
          </a:p>
        </p:txBody>
      </p:sp>
      <p:sp>
        <p:nvSpPr>
          <p:cNvPr id="36" name="Rectangle 35"/>
          <p:cNvSpPr/>
          <p:nvPr/>
        </p:nvSpPr>
        <p:spPr>
          <a:xfrm>
            <a:off x="3337560" y="3099816"/>
            <a:ext cx="38404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383280" y="3099816"/>
            <a:ext cx="37490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1ps precision means more scheduling work</a:t>
            </a:r>
          </a:p>
        </p:txBody>
      </p:sp>
      <p:sp>
        <p:nvSpPr>
          <p:cNvPr id="38" name="Rectangle 37"/>
          <p:cNvSpPr/>
          <p:nvPr/>
        </p:nvSpPr>
        <p:spPr>
          <a:xfrm>
            <a:off x="7178040" y="3099816"/>
            <a:ext cx="448056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223760" y="3099816"/>
            <a:ext cx="438912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1ns/1ps is plenty for RTL; you are not doing SPICE</a:t>
            </a:r>
          </a:p>
        </p:txBody>
      </p:sp>
      <p:sp>
        <p:nvSpPr>
          <p:cNvPr id="40" name="Rectangle 39"/>
          <p:cNvSpPr/>
          <p:nvPr/>
        </p:nvSpPr>
        <p:spPr>
          <a:xfrm>
            <a:off x="411480" y="3429000"/>
            <a:ext cx="29260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57200" y="3429000"/>
            <a:ext cx="283464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$display in a hot loop</a:t>
            </a:r>
          </a:p>
        </p:txBody>
      </p:sp>
      <p:sp>
        <p:nvSpPr>
          <p:cNvPr id="42" name="Rectangle 41"/>
          <p:cNvSpPr/>
          <p:nvPr/>
        </p:nvSpPr>
        <p:spPr>
          <a:xfrm>
            <a:off x="3337560" y="3429000"/>
            <a:ext cx="38404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3383280" y="3429000"/>
            <a:ext cx="37490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formatting and I/O are slow</a:t>
            </a:r>
          </a:p>
        </p:txBody>
      </p:sp>
      <p:sp>
        <p:nvSpPr>
          <p:cNvPr id="44" name="Rectangle 43"/>
          <p:cNvSpPr/>
          <p:nvPr/>
        </p:nvSpPr>
        <p:spPr>
          <a:xfrm>
            <a:off x="7178040" y="3429000"/>
            <a:ext cx="448056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7223760" y="3429000"/>
            <a:ext cx="438912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print on events, not on cycles</a:t>
            </a:r>
          </a:p>
        </p:txBody>
      </p:sp>
      <p:sp>
        <p:nvSpPr>
          <p:cNvPr id="46" name="Rectangle 45"/>
          <p:cNvSpPr/>
          <p:nvPr/>
        </p:nvSpPr>
        <p:spPr>
          <a:xfrm>
            <a:off x="411480" y="3758184"/>
            <a:ext cx="29260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457200" y="3758184"/>
            <a:ext cx="283464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Long random runs at one seed</a:t>
            </a:r>
          </a:p>
        </p:txBody>
      </p:sp>
      <p:sp>
        <p:nvSpPr>
          <p:cNvPr id="48" name="Rectangle 47"/>
          <p:cNvSpPr/>
          <p:nvPr/>
        </p:nvSpPr>
        <p:spPr>
          <a:xfrm>
            <a:off x="3337560" y="3758184"/>
            <a:ext cx="38404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3383280" y="3758184"/>
            <a:ext cx="37490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one long run is not better than many short ones</a:t>
            </a:r>
          </a:p>
        </p:txBody>
      </p:sp>
      <p:sp>
        <p:nvSpPr>
          <p:cNvPr id="50" name="Rectangle 49"/>
          <p:cNvSpPr/>
          <p:nvPr/>
        </p:nvSpPr>
        <p:spPr>
          <a:xfrm>
            <a:off x="7178040" y="3758184"/>
            <a:ext cx="448056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7223760" y="3758184"/>
            <a:ext cx="438912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many shorter runs, different seeds — and they parallelise</a:t>
            </a:r>
          </a:p>
        </p:txBody>
      </p:sp>
      <p:sp>
        <p:nvSpPr>
          <p:cNvPr id="52" name="TextBox 51"/>
          <p:cNvSpPr txBox="1"/>
          <p:nvPr/>
        </p:nvSpPr>
        <p:spPr>
          <a:xfrm>
            <a:off x="411480" y="4133088"/>
            <a:ext cx="11247120" cy="274320"/>
          </a:xfrm>
          <a:prstGeom prst="rect">
            <a:avLst/>
          </a:prstGeom>
          <a:noFill/>
        </p:spPr>
        <p:txBody>
          <a:bodyPr wrap="square" lIns="0" rIns="0" tIns="0" bIns="0" anchor="t">
            <a:spAutoFit/>
          </a:bodyPr>
          <a:lstStyle/>
          <a:p>
            <a:pPr algn="l">
              <a:lnSpc>
                <a:spcPct val="103000"/>
              </a:lnSpc>
            </a:pPr>
            <a:r>
              <a:rPr sz="1050" b="0" i="1">
                <a:solidFill>
                  <a:srgbClr val="5A6B7B"/>
                </a:solidFill>
                <a:latin typeface="Calibri"/>
              </a:rPr>
              <a:t>Verilator compiles the design to C++ and is often 10–100× faster than an interpreted simulator — which is why it is used for long random regressions even on projects whose sign-off simulator is a vendor tool.</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9144000" y="-1828800"/>
            <a:ext cx="6400800" cy="64008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1600200"/>
            <a:ext cx="7315200" cy="365760"/>
          </a:xfrm>
          <a:prstGeom prst="rect">
            <a:avLst/>
          </a:prstGeom>
          <a:noFill/>
        </p:spPr>
        <p:txBody>
          <a:bodyPr wrap="square" lIns="0" rIns="0" tIns="0" bIns="0" anchor="ctr">
            <a:spAutoFit/>
          </a:bodyPr>
          <a:lstStyle/>
          <a:p>
            <a:pPr algn="l">
              <a:lnSpc>
                <a:spcPct val="103000"/>
              </a:lnSpc>
            </a:pPr>
            <a:r>
              <a:rPr sz="1400" b="1" i="0" spc="300">
                <a:solidFill>
                  <a:srgbClr val="0E2A47"/>
                </a:solidFill>
                <a:latin typeface="Calibri"/>
              </a:rPr>
              <a:t>TOPIC 5 · TOOLS</a:t>
            </a:r>
          </a:p>
        </p:txBody>
      </p:sp>
      <p:sp>
        <p:nvSpPr>
          <p:cNvPr id="4" name="TextBox 3"/>
          <p:cNvSpPr txBox="1"/>
          <p:nvPr/>
        </p:nvSpPr>
        <p:spPr>
          <a:xfrm>
            <a:off x="566928" y="2011680"/>
            <a:ext cx="9601200" cy="914400"/>
          </a:xfrm>
          <a:prstGeom prst="rect">
            <a:avLst/>
          </a:prstGeom>
          <a:noFill/>
        </p:spPr>
        <p:txBody>
          <a:bodyPr wrap="square" lIns="0" rIns="0" tIns="0" bIns="0" anchor="ctr">
            <a:spAutoFit/>
          </a:bodyPr>
          <a:lstStyle/>
          <a:p>
            <a:pPr algn="l">
              <a:lnSpc>
                <a:spcPct val="103000"/>
              </a:lnSpc>
            </a:pPr>
            <a:r>
              <a:rPr sz="3000" b="1" i="0">
                <a:solidFill>
                  <a:srgbClr val="FFFFFF"/>
                </a:solidFill>
                <a:latin typeface="Cambria"/>
              </a:rPr>
              <a:t>Software Tools — Installation and Flow</a:t>
            </a:r>
          </a:p>
        </p:txBody>
      </p:sp>
      <p:sp>
        <p:nvSpPr>
          <p:cNvPr id="5" name="TextBox 4"/>
          <p:cNvSpPr txBox="1"/>
          <p:nvPr/>
        </p:nvSpPr>
        <p:spPr>
          <a:xfrm>
            <a:off x="640080" y="2971800"/>
            <a:ext cx="8686800" cy="640080"/>
          </a:xfrm>
          <a:prstGeom prst="rect">
            <a:avLst/>
          </a:prstGeom>
          <a:noFill/>
        </p:spPr>
        <p:txBody>
          <a:bodyPr wrap="square" lIns="0" rIns="0" tIns="0" bIns="0" anchor="ctr">
            <a:spAutoFit/>
          </a:bodyPr>
          <a:lstStyle/>
          <a:p>
            <a:pPr algn="l">
              <a:lnSpc>
                <a:spcPct val="103000"/>
              </a:lnSpc>
            </a:pPr>
            <a:r>
              <a:rPr sz="1350" b="0" i="0">
                <a:solidFill>
                  <a:srgbClr val="C9D6E3"/>
                </a:solidFill>
                <a:latin typeface="Calibri"/>
              </a:rPr>
              <a:t>The syllabus specifies Vivado Design Suite and ModelSim. The open-source chain does the same jobs and installs in a minute.</a:t>
            </a:r>
          </a:p>
        </p:txBody>
      </p:sp>
      <p:sp>
        <p:nvSpPr>
          <p:cNvPr id="6" name="Rectangle 5"/>
          <p:cNvSpPr/>
          <p:nvPr/>
        </p:nvSpPr>
        <p:spPr>
          <a:xfrm>
            <a:off x="640080" y="3941064"/>
            <a:ext cx="91440" cy="18288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14400" y="38404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What each tool does, and which one to reach for</a:t>
            </a:r>
          </a:p>
        </p:txBody>
      </p:sp>
      <p:sp>
        <p:nvSpPr>
          <p:cNvPr id="8" name="Rectangle 7"/>
          <p:cNvSpPr/>
          <p:nvPr/>
        </p:nvSpPr>
        <p:spPr>
          <a:xfrm>
            <a:off x="640080" y="4352544"/>
            <a:ext cx="91440" cy="18288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425196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Installing the open-source verification flow</a:t>
            </a:r>
          </a:p>
        </p:txBody>
      </p:sp>
      <p:sp>
        <p:nvSpPr>
          <p:cNvPr id="10" name="Rectangle 9"/>
          <p:cNvSpPr/>
          <p:nvPr/>
        </p:nvSpPr>
        <p:spPr>
          <a:xfrm>
            <a:off x="640080" y="4764024"/>
            <a:ext cx="91440" cy="18288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66344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Driving Vivado xsim and ModelSim / Questa</a:t>
            </a:r>
          </a:p>
        </p:txBody>
      </p:sp>
      <p:sp>
        <p:nvSpPr>
          <p:cNvPr id="12" name="Rectangle 11"/>
          <p:cNvSpPr/>
          <p:nvPr/>
        </p:nvSpPr>
        <p:spPr>
          <a:xfrm>
            <a:off x="640080" y="5175504"/>
            <a:ext cx="91440" cy="18288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507492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Regression scripting, and what a CI loop looks like</a:t>
            </a:r>
          </a:p>
        </p:txBody>
      </p:sp>
      <p:sp>
        <p:nvSpPr>
          <p:cNvPr id="14" name="TextBox 13"/>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Chip Design Associate · Module 2 · Verilog RTL Coding for Synthesis · Topic 5: RTL Simulation and Verification</a:t>
            </a:r>
          </a:p>
        </p:txBody>
      </p:sp>
      <p:sp>
        <p:nvSpPr>
          <p:cNvPr id="15" name="TextBox 14"/>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M2-T5 · 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 · TOOLS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Verification Jobs, and the Tool for Each</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58</a:t>
            </a:r>
          </a:p>
        </p:txBody>
      </p:sp>
      <p:sp>
        <p:nvSpPr>
          <p:cNvPr id="9" name="TextBox 8"/>
          <p:cNvSpPr txBox="1"/>
          <p:nvPr/>
        </p:nvSpPr>
        <p:spPr>
          <a:xfrm>
            <a:off x="411480" y="1143000"/>
            <a:ext cx="11247120" cy="45720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Four jobs — lint, simulate, view, measure. </a:t>
            </a:r>
            <a:r>
              <a:rPr sz="1100" b="0" i="0">
                <a:solidFill>
                  <a:srgbClr val="33414F"/>
                </a:solidFill>
                <a:latin typeface="Calibri"/>
              </a:rPr>
              <a:t>Every flow does all four; only the command names change.</a:t>
            </a:r>
          </a:p>
        </p:txBody>
      </p:sp>
      <p:pic>
        <p:nvPicPr>
          <p:cNvPr id="10" name="Picture 9" descr="tool_matrix.png"/>
          <p:cNvPicPr>
            <a:picLocks noChangeAspect="1"/>
          </p:cNvPicPr>
          <p:nvPr/>
        </p:nvPicPr>
        <p:blipFill>
          <a:blip r:embed="rId2"/>
          <a:stretch>
            <a:fillRect/>
          </a:stretch>
        </p:blipFill>
        <p:spPr>
          <a:xfrm>
            <a:off x="2250527" y="1645920"/>
            <a:ext cx="7569027" cy="3657600"/>
          </a:xfrm>
          <a:prstGeom prst="rect">
            <a:avLst/>
          </a:prstGeom>
        </p:spPr>
      </p:pic>
      <p:sp>
        <p:nvSpPr>
          <p:cNvPr id="11" name="Rounded Rectangle 10"/>
          <p:cNvSpPr/>
          <p:nvPr/>
        </p:nvSpPr>
        <p:spPr>
          <a:xfrm>
            <a:off x="411480" y="5394960"/>
            <a:ext cx="11247120" cy="100584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458968"/>
            <a:ext cx="10917936"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Honesty note for the trainer</a:t>
            </a:r>
          </a:p>
        </p:txBody>
      </p:sp>
      <p:sp>
        <p:nvSpPr>
          <p:cNvPr id="13" name="TextBox 12"/>
          <p:cNvSpPr txBox="1"/>
          <p:nvPr/>
        </p:nvSpPr>
        <p:spPr>
          <a:xfrm>
            <a:off x="576072" y="5733288"/>
            <a:ext cx="10917936" cy="60350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Every result quoted in this deck was produced by the open-source column — Icarus Verilog 12.0 and Verilator 5.020 — on the code in Topic5_Lab. The Vivado and ModelSim scripts in the lab are working templates written from standard, version-stable commands, but they were NOT executed, because neither tool is installed in the authoring environment. Check them against your release before the session.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 · INSTALL</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Open-Source Verification Flow</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59</a:t>
            </a:r>
          </a:p>
        </p:txBody>
      </p:sp>
      <p:pic>
        <p:nvPicPr>
          <p:cNvPr id="9" name="Picture 8" descr="install_map.png"/>
          <p:cNvPicPr>
            <a:picLocks noChangeAspect="1"/>
          </p:cNvPicPr>
          <p:nvPr/>
        </p:nvPicPr>
        <p:blipFill>
          <a:blip r:embed="rId2"/>
          <a:stretch>
            <a:fillRect/>
          </a:stretch>
        </p:blipFill>
        <p:spPr>
          <a:xfrm>
            <a:off x="2406392" y="1143000"/>
            <a:ext cx="7257295" cy="3383280"/>
          </a:xfrm>
          <a:prstGeom prst="rect">
            <a:avLst/>
          </a:prstGeom>
        </p:spPr>
      </p:pic>
      <p:sp>
        <p:nvSpPr>
          <p:cNvPr id="10" name="Rounded Rectangle 9"/>
          <p:cNvSpPr/>
          <p:nvPr/>
        </p:nvSpPr>
        <p:spPr>
          <a:xfrm>
            <a:off x="411480" y="4617720"/>
            <a:ext cx="11247120" cy="1752854"/>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473202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Copy-paste installation</a:t>
            </a:r>
          </a:p>
        </p:txBody>
      </p:sp>
      <p:sp>
        <p:nvSpPr>
          <p:cNvPr id="12" name="TextBox 11"/>
          <p:cNvSpPr txBox="1"/>
          <p:nvPr/>
        </p:nvSpPr>
        <p:spPr>
          <a:xfrm>
            <a:off x="594360" y="5006340"/>
            <a:ext cx="10881360" cy="1249934"/>
          </a:xfrm>
          <a:prstGeom prst="rect">
            <a:avLst/>
          </a:prstGeom>
          <a:noFill/>
        </p:spPr>
        <p:txBody>
          <a:bodyPr wrap="square" lIns="0" rIns="0" tIns="0" bIns="0" anchor="t">
            <a:spAutoFit/>
          </a:bodyPr>
          <a:lstStyle/>
          <a:p>
            <a:pPr algn="l">
              <a:lnSpc>
                <a:spcPct val="112000"/>
              </a:lnSpc>
            </a:pPr>
            <a:r>
              <a:rPr sz="950" b="0" i="0">
                <a:solidFill>
                  <a:srgbClr val="7F9CB5"/>
                </a:solidFill>
                <a:latin typeface="Consolas"/>
              </a:rPr>
              <a:t># ---- Ubuntu / Debian / WSL2 -------------------------------------------</a:t>
            </a:r>
          </a:p>
          <a:p>
            <a:pPr algn="l">
              <a:lnSpc>
                <a:spcPct val="112000"/>
              </a:lnSpc>
            </a:pPr>
            <a:r>
              <a:rPr sz="950" b="0" i="0">
                <a:solidFill>
                  <a:srgbClr val="D8E4F0"/>
                </a:solidFill>
                <a:latin typeface="Consolas"/>
              </a:rPr>
              <a:t>sudo apt update &amp;&amp; sudo apt install -y iverilog gtkwave verilator yosys graphviz</a:t>
            </a:r>
          </a:p>
          <a:p>
            <a:pPr algn="l">
              <a:lnSpc>
                <a:spcPct val="112000"/>
              </a:lnSpc>
            </a:pPr>
            <a:r>
              <a:rPr sz="950" b="0" i="0">
                <a:solidFill>
                  <a:srgbClr val="D8E4F0"/>
                </a:solidFill>
                <a:latin typeface="Consolas"/>
              </a:rPr>
              <a:t> </a:t>
            </a:r>
          </a:p>
          <a:p>
            <a:pPr algn="l">
              <a:lnSpc>
                <a:spcPct val="112000"/>
              </a:lnSpc>
            </a:pPr>
            <a:r>
              <a:rPr sz="950" b="0" i="0">
                <a:solidFill>
                  <a:srgbClr val="7F9CB5"/>
                </a:solidFill>
                <a:latin typeface="Consolas"/>
              </a:rPr>
              <a:t># ---- verify ------------------------------------------------------------</a:t>
            </a:r>
          </a:p>
          <a:p>
            <a:pPr algn="l">
              <a:lnSpc>
                <a:spcPct val="112000"/>
              </a:lnSpc>
            </a:pPr>
            <a:r>
              <a:rPr sz="950" b="0" i="0">
                <a:solidFill>
                  <a:srgbClr val="D8E4F0"/>
                </a:solidFill>
                <a:latin typeface="Consolas"/>
              </a:rPr>
              <a:t>iverilog -V | head -1     # Icarus Verilog version 12.0</a:t>
            </a:r>
          </a:p>
          <a:p>
            <a:pPr algn="l">
              <a:lnSpc>
                <a:spcPct val="112000"/>
              </a:lnSpc>
            </a:pPr>
            <a:r>
              <a:rPr sz="950" b="0" i="0">
                <a:solidFill>
                  <a:srgbClr val="D8E4F0"/>
                </a:solidFill>
                <a:latin typeface="Consolas"/>
              </a:rPr>
              <a:t>verilator --version       # Verilator 5.020</a:t>
            </a:r>
          </a:p>
          <a:p>
            <a:pPr algn="l">
              <a:lnSpc>
                <a:spcPct val="112000"/>
              </a:lnSpc>
            </a:pPr>
            <a:r>
              <a:rPr sz="950" b="0" i="0">
                <a:solidFill>
                  <a:srgbClr val="D8E4F0"/>
                </a:solidFill>
                <a:latin typeface="Consolas"/>
              </a:rPr>
              <a:t>gtkwave --version</a:t>
            </a:r>
          </a:p>
        </p:txBody>
      </p:sp>
      <p:sp>
        <p:nvSpPr>
          <p:cNvPr id="13" name="TextBox 12"/>
          <p:cNvSpPr txBox="1"/>
          <p:nvPr/>
        </p:nvSpPr>
        <p:spPr>
          <a:xfrm>
            <a:off x="411480" y="6416294"/>
            <a:ext cx="11247120" cy="274320"/>
          </a:xfrm>
          <a:prstGeom prst="rect">
            <a:avLst/>
          </a:prstGeom>
          <a:noFill/>
        </p:spPr>
        <p:txBody>
          <a:bodyPr wrap="square" lIns="0" rIns="0" tIns="0" bIns="0" anchor="t">
            <a:spAutoFit/>
          </a:bodyPr>
          <a:lstStyle/>
          <a:p>
            <a:pPr algn="l">
              <a:lnSpc>
                <a:spcPct val="103000"/>
              </a:lnSpc>
            </a:pPr>
            <a:r>
              <a:rPr sz="1050" b="1" i="0">
                <a:solidFill>
                  <a:srgbClr val="0E2A47"/>
                </a:solidFill>
                <a:latin typeface="Calibri"/>
              </a:rPr>
              <a:t>macOS: </a:t>
            </a:r>
            <a:r>
              <a:rPr sz="1050" b="0" i="0">
                <a:solidFill>
                  <a:srgbClr val="33414F"/>
                </a:solidFill>
                <a:latin typeface="Consolas"/>
              </a:rPr>
              <a:t>brew install icarus-verilog verilator gtkwave</a:t>
            </a:r>
            <a:r>
              <a:rPr sz="1050" b="0" i="0">
                <a:solidFill>
                  <a:srgbClr val="33414F"/>
                </a:solidFill>
                <a:latin typeface="Calibri"/>
              </a:rPr>
              <a:t>     Windows: run the Ubuntu line inside WSL2 (</a:t>
            </a:r>
            <a:r>
              <a:rPr sz="1050" b="0" i="0">
                <a:solidFill>
                  <a:srgbClr val="33414F"/>
                </a:solidFill>
                <a:latin typeface="Consolas"/>
              </a:rPr>
              <a:t>wsl --install</a:t>
            </a:r>
            <a:r>
              <a:rPr sz="1050" b="0" i="0">
                <a:solidFill>
                  <a:srgbClr val="33414F"/>
                </a:solidFill>
                <a:latin typeface="Calibri"/>
              </a:rPr>
              <a:t> in an admin PowerShell), or unzip the OSS CAD Suite.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 · VENDOR TOOLS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Vivado xsim and ModelSim / Questa</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60</a:t>
            </a:r>
          </a:p>
        </p:txBody>
      </p:sp>
      <p:sp>
        <p:nvSpPr>
          <p:cNvPr id="9" name="Rounded Rectangle 8"/>
          <p:cNvSpPr/>
          <p:nvPr/>
        </p:nvSpPr>
        <p:spPr>
          <a:xfrm>
            <a:off x="411480" y="1143000"/>
            <a:ext cx="5532120" cy="301752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48640" y="1207008"/>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Vivado simulator (xsim)</a:t>
            </a:r>
          </a:p>
        </p:txBody>
      </p:sp>
      <p:sp>
        <p:nvSpPr>
          <p:cNvPr id="11" name="TextBox 10"/>
          <p:cNvSpPr txBox="1"/>
          <p:nvPr/>
        </p:nvSpPr>
        <p:spPr>
          <a:xfrm>
            <a:off x="548640" y="1481328"/>
            <a:ext cx="5257800" cy="2615184"/>
          </a:xfrm>
          <a:prstGeom prst="rect">
            <a:avLst/>
          </a:prstGeom>
          <a:noFill/>
        </p:spPr>
        <p:txBody>
          <a:bodyPr wrap="square" lIns="0" rIns="0" tIns="0" bIns="0" anchor="t">
            <a:spAutoFit/>
          </a:bodyPr>
          <a:lstStyle/>
          <a:p>
            <a:pPr algn="l">
              <a:lnSpc>
                <a:spcPct val="103000"/>
              </a:lnSpc>
              <a:spcAft>
                <a:spcPts val="400"/>
              </a:spcAft>
            </a:pPr>
            <a:r>
              <a:rPr sz="950" b="0" i="0">
                <a:solidFill>
                  <a:srgbClr val="33414F"/>
                </a:solidFill>
                <a:latin typeface="Consolas"/>
              </a:rPr>
              <a:t>xvlog -d DUT=fifo_b1 rtl/*.v tb/tb_v3_random.v</a:t>
            </a:r>
          </a:p>
          <a:p>
            <a:pPr algn="l">
              <a:lnSpc>
                <a:spcPct val="103000"/>
              </a:lnSpc>
              <a:spcAft>
                <a:spcPts val="400"/>
              </a:spcAft>
            </a:pPr>
            <a:r>
              <a:rPr sz="950" b="0" i="0">
                <a:solidFill>
                  <a:srgbClr val="33414F"/>
                </a:solidFill>
                <a:latin typeface="Consolas"/>
              </a:rPr>
              <a:t>xelab -debug typical tb_v3_random -s sim</a:t>
            </a:r>
          </a:p>
          <a:p>
            <a:pPr algn="l">
              <a:lnSpc>
                <a:spcPct val="103000"/>
              </a:lnSpc>
              <a:spcAft>
                <a:spcPts val="400"/>
              </a:spcAft>
            </a:pPr>
            <a:r>
              <a:rPr sz="950" b="0" i="0">
                <a:solidFill>
                  <a:srgbClr val="33414F"/>
                </a:solidFill>
                <a:latin typeface="Consolas"/>
              </a:rPr>
              <a:t>xsim sim -runall -testplusarg SEED=1</a:t>
            </a:r>
          </a:p>
          <a:p>
            <a:pPr algn="l">
              <a:lnSpc>
                <a:spcPct val="103000"/>
              </a:lnSpc>
              <a:spcAft>
                <a:spcPts val="400"/>
              </a:spcAft>
            </a:pPr>
            <a:r>
              <a:rPr sz="900" b="0" i="0">
                <a:solidFill>
                  <a:srgbClr val="33414F"/>
                </a:solidFill>
                <a:latin typeface="Calibri"/>
              </a:rPr>
              <a:t/>
            </a:r>
          </a:p>
          <a:p>
            <a:pPr algn="l">
              <a:lnSpc>
                <a:spcPct val="103000"/>
              </a:lnSpc>
              <a:spcAft>
                <a:spcPts val="400"/>
              </a:spcAft>
            </a:pPr>
            <a:r>
              <a:rPr sz="1050" b="0" i="0">
                <a:solidFill>
                  <a:srgbClr val="33414F"/>
                </a:solidFill>
                <a:latin typeface="Calibri"/>
              </a:rPr>
              <a:t>· </a:t>
            </a:r>
            <a:r>
              <a:rPr sz="1050" b="1" i="0">
                <a:solidFill>
                  <a:srgbClr val="0E2A47"/>
                </a:solidFill>
                <a:latin typeface="Consolas"/>
              </a:rPr>
              <a:t>-d NAME=value</a:t>
            </a:r>
            <a:r>
              <a:rPr sz="1050" b="0" i="0">
                <a:solidFill>
                  <a:srgbClr val="33414F"/>
                </a:solidFill>
                <a:latin typeface="Calibri"/>
              </a:rPr>
              <a:t> passes a `define, exactly like -D to iverilog.</a:t>
            </a:r>
          </a:p>
          <a:p>
            <a:pPr algn="l">
              <a:lnSpc>
                <a:spcPct val="103000"/>
              </a:lnSpc>
              <a:spcAft>
                <a:spcPts val="400"/>
              </a:spcAft>
            </a:pPr>
            <a:r>
              <a:rPr sz="1050" b="0" i="0">
                <a:solidFill>
                  <a:srgbClr val="33414F"/>
                </a:solidFill>
                <a:latin typeface="Calibri"/>
              </a:rPr>
              <a:t>· </a:t>
            </a:r>
            <a:r>
              <a:rPr sz="1050" b="1" i="0">
                <a:solidFill>
                  <a:srgbClr val="0E2A47"/>
                </a:solidFill>
                <a:latin typeface="Consolas"/>
              </a:rPr>
              <a:t>-testplusarg</a:t>
            </a:r>
            <a:r>
              <a:rPr sz="1050" b="0" i="0">
                <a:solidFill>
                  <a:srgbClr val="33414F"/>
                </a:solidFill>
                <a:latin typeface="Calibri"/>
              </a:rPr>
              <a:t> passes a plusarg, so the SAME seed gives the same run as under Icarus.</a:t>
            </a:r>
          </a:p>
          <a:p>
            <a:pPr algn="l">
              <a:lnSpc>
                <a:spcPct val="103000"/>
              </a:lnSpc>
              <a:spcAft>
                <a:spcPts val="400"/>
              </a:spcAft>
            </a:pPr>
            <a:r>
              <a:rPr sz="1050" b="1" i="0">
                <a:solidFill>
                  <a:srgbClr val="2A9D5C"/>
                </a:solidFill>
                <a:latin typeface="Calibri"/>
              </a:rPr>
              <a:t>· Supports the FULL SystemVerilog assertion language, including the ranged delay forms the open-source flow cannot handle.</a:t>
            </a:r>
          </a:p>
        </p:txBody>
      </p:sp>
      <p:sp>
        <p:nvSpPr>
          <p:cNvPr id="12" name="Rounded Rectangle 11"/>
          <p:cNvSpPr/>
          <p:nvPr/>
        </p:nvSpPr>
        <p:spPr>
          <a:xfrm>
            <a:off x="6126480" y="1143000"/>
            <a:ext cx="5532120" cy="301752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63640" y="120700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ModelSim / Questa</a:t>
            </a:r>
          </a:p>
        </p:txBody>
      </p:sp>
      <p:sp>
        <p:nvSpPr>
          <p:cNvPr id="14" name="TextBox 13"/>
          <p:cNvSpPr txBox="1"/>
          <p:nvPr/>
        </p:nvSpPr>
        <p:spPr>
          <a:xfrm>
            <a:off x="6263640" y="1481328"/>
            <a:ext cx="5257800" cy="2615184"/>
          </a:xfrm>
          <a:prstGeom prst="rect">
            <a:avLst/>
          </a:prstGeom>
          <a:noFill/>
        </p:spPr>
        <p:txBody>
          <a:bodyPr wrap="square" lIns="0" rIns="0" tIns="0" bIns="0" anchor="t">
            <a:spAutoFit/>
          </a:bodyPr>
          <a:lstStyle/>
          <a:p>
            <a:pPr algn="l">
              <a:lnSpc>
                <a:spcPct val="103000"/>
              </a:lnSpc>
              <a:spcAft>
                <a:spcPts val="400"/>
              </a:spcAft>
            </a:pPr>
            <a:r>
              <a:rPr sz="950" b="0" i="0">
                <a:solidFill>
                  <a:srgbClr val="33414F"/>
                </a:solidFill>
                <a:latin typeface="Consolas"/>
              </a:rPr>
              <a:t>vlib work</a:t>
            </a:r>
          </a:p>
          <a:p>
            <a:pPr algn="l">
              <a:lnSpc>
                <a:spcPct val="103000"/>
              </a:lnSpc>
              <a:spcAft>
                <a:spcPts val="400"/>
              </a:spcAft>
            </a:pPr>
            <a:r>
              <a:rPr sz="950" b="0" i="0">
                <a:solidFill>
                  <a:srgbClr val="33414F"/>
                </a:solidFill>
                <a:latin typeface="Consolas"/>
              </a:rPr>
              <a:t>vlog -sv +define+DUT=fifo_b1 rtl/*.v sva/*.sv tb/*.sv</a:t>
            </a:r>
          </a:p>
          <a:p>
            <a:pPr algn="l">
              <a:lnSpc>
                <a:spcPct val="103000"/>
              </a:lnSpc>
              <a:spcAft>
                <a:spcPts val="400"/>
              </a:spcAft>
            </a:pPr>
            <a:r>
              <a:rPr sz="950" b="0" i="0">
                <a:solidFill>
                  <a:srgbClr val="33414F"/>
                </a:solidFill>
                <a:latin typeface="Consolas"/>
              </a:rPr>
              <a:t>vsim -voptargs=+acc -assertdebug +SEED=7 work.tb_v6_assert</a:t>
            </a:r>
          </a:p>
          <a:p>
            <a:pPr algn="l">
              <a:lnSpc>
                <a:spcPct val="103000"/>
              </a:lnSpc>
              <a:spcAft>
                <a:spcPts val="400"/>
              </a:spcAft>
            </a:pPr>
            <a:r>
              <a:rPr sz="950" b="0" i="0">
                <a:solidFill>
                  <a:srgbClr val="33414F"/>
                </a:solidFill>
                <a:latin typeface="Consolas"/>
              </a:rPr>
              <a:t>assertion fail -action break -r /*</a:t>
            </a:r>
          </a:p>
          <a:p>
            <a:pPr algn="l">
              <a:lnSpc>
                <a:spcPct val="103000"/>
              </a:lnSpc>
              <a:spcAft>
                <a:spcPts val="400"/>
              </a:spcAft>
            </a:pPr>
            <a:r>
              <a:rPr sz="950" b="0" i="0">
                <a:solidFill>
                  <a:srgbClr val="33414F"/>
                </a:solidFill>
                <a:latin typeface="Consolas"/>
              </a:rPr>
              <a:t>run -all</a:t>
            </a:r>
          </a:p>
          <a:p>
            <a:pPr algn="l">
              <a:lnSpc>
                <a:spcPct val="103000"/>
              </a:lnSpc>
              <a:spcAft>
                <a:spcPts val="400"/>
              </a:spcAft>
            </a:pPr>
            <a:r>
              <a:rPr sz="1050" b="0" i="0">
                <a:solidFill>
                  <a:srgbClr val="33414F"/>
                </a:solidFill>
                <a:latin typeface="Calibri"/>
              </a:rPr>
              <a:t>· </a:t>
            </a:r>
            <a:r>
              <a:rPr sz="1050" b="1" i="0">
                <a:solidFill>
                  <a:srgbClr val="0E2A47"/>
                </a:solidFill>
                <a:latin typeface="Consolas"/>
              </a:rPr>
              <a:t>+acc</a:t>
            </a:r>
            <a:r>
              <a:rPr sz="1050" b="0" i="0">
                <a:solidFill>
                  <a:srgbClr val="33414F"/>
                </a:solidFill>
                <a:latin typeface="Calibri"/>
              </a:rPr>
              <a:t> keeps signal visibility — without it the optimiser removes the very signals you want to see.</a:t>
            </a:r>
          </a:p>
          <a:p>
            <a:pPr algn="l">
              <a:lnSpc>
                <a:spcPct val="103000"/>
              </a:lnSpc>
              <a:spcAft>
                <a:spcPts val="400"/>
              </a:spcAft>
            </a:pPr>
            <a:r>
              <a:rPr sz="1050" b="0" i="0">
                <a:solidFill>
                  <a:srgbClr val="33414F"/>
                </a:solidFill>
                <a:latin typeface="Calibri"/>
              </a:rPr>
              <a:t>· </a:t>
            </a:r>
            <a:r>
              <a:rPr sz="1050" b="1" i="0">
                <a:solidFill>
                  <a:srgbClr val="0E2A47"/>
                </a:solidFill>
                <a:latin typeface="Consolas"/>
              </a:rPr>
              <a:t>-assertdebug</a:t>
            </a:r>
            <a:r>
              <a:rPr sz="1050" b="0" i="0">
                <a:solidFill>
                  <a:srgbClr val="33414F"/>
                </a:solidFill>
                <a:latin typeface="Calibri"/>
              </a:rPr>
              <a:t> reports every assertion pass and failure, and can break on the first failure.</a:t>
            </a:r>
          </a:p>
        </p:txBody>
      </p:sp>
      <p:sp>
        <p:nvSpPr>
          <p:cNvPr id="15" name="Rounded Rectangle 14"/>
          <p:cNvSpPr/>
          <p:nvPr/>
        </p:nvSpPr>
        <p:spPr>
          <a:xfrm>
            <a:off x="411480" y="4251960"/>
            <a:ext cx="11247120" cy="96012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76072" y="431596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Both flows are scripted in the lab</a:t>
            </a:r>
          </a:p>
        </p:txBody>
      </p:sp>
      <p:sp>
        <p:nvSpPr>
          <p:cNvPr id="17" name="TextBox 16"/>
          <p:cNvSpPr txBox="1"/>
          <p:nvPr/>
        </p:nvSpPr>
        <p:spPr>
          <a:xfrm>
            <a:off x="576072" y="4590288"/>
            <a:ext cx="10917936" cy="557784"/>
          </a:xfrm>
          <a:prstGeom prst="rect">
            <a:avLst/>
          </a:prstGeom>
          <a:noFill/>
        </p:spPr>
        <p:txBody>
          <a:bodyPr wrap="square" lIns="0" rIns="0" tIns="0" bIns="0" anchor="t">
            <a:spAutoFit/>
          </a:bodyPr>
          <a:lstStyle/>
          <a:p>
            <a:pPr algn="l">
              <a:lnSpc>
                <a:spcPct val="103000"/>
              </a:lnSpc>
              <a:spcAft>
                <a:spcPts val="400"/>
              </a:spcAft>
            </a:pPr>
            <a:r>
              <a:rPr sz="1100" b="1" i="0">
                <a:solidFill>
                  <a:srgbClr val="0E2A47"/>
                </a:solidFill>
                <a:latin typeface="Consolas"/>
              </a:rPr>
              <a:t>scripts/vivado_sim.tcl</a:t>
            </a:r>
            <a:r>
              <a:rPr sz="1100" b="0" i="0">
                <a:solidFill>
                  <a:srgbClr val="33414F"/>
                </a:solidFill>
                <a:latin typeface="Calibri"/>
              </a:rPr>
              <a:t> takes a lab and a DUT as arguments; </a:t>
            </a:r>
            <a:r>
              <a:rPr sz="1100" b="1" i="0">
                <a:solidFill>
                  <a:srgbClr val="0E2A47"/>
                </a:solidFill>
                <a:latin typeface="Consolas"/>
              </a:rPr>
              <a:t>scripts/modelsim_run.do</a:t>
            </a:r>
            <a:r>
              <a:rPr sz="1100" b="0" i="0">
                <a:solidFill>
                  <a:srgbClr val="33414F"/>
                </a:solidFill>
                <a:latin typeface="Calibri"/>
              </a:rPr>
              <a:t> takes them as -g parameters. Both cover all six labs and all six designs, so the clinic can be reproduced on the vendor tools exactly as it is on the open-source ones.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 · REGRESSION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What Turns Random Stimulus Into Evidence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61</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single random run is one sample. </a:t>
            </a:r>
            <a:r>
              <a:rPr sz="1100" b="0" i="0">
                <a:solidFill>
                  <a:srgbClr val="33414F"/>
                </a:solidFill>
                <a:latin typeface="Calibri"/>
              </a:rPr>
              <a:t>A regression — many seeds, several profiles, run automatically after every change — is what makes it evidence.</a:t>
            </a:r>
          </a:p>
        </p:txBody>
      </p:sp>
      <p:pic>
        <p:nvPicPr>
          <p:cNvPr id="10" name="Picture 9" descr="regression_loop.png"/>
          <p:cNvPicPr>
            <a:picLocks noChangeAspect="1"/>
          </p:cNvPicPr>
          <p:nvPr/>
        </p:nvPicPr>
        <p:blipFill>
          <a:blip r:embed="rId2"/>
          <a:stretch>
            <a:fillRect/>
          </a:stretch>
        </p:blipFill>
        <p:spPr>
          <a:xfrm>
            <a:off x="1792514" y="1691640"/>
            <a:ext cx="8485051" cy="3383280"/>
          </a:xfrm>
          <a:prstGeom prst="rect">
            <a:avLst/>
          </a:prstGeom>
        </p:spPr>
      </p:pic>
      <p:sp>
        <p:nvSpPr>
          <p:cNvPr id="11" name="Rounded Rectangle 10"/>
          <p:cNvSpPr/>
          <p:nvPr/>
        </p:nvSpPr>
        <p:spPr>
          <a:xfrm>
            <a:off x="411480" y="5166360"/>
            <a:ext cx="11247120" cy="112141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94360" y="5280660"/>
            <a:ext cx="10881360" cy="892810"/>
          </a:xfrm>
          <a:prstGeom prst="rect">
            <a:avLst/>
          </a:prstGeom>
          <a:noFill/>
        </p:spPr>
        <p:txBody>
          <a:bodyPr wrap="square" lIns="0" rIns="0" tIns="0" bIns="0" anchor="t">
            <a:spAutoFit/>
          </a:bodyPr>
          <a:lstStyle/>
          <a:p>
            <a:pPr algn="l">
              <a:lnSpc>
                <a:spcPct val="112000"/>
              </a:lnSpc>
            </a:pPr>
            <a:r>
              <a:rPr sz="950" b="0" i="0">
                <a:solidFill>
                  <a:srgbClr val="1B9AAA"/>
                </a:solidFill>
                <a:latin typeface="Consolas"/>
              </a:rPr>
              <a:t>$ ./scripts/regress.sh 4</a:t>
            </a:r>
          </a:p>
          <a:p>
            <a:pPr algn="l">
              <a:lnSpc>
                <a:spcPct val="112000"/>
              </a:lnSpc>
            </a:pPr>
            <a:r>
              <a:rPr sz="950" b="0" i="0">
                <a:solidFill>
                  <a:srgbClr val="D8E4F0"/>
                </a:solidFill>
                <a:latin typeface="Consolas"/>
              </a:rPr>
              <a:t>  regression on fifo : 4 seeds x 3 profiles</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  12 passed, 0 failed</a:t>
            </a:r>
          </a:p>
          <a:p>
            <a:pPr algn="l">
              <a:lnSpc>
                <a:spcPct val="112000"/>
              </a:lnSpc>
            </a:pPr>
            <a:r>
              <a:rPr sz="950" b="0" i="0">
                <a:solidFill>
                  <a:srgbClr val="D8E4F0"/>
                </a:solidFill>
                <a:latin typeface="Consolas"/>
              </a:rPr>
              <a:t>  REGRESSION CLEAN</a:t>
            </a:r>
          </a:p>
        </p:txBody>
      </p:sp>
      <p:sp>
        <p:nvSpPr>
          <p:cNvPr id="13" name="TextBox 12"/>
          <p:cNvSpPr txBox="1"/>
          <p:nvPr/>
        </p:nvSpPr>
        <p:spPr>
          <a:xfrm>
            <a:off x="411480" y="6333490"/>
            <a:ext cx="11247120" cy="274320"/>
          </a:xfrm>
          <a:prstGeom prst="rect">
            <a:avLst/>
          </a:prstGeom>
          <a:noFill/>
        </p:spPr>
        <p:txBody>
          <a:bodyPr wrap="square" lIns="0" rIns="0" tIns="0" bIns="0" anchor="t">
            <a:spAutoFit/>
          </a:bodyPr>
          <a:lstStyle/>
          <a:p>
            <a:pPr algn="l">
              <a:lnSpc>
                <a:spcPct val="103000"/>
              </a:lnSpc>
            </a:pPr>
            <a:r>
              <a:rPr sz="1050" b="0" i="1">
                <a:solidFill>
                  <a:srgbClr val="5A6B7B"/>
                </a:solidFill>
                <a:latin typeface="Calibri"/>
              </a:rPr>
              <a:t>When a run fails, the script prints the exact command that reproduces it. That one line is the difference between a bug report somebody can act on and one they cannot.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9144000" y="-1828800"/>
            <a:ext cx="6400800" cy="64008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1600200"/>
            <a:ext cx="7315200" cy="365760"/>
          </a:xfrm>
          <a:prstGeom prst="rect">
            <a:avLst/>
          </a:prstGeom>
          <a:noFill/>
        </p:spPr>
        <p:txBody>
          <a:bodyPr wrap="square" lIns="0" rIns="0" tIns="0" bIns="0" anchor="ctr">
            <a:spAutoFit/>
          </a:bodyPr>
          <a:lstStyle/>
          <a:p>
            <a:pPr algn="l">
              <a:lnSpc>
                <a:spcPct val="103000"/>
              </a:lnSpc>
            </a:pPr>
            <a:r>
              <a:rPr sz="1400" b="1" i="0" spc="300">
                <a:solidFill>
                  <a:srgbClr val="2A9D5C"/>
                </a:solidFill>
                <a:latin typeface="Calibri"/>
              </a:rPr>
              <a:t>TOPIC 5 · PRACTICAL</a:t>
            </a:r>
          </a:p>
        </p:txBody>
      </p:sp>
      <p:sp>
        <p:nvSpPr>
          <p:cNvPr id="4" name="TextBox 3"/>
          <p:cNvSpPr txBox="1"/>
          <p:nvPr/>
        </p:nvSpPr>
        <p:spPr>
          <a:xfrm>
            <a:off x="566928" y="2011680"/>
            <a:ext cx="9601200" cy="914400"/>
          </a:xfrm>
          <a:prstGeom prst="rect">
            <a:avLst/>
          </a:prstGeom>
          <a:noFill/>
        </p:spPr>
        <p:txBody>
          <a:bodyPr wrap="square" lIns="0" rIns="0" tIns="0" bIns="0" anchor="ctr">
            <a:spAutoFit/>
          </a:bodyPr>
          <a:lstStyle/>
          <a:p>
            <a:pPr algn="l">
              <a:lnSpc>
                <a:spcPct val="103000"/>
              </a:lnSpc>
            </a:pPr>
            <a:r>
              <a:rPr sz="3000" b="1" i="0">
                <a:solidFill>
                  <a:srgbClr val="FFFFFF"/>
                </a:solidFill>
                <a:latin typeface="Cambria"/>
              </a:rPr>
              <a:t>The Lab Programme</a:t>
            </a:r>
          </a:p>
        </p:txBody>
      </p:sp>
      <p:sp>
        <p:nvSpPr>
          <p:cNvPr id="5" name="TextBox 4"/>
          <p:cNvSpPr txBox="1"/>
          <p:nvPr/>
        </p:nvSpPr>
        <p:spPr>
          <a:xfrm>
            <a:off x="640080" y="2971800"/>
            <a:ext cx="8686800" cy="640080"/>
          </a:xfrm>
          <a:prstGeom prst="rect">
            <a:avLst/>
          </a:prstGeom>
          <a:noFill/>
        </p:spPr>
        <p:txBody>
          <a:bodyPr wrap="square" lIns="0" rIns="0" tIns="0" bIns="0" anchor="ctr">
            <a:spAutoFit/>
          </a:bodyPr>
          <a:lstStyle/>
          <a:p>
            <a:pPr algn="l">
              <a:lnSpc>
                <a:spcPct val="103000"/>
              </a:lnSpc>
            </a:pPr>
            <a:r>
              <a:rPr sz="1350" b="0" i="0">
                <a:solidFill>
                  <a:srgbClr val="C9D6E3"/>
                </a:solidFill>
                <a:latin typeface="Calibri"/>
              </a:rPr>
              <a:t>Six labs, thirty-four hours, inside the syllabus practical component: simulating and verifying the functionality of RTL designs.</a:t>
            </a:r>
          </a:p>
        </p:txBody>
      </p:sp>
      <p:sp>
        <p:nvSpPr>
          <p:cNvPr id="6" name="Rectangle 5"/>
          <p:cNvSpPr/>
          <p:nvPr/>
        </p:nvSpPr>
        <p:spPr>
          <a:xfrm>
            <a:off x="640080" y="394106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14400" y="38404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V1 naive · V2 model + corners · V3 random · V4 coverage · V5 clinic · V6 layered + assertions</a:t>
            </a:r>
          </a:p>
        </p:txBody>
      </p:sp>
      <p:sp>
        <p:nvSpPr>
          <p:cNvPr id="8" name="Rectangle 7"/>
          <p:cNvSpPr/>
          <p:nvPr/>
        </p:nvSpPr>
        <p:spPr>
          <a:xfrm>
            <a:off x="640080" y="435254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425196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One DUT, five planted bugs, and a measured catch rate for every stage</a:t>
            </a:r>
          </a:p>
        </p:txBody>
      </p:sp>
      <p:sp>
        <p:nvSpPr>
          <p:cNvPr id="10" name="Rectangle 9"/>
          <p:cNvSpPr/>
          <p:nvPr/>
        </p:nvSpPr>
        <p:spPr>
          <a:xfrm>
            <a:off x="640080" y="476402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66344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Scripts for the open-source chain, Vivado and ModelSim</a:t>
            </a:r>
          </a:p>
        </p:txBody>
      </p:sp>
      <p:sp>
        <p:nvSpPr>
          <p:cNvPr id="12" name="Rectangle 11"/>
          <p:cNvSpPr/>
          <p:nvPr/>
        </p:nvSpPr>
        <p:spPr>
          <a:xfrm>
            <a:off x="640080" y="517550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507492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Assessment rubric and the troubleshooting table</a:t>
            </a:r>
          </a:p>
        </p:txBody>
      </p:sp>
      <p:sp>
        <p:nvSpPr>
          <p:cNvPr id="14" name="TextBox 13"/>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Chip Design Associate · Module 2 · Verilog RTL Coding for Synthesis · Topic 5: RTL Simulation and Verification</a:t>
            </a:r>
          </a:p>
        </p:txBody>
      </p:sp>
      <p:sp>
        <p:nvSpPr>
          <p:cNvPr id="15" name="TextBox 14"/>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M2-T5 · 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 · LABS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Six Labs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63</a:t>
            </a:r>
          </a:p>
        </p:txBody>
      </p:sp>
      <p:sp>
        <p:nvSpPr>
          <p:cNvPr id="9" name="TextBox 8"/>
          <p:cNvSpPr txBox="1"/>
          <p:nvPr/>
        </p:nvSpPr>
        <p:spPr>
          <a:xfrm>
            <a:off x="411480" y="1143000"/>
            <a:ext cx="11247120" cy="41148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Every lab builds on the one before, against the same device under test. </a:t>
            </a:r>
            <a:r>
              <a:rPr sz="1100" b="0" i="0">
                <a:solidFill>
                  <a:srgbClr val="33414F"/>
                </a:solidFill>
                <a:latin typeface="Calibri"/>
              </a:rPr>
              <a:t>Nothing is thrown away; the testbench grows.</a:t>
            </a:r>
          </a:p>
        </p:txBody>
      </p:sp>
      <p:sp>
        <p:nvSpPr>
          <p:cNvPr id="10" name="Rectangle 9"/>
          <p:cNvSpPr/>
          <p:nvPr/>
        </p:nvSpPr>
        <p:spPr>
          <a:xfrm>
            <a:off x="411480" y="1554480"/>
            <a:ext cx="1920240" cy="36576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1554480"/>
            <a:ext cx="1828800" cy="36576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Lab</a:t>
            </a:r>
          </a:p>
        </p:txBody>
      </p:sp>
      <p:sp>
        <p:nvSpPr>
          <p:cNvPr id="12" name="Rectangle 11"/>
          <p:cNvSpPr/>
          <p:nvPr/>
        </p:nvSpPr>
        <p:spPr>
          <a:xfrm>
            <a:off x="2331720" y="1554480"/>
            <a:ext cx="548640" cy="36576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377440" y="1554480"/>
            <a:ext cx="457200" cy="36576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h</a:t>
            </a:r>
          </a:p>
        </p:txBody>
      </p:sp>
      <p:sp>
        <p:nvSpPr>
          <p:cNvPr id="14" name="Rectangle 13"/>
          <p:cNvSpPr/>
          <p:nvPr/>
        </p:nvSpPr>
        <p:spPr>
          <a:xfrm>
            <a:off x="2880360" y="1554480"/>
            <a:ext cx="3840480" cy="36576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926080" y="1554480"/>
            <a:ext cx="3749040" cy="36576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What you build</a:t>
            </a:r>
          </a:p>
        </p:txBody>
      </p:sp>
      <p:sp>
        <p:nvSpPr>
          <p:cNvPr id="16" name="Rectangle 15"/>
          <p:cNvSpPr/>
          <p:nvPr/>
        </p:nvSpPr>
        <p:spPr>
          <a:xfrm>
            <a:off x="6720840" y="1554480"/>
            <a:ext cx="4937760" cy="36576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766560" y="1554480"/>
            <a:ext cx="4846320" cy="36576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What it teaches</a:t>
            </a:r>
          </a:p>
        </p:txBody>
      </p:sp>
      <p:sp>
        <p:nvSpPr>
          <p:cNvPr id="18" name="Rectangle 17"/>
          <p:cNvSpPr/>
          <p:nvPr/>
        </p:nvSpPr>
        <p:spPr>
          <a:xfrm>
            <a:off x="411480" y="1920240"/>
            <a:ext cx="192024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57200" y="1920240"/>
            <a:ext cx="1828800" cy="365760"/>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V1 naive</a:t>
            </a:r>
          </a:p>
        </p:txBody>
      </p:sp>
      <p:sp>
        <p:nvSpPr>
          <p:cNvPr id="20" name="Rectangle 19"/>
          <p:cNvSpPr/>
          <p:nvPr/>
        </p:nvSpPr>
        <p:spPr>
          <a:xfrm>
            <a:off x="2331720" y="1920240"/>
            <a:ext cx="54864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377440" y="1920240"/>
            <a:ext cx="457200" cy="365760"/>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3</a:t>
            </a:r>
          </a:p>
        </p:txBody>
      </p:sp>
      <p:sp>
        <p:nvSpPr>
          <p:cNvPr id="22" name="Rectangle 21"/>
          <p:cNvSpPr/>
          <p:nvPr/>
        </p:nvSpPr>
        <p:spPr>
          <a:xfrm>
            <a:off x="2880360" y="1920240"/>
            <a:ext cx="384048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926080" y="1920240"/>
            <a:ext cx="3749040" cy="365760"/>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a directed testbench with all six parts</a:t>
            </a:r>
          </a:p>
        </p:txBody>
      </p:sp>
      <p:sp>
        <p:nvSpPr>
          <p:cNvPr id="24" name="Rectangle 23"/>
          <p:cNvSpPr/>
          <p:nvPr/>
        </p:nvSpPr>
        <p:spPr>
          <a:xfrm>
            <a:off x="6720840" y="1920240"/>
            <a:ext cx="493776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766560" y="1920240"/>
            <a:ext cx="4846320" cy="365760"/>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structure, a verdict, and why passing is not proving</a:t>
            </a:r>
          </a:p>
        </p:txBody>
      </p:sp>
      <p:sp>
        <p:nvSpPr>
          <p:cNvPr id="26" name="Rectangle 25"/>
          <p:cNvSpPr/>
          <p:nvPr/>
        </p:nvSpPr>
        <p:spPr>
          <a:xfrm>
            <a:off x="411480" y="2286000"/>
            <a:ext cx="1920240" cy="3657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57200" y="2286000"/>
            <a:ext cx="1828800" cy="365760"/>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V2 model</a:t>
            </a:r>
          </a:p>
        </p:txBody>
      </p:sp>
      <p:sp>
        <p:nvSpPr>
          <p:cNvPr id="28" name="Rectangle 27"/>
          <p:cNvSpPr/>
          <p:nvPr/>
        </p:nvSpPr>
        <p:spPr>
          <a:xfrm>
            <a:off x="2331720" y="2286000"/>
            <a:ext cx="548640" cy="3657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377440" y="2286000"/>
            <a:ext cx="457200" cy="365760"/>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6</a:t>
            </a:r>
          </a:p>
        </p:txBody>
      </p:sp>
      <p:sp>
        <p:nvSpPr>
          <p:cNvPr id="30" name="Rectangle 29"/>
          <p:cNvSpPr/>
          <p:nvPr/>
        </p:nvSpPr>
        <p:spPr>
          <a:xfrm>
            <a:off x="2880360" y="2286000"/>
            <a:ext cx="3840480" cy="3657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2926080" y="2286000"/>
            <a:ext cx="3749040" cy="365760"/>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a reference model and the boundary cases</a:t>
            </a:r>
          </a:p>
        </p:txBody>
      </p:sp>
      <p:sp>
        <p:nvSpPr>
          <p:cNvPr id="32" name="Rectangle 31"/>
          <p:cNvSpPr/>
          <p:nvPr/>
        </p:nvSpPr>
        <p:spPr>
          <a:xfrm>
            <a:off x="6720840" y="2286000"/>
            <a:ext cx="4937760" cy="3657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766560" y="2286000"/>
            <a:ext cx="4846320" cy="365760"/>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expected values come from the spec, not from you</a:t>
            </a:r>
          </a:p>
        </p:txBody>
      </p:sp>
      <p:sp>
        <p:nvSpPr>
          <p:cNvPr id="34" name="Rectangle 33"/>
          <p:cNvSpPr/>
          <p:nvPr/>
        </p:nvSpPr>
        <p:spPr>
          <a:xfrm>
            <a:off x="411480" y="2651760"/>
            <a:ext cx="192024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57200" y="2651760"/>
            <a:ext cx="1828800" cy="365760"/>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V3 random</a:t>
            </a:r>
          </a:p>
        </p:txBody>
      </p:sp>
      <p:sp>
        <p:nvSpPr>
          <p:cNvPr id="36" name="Rectangle 35"/>
          <p:cNvSpPr/>
          <p:nvPr/>
        </p:nvSpPr>
        <p:spPr>
          <a:xfrm>
            <a:off x="2331720" y="2651760"/>
            <a:ext cx="54864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2377440" y="2651760"/>
            <a:ext cx="457200" cy="365760"/>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6</a:t>
            </a:r>
          </a:p>
        </p:txBody>
      </p:sp>
      <p:sp>
        <p:nvSpPr>
          <p:cNvPr id="38" name="Rectangle 37"/>
          <p:cNvSpPr/>
          <p:nvPr/>
        </p:nvSpPr>
        <p:spPr>
          <a:xfrm>
            <a:off x="2880360" y="2651760"/>
            <a:ext cx="384048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2926080" y="2651760"/>
            <a:ext cx="3749040" cy="365760"/>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weighted constrained-random, seeded</a:t>
            </a:r>
          </a:p>
        </p:txBody>
      </p:sp>
      <p:sp>
        <p:nvSpPr>
          <p:cNvPr id="40" name="Rectangle 39"/>
          <p:cNvSpPr/>
          <p:nvPr/>
        </p:nvSpPr>
        <p:spPr>
          <a:xfrm>
            <a:off x="6720840" y="2651760"/>
            <a:ext cx="493776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766560" y="2651760"/>
            <a:ext cx="4846320" cy="365760"/>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reproducibility, and the corner nobody writes</a:t>
            </a:r>
          </a:p>
        </p:txBody>
      </p:sp>
      <p:sp>
        <p:nvSpPr>
          <p:cNvPr id="42" name="Rectangle 41"/>
          <p:cNvSpPr/>
          <p:nvPr/>
        </p:nvSpPr>
        <p:spPr>
          <a:xfrm>
            <a:off x="411480" y="3017520"/>
            <a:ext cx="1920240" cy="3657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457200" y="3017520"/>
            <a:ext cx="1828800" cy="365760"/>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V4 coverage</a:t>
            </a:r>
          </a:p>
        </p:txBody>
      </p:sp>
      <p:sp>
        <p:nvSpPr>
          <p:cNvPr id="44" name="Rectangle 43"/>
          <p:cNvSpPr/>
          <p:nvPr/>
        </p:nvSpPr>
        <p:spPr>
          <a:xfrm>
            <a:off x="2331720" y="3017520"/>
            <a:ext cx="548640" cy="3657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2377440" y="3017520"/>
            <a:ext cx="457200" cy="365760"/>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6</a:t>
            </a:r>
          </a:p>
        </p:txBody>
      </p:sp>
      <p:sp>
        <p:nvSpPr>
          <p:cNvPr id="46" name="Rectangle 45"/>
          <p:cNvSpPr/>
          <p:nvPr/>
        </p:nvSpPr>
        <p:spPr>
          <a:xfrm>
            <a:off x="2880360" y="3017520"/>
            <a:ext cx="3840480" cy="3657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2926080" y="3017520"/>
            <a:ext cx="3749040" cy="365760"/>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a coverage model, sampled and merged</a:t>
            </a:r>
          </a:p>
        </p:txBody>
      </p:sp>
      <p:sp>
        <p:nvSpPr>
          <p:cNvPr id="48" name="Rectangle 47"/>
          <p:cNvSpPr/>
          <p:nvPr/>
        </p:nvSpPr>
        <p:spPr>
          <a:xfrm>
            <a:off x="6720840" y="3017520"/>
            <a:ext cx="4937760" cy="3657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6766560" y="3017520"/>
            <a:ext cx="4846320" cy="365760"/>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what did I actually test, and when do I stop</a:t>
            </a:r>
          </a:p>
        </p:txBody>
      </p:sp>
      <p:sp>
        <p:nvSpPr>
          <p:cNvPr id="50" name="Rectangle 49"/>
          <p:cNvSpPr/>
          <p:nvPr/>
        </p:nvSpPr>
        <p:spPr>
          <a:xfrm>
            <a:off x="411480" y="3383280"/>
            <a:ext cx="192024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457200" y="3383280"/>
            <a:ext cx="1828800" cy="365760"/>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V5 clinic</a:t>
            </a:r>
          </a:p>
        </p:txBody>
      </p:sp>
      <p:sp>
        <p:nvSpPr>
          <p:cNvPr id="52" name="Rectangle 51"/>
          <p:cNvSpPr/>
          <p:nvPr/>
        </p:nvSpPr>
        <p:spPr>
          <a:xfrm>
            <a:off x="2331720" y="3383280"/>
            <a:ext cx="54864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2377440" y="3383280"/>
            <a:ext cx="457200" cy="365760"/>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5</a:t>
            </a:r>
          </a:p>
        </p:txBody>
      </p:sp>
      <p:sp>
        <p:nvSpPr>
          <p:cNvPr id="54" name="Rectangle 53"/>
          <p:cNvSpPr/>
          <p:nvPr/>
        </p:nvSpPr>
        <p:spPr>
          <a:xfrm>
            <a:off x="2880360" y="3383280"/>
            <a:ext cx="384048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2926080" y="3383280"/>
            <a:ext cx="3749040" cy="365760"/>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diagnosis of five unknown bugs</a:t>
            </a:r>
          </a:p>
        </p:txBody>
      </p:sp>
      <p:sp>
        <p:nvSpPr>
          <p:cNvPr id="56" name="Rectangle 55"/>
          <p:cNvSpPr/>
          <p:nvPr/>
        </p:nvSpPr>
        <p:spPr>
          <a:xfrm>
            <a:off x="6720840" y="3383280"/>
            <a:ext cx="4937760" cy="36576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6766560" y="3383280"/>
            <a:ext cx="4846320" cy="365760"/>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bisection, x-chasing, reading a waveform properly</a:t>
            </a:r>
          </a:p>
        </p:txBody>
      </p:sp>
      <p:sp>
        <p:nvSpPr>
          <p:cNvPr id="58" name="Rectangle 57"/>
          <p:cNvSpPr/>
          <p:nvPr/>
        </p:nvSpPr>
        <p:spPr>
          <a:xfrm>
            <a:off x="411480" y="3749040"/>
            <a:ext cx="1920240" cy="3657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457200" y="3749040"/>
            <a:ext cx="1828800" cy="365760"/>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V6 capstone</a:t>
            </a:r>
          </a:p>
        </p:txBody>
      </p:sp>
      <p:sp>
        <p:nvSpPr>
          <p:cNvPr id="60" name="Rectangle 59"/>
          <p:cNvSpPr/>
          <p:nvPr/>
        </p:nvSpPr>
        <p:spPr>
          <a:xfrm>
            <a:off x="2331720" y="3749040"/>
            <a:ext cx="548640" cy="3657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2377440" y="3749040"/>
            <a:ext cx="457200" cy="365760"/>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8</a:t>
            </a:r>
          </a:p>
        </p:txBody>
      </p:sp>
      <p:sp>
        <p:nvSpPr>
          <p:cNvPr id="62" name="Rectangle 61"/>
          <p:cNvSpPr/>
          <p:nvPr/>
        </p:nvSpPr>
        <p:spPr>
          <a:xfrm>
            <a:off x="2880360" y="3749040"/>
            <a:ext cx="3840480" cy="3657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2926080" y="3749040"/>
            <a:ext cx="3749040" cy="365760"/>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a layered environment with assertions</a:t>
            </a:r>
          </a:p>
        </p:txBody>
      </p:sp>
      <p:sp>
        <p:nvSpPr>
          <p:cNvPr id="64" name="Rectangle 63"/>
          <p:cNvSpPr/>
          <p:nvPr/>
        </p:nvSpPr>
        <p:spPr>
          <a:xfrm>
            <a:off x="6720840" y="3749040"/>
            <a:ext cx="4937760" cy="36576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6766560" y="3749040"/>
            <a:ext cx="4846320" cy="365760"/>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separation of concerns; assertions vs scoreboards</a:t>
            </a:r>
          </a:p>
        </p:txBody>
      </p:sp>
      <p:sp>
        <p:nvSpPr>
          <p:cNvPr id="66" name="TextBox 65"/>
          <p:cNvSpPr txBox="1"/>
          <p:nvPr/>
        </p:nvSpPr>
        <p:spPr>
          <a:xfrm>
            <a:off x="411480" y="4160520"/>
            <a:ext cx="11247120" cy="274320"/>
          </a:xfrm>
          <a:prstGeom prst="rect">
            <a:avLst/>
          </a:prstGeom>
          <a:noFill/>
        </p:spPr>
        <p:txBody>
          <a:bodyPr wrap="square" lIns="0" rIns="0" tIns="0" bIns="0" anchor="t">
            <a:spAutoFit/>
          </a:bodyPr>
          <a:lstStyle/>
          <a:p>
            <a:pPr algn="l">
              <a:lnSpc>
                <a:spcPct val="103000"/>
              </a:lnSpc>
            </a:pPr>
            <a:r>
              <a:rPr sz="1050" b="0" i="1">
                <a:solidFill>
                  <a:srgbClr val="5A6B7B"/>
                </a:solidFill>
                <a:latin typeface="Calibri"/>
              </a:rPr>
              <a:t>Thirty-four hours, from the syllabus practical bullet "simulating and verifying the functionality of RTL designs".</a:t>
            </a:r>
          </a:p>
        </p:txBody>
      </p:sp>
      <p:sp>
        <p:nvSpPr>
          <p:cNvPr id="67" name="Rounded Rectangle 66"/>
          <p:cNvSpPr/>
          <p:nvPr/>
        </p:nvSpPr>
        <p:spPr>
          <a:xfrm>
            <a:off x="411480" y="4389120"/>
            <a:ext cx="5532120" cy="123444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TextBox 67"/>
          <p:cNvSpPr txBox="1"/>
          <p:nvPr/>
        </p:nvSpPr>
        <p:spPr>
          <a:xfrm>
            <a:off x="548640" y="445312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What every lab produces</a:t>
            </a:r>
          </a:p>
        </p:txBody>
      </p:sp>
      <p:sp>
        <p:nvSpPr>
          <p:cNvPr id="69" name="TextBox 68"/>
          <p:cNvSpPr txBox="1"/>
          <p:nvPr/>
        </p:nvSpPr>
        <p:spPr>
          <a:xfrm>
            <a:off x="548640" y="4727448"/>
            <a:ext cx="5257800" cy="83210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 A lint run that is clean.</a:t>
            </a:r>
          </a:p>
          <a:p>
            <a:pPr algn="l">
              <a:lnSpc>
                <a:spcPct val="103000"/>
              </a:lnSpc>
              <a:spcAft>
                <a:spcPts val="400"/>
              </a:spcAft>
            </a:pPr>
            <a:r>
              <a:rPr sz="1050" b="0" i="0">
                <a:solidFill>
                  <a:srgbClr val="33414F"/>
                </a:solidFill>
                <a:latin typeface="Calibri"/>
              </a:rPr>
              <a:t>· A simulation transcript ending in a machine-readable PASS or FAIL.</a:t>
            </a:r>
          </a:p>
          <a:p>
            <a:pPr algn="l">
              <a:lnSpc>
                <a:spcPct val="103000"/>
              </a:lnSpc>
              <a:spcAft>
                <a:spcPts val="400"/>
              </a:spcAft>
            </a:pPr>
            <a:r>
              <a:rPr sz="1050" b="0" i="0">
                <a:solidFill>
                  <a:srgbClr val="33414F"/>
                </a:solidFill>
                <a:latin typeface="Calibri"/>
              </a:rPr>
              <a:t>· From V4 on, a coverage report with a closure verdict.</a:t>
            </a:r>
          </a:p>
          <a:p>
            <a:pPr algn="l">
              <a:lnSpc>
                <a:spcPct val="103000"/>
              </a:lnSpc>
              <a:spcAft>
                <a:spcPts val="400"/>
              </a:spcAft>
            </a:pPr>
            <a:r>
              <a:rPr sz="1050" b="0" i="0">
                <a:solidFill>
                  <a:srgbClr val="33414F"/>
                </a:solidFill>
                <a:latin typeface="Calibri"/>
              </a:rPr>
              <a:t>· One sentence from the student on what their testbench would NOT catch.</a:t>
            </a:r>
          </a:p>
        </p:txBody>
      </p:sp>
      <p:sp>
        <p:nvSpPr>
          <p:cNvPr id="70" name="Rounded Rectangle 69"/>
          <p:cNvSpPr/>
          <p:nvPr/>
        </p:nvSpPr>
        <p:spPr>
          <a:xfrm>
            <a:off x="6126480" y="4389120"/>
            <a:ext cx="5532120" cy="123444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TextBox 70"/>
          <p:cNvSpPr txBox="1"/>
          <p:nvPr/>
        </p:nvSpPr>
        <p:spPr>
          <a:xfrm>
            <a:off x="6263640" y="4453128"/>
            <a:ext cx="5257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Running short of time?</a:t>
            </a:r>
          </a:p>
        </p:txBody>
      </p:sp>
      <p:sp>
        <p:nvSpPr>
          <p:cNvPr id="72" name="TextBox 71"/>
          <p:cNvSpPr txBox="1"/>
          <p:nvPr/>
        </p:nvSpPr>
        <p:spPr>
          <a:xfrm>
            <a:off x="6263640" y="4727448"/>
            <a:ext cx="5257800" cy="832104"/>
          </a:xfrm>
          <a:prstGeom prst="rect">
            <a:avLst/>
          </a:prstGeom>
          <a:noFill/>
        </p:spPr>
        <p:txBody>
          <a:bodyPr wrap="square" lIns="0" rIns="0" tIns="0" bIns="0" anchor="t">
            <a:spAutoFit/>
          </a:bodyPr>
          <a:lstStyle/>
          <a:p>
            <a:pPr algn="l">
              <a:lnSpc>
                <a:spcPct val="103000"/>
              </a:lnSpc>
              <a:spcAft>
                <a:spcPts val="400"/>
              </a:spcAft>
            </a:pPr>
            <a:r>
              <a:rPr sz="1050" b="1" i="0">
                <a:solidFill>
                  <a:srgbClr val="C01F43"/>
                </a:solidFill>
                <a:latin typeface="Calibri"/>
              </a:rPr>
              <a:t>Do not cut V5, the clinic. </a:t>
            </a:r>
            <a:r>
              <a:rPr sz="1050" b="0" i="0">
                <a:solidFill>
                  <a:srgbClr val="33414F"/>
                </a:solidFill>
                <a:latin typeface="Calibri"/>
              </a:rPr>
              <a:t>It is the only exercise where students meet a bug they did not plant, with no hint about what it is — which is the actual job. Shorten V1 instead: the naive testbench can be read rather than typed, provided the room still watches it pass on all five broken designs.</a:t>
            </a:r>
          </a:p>
        </p:txBody>
      </p:sp>
      <p:sp>
        <p:nvSpPr>
          <p:cNvPr id="73" name="Rounded Rectangle 72"/>
          <p:cNvSpPr/>
          <p:nvPr/>
        </p:nvSpPr>
        <p:spPr>
          <a:xfrm>
            <a:off x="411480" y="5715000"/>
            <a:ext cx="11247120" cy="59436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TextBox 73"/>
          <p:cNvSpPr txBox="1"/>
          <p:nvPr/>
        </p:nvSpPr>
        <p:spPr>
          <a:xfrm>
            <a:off x="576072" y="577900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Worth ten minutes of the session</a:t>
            </a:r>
          </a:p>
        </p:txBody>
      </p:sp>
      <p:sp>
        <p:nvSpPr>
          <p:cNvPr id="75" name="TextBox 74"/>
          <p:cNvSpPr txBox="1"/>
          <p:nvPr/>
        </p:nvSpPr>
        <p:spPr>
          <a:xfrm>
            <a:off x="576072" y="6053328"/>
            <a:ext cx="10917936" cy="19202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Have every student plant ONE bug in a copy of the golden FIFO and hand it to a neighbour, whose testbench must catch it and name it.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 · LABS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How to Run the Session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64</a:t>
            </a:r>
          </a:p>
        </p:txBody>
      </p:sp>
      <p:sp>
        <p:nvSpPr>
          <p:cNvPr id="9" name="Rounded Rectangle 8"/>
          <p:cNvSpPr/>
          <p:nvPr/>
        </p:nvSpPr>
        <p:spPr>
          <a:xfrm>
            <a:off x="411480" y="1143000"/>
            <a:ext cx="11247120" cy="82296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411480" y="1143000"/>
            <a:ext cx="1737360" cy="822960"/>
          </a:xfrm>
          <a:prstGeom prst="roundRect">
            <a:avLst>
              <a:gd name="adj" fmla="val 5714"/>
            </a:avLst>
          </a:prstGeom>
          <a:solidFill>
            <a:srgbClr val="C01F43"/>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11480" y="1143000"/>
            <a:ext cx="1737360" cy="82296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OPEN WITH THE CLINIC</a:t>
            </a:r>
          </a:p>
        </p:txBody>
      </p:sp>
      <p:sp>
        <p:nvSpPr>
          <p:cNvPr id="12" name="TextBox 11"/>
          <p:cNvSpPr txBox="1"/>
          <p:nvPr/>
        </p:nvSpPr>
        <p:spPr>
          <a:xfrm>
            <a:off x="2331720" y="1188720"/>
            <a:ext cx="9144000" cy="73152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Do not begin with theory. Run ./scripts/clinic.sh live, in front of the room, before explaining anything. The table — 0 of 5, 4 of 5, 5 of 5 — does the persuading, and everything afterwards is the explanation of why.</a:t>
            </a:r>
          </a:p>
        </p:txBody>
      </p:sp>
      <p:sp>
        <p:nvSpPr>
          <p:cNvPr id="13" name="Rounded Rectangle 12"/>
          <p:cNvSpPr/>
          <p:nvPr/>
        </p:nvSpPr>
        <p:spPr>
          <a:xfrm>
            <a:off x="411480" y="2011680"/>
            <a:ext cx="11247120" cy="82296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411480" y="2011680"/>
            <a:ext cx="1737360" cy="822960"/>
          </a:xfrm>
          <a:prstGeom prst="roundRect">
            <a:avLst>
              <a:gd name="adj" fmla="val 5714"/>
            </a:avLst>
          </a:prstGeom>
          <a:solidFill>
            <a:srgbClr val="0E2A47"/>
          </a:solidFill>
          <a:ln w="1397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11480" y="2011680"/>
            <a:ext cx="1737360" cy="82296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READ THE SPEC FIRST</a:t>
            </a:r>
          </a:p>
        </p:txBody>
      </p:sp>
      <p:sp>
        <p:nvSpPr>
          <p:cNvPr id="16" name="TextBox 15"/>
          <p:cNvSpPr txBox="1"/>
          <p:nvPr/>
        </p:nvSpPr>
        <p:spPr>
          <a:xfrm>
            <a:off x="2331720" y="2057400"/>
            <a:ext cx="9144000" cy="73152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Have the class read the header comment of rtl/fifo.v and list, on the board, every rule it states. That list IS the verification plan. Only then look at a testbench.</a:t>
            </a:r>
          </a:p>
        </p:txBody>
      </p:sp>
      <p:sp>
        <p:nvSpPr>
          <p:cNvPr id="17" name="Rounded Rectangle 16"/>
          <p:cNvSpPr/>
          <p:nvPr/>
        </p:nvSpPr>
        <p:spPr>
          <a:xfrm>
            <a:off x="411480" y="2880360"/>
            <a:ext cx="11247120" cy="82296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411480" y="2880360"/>
            <a:ext cx="1737360" cy="822960"/>
          </a:xfrm>
          <a:prstGeom prst="roundRect">
            <a:avLst>
              <a:gd name="adj" fmla="val 5714"/>
            </a:avLst>
          </a:prstGeom>
          <a:solidFill>
            <a:srgbClr val="1B9AAA"/>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11480" y="2880360"/>
            <a:ext cx="1737360" cy="82296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BUILD, DO NOT COPY</a:t>
            </a:r>
          </a:p>
        </p:txBody>
      </p:sp>
      <p:sp>
        <p:nvSpPr>
          <p:cNvPr id="20" name="TextBox 19"/>
          <p:cNvSpPr txBox="1"/>
          <p:nvPr/>
        </p:nvSpPr>
        <p:spPr>
          <a:xfrm>
            <a:off x="2331720" y="2926080"/>
            <a:ext cx="9144000" cy="73152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V1 and V2 are typed from scratch, not copied. The supplied versions are for comparing against afterwards. The point is the decisions, and you only meet them by making them.</a:t>
            </a:r>
          </a:p>
        </p:txBody>
      </p:sp>
      <p:sp>
        <p:nvSpPr>
          <p:cNvPr id="21" name="Rounded Rectangle 20"/>
          <p:cNvSpPr/>
          <p:nvPr/>
        </p:nvSpPr>
        <p:spPr>
          <a:xfrm>
            <a:off x="411480" y="3749040"/>
            <a:ext cx="11247120" cy="82296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411480" y="3749040"/>
            <a:ext cx="1737360" cy="822960"/>
          </a:xfrm>
          <a:prstGeom prst="roundRect">
            <a:avLst>
              <a:gd name="adj" fmla="val 5714"/>
            </a:avLst>
          </a:prstGeom>
          <a:solidFill>
            <a:srgbClr val="C77514"/>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11480" y="3749040"/>
            <a:ext cx="1737360" cy="82296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BREAK IT ON PURPOSE</a:t>
            </a:r>
          </a:p>
        </p:txBody>
      </p:sp>
      <p:sp>
        <p:nvSpPr>
          <p:cNvPr id="24" name="TextBox 23"/>
          <p:cNvSpPr txBox="1"/>
          <p:nvPr/>
        </p:nvSpPr>
        <p:spPr>
          <a:xfrm>
            <a:off x="2331720" y="3794760"/>
            <a:ext cx="9144000" cy="73152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Every student plants one bug in a copy of the golden FIFO and hands it to a neighbour, whose testbench must catch it. This single exercise teaches more about verification than any lecture, and the room enjoys it.</a:t>
            </a:r>
          </a:p>
        </p:txBody>
      </p:sp>
      <p:sp>
        <p:nvSpPr>
          <p:cNvPr id="25" name="Rounded Rectangle 24"/>
          <p:cNvSpPr/>
          <p:nvPr/>
        </p:nvSpPr>
        <p:spPr>
          <a:xfrm>
            <a:off x="411480" y="4617720"/>
            <a:ext cx="11247120" cy="82296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411480" y="4617720"/>
            <a:ext cx="1737360" cy="822960"/>
          </a:xfrm>
          <a:prstGeom prst="roundRect">
            <a:avLst>
              <a:gd name="adj" fmla="val 5714"/>
            </a:avLst>
          </a:prstGeom>
          <a:solidFill>
            <a:srgbClr val="2A9D5C"/>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11480" y="4617720"/>
            <a:ext cx="1737360" cy="82296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CLOSE WITH COVERAGE</a:t>
            </a:r>
          </a:p>
        </p:txBody>
      </p:sp>
      <p:sp>
        <p:nvSpPr>
          <p:cNvPr id="28" name="TextBox 27"/>
          <p:cNvSpPr txBox="1"/>
          <p:nvPr/>
        </p:nvSpPr>
        <p:spPr>
          <a:xfrm>
            <a:off x="2331720" y="4663440"/>
            <a:ext cx="9144000" cy="73152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Finish on ./scripts/coverage.sh. Passing tests feel like the end; the coverage report showing three MISSes is what teaches that they are not.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 · TROUBLESHOOTING</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What Your Students Will Hit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65</a:t>
            </a:r>
          </a:p>
        </p:txBody>
      </p:sp>
      <p:sp>
        <p:nvSpPr>
          <p:cNvPr id="9" name="TextBox 8"/>
          <p:cNvSpPr txBox="1"/>
          <p:nvPr/>
        </p:nvSpPr>
        <p:spPr>
          <a:xfrm>
            <a:off x="411480" y="1143000"/>
            <a:ext cx="11247120" cy="41148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Testbench problems, not design problems. </a:t>
            </a:r>
            <a:r>
              <a:rPr sz="1100" b="0" i="0">
                <a:solidFill>
                  <a:srgbClr val="33414F"/>
                </a:solidFill>
                <a:latin typeface="Calibri"/>
              </a:rPr>
              <a:t>Nine out of ten support questions in this topic are one of these.</a:t>
            </a:r>
          </a:p>
        </p:txBody>
      </p:sp>
      <p:sp>
        <p:nvSpPr>
          <p:cNvPr id="10" name="Rectangle 9"/>
          <p:cNvSpPr/>
          <p:nvPr/>
        </p:nvSpPr>
        <p:spPr>
          <a:xfrm>
            <a:off x="411480" y="1554480"/>
            <a:ext cx="320040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1554480"/>
            <a:ext cx="310896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Symptom</a:t>
            </a:r>
          </a:p>
        </p:txBody>
      </p:sp>
      <p:sp>
        <p:nvSpPr>
          <p:cNvPr id="12" name="Rectangle 11"/>
          <p:cNvSpPr/>
          <p:nvPr/>
        </p:nvSpPr>
        <p:spPr>
          <a:xfrm>
            <a:off x="3611880" y="1554480"/>
            <a:ext cx="402336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657600" y="1554480"/>
            <a:ext cx="393192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Almost always means</a:t>
            </a:r>
          </a:p>
        </p:txBody>
      </p:sp>
      <p:sp>
        <p:nvSpPr>
          <p:cNvPr id="14" name="Rectangle 13"/>
          <p:cNvSpPr/>
          <p:nvPr/>
        </p:nvSpPr>
        <p:spPr>
          <a:xfrm>
            <a:off x="7635240" y="1554480"/>
            <a:ext cx="402336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680960" y="1554480"/>
            <a:ext cx="393192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Fix</a:t>
            </a:r>
          </a:p>
        </p:txBody>
      </p:sp>
      <p:sp>
        <p:nvSpPr>
          <p:cNvPr id="16" name="Rectangle 15"/>
          <p:cNvSpPr/>
          <p:nvPr/>
        </p:nvSpPr>
        <p:spPr>
          <a:xfrm>
            <a:off x="411480" y="1837944"/>
            <a:ext cx="3200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57200" y="1837944"/>
            <a:ext cx="3108960" cy="283464"/>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Everything is x from time 0</a:t>
            </a:r>
          </a:p>
        </p:txBody>
      </p:sp>
      <p:sp>
        <p:nvSpPr>
          <p:cNvPr id="18" name="Rectangle 17"/>
          <p:cNvSpPr/>
          <p:nvPr/>
        </p:nvSpPr>
        <p:spPr>
          <a:xfrm>
            <a:off x="3611880" y="1837944"/>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657600" y="1837944"/>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reset never asserted, or the DUT port is misspelt</a:t>
            </a:r>
          </a:p>
        </p:txBody>
      </p:sp>
      <p:sp>
        <p:nvSpPr>
          <p:cNvPr id="20" name="Rectangle 19"/>
          <p:cNvSpPr/>
          <p:nvPr/>
        </p:nvSpPr>
        <p:spPr>
          <a:xfrm>
            <a:off x="7635240" y="1837944"/>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680960" y="1837944"/>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check reset polarity; `default_nettype none</a:t>
            </a:r>
          </a:p>
        </p:txBody>
      </p:sp>
      <p:sp>
        <p:nvSpPr>
          <p:cNvPr id="22" name="Rectangle 21"/>
          <p:cNvSpPr/>
          <p:nvPr/>
        </p:nvSpPr>
        <p:spPr>
          <a:xfrm>
            <a:off x="411480" y="2121408"/>
            <a:ext cx="32004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57200" y="2121408"/>
            <a:ext cx="3108960" cy="283464"/>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The check passes when the value is x</a:t>
            </a:r>
          </a:p>
        </p:txBody>
      </p:sp>
      <p:sp>
        <p:nvSpPr>
          <p:cNvPr id="24" name="Rectangle 23"/>
          <p:cNvSpPr/>
          <p:nvPr/>
        </p:nvSpPr>
        <p:spPr>
          <a:xfrm>
            <a:off x="3611880" y="2121408"/>
            <a:ext cx="4023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657600" y="2121408"/>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 used instead of ===</a:t>
            </a:r>
          </a:p>
        </p:txBody>
      </p:sp>
      <p:sp>
        <p:nvSpPr>
          <p:cNvPr id="26" name="Rectangle 25"/>
          <p:cNvSpPr/>
          <p:nvPr/>
        </p:nvSpPr>
        <p:spPr>
          <a:xfrm>
            <a:off x="7635240" y="2121408"/>
            <a:ext cx="4023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680960" y="2121408"/>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use === and !== in every testbench check</a:t>
            </a:r>
          </a:p>
        </p:txBody>
      </p:sp>
      <p:sp>
        <p:nvSpPr>
          <p:cNvPr id="28" name="Rectangle 27"/>
          <p:cNvSpPr/>
          <p:nvPr/>
        </p:nvSpPr>
        <p:spPr>
          <a:xfrm>
            <a:off x="411480" y="2404872"/>
            <a:ext cx="3200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57200" y="2404872"/>
            <a:ext cx="3108960" cy="283464"/>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The design looks one cycle late</a:t>
            </a:r>
          </a:p>
        </p:txBody>
      </p:sp>
      <p:sp>
        <p:nvSpPr>
          <p:cNvPr id="30" name="Rectangle 29"/>
          <p:cNvSpPr/>
          <p:nvPr/>
        </p:nvSpPr>
        <p:spPr>
          <a:xfrm>
            <a:off x="3611880" y="2404872"/>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657600" y="2404872"/>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sampled before the NBA update landed</a:t>
            </a:r>
          </a:p>
        </p:txBody>
      </p:sp>
      <p:sp>
        <p:nvSpPr>
          <p:cNvPr id="32" name="Rectangle 31"/>
          <p:cNvSpPr/>
          <p:nvPr/>
        </p:nvSpPr>
        <p:spPr>
          <a:xfrm>
            <a:off x="7635240" y="2404872"/>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680960" y="2404872"/>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sample after the NEXT edge, or use $strobe</a:t>
            </a:r>
          </a:p>
        </p:txBody>
      </p:sp>
      <p:sp>
        <p:nvSpPr>
          <p:cNvPr id="34" name="Rectangle 33"/>
          <p:cNvSpPr/>
          <p:nvPr/>
        </p:nvSpPr>
        <p:spPr>
          <a:xfrm>
            <a:off x="411480" y="2688336"/>
            <a:ext cx="32004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57200" y="2688336"/>
            <a:ext cx="3108960" cy="283464"/>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A pulse is half a cycle wide</a:t>
            </a:r>
          </a:p>
        </p:txBody>
      </p:sp>
      <p:sp>
        <p:nvSpPr>
          <p:cNvPr id="36" name="Rectangle 35"/>
          <p:cNvSpPr/>
          <p:nvPr/>
        </p:nvSpPr>
        <p:spPr>
          <a:xfrm>
            <a:off x="3611880" y="2688336"/>
            <a:ext cx="4023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657600" y="2688336"/>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stimulus driven ON the clock edge</a:t>
            </a:r>
          </a:p>
        </p:txBody>
      </p:sp>
      <p:sp>
        <p:nvSpPr>
          <p:cNvPr id="38" name="Rectangle 37"/>
          <p:cNvSpPr/>
          <p:nvPr/>
        </p:nvSpPr>
        <p:spPr>
          <a:xfrm>
            <a:off x="7635240" y="2688336"/>
            <a:ext cx="4023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680960" y="2688336"/>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drive at #1 after the edge, never on it</a:t>
            </a:r>
          </a:p>
        </p:txBody>
      </p:sp>
      <p:sp>
        <p:nvSpPr>
          <p:cNvPr id="40" name="Rectangle 39"/>
          <p:cNvSpPr/>
          <p:nvPr/>
        </p:nvSpPr>
        <p:spPr>
          <a:xfrm>
            <a:off x="411480" y="2971800"/>
            <a:ext cx="3200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57200" y="2971800"/>
            <a:ext cx="3108960" cy="283464"/>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Random test passes but drove 9 transactions</a:t>
            </a:r>
          </a:p>
        </p:txBody>
      </p:sp>
      <p:sp>
        <p:nvSpPr>
          <p:cNvPr id="42" name="Rectangle 41"/>
          <p:cNvSpPr/>
          <p:nvPr/>
        </p:nvSpPr>
        <p:spPr>
          <a:xfrm>
            <a:off x="3611880" y="2971800"/>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3657600" y="2971800"/>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$urandom(seed) called in the loop</a:t>
            </a:r>
          </a:p>
        </p:txBody>
      </p:sp>
      <p:sp>
        <p:nvSpPr>
          <p:cNvPr id="44" name="Rectangle 43"/>
          <p:cNvSpPr/>
          <p:nvPr/>
        </p:nvSpPr>
        <p:spPr>
          <a:xfrm>
            <a:off x="7635240" y="2971800"/>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7680960" y="2971800"/>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seed once with void'($urandom(s)), then $urandom()</a:t>
            </a:r>
          </a:p>
        </p:txBody>
      </p:sp>
      <p:sp>
        <p:nvSpPr>
          <p:cNvPr id="46" name="Rectangle 45"/>
          <p:cNvSpPr/>
          <p:nvPr/>
        </p:nvSpPr>
        <p:spPr>
          <a:xfrm>
            <a:off x="411480" y="3255264"/>
            <a:ext cx="32004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457200" y="3255264"/>
            <a:ext cx="3108960" cy="283464"/>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The correct design fails</a:t>
            </a:r>
          </a:p>
        </p:txBody>
      </p:sp>
      <p:sp>
        <p:nvSpPr>
          <p:cNvPr id="48" name="Rectangle 47"/>
          <p:cNvSpPr/>
          <p:nvPr/>
        </p:nvSpPr>
        <p:spPr>
          <a:xfrm>
            <a:off x="3611880" y="3255264"/>
            <a:ext cx="4023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3657600" y="3255264"/>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the reference model is wrong</a:t>
            </a:r>
          </a:p>
        </p:txBody>
      </p:sp>
      <p:sp>
        <p:nvSpPr>
          <p:cNvPr id="50" name="Rectangle 49"/>
          <p:cNvSpPr/>
          <p:nvPr/>
        </p:nvSpPr>
        <p:spPr>
          <a:xfrm>
            <a:off x="7635240" y="3255264"/>
            <a:ext cx="4023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7680960" y="3255264"/>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sample full/empty once, before applying either operation</a:t>
            </a:r>
          </a:p>
        </p:txBody>
      </p:sp>
      <p:sp>
        <p:nvSpPr>
          <p:cNvPr id="52" name="Rectangle 51"/>
          <p:cNvSpPr/>
          <p:nvPr/>
        </p:nvSpPr>
        <p:spPr>
          <a:xfrm>
            <a:off x="411480" y="3538728"/>
            <a:ext cx="3200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457200" y="3538728"/>
            <a:ext cx="3108960" cy="283464"/>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Simulation never ends</a:t>
            </a:r>
          </a:p>
        </p:txBody>
      </p:sp>
      <p:sp>
        <p:nvSpPr>
          <p:cNvPr id="54" name="Rectangle 53"/>
          <p:cNvSpPr/>
          <p:nvPr/>
        </p:nvSpPr>
        <p:spPr>
          <a:xfrm>
            <a:off x="3611880" y="3538728"/>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3657600" y="3538728"/>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no $finish, or a wait loop with no delay</a:t>
            </a:r>
          </a:p>
        </p:txBody>
      </p:sp>
      <p:sp>
        <p:nvSpPr>
          <p:cNvPr id="56" name="Rectangle 55"/>
          <p:cNvSpPr/>
          <p:nvPr/>
        </p:nvSpPr>
        <p:spPr>
          <a:xfrm>
            <a:off x="7635240" y="3538728"/>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7680960" y="3538728"/>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add $finish and a watchdog timeout</a:t>
            </a:r>
          </a:p>
        </p:txBody>
      </p:sp>
      <p:sp>
        <p:nvSpPr>
          <p:cNvPr id="58" name="Rectangle 57"/>
          <p:cNvSpPr/>
          <p:nvPr/>
        </p:nvSpPr>
        <p:spPr>
          <a:xfrm>
            <a:off x="411480" y="3822192"/>
            <a:ext cx="32004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457200" y="3822192"/>
            <a:ext cx="3108960" cy="283464"/>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The waveform has no signals</a:t>
            </a:r>
          </a:p>
        </p:txBody>
      </p:sp>
      <p:sp>
        <p:nvSpPr>
          <p:cNvPr id="60" name="Rectangle 59"/>
          <p:cNvSpPr/>
          <p:nvPr/>
        </p:nvSpPr>
        <p:spPr>
          <a:xfrm>
            <a:off x="3611880" y="3822192"/>
            <a:ext cx="4023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3657600" y="3822192"/>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$dumpvars scope too narrow, or a stale VCD</a:t>
            </a:r>
          </a:p>
        </p:txBody>
      </p:sp>
      <p:sp>
        <p:nvSpPr>
          <p:cNvPr id="62" name="Rectangle 61"/>
          <p:cNvSpPr/>
          <p:nvPr/>
        </p:nvSpPr>
        <p:spPr>
          <a:xfrm>
            <a:off x="7635240" y="3822192"/>
            <a:ext cx="4023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7680960" y="3822192"/>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$dumpvars(0, tb); and re-run before re-opening</a:t>
            </a:r>
          </a:p>
        </p:txBody>
      </p:sp>
      <p:sp>
        <p:nvSpPr>
          <p:cNvPr id="64" name="Rectangle 63"/>
          <p:cNvSpPr/>
          <p:nvPr/>
        </p:nvSpPr>
        <p:spPr>
          <a:xfrm>
            <a:off x="411480" y="4105656"/>
            <a:ext cx="3200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457200" y="4105656"/>
            <a:ext cx="3108960" cy="283464"/>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Coverage is 100% but bugs escape</a:t>
            </a:r>
          </a:p>
        </p:txBody>
      </p:sp>
      <p:sp>
        <p:nvSpPr>
          <p:cNvPr id="66" name="Rectangle 65"/>
          <p:cNvSpPr/>
          <p:nvPr/>
        </p:nvSpPr>
        <p:spPr>
          <a:xfrm>
            <a:off x="3611880" y="4105656"/>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3657600" y="4105656"/>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the coverage model is too coarse</a:t>
            </a:r>
          </a:p>
        </p:txBody>
      </p:sp>
      <p:sp>
        <p:nvSpPr>
          <p:cNvPr id="68" name="Rectangle 67"/>
          <p:cNvSpPr/>
          <p:nvPr/>
        </p:nvSpPr>
        <p:spPr>
          <a:xfrm>
            <a:off x="7635240" y="4105656"/>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TextBox 68"/>
          <p:cNvSpPr txBox="1"/>
          <p:nvPr/>
        </p:nvSpPr>
        <p:spPr>
          <a:xfrm>
            <a:off x="7680960" y="4105656"/>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add bins for SEQUENCES, not just states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 · ASSESSMENT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What 'Done' Looks Like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66</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Assess the testbench, not the design. </a:t>
            </a:r>
            <a:r>
              <a:rPr sz="1100" b="0" i="0">
                <a:solidFill>
                  <a:srgbClr val="33414F"/>
                </a:solidFill>
                <a:latin typeface="Calibri"/>
              </a:rPr>
              <a:t>Give every student the same correct FIFO and the same five broken ones, and grade them on what their own testbench catches.</a:t>
            </a:r>
          </a:p>
        </p:txBody>
      </p:sp>
      <p:sp>
        <p:nvSpPr>
          <p:cNvPr id="10" name="Rectangle 9"/>
          <p:cNvSpPr/>
          <p:nvPr/>
        </p:nvSpPr>
        <p:spPr>
          <a:xfrm>
            <a:off x="411480" y="1737360"/>
            <a:ext cx="1737360" cy="45720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1737360"/>
            <a:ext cx="1645920" cy="45720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Level</a:t>
            </a:r>
          </a:p>
        </p:txBody>
      </p:sp>
      <p:sp>
        <p:nvSpPr>
          <p:cNvPr id="12" name="Rectangle 11"/>
          <p:cNvSpPr/>
          <p:nvPr/>
        </p:nvSpPr>
        <p:spPr>
          <a:xfrm>
            <a:off x="2148840" y="1737360"/>
            <a:ext cx="9509760" cy="45720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194560" y="1737360"/>
            <a:ext cx="9418320" cy="45720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Evidence</a:t>
            </a:r>
          </a:p>
        </p:txBody>
      </p:sp>
      <p:sp>
        <p:nvSpPr>
          <p:cNvPr id="14" name="Rectangle 13"/>
          <p:cNvSpPr/>
          <p:nvPr/>
        </p:nvSpPr>
        <p:spPr>
          <a:xfrm>
            <a:off x="411480" y="2194560"/>
            <a:ext cx="173736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57200" y="2194560"/>
            <a:ext cx="1645920" cy="45720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Pass</a:t>
            </a:r>
          </a:p>
        </p:txBody>
      </p:sp>
      <p:sp>
        <p:nvSpPr>
          <p:cNvPr id="16" name="Rectangle 15"/>
          <p:cNvSpPr/>
          <p:nvPr/>
        </p:nvSpPr>
        <p:spPr>
          <a:xfrm>
            <a:off x="2148840" y="2194560"/>
            <a:ext cx="950976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194560" y="2194560"/>
            <a:ext cx="9418320" cy="45720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testbench is self-checking, prints PASS or FAIL, terminates, and catches at least three of the five planted bugs.</a:t>
            </a:r>
          </a:p>
        </p:txBody>
      </p:sp>
      <p:sp>
        <p:nvSpPr>
          <p:cNvPr id="18" name="Rectangle 17"/>
          <p:cNvSpPr/>
          <p:nvPr/>
        </p:nvSpPr>
        <p:spPr>
          <a:xfrm>
            <a:off x="411480" y="2651760"/>
            <a:ext cx="173736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57200" y="2651760"/>
            <a:ext cx="1645920" cy="45720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Good</a:t>
            </a:r>
          </a:p>
        </p:txBody>
      </p:sp>
      <p:sp>
        <p:nvSpPr>
          <p:cNvPr id="20" name="Rectangle 19"/>
          <p:cNvSpPr/>
          <p:nvPr/>
        </p:nvSpPr>
        <p:spPr>
          <a:xfrm>
            <a:off x="2148840" y="2651760"/>
            <a:ext cx="950976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194560" y="2651760"/>
            <a:ext cx="9418320" cy="45720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All of the above, plus: it catches all five, and the student can say which check caught each one and why.</a:t>
            </a:r>
          </a:p>
        </p:txBody>
      </p:sp>
      <p:sp>
        <p:nvSpPr>
          <p:cNvPr id="22" name="Rectangle 21"/>
          <p:cNvSpPr/>
          <p:nvPr/>
        </p:nvSpPr>
        <p:spPr>
          <a:xfrm>
            <a:off x="411480" y="3108960"/>
            <a:ext cx="173736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57200" y="3108960"/>
            <a:ext cx="1645920" cy="45720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Strong</a:t>
            </a:r>
          </a:p>
        </p:txBody>
      </p:sp>
      <p:sp>
        <p:nvSpPr>
          <p:cNvPr id="24" name="Rectangle 23"/>
          <p:cNvSpPr/>
          <p:nvPr/>
        </p:nvSpPr>
        <p:spPr>
          <a:xfrm>
            <a:off x="2148840" y="3108960"/>
            <a:ext cx="950976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194560" y="3108960"/>
            <a:ext cx="9418320" cy="45720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All of the above, plus: a coverage model with a closure verdict, and a regression over several seeds and profiles.</a:t>
            </a:r>
          </a:p>
        </p:txBody>
      </p:sp>
      <p:sp>
        <p:nvSpPr>
          <p:cNvPr id="26" name="Rectangle 25"/>
          <p:cNvSpPr/>
          <p:nvPr/>
        </p:nvSpPr>
        <p:spPr>
          <a:xfrm>
            <a:off x="411480" y="3566160"/>
            <a:ext cx="173736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57200" y="3566160"/>
            <a:ext cx="1645920" cy="45720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Excellent</a:t>
            </a:r>
          </a:p>
        </p:txBody>
      </p:sp>
      <p:sp>
        <p:nvSpPr>
          <p:cNvPr id="28" name="Rectangle 27"/>
          <p:cNvSpPr/>
          <p:nvPr/>
        </p:nvSpPr>
        <p:spPr>
          <a:xfrm>
            <a:off x="2148840" y="3566160"/>
            <a:ext cx="950976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194560" y="3566160"/>
            <a:ext cx="9418320" cy="45720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All of the above, plus: assertions bound to the DUT, and the student can explain a bug that assertions cannot catch and why the scoreboard is needed too.</a:t>
            </a:r>
          </a:p>
        </p:txBody>
      </p:sp>
      <p:sp>
        <p:nvSpPr>
          <p:cNvPr id="30" name="Rounded Rectangle 29"/>
          <p:cNvSpPr/>
          <p:nvPr/>
        </p:nvSpPr>
        <p:spPr>
          <a:xfrm>
            <a:off x="411480" y="4114800"/>
            <a:ext cx="11247120" cy="776224"/>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76072" y="417880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One question to ask every student</a:t>
            </a:r>
          </a:p>
        </p:txBody>
      </p:sp>
      <p:sp>
        <p:nvSpPr>
          <p:cNvPr id="32" name="TextBox 31"/>
          <p:cNvSpPr txBox="1"/>
          <p:nvPr/>
        </p:nvSpPr>
        <p:spPr>
          <a:xfrm>
            <a:off x="576072" y="4453128"/>
            <a:ext cx="10917936" cy="373888"/>
          </a:xfrm>
          <a:prstGeom prst="rect">
            <a:avLst/>
          </a:prstGeom>
          <a:noFill/>
        </p:spPr>
        <p:txBody>
          <a:bodyPr wrap="square" lIns="0" rIns="0" tIns="0" bIns="0" anchor="t">
            <a:spAutoFit/>
          </a:bodyPr>
          <a:lstStyle/>
          <a:p>
            <a:pPr algn="l">
              <a:lnSpc>
                <a:spcPct val="103000"/>
              </a:lnSpc>
              <a:spcAft>
                <a:spcPts val="400"/>
              </a:spcAft>
            </a:pPr>
            <a:r>
              <a:rPr sz="1100" b="1" i="0">
                <a:solidFill>
                  <a:srgbClr val="1B9AAA"/>
                </a:solidFill>
                <a:latin typeface="Calibri"/>
              </a:rPr>
              <a:t>"Show me a change to the design that your testbench would NOT catch." </a:t>
            </a:r>
            <a:r>
              <a:rPr sz="1100" b="0" i="0">
                <a:solidFill>
                  <a:srgbClr val="33414F"/>
                </a:solidFill>
                <a:latin typeface="Calibri"/>
              </a:rPr>
              <a:t>If they can answer immediately, they understand verification. If they cannot, they have been testing rather than verifying.</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 · GLOSSARY</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Terms Used in This Topic</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67</a:t>
            </a:r>
          </a:p>
        </p:txBody>
      </p:sp>
      <p:sp>
        <p:nvSpPr>
          <p:cNvPr id="9" name="Rectangle 8"/>
          <p:cNvSpPr/>
          <p:nvPr/>
        </p:nvSpPr>
        <p:spPr>
          <a:xfrm>
            <a:off x="411480" y="1143000"/>
            <a:ext cx="2377440" cy="27432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7200" y="1143000"/>
            <a:ext cx="2286000" cy="27432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Term</a:t>
            </a:r>
          </a:p>
        </p:txBody>
      </p:sp>
      <p:sp>
        <p:nvSpPr>
          <p:cNvPr id="11" name="Rectangle 10"/>
          <p:cNvSpPr/>
          <p:nvPr/>
        </p:nvSpPr>
        <p:spPr>
          <a:xfrm>
            <a:off x="2788920" y="1143000"/>
            <a:ext cx="8869680" cy="27432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2834640" y="1143000"/>
            <a:ext cx="8778240" cy="27432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Meaning</a:t>
            </a:r>
          </a:p>
        </p:txBody>
      </p:sp>
      <p:sp>
        <p:nvSpPr>
          <p:cNvPr id="13" name="Rectangle 12"/>
          <p:cNvSpPr/>
          <p:nvPr/>
        </p:nvSpPr>
        <p:spPr>
          <a:xfrm>
            <a:off x="411480" y="1417320"/>
            <a:ext cx="237744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57200" y="1417320"/>
            <a:ext cx="2286000" cy="274320"/>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Verification</a:t>
            </a:r>
          </a:p>
        </p:txBody>
      </p:sp>
      <p:sp>
        <p:nvSpPr>
          <p:cNvPr id="15" name="Rectangle 14"/>
          <p:cNvSpPr/>
          <p:nvPr/>
        </p:nvSpPr>
        <p:spPr>
          <a:xfrm>
            <a:off x="2788920" y="1417320"/>
            <a:ext cx="886968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834640" y="1417320"/>
            <a:ext cx="8778240" cy="27432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establishing that a design does what its specification says.</a:t>
            </a:r>
          </a:p>
        </p:txBody>
      </p:sp>
      <p:sp>
        <p:nvSpPr>
          <p:cNvPr id="17" name="Rectangle 16"/>
          <p:cNvSpPr/>
          <p:nvPr/>
        </p:nvSpPr>
        <p:spPr>
          <a:xfrm>
            <a:off x="411480" y="1691640"/>
            <a:ext cx="237744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57200" y="1691640"/>
            <a:ext cx="2286000" cy="274320"/>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Validation</a:t>
            </a:r>
          </a:p>
        </p:txBody>
      </p:sp>
      <p:sp>
        <p:nvSpPr>
          <p:cNvPr id="19" name="Rectangle 18"/>
          <p:cNvSpPr/>
          <p:nvPr/>
        </p:nvSpPr>
        <p:spPr>
          <a:xfrm>
            <a:off x="2788920" y="1691640"/>
            <a:ext cx="886968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834640" y="1691640"/>
            <a:ext cx="8778240" cy="27432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establishing that the specification was the right one. A different question, usually answered by somebody else.</a:t>
            </a:r>
          </a:p>
        </p:txBody>
      </p:sp>
      <p:sp>
        <p:nvSpPr>
          <p:cNvPr id="21" name="Rectangle 20"/>
          <p:cNvSpPr/>
          <p:nvPr/>
        </p:nvSpPr>
        <p:spPr>
          <a:xfrm>
            <a:off x="411480" y="1965960"/>
            <a:ext cx="237744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57200" y="1965960"/>
            <a:ext cx="2286000" cy="274320"/>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DUT</a:t>
            </a:r>
          </a:p>
        </p:txBody>
      </p:sp>
      <p:sp>
        <p:nvSpPr>
          <p:cNvPr id="23" name="Rectangle 22"/>
          <p:cNvSpPr/>
          <p:nvPr/>
        </p:nvSpPr>
        <p:spPr>
          <a:xfrm>
            <a:off x="2788920" y="1965960"/>
            <a:ext cx="886968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2834640" y="1965960"/>
            <a:ext cx="8778240" cy="27432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device under test — the design the testbench instantiates.</a:t>
            </a:r>
          </a:p>
        </p:txBody>
      </p:sp>
      <p:sp>
        <p:nvSpPr>
          <p:cNvPr id="25" name="Rectangle 24"/>
          <p:cNvSpPr/>
          <p:nvPr/>
        </p:nvSpPr>
        <p:spPr>
          <a:xfrm>
            <a:off x="411480" y="2240280"/>
            <a:ext cx="237744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57200" y="2240280"/>
            <a:ext cx="2286000" cy="274320"/>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Testbench</a:t>
            </a:r>
          </a:p>
        </p:txBody>
      </p:sp>
      <p:sp>
        <p:nvSpPr>
          <p:cNvPr id="27" name="Rectangle 26"/>
          <p:cNvSpPr/>
          <p:nvPr/>
        </p:nvSpPr>
        <p:spPr>
          <a:xfrm>
            <a:off x="2788920" y="2240280"/>
            <a:ext cx="886968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2834640" y="2240280"/>
            <a:ext cx="8778240" cy="27432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a port-less module that instantiates the DUT, drives it, and decides automatically whether the results were correct.</a:t>
            </a:r>
          </a:p>
        </p:txBody>
      </p:sp>
      <p:sp>
        <p:nvSpPr>
          <p:cNvPr id="29" name="Rectangle 28"/>
          <p:cNvSpPr/>
          <p:nvPr/>
        </p:nvSpPr>
        <p:spPr>
          <a:xfrm>
            <a:off x="411480" y="2514600"/>
            <a:ext cx="237744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57200" y="2514600"/>
            <a:ext cx="2286000" cy="274320"/>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Self-checking</a:t>
            </a:r>
          </a:p>
        </p:txBody>
      </p:sp>
      <p:sp>
        <p:nvSpPr>
          <p:cNvPr id="31" name="Rectangle 30"/>
          <p:cNvSpPr/>
          <p:nvPr/>
        </p:nvSpPr>
        <p:spPr>
          <a:xfrm>
            <a:off x="2788920" y="2514600"/>
            <a:ext cx="886968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2834640" y="2514600"/>
            <a:ext cx="8778240" cy="27432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the testbench forms its own verdict; no human reads a waveform to decide.</a:t>
            </a:r>
          </a:p>
        </p:txBody>
      </p:sp>
      <p:sp>
        <p:nvSpPr>
          <p:cNvPr id="33" name="Rectangle 32"/>
          <p:cNvSpPr/>
          <p:nvPr/>
        </p:nvSpPr>
        <p:spPr>
          <a:xfrm>
            <a:off x="411480" y="2788920"/>
            <a:ext cx="237744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 y="2788920"/>
            <a:ext cx="2286000" cy="274320"/>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Reference model</a:t>
            </a:r>
          </a:p>
        </p:txBody>
      </p:sp>
      <p:sp>
        <p:nvSpPr>
          <p:cNvPr id="35" name="Rectangle 34"/>
          <p:cNvSpPr/>
          <p:nvPr/>
        </p:nvSpPr>
        <p:spPr>
          <a:xfrm>
            <a:off x="2788920" y="2788920"/>
            <a:ext cx="886968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834640" y="2788920"/>
            <a:ext cx="8778240" cy="27432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an independent implementation of the specification, written from the spec, used to compute expected results.</a:t>
            </a:r>
          </a:p>
        </p:txBody>
      </p:sp>
      <p:sp>
        <p:nvSpPr>
          <p:cNvPr id="37" name="Rectangle 36"/>
          <p:cNvSpPr/>
          <p:nvPr/>
        </p:nvSpPr>
        <p:spPr>
          <a:xfrm>
            <a:off x="411480" y="3063240"/>
            <a:ext cx="237744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57200" y="3063240"/>
            <a:ext cx="2286000" cy="274320"/>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Scoreboard</a:t>
            </a:r>
          </a:p>
        </p:txBody>
      </p:sp>
      <p:sp>
        <p:nvSpPr>
          <p:cNvPr id="39" name="Rectangle 38"/>
          <p:cNvSpPr/>
          <p:nvPr/>
        </p:nvSpPr>
        <p:spPr>
          <a:xfrm>
            <a:off x="2788920" y="3063240"/>
            <a:ext cx="886968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2834640" y="3063240"/>
            <a:ext cx="8778240" cy="27432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the component that compares DUT behaviour against the model.</a:t>
            </a:r>
          </a:p>
        </p:txBody>
      </p:sp>
      <p:sp>
        <p:nvSpPr>
          <p:cNvPr id="41" name="Rectangle 40"/>
          <p:cNvSpPr/>
          <p:nvPr/>
        </p:nvSpPr>
        <p:spPr>
          <a:xfrm>
            <a:off x="411480" y="3337560"/>
            <a:ext cx="237744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457200" y="3337560"/>
            <a:ext cx="2286000" cy="274320"/>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Directed test</a:t>
            </a:r>
          </a:p>
        </p:txBody>
      </p:sp>
      <p:sp>
        <p:nvSpPr>
          <p:cNvPr id="43" name="Rectangle 42"/>
          <p:cNvSpPr/>
          <p:nvPr/>
        </p:nvSpPr>
        <p:spPr>
          <a:xfrm>
            <a:off x="2788920" y="3337560"/>
            <a:ext cx="886968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2834640" y="3337560"/>
            <a:ext cx="8778240" cy="27432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a test whose case and expected result you wrote by hand.</a:t>
            </a:r>
          </a:p>
        </p:txBody>
      </p:sp>
      <p:sp>
        <p:nvSpPr>
          <p:cNvPr id="45" name="Rectangle 44"/>
          <p:cNvSpPr/>
          <p:nvPr/>
        </p:nvSpPr>
        <p:spPr>
          <a:xfrm>
            <a:off x="411480" y="3611880"/>
            <a:ext cx="237744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57200" y="3611880"/>
            <a:ext cx="2286000" cy="274320"/>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Constrained-random</a:t>
            </a:r>
          </a:p>
        </p:txBody>
      </p:sp>
      <p:sp>
        <p:nvSpPr>
          <p:cNvPr id="47" name="Rectangle 46"/>
          <p:cNvSpPr/>
          <p:nvPr/>
        </p:nvSpPr>
        <p:spPr>
          <a:xfrm>
            <a:off x="2788920" y="3611880"/>
            <a:ext cx="886968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2834640" y="3611880"/>
            <a:ext cx="8778240" cy="27432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stimulus generated by weighted random choice within constraints you specify.</a:t>
            </a:r>
          </a:p>
        </p:txBody>
      </p:sp>
      <p:sp>
        <p:nvSpPr>
          <p:cNvPr id="49" name="Rectangle 48"/>
          <p:cNvSpPr/>
          <p:nvPr/>
        </p:nvSpPr>
        <p:spPr>
          <a:xfrm>
            <a:off x="411480" y="3886200"/>
            <a:ext cx="237744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457200" y="3886200"/>
            <a:ext cx="2286000" cy="274320"/>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Seed</a:t>
            </a:r>
          </a:p>
        </p:txBody>
      </p:sp>
      <p:sp>
        <p:nvSpPr>
          <p:cNvPr id="51" name="Rectangle 50"/>
          <p:cNvSpPr/>
          <p:nvPr/>
        </p:nvSpPr>
        <p:spPr>
          <a:xfrm>
            <a:off x="2788920" y="3886200"/>
            <a:ext cx="886968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2834640" y="3886200"/>
            <a:ext cx="8778240" cy="27432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the number that makes a random run reproducible.</a:t>
            </a:r>
          </a:p>
        </p:txBody>
      </p:sp>
      <p:sp>
        <p:nvSpPr>
          <p:cNvPr id="53" name="Rectangle 52"/>
          <p:cNvSpPr/>
          <p:nvPr/>
        </p:nvSpPr>
        <p:spPr>
          <a:xfrm>
            <a:off x="411480" y="4160520"/>
            <a:ext cx="237744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457200" y="4160520"/>
            <a:ext cx="2286000" cy="274320"/>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Regression</a:t>
            </a:r>
          </a:p>
        </p:txBody>
      </p:sp>
      <p:sp>
        <p:nvSpPr>
          <p:cNvPr id="55" name="Rectangle 54"/>
          <p:cNvSpPr/>
          <p:nvPr/>
        </p:nvSpPr>
        <p:spPr>
          <a:xfrm>
            <a:off x="2788920" y="4160520"/>
            <a:ext cx="886968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2834640" y="4160520"/>
            <a:ext cx="8778240" cy="27432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the full set of tests, run automatically after every change.</a:t>
            </a:r>
          </a:p>
        </p:txBody>
      </p:sp>
      <p:sp>
        <p:nvSpPr>
          <p:cNvPr id="57" name="Rectangle 56"/>
          <p:cNvSpPr/>
          <p:nvPr/>
        </p:nvSpPr>
        <p:spPr>
          <a:xfrm>
            <a:off x="411480" y="4434840"/>
            <a:ext cx="237744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457200" y="4434840"/>
            <a:ext cx="2286000" cy="274320"/>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Code coverage</a:t>
            </a:r>
          </a:p>
        </p:txBody>
      </p:sp>
      <p:sp>
        <p:nvSpPr>
          <p:cNvPr id="59" name="Rectangle 58"/>
          <p:cNvSpPr/>
          <p:nvPr/>
        </p:nvSpPr>
        <p:spPr>
          <a:xfrm>
            <a:off x="2788920" y="4434840"/>
            <a:ext cx="886968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2834640" y="4434840"/>
            <a:ext cx="8778240" cy="27432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which lines, branches, conditions and toggles the tests reached.</a:t>
            </a:r>
          </a:p>
        </p:txBody>
      </p:sp>
      <p:sp>
        <p:nvSpPr>
          <p:cNvPr id="61" name="Rectangle 60"/>
          <p:cNvSpPr/>
          <p:nvPr/>
        </p:nvSpPr>
        <p:spPr>
          <a:xfrm>
            <a:off x="411480" y="4709160"/>
            <a:ext cx="237744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457200" y="4709160"/>
            <a:ext cx="2286000" cy="274320"/>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Functional coverage</a:t>
            </a:r>
          </a:p>
        </p:txBody>
      </p:sp>
      <p:sp>
        <p:nvSpPr>
          <p:cNvPr id="63" name="Rectangle 62"/>
          <p:cNvSpPr/>
          <p:nvPr/>
        </p:nvSpPr>
        <p:spPr>
          <a:xfrm>
            <a:off x="2788920" y="4709160"/>
            <a:ext cx="886968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2834640" y="4709160"/>
            <a:ext cx="8778240" cy="27432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which SPECIFICATION-level situations the tests reached. Written by you.</a:t>
            </a:r>
          </a:p>
        </p:txBody>
      </p:sp>
      <p:sp>
        <p:nvSpPr>
          <p:cNvPr id="65" name="Rectangle 64"/>
          <p:cNvSpPr/>
          <p:nvPr/>
        </p:nvSpPr>
        <p:spPr>
          <a:xfrm>
            <a:off x="411480" y="4983480"/>
            <a:ext cx="237744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TextBox 65"/>
          <p:cNvSpPr txBox="1"/>
          <p:nvPr/>
        </p:nvSpPr>
        <p:spPr>
          <a:xfrm>
            <a:off x="457200" y="4983480"/>
            <a:ext cx="2286000" cy="274320"/>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Coverage hole</a:t>
            </a:r>
          </a:p>
        </p:txBody>
      </p:sp>
      <p:sp>
        <p:nvSpPr>
          <p:cNvPr id="67" name="Rectangle 66"/>
          <p:cNvSpPr/>
          <p:nvPr/>
        </p:nvSpPr>
        <p:spPr>
          <a:xfrm>
            <a:off x="2788920" y="4983480"/>
            <a:ext cx="886968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TextBox 67"/>
          <p:cNvSpPr txBox="1"/>
          <p:nvPr/>
        </p:nvSpPr>
        <p:spPr>
          <a:xfrm>
            <a:off x="2834640" y="4983480"/>
            <a:ext cx="8778240" cy="27432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a bin nothing ever hit — a gap in testing, not a failure.</a:t>
            </a:r>
          </a:p>
        </p:txBody>
      </p:sp>
      <p:sp>
        <p:nvSpPr>
          <p:cNvPr id="69" name="Rectangle 68"/>
          <p:cNvSpPr/>
          <p:nvPr/>
        </p:nvSpPr>
        <p:spPr>
          <a:xfrm>
            <a:off x="411480" y="5257800"/>
            <a:ext cx="237744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TextBox 69"/>
          <p:cNvSpPr txBox="1"/>
          <p:nvPr/>
        </p:nvSpPr>
        <p:spPr>
          <a:xfrm>
            <a:off x="457200" y="5257800"/>
            <a:ext cx="2286000" cy="274320"/>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Assertion</a:t>
            </a:r>
          </a:p>
        </p:txBody>
      </p:sp>
      <p:sp>
        <p:nvSpPr>
          <p:cNvPr id="71" name="Rectangle 70"/>
          <p:cNvSpPr/>
          <p:nvPr/>
        </p:nvSpPr>
        <p:spPr>
          <a:xfrm>
            <a:off x="2788920" y="5257800"/>
            <a:ext cx="886968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TextBox 71"/>
          <p:cNvSpPr txBox="1"/>
          <p:nvPr/>
        </p:nvSpPr>
        <p:spPr>
          <a:xfrm>
            <a:off x="2834640" y="5257800"/>
            <a:ext cx="8778240" cy="27432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a rule stated in the design's own language and checked on every clock edge.</a:t>
            </a:r>
          </a:p>
        </p:txBody>
      </p:sp>
      <p:sp>
        <p:nvSpPr>
          <p:cNvPr id="73" name="Rectangle 72"/>
          <p:cNvSpPr/>
          <p:nvPr/>
        </p:nvSpPr>
        <p:spPr>
          <a:xfrm>
            <a:off x="411480" y="5532120"/>
            <a:ext cx="237744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TextBox 73"/>
          <p:cNvSpPr txBox="1"/>
          <p:nvPr/>
        </p:nvSpPr>
        <p:spPr>
          <a:xfrm>
            <a:off x="457200" y="5532120"/>
            <a:ext cx="2286000" cy="274320"/>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Cover property</a:t>
            </a:r>
          </a:p>
        </p:txBody>
      </p:sp>
      <p:sp>
        <p:nvSpPr>
          <p:cNvPr id="75" name="Rectangle 74"/>
          <p:cNvSpPr/>
          <p:nvPr/>
        </p:nvSpPr>
        <p:spPr>
          <a:xfrm>
            <a:off x="2788920" y="5532120"/>
            <a:ext cx="886968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TextBox 75"/>
          <p:cNvSpPr txBox="1"/>
          <p:nvPr/>
        </p:nvSpPr>
        <p:spPr>
          <a:xfrm>
            <a:off x="2834640" y="5532120"/>
            <a:ext cx="8778240" cy="27432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the same syntax used to RECORD that a situation occurred, rather than to require it.</a:t>
            </a:r>
          </a:p>
        </p:txBody>
      </p:sp>
      <p:sp>
        <p:nvSpPr>
          <p:cNvPr id="77" name="Rectangle 76"/>
          <p:cNvSpPr/>
          <p:nvPr/>
        </p:nvSpPr>
        <p:spPr>
          <a:xfrm>
            <a:off x="411480" y="5806440"/>
            <a:ext cx="237744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TextBox 77"/>
          <p:cNvSpPr txBox="1"/>
          <p:nvPr/>
        </p:nvSpPr>
        <p:spPr>
          <a:xfrm>
            <a:off x="457200" y="5806440"/>
            <a:ext cx="2286000" cy="274320"/>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VCD / FST / WLF</a:t>
            </a:r>
          </a:p>
        </p:txBody>
      </p:sp>
      <p:sp>
        <p:nvSpPr>
          <p:cNvPr id="79" name="Rectangle 78"/>
          <p:cNvSpPr/>
          <p:nvPr/>
        </p:nvSpPr>
        <p:spPr>
          <a:xfrm>
            <a:off x="2788920" y="5806440"/>
            <a:ext cx="886968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0" name="TextBox 79"/>
          <p:cNvSpPr txBox="1"/>
          <p:nvPr/>
        </p:nvSpPr>
        <p:spPr>
          <a:xfrm>
            <a:off x="2834640" y="5806440"/>
            <a:ext cx="8778240" cy="27432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waveform file formats — plain, compressed, and vendor-native.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5 · RECAP</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Ten Things That Matter</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5: RTL Simulation and Verification</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M2-T5 · 68</a:t>
            </a:r>
          </a:p>
        </p:txBody>
      </p:sp>
      <p:sp>
        <p:nvSpPr>
          <p:cNvPr id="9" name="TextBox 8"/>
          <p:cNvSpPr txBox="1"/>
          <p:nvPr/>
        </p:nvSpPr>
        <p:spPr>
          <a:xfrm>
            <a:off x="411480" y="1143000"/>
            <a:ext cx="182880" cy="329184"/>
          </a:xfrm>
          <a:prstGeom prst="rect">
            <a:avLst/>
          </a:prstGeom>
          <a:noFill/>
        </p:spPr>
        <p:txBody>
          <a:bodyPr wrap="square" lIns="0" rIns="0" tIns="0" bIns="0" anchor="ctr">
            <a:spAutoFit/>
          </a:bodyPr>
          <a:lstStyle/>
          <a:p>
            <a:pPr algn="l">
              <a:lnSpc>
                <a:spcPct val="103000"/>
              </a:lnSpc>
            </a:pPr>
            <a:r>
              <a:rPr sz="920" b="1" i="0">
                <a:solidFill>
                  <a:srgbClr val="1B9AAA"/>
                </a:solidFill>
                <a:latin typeface="Calibri"/>
              </a:rPr>
              <a:t>▪</a:t>
            </a:r>
          </a:p>
        </p:txBody>
      </p:sp>
      <p:sp>
        <p:nvSpPr>
          <p:cNvPr id="10" name="TextBox 9"/>
          <p:cNvSpPr txBox="1"/>
          <p:nvPr/>
        </p:nvSpPr>
        <p:spPr>
          <a:xfrm>
            <a:off x="640080" y="1143000"/>
            <a:ext cx="11018520" cy="329184"/>
          </a:xfrm>
          <a:prstGeom prst="rect">
            <a:avLst/>
          </a:prstGeom>
          <a:noFill/>
        </p:spPr>
        <p:txBody>
          <a:bodyPr wrap="square" lIns="0" rIns="0" tIns="0" bIns="0" anchor="ctr">
            <a:spAutoFit/>
          </a:bodyPr>
          <a:lstStyle/>
          <a:p>
            <a:pPr algn="l">
              <a:lnSpc>
                <a:spcPct val="103000"/>
              </a:lnSpc>
            </a:pPr>
            <a:r>
              <a:rPr sz="1100" b="0" i="0">
                <a:solidFill>
                  <a:srgbClr val="33414F"/>
                </a:solidFill>
                <a:latin typeface="Calibri"/>
              </a:rPr>
              <a:t>A testbench is finished when it would FAIL if the design were wrong — not when it passes.</a:t>
            </a:r>
          </a:p>
        </p:txBody>
      </p:sp>
      <p:sp>
        <p:nvSpPr>
          <p:cNvPr id="11" name="TextBox 10"/>
          <p:cNvSpPr txBox="1"/>
          <p:nvPr/>
        </p:nvSpPr>
        <p:spPr>
          <a:xfrm>
            <a:off x="411480" y="1472184"/>
            <a:ext cx="182880" cy="329184"/>
          </a:xfrm>
          <a:prstGeom prst="rect">
            <a:avLst/>
          </a:prstGeom>
          <a:noFill/>
        </p:spPr>
        <p:txBody>
          <a:bodyPr wrap="square" lIns="0" rIns="0" tIns="0" bIns="0" anchor="ctr">
            <a:spAutoFit/>
          </a:bodyPr>
          <a:lstStyle/>
          <a:p>
            <a:pPr algn="l">
              <a:lnSpc>
                <a:spcPct val="103000"/>
              </a:lnSpc>
            </a:pPr>
            <a:r>
              <a:rPr sz="920" b="1" i="0">
                <a:solidFill>
                  <a:srgbClr val="1B9AAA"/>
                </a:solidFill>
                <a:latin typeface="Calibri"/>
              </a:rPr>
              <a:t>▪</a:t>
            </a:r>
          </a:p>
        </p:txBody>
      </p:sp>
      <p:sp>
        <p:nvSpPr>
          <p:cNvPr id="12" name="TextBox 11"/>
          <p:cNvSpPr txBox="1"/>
          <p:nvPr/>
        </p:nvSpPr>
        <p:spPr>
          <a:xfrm>
            <a:off x="640080" y="1472184"/>
            <a:ext cx="11018520" cy="329184"/>
          </a:xfrm>
          <a:prstGeom prst="rect">
            <a:avLst/>
          </a:prstGeom>
          <a:noFill/>
        </p:spPr>
        <p:txBody>
          <a:bodyPr wrap="square" lIns="0" rIns="0" tIns="0" bIns="0" anchor="ctr">
            <a:spAutoFit/>
          </a:bodyPr>
          <a:lstStyle/>
          <a:p>
            <a:pPr algn="l">
              <a:lnSpc>
                <a:spcPct val="103000"/>
              </a:lnSpc>
            </a:pPr>
            <a:r>
              <a:rPr sz="1100" b="0" i="0">
                <a:solidFill>
                  <a:srgbClr val="33414F"/>
                </a:solidFill>
                <a:latin typeface="Calibri"/>
              </a:rPr>
              <a:t>Every testbench has six parts, and the one people omit is the verdict and the watchdog.</a:t>
            </a:r>
          </a:p>
        </p:txBody>
      </p:sp>
      <p:sp>
        <p:nvSpPr>
          <p:cNvPr id="13" name="TextBox 12"/>
          <p:cNvSpPr txBox="1"/>
          <p:nvPr/>
        </p:nvSpPr>
        <p:spPr>
          <a:xfrm>
            <a:off x="411480" y="1801368"/>
            <a:ext cx="182880" cy="329184"/>
          </a:xfrm>
          <a:prstGeom prst="rect">
            <a:avLst/>
          </a:prstGeom>
          <a:noFill/>
        </p:spPr>
        <p:txBody>
          <a:bodyPr wrap="square" lIns="0" rIns="0" tIns="0" bIns="0" anchor="ctr">
            <a:spAutoFit/>
          </a:bodyPr>
          <a:lstStyle/>
          <a:p>
            <a:pPr algn="l">
              <a:lnSpc>
                <a:spcPct val="103000"/>
              </a:lnSpc>
            </a:pPr>
            <a:r>
              <a:rPr sz="920" b="1" i="0">
                <a:solidFill>
                  <a:srgbClr val="1B9AAA"/>
                </a:solidFill>
                <a:latin typeface="Calibri"/>
              </a:rPr>
              <a:t>▪</a:t>
            </a:r>
          </a:p>
        </p:txBody>
      </p:sp>
      <p:sp>
        <p:nvSpPr>
          <p:cNvPr id="14" name="TextBox 13"/>
          <p:cNvSpPr txBox="1"/>
          <p:nvPr/>
        </p:nvSpPr>
        <p:spPr>
          <a:xfrm>
            <a:off x="640080" y="1801368"/>
            <a:ext cx="11018520" cy="329184"/>
          </a:xfrm>
          <a:prstGeom prst="rect">
            <a:avLst/>
          </a:prstGeom>
          <a:noFill/>
        </p:spPr>
        <p:txBody>
          <a:bodyPr wrap="square" lIns="0" rIns="0" tIns="0" bIns="0" anchor="ctr">
            <a:spAutoFit/>
          </a:bodyPr>
          <a:lstStyle/>
          <a:p>
            <a:pPr algn="l">
              <a:lnSpc>
                <a:spcPct val="103000"/>
              </a:lnSpc>
            </a:pPr>
            <a:r>
              <a:rPr sz="1100" b="0" i="0">
                <a:solidFill>
                  <a:srgbClr val="33414F"/>
                </a:solidFill>
                <a:latin typeface="Calibri"/>
              </a:rPr>
              <a:t>Drive stimulus just AFTER the clock edge; sample just before the next one. Never on the edge.</a:t>
            </a:r>
          </a:p>
        </p:txBody>
      </p:sp>
      <p:sp>
        <p:nvSpPr>
          <p:cNvPr id="15" name="TextBox 14"/>
          <p:cNvSpPr txBox="1"/>
          <p:nvPr/>
        </p:nvSpPr>
        <p:spPr>
          <a:xfrm>
            <a:off x="411480" y="2130552"/>
            <a:ext cx="182880" cy="329184"/>
          </a:xfrm>
          <a:prstGeom prst="rect">
            <a:avLst/>
          </a:prstGeom>
          <a:noFill/>
        </p:spPr>
        <p:txBody>
          <a:bodyPr wrap="square" lIns="0" rIns="0" tIns="0" bIns="0" anchor="ctr">
            <a:spAutoFit/>
          </a:bodyPr>
          <a:lstStyle/>
          <a:p>
            <a:pPr algn="l">
              <a:lnSpc>
                <a:spcPct val="103000"/>
              </a:lnSpc>
            </a:pPr>
            <a:r>
              <a:rPr sz="920" b="1" i="0">
                <a:solidFill>
                  <a:srgbClr val="1B9AAA"/>
                </a:solidFill>
                <a:latin typeface="Calibri"/>
              </a:rPr>
              <a:t>▪</a:t>
            </a:r>
          </a:p>
        </p:txBody>
      </p:sp>
      <p:sp>
        <p:nvSpPr>
          <p:cNvPr id="16" name="TextBox 15"/>
          <p:cNvSpPr txBox="1"/>
          <p:nvPr/>
        </p:nvSpPr>
        <p:spPr>
          <a:xfrm>
            <a:off x="640080" y="2130552"/>
            <a:ext cx="11018520" cy="329184"/>
          </a:xfrm>
          <a:prstGeom prst="rect">
            <a:avLst/>
          </a:prstGeom>
          <a:noFill/>
        </p:spPr>
        <p:txBody>
          <a:bodyPr wrap="square" lIns="0" rIns="0" tIns="0" bIns="0" anchor="ctr">
            <a:spAutoFit/>
          </a:bodyPr>
          <a:lstStyle/>
          <a:p>
            <a:pPr algn="l">
              <a:lnSpc>
                <a:spcPct val="103000"/>
              </a:lnSpc>
            </a:pPr>
            <a:r>
              <a:rPr sz="1100" b="0" i="0">
                <a:solidFill>
                  <a:srgbClr val="33414F"/>
                </a:solidFill>
                <a:latin typeface="Calibri"/>
              </a:rPr>
              <a:t>Expected values come from an independent model of the SPECIFICATION, never from the RTL.</a:t>
            </a:r>
          </a:p>
        </p:txBody>
      </p:sp>
      <p:sp>
        <p:nvSpPr>
          <p:cNvPr id="17" name="TextBox 16"/>
          <p:cNvSpPr txBox="1"/>
          <p:nvPr/>
        </p:nvSpPr>
        <p:spPr>
          <a:xfrm>
            <a:off x="411480" y="2459736"/>
            <a:ext cx="182880" cy="329184"/>
          </a:xfrm>
          <a:prstGeom prst="rect">
            <a:avLst/>
          </a:prstGeom>
          <a:noFill/>
        </p:spPr>
        <p:txBody>
          <a:bodyPr wrap="square" lIns="0" rIns="0" tIns="0" bIns="0" anchor="ctr">
            <a:spAutoFit/>
          </a:bodyPr>
          <a:lstStyle/>
          <a:p>
            <a:pPr algn="l">
              <a:lnSpc>
                <a:spcPct val="103000"/>
              </a:lnSpc>
            </a:pPr>
            <a:r>
              <a:rPr sz="920" b="1" i="0">
                <a:solidFill>
                  <a:srgbClr val="1B9AAA"/>
                </a:solidFill>
                <a:latin typeface="Calibri"/>
              </a:rPr>
              <a:t>▪</a:t>
            </a:r>
          </a:p>
        </p:txBody>
      </p:sp>
      <p:sp>
        <p:nvSpPr>
          <p:cNvPr id="18" name="TextBox 17"/>
          <p:cNvSpPr txBox="1"/>
          <p:nvPr/>
        </p:nvSpPr>
        <p:spPr>
          <a:xfrm>
            <a:off x="640080" y="2459736"/>
            <a:ext cx="11018520" cy="329184"/>
          </a:xfrm>
          <a:prstGeom prst="rect">
            <a:avLst/>
          </a:prstGeom>
          <a:noFill/>
        </p:spPr>
        <p:txBody>
          <a:bodyPr wrap="square" lIns="0" rIns="0" tIns="0" bIns="0" anchor="ctr">
            <a:spAutoFit/>
          </a:bodyPr>
          <a:lstStyle/>
          <a:p>
            <a:pPr algn="l">
              <a:lnSpc>
                <a:spcPct val="103000"/>
              </a:lnSpc>
            </a:pPr>
            <a:r>
              <a:rPr sz="1100" b="0" i="0">
                <a:solidFill>
                  <a:srgbClr val="33414F"/>
                </a:solidFill>
                <a:latin typeface="Calibri"/>
              </a:rPr>
              <a:t>A model must sample the state ONCE, before applying any operation — exactly as the hardware does.</a:t>
            </a:r>
          </a:p>
        </p:txBody>
      </p:sp>
      <p:sp>
        <p:nvSpPr>
          <p:cNvPr id="19" name="TextBox 18"/>
          <p:cNvSpPr txBox="1"/>
          <p:nvPr/>
        </p:nvSpPr>
        <p:spPr>
          <a:xfrm>
            <a:off x="411480" y="2788920"/>
            <a:ext cx="182880" cy="329184"/>
          </a:xfrm>
          <a:prstGeom prst="rect">
            <a:avLst/>
          </a:prstGeom>
          <a:noFill/>
        </p:spPr>
        <p:txBody>
          <a:bodyPr wrap="square" lIns="0" rIns="0" tIns="0" bIns="0" anchor="ctr">
            <a:spAutoFit/>
          </a:bodyPr>
          <a:lstStyle/>
          <a:p>
            <a:pPr algn="l">
              <a:lnSpc>
                <a:spcPct val="103000"/>
              </a:lnSpc>
            </a:pPr>
            <a:r>
              <a:rPr sz="920" b="1" i="0">
                <a:solidFill>
                  <a:srgbClr val="1B9AAA"/>
                </a:solidFill>
                <a:latin typeface="Calibri"/>
              </a:rPr>
              <a:t>▪</a:t>
            </a:r>
          </a:p>
        </p:txBody>
      </p:sp>
      <p:sp>
        <p:nvSpPr>
          <p:cNvPr id="20" name="TextBox 19"/>
          <p:cNvSpPr txBox="1"/>
          <p:nvPr/>
        </p:nvSpPr>
        <p:spPr>
          <a:xfrm>
            <a:off x="640080" y="2788920"/>
            <a:ext cx="11018520" cy="329184"/>
          </a:xfrm>
          <a:prstGeom prst="rect">
            <a:avLst/>
          </a:prstGeom>
          <a:noFill/>
        </p:spPr>
        <p:txBody>
          <a:bodyPr wrap="square" lIns="0" rIns="0" tIns="0" bIns="0" anchor="ctr">
            <a:spAutoFit/>
          </a:bodyPr>
          <a:lstStyle/>
          <a:p>
            <a:pPr algn="l">
              <a:lnSpc>
                <a:spcPct val="103000"/>
              </a:lnSpc>
            </a:pPr>
            <a:r>
              <a:rPr sz="1100" b="0" i="0">
                <a:solidFill>
                  <a:srgbClr val="33414F"/>
                </a:solidFill>
                <a:latin typeface="Calibri"/>
              </a:rPr>
              <a:t>Constrained-random finds the corner nobody writes a directed test for. Seed it, and print the seed.</a:t>
            </a:r>
          </a:p>
        </p:txBody>
      </p:sp>
      <p:sp>
        <p:nvSpPr>
          <p:cNvPr id="21" name="TextBox 20"/>
          <p:cNvSpPr txBox="1"/>
          <p:nvPr/>
        </p:nvSpPr>
        <p:spPr>
          <a:xfrm>
            <a:off x="411480" y="3118104"/>
            <a:ext cx="182880" cy="329184"/>
          </a:xfrm>
          <a:prstGeom prst="rect">
            <a:avLst/>
          </a:prstGeom>
          <a:noFill/>
        </p:spPr>
        <p:txBody>
          <a:bodyPr wrap="square" lIns="0" rIns="0" tIns="0" bIns="0" anchor="ctr">
            <a:spAutoFit/>
          </a:bodyPr>
          <a:lstStyle/>
          <a:p>
            <a:pPr algn="l">
              <a:lnSpc>
                <a:spcPct val="103000"/>
              </a:lnSpc>
            </a:pPr>
            <a:r>
              <a:rPr sz="920" b="1" i="0">
                <a:solidFill>
                  <a:srgbClr val="1B9AAA"/>
                </a:solidFill>
                <a:latin typeface="Calibri"/>
              </a:rPr>
              <a:t>▪</a:t>
            </a:r>
          </a:p>
        </p:txBody>
      </p:sp>
      <p:sp>
        <p:nvSpPr>
          <p:cNvPr id="22" name="TextBox 21"/>
          <p:cNvSpPr txBox="1"/>
          <p:nvPr/>
        </p:nvSpPr>
        <p:spPr>
          <a:xfrm>
            <a:off x="640080" y="3118104"/>
            <a:ext cx="11018520" cy="329184"/>
          </a:xfrm>
          <a:prstGeom prst="rect">
            <a:avLst/>
          </a:prstGeom>
          <a:noFill/>
        </p:spPr>
        <p:txBody>
          <a:bodyPr wrap="square" lIns="0" rIns="0" tIns="0" bIns="0" anchor="ctr">
            <a:spAutoFit/>
          </a:bodyPr>
          <a:lstStyle/>
          <a:p>
            <a:pPr algn="l">
              <a:lnSpc>
                <a:spcPct val="103000"/>
              </a:lnSpc>
            </a:pPr>
            <a:r>
              <a:rPr sz="1100" b="0" i="0">
                <a:solidFill>
                  <a:srgbClr val="33414F"/>
                </a:solidFill>
                <a:latin typeface="Calibri"/>
              </a:rPr>
              <a:t>Coverage is what turns "it passed" into "here is what was tested". Merge it across the regression.</a:t>
            </a:r>
          </a:p>
        </p:txBody>
      </p:sp>
      <p:sp>
        <p:nvSpPr>
          <p:cNvPr id="23" name="TextBox 22"/>
          <p:cNvSpPr txBox="1"/>
          <p:nvPr/>
        </p:nvSpPr>
        <p:spPr>
          <a:xfrm>
            <a:off x="411480" y="3447288"/>
            <a:ext cx="182880" cy="329184"/>
          </a:xfrm>
          <a:prstGeom prst="rect">
            <a:avLst/>
          </a:prstGeom>
          <a:noFill/>
        </p:spPr>
        <p:txBody>
          <a:bodyPr wrap="square" lIns="0" rIns="0" tIns="0" bIns="0" anchor="ctr">
            <a:spAutoFit/>
          </a:bodyPr>
          <a:lstStyle/>
          <a:p>
            <a:pPr algn="l">
              <a:lnSpc>
                <a:spcPct val="103000"/>
              </a:lnSpc>
            </a:pPr>
            <a:r>
              <a:rPr sz="920" b="1" i="0">
                <a:solidFill>
                  <a:srgbClr val="1B9AAA"/>
                </a:solidFill>
                <a:latin typeface="Calibri"/>
              </a:rPr>
              <a:t>▪</a:t>
            </a:r>
          </a:p>
        </p:txBody>
      </p:sp>
      <p:sp>
        <p:nvSpPr>
          <p:cNvPr id="24" name="TextBox 23"/>
          <p:cNvSpPr txBox="1"/>
          <p:nvPr/>
        </p:nvSpPr>
        <p:spPr>
          <a:xfrm>
            <a:off x="640080" y="3447288"/>
            <a:ext cx="11018520" cy="329184"/>
          </a:xfrm>
          <a:prstGeom prst="rect">
            <a:avLst/>
          </a:prstGeom>
          <a:noFill/>
        </p:spPr>
        <p:txBody>
          <a:bodyPr wrap="square" lIns="0" rIns="0" tIns="0" bIns="0" anchor="ctr">
            <a:spAutoFit/>
          </a:bodyPr>
          <a:lstStyle/>
          <a:p>
            <a:pPr algn="l">
              <a:lnSpc>
                <a:spcPct val="103000"/>
              </a:lnSpc>
            </a:pPr>
            <a:r>
              <a:rPr sz="1100" b="0" i="0">
                <a:solidFill>
                  <a:srgbClr val="33414F"/>
                </a:solidFill>
                <a:latin typeface="Calibri"/>
              </a:rPr>
              <a:t>Assertions catch a broken rule at the cycle it breaks; scoreboards catch what no assertion describes.</a:t>
            </a:r>
          </a:p>
        </p:txBody>
      </p:sp>
      <p:sp>
        <p:nvSpPr>
          <p:cNvPr id="25" name="TextBox 24"/>
          <p:cNvSpPr txBox="1"/>
          <p:nvPr/>
        </p:nvSpPr>
        <p:spPr>
          <a:xfrm>
            <a:off x="411480" y="3776472"/>
            <a:ext cx="182880" cy="329184"/>
          </a:xfrm>
          <a:prstGeom prst="rect">
            <a:avLst/>
          </a:prstGeom>
          <a:noFill/>
        </p:spPr>
        <p:txBody>
          <a:bodyPr wrap="square" lIns="0" rIns="0" tIns="0" bIns="0" anchor="ctr">
            <a:spAutoFit/>
          </a:bodyPr>
          <a:lstStyle/>
          <a:p>
            <a:pPr algn="l">
              <a:lnSpc>
                <a:spcPct val="103000"/>
              </a:lnSpc>
            </a:pPr>
            <a:r>
              <a:rPr sz="920" b="1" i="0">
                <a:solidFill>
                  <a:srgbClr val="1B9AAA"/>
                </a:solidFill>
                <a:latin typeface="Calibri"/>
              </a:rPr>
              <a:t>▪</a:t>
            </a:r>
          </a:p>
        </p:txBody>
      </p:sp>
      <p:sp>
        <p:nvSpPr>
          <p:cNvPr id="26" name="TextBox 25"/>
          <p:cNvSpPr txBox="1"/>
          <p:nvPr/>
        </p:nvSpPr>
        <p:spPr>
          <a:xfrm>
            <a:off x="640080" y="3776472"/>
            <a:ext cx="11018520" cy="329184"/>
          </a:xfrm>
          <a:prstGeom prst="rect">
            <a:avLst/>
          </a:prstGeom>
          <a:noFill/>
        </p:spPr>
        <p:txBody>
          <a:bodyPr wrap="square" lIns="0" rIns="0" tIns="0" bIns="0" anchor="ctr">
            <a:spAutoFit/>
          </a:bodyPr>
          <a:lstStyle/>
          <a:p>
            <a:pPr algn="l">
              <a:lnSpc>
                <a:spcPct val="103000"/>
              </a:lnSpc>
            </a:pPr>
            <a:r>
              <a:rPr sz="1100" b="0" i="0">
                <a:solidFill>
                  <a:srgbClr val="33414F"/>
                </a:solidFill>
                <a:latin typeface="Calibri"/>
              </a:rPr>
              <a:t>Debug by procedure: first wrong cycle, then walk backwards. Never start at the output.</a:t>
            </a:r>
          </a:p>
        </p:txBody>
      </p:sp>
      <p:sp>
        <p:nvSpPr>
          <p:cNvPr id="27" name="TextBox 26"/>
          <p:cNvSpPr txBox="1"/>
          <p:nvPr/>
        </p:nvSpPr>
        <p:spPr>
          <a:xfrm>
            <a:off x="411480" y="4105656"/>
            <a:ext cx="182880" cy="329184"/>
          </a:xfrm>
          <a:prstGeom prst="rect">
            <a:avLst/>
          </a:prstGeom>
          <a:noFill/>
        </p:spPr>
        <p:txBody>
          <a:bodyPr wrap="square" lIns="0" rIns="0" tIns="0" bIns="0" anchor="ctr">
            <a:spAutoFit/>
          </a:bodyPr>
          <a:lstStyle/>
          <a:p>
            <a:pPr algn="l">
              <a:lnSpc>
                <a:spcPct val="103000"/>
              </a:lnSpc>
            </a:pPr>
            <a:r>
              <a:rPr sz="920" b="1" i="0">
                <a:solidFill>
                  <a:srgbClr val="1B9AAA"/>
                </a:solidFill>
                <a:latin typeface="Calibri"/>
              </a:rPr>
              <a:t>▪</a:t>
            </a:r>
          </a:p>
        </p:txBody>
      </p:sp>
      <p:sp>
        <p:nvSpPr>
          <p:cNvPr id="28" name="TextBox 27"/>
          <p:cNvSpPr txBox="1"/>
          <p:nvPr/>
        </p:nvSpPr>
        <p:spPr>
          <a:xfrm>
            <a:off x="640080" y="4105656"/>
            <a:ext cx="11018520" cy="329184"/>
          </a:xfrm>
          <a:prstGeom prst="rect">
            <a:avLst/>
          </a:prstGeom>
          <a:noFill/>
        </p:spPr>
        <p:txBody>
          <a:bodyPr wrap="square" lIns="0" rIns="0" tIns="0" bIns="0" anchor="ctr">
            <a:spAutoFit/>
          </a:bodyPr>
          <a:lstStyle/>
          <a:p>
            <a:pPr algn="l">
              <a:lnSpc>
                <a:spcPct val="103000"/>
              </a:lnSpc>
            </a:pPr>
            <a:r>
              <a:rPr sz="1100" b="0" i="0">
                <a:solidFill>
                  <a:srgbClr val="33414F"/>
                </a:solidFill>
                <a:latin typeface="Calibri"/>
              </a:rPr>
              <a:t>Lint, then simulate, then measure. Run the regression on every commit, or it will stop working.</a:t>
            </a:r>
          </a:p>
        </p:txBody>
      </p:sp>
      <p:sp>
        <p:nvSpPr>
          <p:cNvPr id="29" name="Rounded Rectangle 28"/>
          <p:cNvSpPr/>
          <p:nvPr/>
        </p:nvSpPr>
        <p:spPr>
          <a:xfrm>
            <a:off x="411480" y="4526280"/>
            <a:ext cx="11247120" cy="82296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76072" y="459028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Where this leads</a:t>
            </a:r>
          </a:p>
        </p:txBody>
      </p:sp>
      <p:sp>
        <p:nvSpPr>
          <p:cNvPr id="31" name="TextBox 30"/>
          <p:cNvSpPr txBox="1"/>
          <p:nvPr/>
        </p:nvSpPr>
        <p:spPr>
          <a:xfrm>
            <a:off x="576072" y="4864608"/>
            <a:ext cx="10917936" cy="42062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Topic 6 takes these verified designs into timing — constraints, setup and hold analysis, and closure. The verification skills here do not stop being needed: every timing fix is a design change, and every design change has to be re-verified. That is what the regression is for.</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9144000" y="-1828800"/>
            <a:ext cx="6400800" cy="64008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1600200"/>
            <a:ext cx="7315200" cy="365760"/>
          </a:xfrm>
          <a:prstGeom prst="rect">
            <a:avLst/>
          </a:prstGeom>
          <a:noFill/>
        </p:spPr>
        <p:txBody>
          <a:bodyPr wrap="square" lIns="0" rIns="0" tIns="0" bIns="0" anchor="ctr">
            <a:spAutoFit/>
          </a:bodyPr>
          <a:lstStyle/>
          <a:p>
            <a:pPr algn="l">
              <a:lnSpc>
                <a:spcPct val="103000"/>
              </a:lnSpc>
            </a:pPr>
            <a:r>
              <a:rPr sz="1400" b="1" i="0" spc="300">
                <a:solidFill>
                  <a:srgbClr val="0E2A47"/>
                </a:solidFill>
                <a:latin typeface="Calibri"/>
              </a:rPr>
              <a:t>TOPIC 5 · COMPLETE</a:t>
            </a:r>
          </a:p>
        </p:txBody>
      </p:sp>
      <p:sp>
        <p:nvSpPr>
          <p:cNvPr id="4" name="TextBox 3"/>
          <p:cNvSpPr txBox="1"/>
          <p:nvPr/>
        </p:nvSpPr>
        <p:spPr>
          <a:xfrm>
            <a:off x="566928" y="2011680"/>
            <a:ext cx="9601200" cy="914400"/>
          </a:xfrm>
          <a:prstGeom prst="rect">
            <a:avLst/>
          </a:prstGeom>
          <a:noFill/>
        </p:spPr>
        <p:txBody>
          <a:bodyPr wrap="square" lIns="0" rIns="0" tIns="0" bIns="0" anchor="ctr">
            <a:spAutoFit/>
          </a:bodyPr>
          <a:lstStyle/>
          <a:p>
            <a:pPr algn="l">
              <a:lnSpc>
                <a:spcPct val="103000"/>
              </a:lnSpc>
            </a:pPr>
            <a:r>
              <a:rPr sz="3000" b="1" i="0">
                <a:solidFill>
                  <a:srgbClr val="FFFFFF"/>
                </a:solidFill>
                <a:latin typeface="Cambria"/>
              </a:rPr>
              <a:t>RTL Simulation and Verification</a:t>
            </a:r>
          </a:p>
        </p:txBody>
      </p:sp>
      <p:sp>
        <p:nvSpPr>
          <p:cNvPr id="5" name="TextBox 4"/>
          <p:cNvSpPr txBox="1"/>
          <p:nvPr/>
        </p:nvSpPr>
        <p:spPr>
          <a:xfrm>
            <a:off x="640080" y="2971800"/>
            <a:ext cx="8686800" cy="640080"/>
          </a:xfrm>
          <a:prstGeom prst="rect">
            <a:avLst/>
          </a:prstGeom>
          <a:noFill/>
        </p:spPr>
        <p:txBody>
          <a:bodyPr wrap="square" lIns="0" rIns="0" tIns="0" bIns="0" anchor="ctr">
            <a:spAutoFit/>
          </a:bodyPr>
          <a:lstStyle/>
          <a:p>
            <a:pPr algn="l">
              <a:lnSpc>
                <a:spcPct val="103000"/>
              </a:lnSpc>
            </a:pPr>
            <a:r>
              <a:rPr sz="1350" b="0" i="0">
                <a:solidFill>
                  <a:srgbClr val="C9D6E3"/>
                </a:solidFill>
                <a:latin typeface="Calibri"/>
              </a:rPr>
              <a:t>Deck · workbook · one DUT · five planted bugs · six testbenches · three toolchains.</a:t>
            </a:r>
          </a:p>
        </p:txBody>
      </p:sp>
      <p:sp>
        <p:nvSpPr>
          <p:cNvPr id="6" name="Rectangle 5"/>
          <p:cNvSpPr/>
          <p:nvPr/>
        </p:nvSpPr>
        <p:spPr>
          <a:xfrm>
            <a:off x="640080" y="3941064"/>
            <a:ext cx="91440" cy="18288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14400" y="38404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Slides: this deck, for delivery</a:t>
            </a:r>
          </a:p>
        </p:txBody>
      </p:sp>
      <p:sp>
        <p:nvSpPr>
          <p:cNvPr id="8" name="Rectangle 7"/>
          <p:cNvSpPr/>
          <p:nvPr/>
        </p:nvSpPr>
        <p:spPr>
          <a:xfrm>
            <a:off x="640080" y="4352544"/>
            <a:ext cx="91440" cy="18288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425196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Workbook: Module2_Topic5_Tutorial_Practice_Workbook.docx — tutorials, exercises and full solutions</a:t>
            </a:r>
          </a:p>
        </p:txBody>
      </p:sp>
      <p:sp>
        <p:nvSpPr>
          <p:cNvPr id="10" name="Rectangle 9"/>
          <p:cNvSpPr/>
          <p:nvPr/>
        </p:nvSpPr>
        <p:spPr>
          <a:xfrm>
            <a:off x="640080" y="4764024"/>
            <a:ext cx="91440" cy="18288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66344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Lab: Topic5_Lab/ — rtl/, tb/, sva/, scripts/, all verified end to end</a:t>
            </a:r>
          </a:p>
        </p:txBody>
      </p:sp>
      <p:sp>
        <p:nvSpPr>
          <p:cNvPr id="12" name="Rectangle 11"/>
          <p:cNvSpPr/>
          <p:nvPr/>
        </p:nvSpPr>
        <p:spPr>
          <a:xfrm>
            <a:off x="640080" y="5175504"/>
            <a:ext cx="91440" cy="18288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507492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Next: Module 2 Topic 6 — timing constraints and analysis</a:t>
            </a:r>
          </a:p>
        </p:txBody>
      </p:sp>
      <p:sp>
        <p:nvSpPr>
          <p:cNvPr id="14" name="TextBox 13"/>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Chip Design Associate · Module 2 · Verilog RTL Coding for Synthesis · Topic 5: RTL Simulation and Verification</a:t>
            </a:r>
          </a:p>
        </p:txBody>
      </p:sp>
      <p:sp>
        <p:nvSpPr>
          <p:cNvPr id="15" name="TextBox 14"/>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M2-T5 · 69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