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6152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8595360" y="-2103120"/>
            <a:ext cx="7315200" cy="73152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9966960" y="-822960"/>
            <a:ext cx="4572000" cy="4572000"/>
          </a:xfrm>
          <a:prstGeom prst="ellipse">
            <a:avLst/>
          </a:prstGeom>
          <a:solidFill>
            <a:srgbClr val="0E2A47"/>
          </a:solidFill>
          <a:ln w="1270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40080" y="1417320"/>
            <a:ext cx="7315200" cy="365760"/>
          </a:xfrm>
          <a:prstGeom prst="rect">
            <a:avLst/>
          </a:prstGeom>
          <a:noFill/>
        </p:spPr>
        <p:txBody>
          <a:bodyPr wrap="square" lIns="0" rIns="0" tIns="0" bIns="0" anchor="ctr">
            <a:spAutoFit/>
          </a:bodyPr>
          <a:lstStyle/>
          <a:p>
            <a:pPr algn="l">
              <a:lnSpc>
                <a:spcPct val="103000"/>
              </a:lnSpc>
            </a:pPr>
            <a:r>
              <a:rPr sz="1500" b="1" i="0" spc="300">
                <a:solidFill>
                  <a:srgbClr val="1B9AAA"/>
                </a:solidFill>
                <a:latin typeface="Calibri"/>
              </a:rPr>
              <a:t>MODULE 2 · TOPIC 2</a:t>
            </a:r>
          </a:p>
        </p:txBody>
      </p:sp>
      <p:sp>
        <p:nvSpPr>
          <p:cNvPr id="5" name="TextBox 4"/>
          <p:cNvSpPr txBox="1"/>
          <p:nvPr/>
        </p:nvSpPr>
        <p:spPr>
          <a:xfrm>
            <a:off x="566928" y="1874520"/>
            <a:ext cx="10424160" cy="1005840"/>
          </a:xfrm>
          <a:prstGeom prst="rect">
            <a:avLst/>
          </a:prstGeom>
          <a:noFill/>
        </p:spPr>
        <p:txBody>
          <a:bodyPr wrap="square" lIns="0" rIns="0" tIns="0" bIns="0" anchor="ctr">
            <a:spAutoFit/>
          </a:bodyPr>
          <a:lstStyle/>
          <a:p>
            <a:pPr algn="l">
              <a:lnSpc>
                <a:spcPct val="103000"/>
              </a:lnSpc>
            </a:pPr>
            <a:r>
              <a:rPr sz="3500" b="1" i="0">
                <a:solidFill>
                  <a:srgbClr val="FFFFFF"/>
                </a:solidFill>
                <a:latin typeface="Cambria"/>
              </a:rPr>
              <a:t>RTL Design Methodology</a:t>
            </a:r>
          </a:p>
        </p:txBody>
      </p:sp>
      <p:sp>
        <p:nvSpPr>
          <p:cNvPr id="6" name="TextBox 5"/>
          <p:cNvSpPr txBox="1"/>
          <p:nvPr/>
        </p:nvSpPr>
        <p:spPr>
          <a:xfrm>
            <a:off x="640080" y="2926080"/>
            <a:ext cx="9418320" cy="640080"/>
          </a:xfrm>
          <a:prstGeom prst="rect">
            <a:avLst/>
          </a:prstGeom>
          <a:noFill/>
        </p:spPr>
        <p:txBody>
          <a:bodyPr wrap="square" lIns="0" rIns="0" tIns="0" bIns="0" anchor="ctr">
            <a:spAutoFit/>
          </a:bodyPr>
          <a:lstStyle/>
          <a:p>
            <a:pPr algn="l">
              <a:lnSpc>
                <a:spcPct val="103000"/>
              </a:lnSpc>
            </a:pPr>
            <a:r>
              <a:rPr sz="1400" b="0" i="0">
                <a:solidFill>
                  <a:srgbClr val="C9D6E3"/>
                </a:solidFill>
                <a:latin typeface="Calibri"/>
              </a:rPr>
              <a:t>Basics of register transfer level (RTL) design  ·  Overview of the RTL design process and methodology  ·  Introduction to hardware description languages such as Verilog or VHDL</a:t>
            </a:r>
          </a:p>
        </p:txBody>
      </p:sp>
      <p:sp>
        <p:nvSpPr>
          <p:cNvPr id="7" name="Oval 6"/>
          <p:cNvSpPr/>
          <p:nvPr/>
        </p:nvSpPr>
        <p:spPr>
          <a:xfrm>
            <a:off x="713232" y="40142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97280" y="39319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Theory 1 · What RTL is — the two kinds of logic, the synchronous discipline, four levels of abstraction</a:t>
            </a:r>
          </a:p>
        </p:txBody>
      </p:sp>
      <p:sp>
        <p:nvSpPr>
          <p:cNvPr id="9" name="Oval 8"/>
          <p:cNvSpPr/>
          <p:nvPr/>
        </p:nvSpPr>
        <p:spPr>
          <a:xfrm>
            <a:off x="713232" y="44714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97280" y="43891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Theory 2 · The methodology — the flow, the synthesisable subset, the rules, and coding style</a:t>
            </a:r>
          </a:p>
        </p:txBody>
      </p:sp>
      <p:sp>
        <p:nvSpPr>
          <p:cNvPr id="11" name="Oval 10"/>
          <p:cNvSpPr/>
          <p:nvPr/>
        </p:nvSpPr>
        <p:spPr>
          <a:xfrm>
            <a:off x="713232" y="49286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97280" y="48463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Theory 3 · The patterns — datapath and controller, state machines, parameters and generate</a:t>
            </a:r>
          </a:p>
        </p:txBody>
      </p:sp>
      <p:sp>
        <p:nvSpPr>
          <p:cNvPr id="13" name="Oval 12"/>
          <p:cNvSpPr/>
          <p:nvPr/>
        </p:nvSpPr>
        <p:spPr>
          <a:xfrm>
            <a:off x="713232" y="53858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97280" y="53035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Theory 4 · HDLs — what one is, and Verilog against VHDL</a:t>
            </a:r>
          </a:p>
        </p:txBody>
      </p:sp>
      <p:sp>
        <p:nvSpPr>
          <p:cNvPr id="15" name="Oval 14"/>
          <p:cNvSpPr/>
          <p:nvPr/>
        </p:nvSpPr>
        <p:spPr>
          <a:xfrm>
            <a:off x="713232" y="58430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97280" y="57607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Practical · Labs A–N · 26 hours · 103 exercises · every number measured</a:t>
            </a:r>
          </a:p>
        </p:txBody>
      </p:sp>
      <p:sp>
        <p:nvSpPr>
          <p:cNvPr id="17" name="TextBox 1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8" name="TextBox 1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MODULE 2 · NOS NIE/ELE/N0102</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Terminal Outcomes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a:t>
            </a:r>
          </a:p>
        </p:txBody>
      </p:sp>
      <p:pic>
        <p:nvPicPr>
          <p:cNvPr id="9" name="Picture 8" descr="terminal_outcomes.png"/>
          <p:cNvPicPr>
            <a:picLocks noChangeAspect="1"/>
          </p:cNvPicPr>
          <p:nvPr/>
        </p:nvPicPr>
        <p:blipFill>
          <a:blip r:embed="rId2"/>
          <a:stretch>
            <a:fillRect/>
          </a:stretch>
        </p:blipFill>
        <p:spPr>
          <a:xfrm>
            <a:off x="3364870" y="1097280"/>
            <a:ext cx="5340341" cy="4389120"/>
          </a:xfrm>
          <a:prstGeom prst="rect">
            <a:avLst/>
          </a:prstGeom>
        </p:spPr>
      </p:pic>
      <p:sp>
        <p:nvSpPr>
          <p:cNvPr id="10" name="Rounded Rectangle 9"/>
          <p:cNvSpPr/>
          <p:nvPr/>
        </p:nvSpPr>
        <p:spPr>
          <a:xfrm>
            <a:off x="411480" y="5577840"/>
            <a:ext cx="11247120" cy="8686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641848"/>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Outcome 2 names this subtopic in the NOS itself</a:t>
            </a:r>
          </a:p>
        </p:txBody>
      </p:sp>
      <p:sp>
        <p:nvSpPr>
          <p:cNvPr id="12" name="TextBox 11"/>
          <p:cNvSpPr txBox="1"/>
          <p:nvPr/>
        </p:nvSpPr>
        <p:spPr>
          <a:xfrm>
            <a:off x="576072" y="5916168"/>
            <a:ext cx="10917936" cy="46634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"Level of abstraction in Verilog programming" is the phrase. This session takes one circuit down all four levels, simulates them together, and proves they are the same — which is the deliverable the outcome asks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MODULE 2 · TOPIC 2</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Key Learning Outcomes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a:t>
            </a:r>
          </a:p>
        </p:txBody>
      </p:sp>
      <p:pic>
        <p:nvPicPr>
          <p:cNvPr id="9" name="Picture 8" descr="learning_outcomes.png"/>
          <p:cNvPicPr>
            <a:picLocks noChangeAspect="1"/>
          </p:cNvPicPr>
          <p:nvPr/>
        </p:nvPicPr>
        <p:blipFill>
          <a:blip r:embed="rId2"/>
          <a:stretch>
            <a:fillRect/>
          </a:stretch>
        </p:blipFill>
        <p:spPr>
          <a:xfrm>
            <a:off x="2838959" y="1097280"/>
            <a:ext cx="6392161" cy="4389120"/>
          </a:xfrm>
          <a:prstGeom prst="rect">
            <a:avLst/>
          </a:prstGeom>
        </p:spPr>
      </p:pic>
      <p:sp>
        <p:nvSpPr>
          <p:cNvPr id="10" name="TextBox 9"/>
          <p:cNvSpPr txBox="1"/>
          <p:nvPr/>
        </p:nvSpPr>
        <p:spPr>
          <a:xfrm>
            <a:off x="411480" y="5577840"/>
            <a:ext cx="11247120" cy="365760"/>
          </a:xfrm>
          <a:prstGeom prst="rect">
            <a:avLst/>
          </a:prstGeom>
          <a:noFill/>
        </p:spPr>
        <p:txBody>
          <a:bodyPr wrap="square" lIns="0" rIns="0" tIns="0" bIns="0" anchor="t">
            <a:spAutoFit/>
          </a:bodyPr>
          <a:lstStyle/>
          <a:p>
            <a:pPr algn="l">
              <a:lnSpc>
                <a:spcPct val="103000"/>
              </a:lnSpc>
              <a:spcAft>
                <a:spcPts val="700"/>
              </a:spcAft>
            </a:pPr>
            <a:r>
              <a:rPr sz="1100" b="1" i="0">
                <a:solidFill>
                  <a:srgbClr val="2A9D5C"/>
                </a:solidFill>
                <a:latin typeface="Calibri"/>
              </a:rPr>
              <a:t>Every outcome is assessed by a command you run, not by something you recite.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2 · COVERAGE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Every Syllabus Phrase, and Where It Is Covered</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a:t>
            </a:r>
          </a:p>
        </p:txBody>
      </p:sp>
      <p:pic>
        <p:nvPicPr>
          <p:cNvPr id="9" name="Picture 8" descr="syllabus_map.png"/>
          <p:cNvPicPr>
            <a:picLocks noChangeAspect="1"/>
          </p:cNvPicPr>
          <p:nvPr/>
        </p:nvPicPr>
        <p:blipFill>
          <a:blip r:embed="rId2"/>
          <a:stretch>
            <a:fillRect/>
          </a:stretch>
        </p:blipFill>
        <p:spPr>
          <a:xfrm>
            <a:off x="3058228" y="1097280"/>
            <a:ext cx="5953624" cy="4389120"/>
          </a:xfrm>
          <a:prstGeom prst="rect">
            <a:avLst/>
          </a:prstGeom>
        </p:spPr>
      </p:pic>
      <p:sp>
        <p:nvSpPr>
          <p:cNvPr id="10" name="Rounded Rectangle 9"/>
          <p:cNvSpPr/>
          <p:nvPr/>
        </p:nvSpPr>
        <p:spPr>
          <a:xfrm>
            <a:off x="411480" y="5577840"/>
            <a:ext cx="11247120" cy="86868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641848"/>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On the four notional hours</a:t>
            </a:r>
          </a:p>
        </p:txBody>
      </p:sp>
      <p:sp>
        <p:nvSpPr>
          <p:cNvPr id="12" name="TextBox 11"/>
          <p:cNvSpPr txBox="1"/>
          <p:nvPr/>
        </p:nvSpPr>
        <p:spPr>
          <a:xfrm>
            <a:off x="576072" y="5916168"/>
            <a:ext cx="10917936" cy="46634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Four hours is enough to define the terms. It is not enough to make anyone believe them — and nothing in this subtopic is believed until it has been seen to happen. Lecture from the summary slides to fit four hours; run the lab alongside to teach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2 · STRUCTURE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How This Session Runs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a:t>
            </a:r>
          </a:p>
        </p:txBody>
      </p:sp>
      <p:pic>
        <p:nvPicPr>
          <p:cNvPr id="9" name="Picture 8" descr="topic_structure.png"/>
          <p:cNvPicPr>
            <a:picLocks noChangeAspect="1"/>
          </p:cNvPicPr>
          <p:nvPr/>
        </p:nvPicPr>
        <p:blipFill>
          <a:blip r:embed="rId2"/>
          <a:stretch>
            <a:fillRect/>
          </a:stretch>
        </p:blipFill>
        <p:spPr>
          <a:xfrm>
            <a:off x="3417783" y="1097280"/>
            <a:ext cx="5234514" cy="4480560"/>
          </a:xfrm>
          <a:prstGeom prst="rect">
            <a:avLst/>
          </a:prstGeom>
        </p:spPr>
      </p:pic>
      <p:sp>
        <p:nvSpPr>
          <p:cNvPr id="10" name="TextBox 9"/>
          <p:cNvSpPr txBox="1"/>
          <p:nvPr/>
        </p:nvSpPr>
        <p:spPr>
          <a:xfrm>
            <a:off x="411480" y="566928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0E2A47"/>
                </a:solidFill>
                <a:latin typeface="Calibri"/>
              </a:rPr>
              <a:t>RTL is not a language and it is not a tool. It is a way of thinking about hardware.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1B9AAA"/>
                </a:solidFill>
                <a:latin typeface="Calibri"/>
              </a:rPr>
              <a:t>THEORY 1</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What RTL Is</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The name is the definition, and almost everything else in this topic is a consequence of it.</a:t>
            </a:r>
          </a:p>
        </p:txBody>
      </p:sp>
      <p:sp>
        <p:nvSpPr>
          <p:cNvPr id="6" name="Rectangle 5"/>
          <p:cNvSpPr/>
          <p:nvPr/>
        </p:nvSpPr>
        <p:spPr>
          <a:xfrm>
            <a:off x="640080" y="394106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Registers, and what transfers into them on each clock edge</a:t>
            </a:r>
          </a:p>
        </p:txBody>
      </p:sp>
      <p:sp>
        <p:nvSpPr>
          <p:cNvPr id="8" name="Rectangle 7"/>
          <p:cNvSpPr/>
          <p:nvPr/>
        </p:nvSpPr>
        <p:spPr>
          <a:xfrm>
            <a:off x="640080" y="435254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Why &lt;= and = are not interchangeable</a:t>
            </a:r>
          </a:p>
        </p:txBody>
      </p:sp>
      <p:sp>
        <p:nvSpPr>
          <p:cNvPr id="10" name="Rectangle 9"/>
          <p:cNvSpPr/>
          <p:nvPr/>
        </p:nvSpPr>
        <p:spPr>
          <a:xfrm>
            <a:off x="640080" y="476402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Four levels of abstraction, one circuit</a:t>
            </a:r>
          </a:p>
        </p:txBody>
      </p:sp>
      <p:sp>
        <p:nvSpPr>
          <p:cNvPr id="12" name="Rectangle 11"/>
          <p:cNvSpPr/>
          <p:nvPr/>
        </p:nvSpPr>
        <p:spPr>
          <a:xfrm>
            <a:off x="640080" y="517550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And what a synthesiser makes of each level</a:t>
            </a:r>
          </a:p>
        </p:txBody>
      </p:sp>
      <p:sp>
        <p:nvSpPr>
          <p:cNvPr id="14" name="TextBox 13"/>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5" name="TextBox 14"/>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1.1 · THE DEFINITION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Register Transfer Level: the Name Is the Definition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a:t>
            </a:r>
          </a:p>
        </p:txBody>
      </p:sp>
      <p:pic>
        <p:nvPicPr>
          <p:cNvPr id="9" name="Picture 8" descr="rtl_definition.png"/>
          <p:cNvPicPr>
            <a:picLocks noChangeAspect="1"/>
          </p:cNvPicPr>
          <p:nvPr/>
        </p:nvPicPr>
        <p:blipFill>
          <a:blip r:embed="rId2"/>
          <a:stretch>
            <a:fillRect/>
          </a:stretch>
        </p:blipFill>
        <p:spPr>
          <a:xfrm>
            <a:off x="2825894" y="1097280"/>
            <a:ext cx="6418292" cy="4297680"/>
          </a:xfrm>
          <a:prstGeom prst="rect">
            <a:avLst/>
          </a:prstGeom>
        </p:spPr>
      </p:pic>
      <p:sp>
        <p:nvSpPr>
          <p:cNvPr id="10" name="Rounded Rectangle 9"/>
          <p:cNvSpPr/>
          <p:nvPr/>
        </p:nvSpPr>
        <p:spPr>
          <a:xfrm>
            <a:off x="411480" y="5486400"/>
            <a:ext cx="11247120" cy="8686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550408"/>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Two statements, and nothing else</a:t>
            </a:r>
          </a:p>
        </p:txBody>
      </p:sp>
      <p:sp>
        <p:nvSpPr>
          <p:cNvPr id="12" name="TextBox 11"/>
          <p:cNvSpPr txBox="1"/>
          <p:nvPr/>
        </p:nvSpPr>
        <p:spPr>
          <a:xfrm>
            <a:off x="576072" y="5824728"/>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1.  Which registers exist.    2.  What transfers into each one, on each clock edge.</a:t>
            </a:r>
          </a:p>
          <a:p>
            <a:pPr algn="l">
              <a:lnSpc>
                <a:spcPct val="103000"/>
              </a:lnSpc>
              <a:spcAft>
                <a:spcPts val="400"/>
              </a:spcAft>
            </a:pPr>
            <a:r>
              <a:rPr sz="1100" b="1" i="0">
                <a:solidFill>
                  <a:srgbClr val="0E2A47"/>
                </a:solidFill>
                <a:latin typeface="Calibri"/>
              </a:rPr>
              <a:t>How many gates, which gates, how they are wired, how fast they are — none of that is in the description. You state the transfers; synthesis works out the circuit.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1.1 · THE DEFINITION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Watch One Value Transfer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a:t>
            </a:r>
          </a:p>
        </p:txBody>
      </p:sp>
      <p:pic>
        <p:nvPicPr>
          <p:cNvPr id="9" name="Picture 8" descr="rtl_transfer_trace.png"/>
          <p:cNvPicPr>
            <a:picLocks noChangeAspect="1"/>
          </p:cNvPicPr>
          <p:nvPr/>
        </p:nvPicPr>
        <p:blipFill>
          <a:blip r:embed="rId2"/>
          <a:stretch>
            <a:fillRect/>
          </a:stretch>
        </p:blipFill>
        <p:spPr>
          <a:xfrm>
            <a:off x="2757614" y="1097280"/>
            <a:ext cx="6554852" cy="4389120"/>
          </a:xfrm>
          <a:prstGeom prst="rect">
            <a:avLst/>
          </a:prstGeom>
        </p:spPr>
      </p:pic>
      <p:sp>
        <p:nvSpPr>
          <p:cNvPr id="10" name="TextBox 9"/>
          <p:cNvSpPr txBox="1"/>
          <p:nvPr/>
        </p:nvSpPr>
        <p:spPr>
          <a:xfrm>
            <a:off x="411480" y="5577840"/>
            <a:ext cx="11247120" cy="36576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A single 5 applied on cycle 0. It reaches x, then y as 6, then z as 12, then acc — one register per clock edge, and nothing moves in between.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1.2 · THE TWO KINDS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Combinational and Sequential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9</a:t>
            </a:r>
          </a:p>
        </p:txBody>
      </p:sp>
      <p:pic>
        <p:nvPicPr>
          <p:cNvPr id="9" name="Picture 8" descr="comb_vs_seq.png"/>
          <p:cNvPicPr>
            <a:picLocks noChangeAspect="1"/>
          </p:cNvPicPr>
          <p:nvPr/>
        </p:nvPicPr>
        <p:blipFill>
          <a:blip r:embed="rId2"/>
          <a:stretch>
            <a:fillRect/>
          </a:stretch>
        </p:blipFill>
        <p:spPr>
          <a:xfrm>
            <a:off x="3019305" y="1097280"/>
            <a:ext cx="6031469" cy="4754880"/>
          </a:xfrm>
          <a:prstGeom prst="rect">
            <a:avLst/>
          </a:prstGeom>
        </p:spPr>
      </p:pic>
      <p:sp>
        <p:nvSpPr>
          <p:cNvPr id="10" name="TextBox 9"/>
          <p:cNvSpPr txBox="1"/>
          <p:nvPr/>
        </p:nvSpPr>
        <p:spPr>
          <a:xfrm>
            <a:off x="411480" y="594360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There is no third kind. Every block in this course is an arrangement of these two.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1.2 · THE TWO KINDS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Same Distinction, In Code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10</a:t>
            </a:r>
          </a:p>
        </p:txBody>
      </p:sp>
      <p:sp>
        <p:nvSpPr>
          <p:cNvPr id="9" name="Rounded Rectangle 8"/>
          <p:cNvSpPr/>
          <p:nvPr/>
        </p:nvSpPr>
        <p:spPr>
          <a:xfrm>
            <a:off x="411480" y="1143000"/>
            <a:ext cx="5532120" cy="228600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8640" y="1207008"/>
            <a:ext cx="5257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COMBINATIONAL</a:t>
            </a:r>
          </a:p>
        </p:txBody>
      </p:sp>
      <p:sp>
        <p:nvSpPr>
          <p:cNvPr id="11" name="TextBox 10"/>
          <p:cNvSpPr txBox="1"/>
          <p:nvPr/>
        </p:nvSpPr>
        <p:spPr>
          <a:xfrm>
            <a:off x="548640" y="1481328"/>
            <a:ext cx="5257800" cy="1883664"/>
          </a:xfrm>
          <a:prstGeom prst="rect">
            <a:avLst/>
          </a:prstGeom>
          <a:noFill/>
        </p:spPr>
        <p:txBody>
          <a:bodyPr wrap="square" lIns="0" rIns="0" tIns="0" bIns="0" anchor="t">
            <a:spAutoFit/>
          </a:bodyPr>
          <a:lstStyle/>
          <a:p>
            <a:pPr algn="l">
              <a:lnSpc>
                <a:spcPct val="103000"/>
              </a:lnSpc>
              <a:spcAft>
                <a:spcPts val="400"/>
              </a:spcAft>
            </a:pPr>
            <a:r>
              <a:rPr sz="1050" b="1" i="0">
                <a:solidFill>
                  <a:srgbClr val="1B9AAA"/>
                </a:solidFill>
                <a:latin typeface="Calibri"/>
              </a:rPr>
              <a:t>always @(*)  or  assign</a:t>
            </a:r>
          </a:p>
          <a:p>
            <a:pPr algn="l">
              <a:lnSpc>
                <a:spcPct val="103000"/>
              </a:lnSpc>
              <a:spcAft>
                <a:spcPts val="400"/>
              </a:spcAft>
            </a:pPr>
            <a:r>
              <a:rPr sz="1100" b="0" i="0">
                <a:solidFill>
                  <a:srgbClr val="33414F"/>
                </a:solidFill>
                <a:latin typeface="Calibri"/>
              </a:rPr>
              <a:t>Blocking assignment. Every output written on every path, or the tool builds a latch you did not ask for.</a:t>
            </a:r>
          </a:p>
          <a:p>
            <a:pPr algn="l">
              <a:lnSpc>
                <a:spcPct val="103000"/>
              </a:lnSpc>
              <a:spcAft>
                <a:spcPts val="400"/>
              </a:spcAft>
            </a:pPr>
            <a:r>
              <a:rPr sz="1100" b="0" i="0">
                <a:solidFill>
                  <a:srgbClr val="33414F"/>
                </a:solidFill>
                <a:latin typeface="Calibri"/>
              </a:rPr>
              <a:t>No clock appears anywhere in the block.</a:t>
            </a:r>
          </a:p>
          <a:p>
            <a:pPr algn="l">
              <a:lnSpc>
                <a:spcPct val="103000"/>
              </a:lnSpc>
              <a:spcAft>
                <a:spcPts val="400"/>
              </a:spcAft>
            </a:pPr>
            <a:r>
              <a:rPr sz="1100" b="1" i="0">
                <a:solidFill>
                  <a:srgbClr val="0E2A47"/>
                </a:solidFill>
                <a:latin typeface="Calibri"/>
              </a:rPr>
              <a:t>Checked by: simulation, lint.</a:t>
            </a:r>
          </a:p>
        </p:txBody>
      </p:sp>
      <p:sp>
        <p:nvSpPr>
          <p:cNvPr id="12" name="Rounded Rectangle 11"/>
          <p:cNvSpPr/>
          <p:nvPr/>
        </p:nvSpPr>
        <p:spPr>
          <a:xfrm>
            <a:off x="6126480" y="1143000"/>
            <a:ext cx="5532120" cy="2286000"/>
          </a:xfrm>
          <a:prstGeom prst="roundRect">
            <a:avLst>
              <a:gd name="adj" fmla="val 5714"/>
            </a:avLst>
          </a:prstGeom>
          <a:solidFill>
            <a:srgbClr val="F4F8FB"/>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63640" y="1207008"/>
            <a:ext cx="5257800" cy="274320"/>
          </a:xfrm>
          <a:prstGeom prst="rect">
            <a:avLst/>
          </a:prstGeom>
          <a:noFill/>
        </p:spPr>
        <p:txBody>
          <a:bodyPr wrap="square" lIns="0" rIns="0" tIns="0" bIns="0" anchor="ctr">
            <a:spAutoFit/>
          </a:bodyPr>
          <a:lstStyle/>
          <a:p>
            <a:pPr algn="l">
              <a:lnSpc>
                <a:spcPct val="103000"/>
              </a:lnSpc>
            </a:pPr>
            <a:r>
              <a:rPr sz="1150" b="1" i="0">
                <a:solidFill>
                  <a:srgbClr val="6B45A8"/>
                </a:solidFill>
                <a:latin typeface="Cambria"/>
              </a:rPr>
              <a:t>SEQUENTIAL</a:t>
            </a:r>
          </a:p>
        </p:txBody>
      </p:sp>
      <p:sp>
        <p:nvSpPr>
          <p:cNvPr id="14" name="TextBox 13"/>
          <p:cNvSpPr txBox="1"/>
          <p:nvPr/>
        </p:nvSpPr>
        <p:spPr>
          <a:xfrm>
            <a:off x="6263640" y="1481328"/>
            <a:ext cx="5257800" cy="1883664"/>
          </a:xfrm>
          <a:prstGeom prst="rect">
            <a:avLst/>
          </a:prstGeom>
          <a:noFill/>
        </p:spPr>
        <p:txBody>
          <a:bodyPr wrap="square" lIns="0" rIns="0" tIns="0" bIns="0" anchor="t">
            <a:spAutoFit/>
          </a:bodyPr>
          <a:lstStyle/>
          <a:p>
            <a:pPr algn="l">
              <a:lnSpc>
                <a:spcPct val="103000"/>
              </a:lnSpc>
              <a:spcAft>
                <a:spcPts val="400"/>
              </a:spcAft>
            </a:pPr>
            <a:r>
              <a:rPr sz="1050" b="1" i="0">
                <a:solidFill>
                  <a:srgbClr val="6B45A8"/>
                </a:solidFill>
                <a:latin typeface="Calibri"/>
              </a:rPr>
              <a:t>always @(posedge clk)</a:t>
            </a:r>
          </a:p>
          <a:p>
            <a:pPr algn="l">
              <a:lnSpc>
                <a:spcPct val="103000"/>
              </a:lnSpc>
              <a:spcAft>
                <a:spcPts val="400"/>
              </a:spcAft>
            </a:pPr>
            <a:r>
              <a:rPr sz="1100" b="0" i="0">
                <a:solidFill>
                  <a:srgbClr val="33414F"/>
                </a:solidFill>
                <a:latin typeface="Calibri"/>
              </a:rPr>
              <a:t>Non-blocking assignment. Reset appears here and only here.</a:t>
            </a:r>
          </a:p>
          <a:p>
            <a:pPr algn="l">
              <a:lnSpc>
                <a:spcPct val="103000"/>
              </a:lnSpc>
              <a:spcAft>
                <a:spcPts val="400"/>
              </a:spcAft>
            </a:pPr>
            <a:r>
              <a:rPr sz="1100" b="0" i="0">
                <a:solidFill>
                  <a:srgbClr val="33414F"/>
                </a:solidFill>
                <a:latin typeface="Calibri"/>
              </a:rPr>
              <a:t>One value remembered per flip-flop, updated on the edge and at no other time.</a:t>
            </a:r>
          </a:p>
          <a:p>
            <a:pPr algn="l">
              <a:lnSpc>
                <a:spcPct val="103000"/>
              </a:lnSpc>
              <a:spcAft>
                <a:spcPts val="400"/>
              </a:spcAft>
            </a:pPr>
            <a:r>
              <a:rPr sz="1100" b="1" i="0">
                <a:solidFill>
                  <a:srgbClr val="0E2A47"/>
                </a:solidFill>
                <a:latin typeface="Calibri"/>
              </a:rPr>
              <a:t>Checked by: simulation, lint, and static timing analysis.</a:t>
            </a:r>
          </a:p>
        </p:txBody>
      </p:sp>
      <p:sp>
        <p:nvSpPr>
          <p:cNvPr id="15" name="Rounded Rectangle 14"/>
          <p:cNvSpPr/>
          <p:nvPr/>
        </p:nvSpPr>
        <p:spPr>
          <a:xfrm>
            <a:off x="411480" y="3520440"/>
            <a:ext cx="11247120" cy="868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76072" y="358444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Why the two are kept in separate always blocks</a:t>
            </a:r>
          </a:p>
        </p:txBody>
      </p:sp>
      <p:sp>
        <p:nvSpPr>
          <p:cNvPr id="17" name="TextBox 16"/>
          <p:cNvSpPr txBox="1"/>
          <p:nvPr/>
        </p:nvSpPr>
        <p:spPr>
          <a:xfrm>
            <a:off x="576072" y="3858768"/>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block that mixes them has to be read twice — once for what it computes and once for when. Splitting them means each block has one job, and the reviewer, the linter and the synthesiser all agree about which job it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1.3 · THE DISCIPLINE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One Clock, One Edge, Everything</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11</a:t>
            </a:r>
          </a:p>
        </p:txBody>
      </p:sp>
      <p:pic>
        <p:nvPicPr>
          <p:cNvPr id="9" name="Picture 8" descr="sync_design.png"/>
          <p:cNvPicPr>
            <a:picLocks noChangeAspect="1"/>
          </p:cNvPicPr>
          <p:nvPr/>
        </p:nvPicPr>
        <p:blipFill>
          <a:blip r:embed="rId2"/>
          <a:stretch>
            <a:fillRect/>
          </a:stretch>
        </p:blipFill>
        <p:spPr>
          <a:xfrm>
            <a:off x="3037624" y="1097280"/>
            <a:ext cx="5994833"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Almost every rule in this topic is a consequence of this one decision.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1.3 · THE DISCIPLINE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the Discipline Buys You</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12</a:t>
            </a:r>
          </a:p>
        </p:txBody>
      </p:sp>
      <p:sp>
        <p:nvSpPr>
          <p:cNvPr id="9" name="Rounded Rectangle 8"/>
          <p:cNvSpPr/>
          <p:nvPr/>
        </p:nvSpPr>
        <p:spPr>
          <a:xfrm>
            <a:off x="411480" y="114300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411480" y="1143000"/>
            <a:ext cx="1737360" cy="822960"/>
          </a:xfrm>
          <a:prstGeom prst="roundRect">
            <a:avLst>
              <a:gd name="adj" fmla="val 5714"/>
            </a:avLst>
          </a:prstGeom>
          <a:solidFill>
            <a:srgbClr val="0E2A47"/>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1480" y="1143000"/>
            <a:ext cx="1737360" cy="82296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ANALYSABLE</a:t>
            </a:r>
          </a:p>
        </p:txBody>
      </p:sp>
      <p:sp>
        <p:nvSpPr>
          <p:cNvPr id="12" name="TextBox 11"/>
          <p:cNvSpPr txBox="1"/>
          <p:nvPr/>
        </p:nvSpPr>
        <p:spPr>
          <a:xfrm>
            <a:off x="2331720" y="1188720"/>
            <a:ext cx="9144000" cy="73152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With one clock and one edge, timing analysis is a finite question: for every path from a flip-flop to a flip-flop, does the data arrive in time? Add a gated clock and the question multiplies.</a:t>
            </a:r>
          </a:p>
        </p:txBody>
      </p:sp>
      <p:sp>
        <p:nvSpPr>
          <p:cNvPr id="13" name="Rounded Rectangle 12"/>
          <p:cNvSpPr/>
          <p:nvPr/>
        </p:nvSpPr>
        <p:spPr>
          <a:xfrm>
            <a:off x="411480" y="201168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11480" y="2011680"/>
            <a:ext cx="1737360" cy="822960"/>
          </a:xfrm>
          <a:prstGeom prst="roundRect">
            <a:avLst>
              <a:gd name="adj" fmla="val 5714"/>
            </a:avLst>
          </a:prstGeom>
          <a:solidFill>
            <a:srgbClr val="1B9AAA"/>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11480" y="2011680"/>
            <a:ext cx="1737360" cy="82296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COMPOSABLE</a:t>
            </a:r>
          </a:p>
        </p:txBody>
      </p:sp>
      <p:sp>
        <p:nvSpPr>
          <p:cNvPr id="16" name="TextBox 15"/>
          <p:cNvSpPr txBox="1"/>
          <p:nvPr/>
        </p:nvSpPr>
        <p:spPr>
          <a:xfrm>
            <a:off x="2331720" y="2057400"/>
            <a:ext cx="9144000" cy="73152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Two blocks written to the same discipline can be wired together without a conversation. Two blocks written to different disciplines need one, every time.</a:t>
            </a:r>
          </a:p>
        </p:txBody>
      </p:sp>
      <p:sp>
        <p:nvSpPr>
          <p:cNvPr id="17" name="Rounded Rectangle 16"/>
          <p:cNvSpPr/>
          <p:nvPr/>
        </p:nvSpPr>
        <p:spPr>
          <a:xfrm>
            <a:off x="411480" y="288036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11480" y="2880360"/>
            <a:ext cx="1737360" cy="822960"/>
          </a:xfrm>
          <a:prstGeom prst="roundRect">
            <a:avLst>
              <a:gd name="adj" fmla="val 5714"/>
            </a:avLst>
          </a:prstGeom>
          <a:solidFill>
            <a:srgbClr val="6B45A8"/>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1480" y="2880360"/>
            <a:ext cx="1737360" cy="82296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REVIEWABLE</a:t>
            </a:r>
          </a:p>
        </p:txBody>
      </p:sp>
      <p:sp>
        <p:nvSpPr>
          <p:cNvPr id="20" name="TextBox 19"/>
          <p:cNvSpPr txBox="1"/>
          <p:nvPr/>
        </p:nvSpPr>
        <p:spPr>
          <a:xfrm>
            <a:off x="2331720" y="2926080"/>
            <a:ext cx="9144000" cy="73152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A reviewer who knows the discipline can read your block for what it computes, because the question of WHEN has already been answered the same way it always is.</a:t>
            </a:r>
          </a:p>
        </p:txBody>
      </p:sp>
      <p:sp>
        <p:nvSpPr>
          <p:cNvPr id="21" name="Rounded Rectangle 20"/>
          <p:cNvSpPr/>
          <p:nvPr/>
        </p:nvSpPr>
        <p:spPr>
          <a:xfrm>
            <a:off x="411480" y="374904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11480" y="3749040"/>
            <a:ext cx="1737360" cy="822960"/>
          </a:xfrm>
          <a:prstGeom prst="roundRect">
            <a:avLst>
              <a:gd name="adj" fmla="val 5714"/>
            </a:avLst>
          </a:prstGeom>
          <a:solidFill>
            <a:srgbClr val="2A9D5C"/>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11480" y="3749040"/>
            <a:ext cx="1737360" cy="82296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TESTABLE</a:t>
            </a:r>
          </a:p>
        </p:txBody>
      </p:sp>
      <p:sp>
        <p:nvSpPr>
          <p:cNvPr id="24" name="TextBox 23"/>
          <p:cNvSpPr txBox="1"/>
          <p:nvPr/>
        </p:nvSpPr>
        <p:spPr>
          <a:xfrm>
            <a:off x="2331720" y="3794760"/>
            <a:ext cx="9144000" cy="73152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Scan insertion, the technique that makes a chip testable after manufacture, assumes edge-triggered flip-flops on one clock. Latches and gated clocks each need special handling.</a:t>
            </a:r>
          </a:p>
        </p:txBody>
      </p:sp>
      <p:sp>
        <p:nvSpPr>
          <p:cNvPr id="25" name="TextBox 24"/>
          <p:cNvSpPr txBox="1"/>
          <p:nvPr/>
        </p:nvSpPr>
        <p:spPr>
          <a:xfrm>
            <a:off x="411480" y="470916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C77514"/>
                </a:solidFill>
                <a:latin typeface="Calibri"/>
              </a:rPr>
              <a:t>You are allowed to break these rules. You are not allowed to break them by accident.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1.4 · WHY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Anyone Designs At This Level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13</a:t>
            </a:r>
          </a:p>
        </p:txBody>
      </p:sp>
      <p:sp>
        <p:nvSpPr>
          <p:cNvPr id="9" name="Rectangle 8"/>
          <p:cNvSpPr/>
          <p:nvPr/>
        </p:nvSpPr>
        <p:spPr>
          <a:xfrm>
            <a:off x="411480" y="1143000"/>
            <a:ext cx="219456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210312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
            </a:r>
          </a:p>
        </p:txBody>
      </p:sp>
      <p:sp>
        <p:nvSpPr>
          <p:cNvPr id="11" name="Rectangle 10"/>
          <p:cNvSpPr/>
          <p:nvPr/>
        </p:nvSpPr>
        <p:spPr>
          <a:xfrm>
            <a:off x="2606040" y="1143000"/>
            <a:ext cx="292608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651760" y="1143000"/>
            <a:ext cx="283464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Behavioural / algorithmic</a:t>
            </a:r>
          </a:p>
        </p:txBody>
      </p:sp>
      <p:sp>
        <p:nvSpPr>
          <p:cNvPr id="13" name="Rectangle 12"/>
          <p:cNvSpPr/>
          <p:nvPr/>
        </p:nvSpPr>
        <p:spPr>
          <a:xfrm>
            <a:off x="5532120" y="1143000"/>
            <a:ext cx="320040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577840" y="1143000"/>
            <a:ext cx="310896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RTL</a:t>
            </a:r>
          </a:p>
        </p:txBody>
      </p:sp>
      <p:sp>
        <p:nvSpPr>
          <p:cNvPr id="15" name="Rectangle 14"/>
          <p:cNvSpPr/>
          <p:nvPr/>
        </p:nvSpPr>
        <p:spPr>
          <a:xfrm>
            <a:off x="8732520" y="1143000"/>
            <a:ext cx="292608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0" y="1143000"/>
            <a:ext cx="283464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Gate netlist</a:t>
            </a:r>
          </a:p>
        </p:txBody>
      </p:sp>
      <p:sp>
        <p:nvSpPr>
          <p:cNvPr id="17" name="Rectangle 16"/>
          <p:cNvSpPr/>
          <p:nvPr/>
        </p:nvSpPr>
        <p:spPr>
          <a:xfrm>
            <a:off x="411480" y="1472184"/>
            <a:ext cx="219456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7200" y="1472184"/>
            <a:ext cx="210312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you write</a:t>
            </a:r>
          </a:p>
        </p:txBody>
      </p:sp>
      <p:sp>
        <p:nvSpPr>
          <p:cNvPr id="19" name="Rectangle 18"/>
          <p:cNvSpPr/>
          <p:nvPr/>
        </p:nvSpPr>
        <p:spPr>
          <a:xfrm>
            <a:off x="2606040" y="1472184"/>
            <a:ext cx="29260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651760" y="1472184"/>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the algorithm</a:t>
            </a:r>
          </a:p>
        </p:txBody>
      </p:sp>
      <p:sp>
        <p:nvSpPr>
          <p:cNvPr id="21" name="Rectangle 20"/>
          <p:cNvSpPr/>
          <p:nvPr/>
        </p:nvSpPr>
        <p:spPr>
          <a:xfrm>
            <a:off x="5532120" y="1472184"/>
            <a:ext cx="32004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77840" y="1472184"/>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registers and transfers</a:t>
            </a:r>
          </a:p>
        </p:txBody>
      </p:sp>
      <p:sp>
        <p:nvSpPr>
          <p:cNvPr id="23" name="Rectangle 22"/>
          <p:cNvSpPr/>
          <p:nvPr/>
        </p:nvSpPr>
        <p:spPr>
          <a:xfrm>
            <a:off x="8732520" y="1472184"/>
            <a:ext cx="29260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0" y="1472184"/>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every gate</a:t>
            </a:r>
          </a:p>
        </p:txBody>
      </p:sp>
      <p:sp>
        <p:nvSpPr>
          <p:cNvPr id="25" name="Rectangle 24"/>
          <p:cNvSpPr/>
          <p:nvPr/>
        </p:nvSpPr>
        <p:spPr>
          <a:xfrm>
            <a:off x="411480" y="1801368"/>
            <a:ext cx="219456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57200" y="1801368"/>
            <a:ext cx="210312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timing</a:t>
            </a:r>
          </a:p>
        </p:txBody>
      </p:sp>
      <p:sp>
        <p:nvSpPr>
          <p:cNvPr id="27" name="Rectangle 26"/>
          <p:cNvSpPr/>
          <p:nvPr/>
        </p:nvSpPr>
        <p:spPr>
          <a:xfrm>
            <a:off x="2606040" y="1801368"/>
            <a:ext cx="29260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651760" y="1801368"/>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none at all</a:t>
            </a:r>
          </a:p>
        </p:txBody>
      </p:sp>
      <p:sp>
        <p:nvSpPr>
          <p:cNvPr id="29" name="Rectangle 28"/>
          <p:cNvSpPr/>
          <p:nvPr/>
        </p:nvSpPr>
        <p:spPr>
          <a:xfrm>
            <a:off x="5532120" y="1801368"/>
            <a:ext cx="32004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577840" y="1801368"/>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one clock period per stage</a:t>
            </a:r>
          </a:p>
        </p:txBody>
      </p:sp>
      <p:sp>
        <p:nvSpPr>
          <p:cNvPr id="31" name="Rectangle 30"/>
          <p:cNvSpPr/>
          <p:nvPr/>
        </p:nvSpPr>
        <p:spPr>
          <a:xfrm>
            <a:off x="8732520" y="1801368"/>
            <a:ext cx="29260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0" y="1801368"/>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exact, per gate</a:t>
            </a:r>
          </a:p>
        </p:txBody>
      </p:sp>
      <p:sp>
        <p:nvSpPr>
          <p:cNvPr id="33" name="Rectangle 32"/>
          <p:cNvSpPr/>
          <p:nvPr/>
        </p:nvSpPr>
        <p:spPr>
          <a:xfrm>
            <a:off x="411480" y="2130552"/>
            <a:ext cx="219456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130552"/>
            <a:ext cx="210312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synthesisable</a:t>
            </a:r>
          </a:p>
        </p:txBody>
      </p:sp>
      <p:sp>
        <p:nvSpPr>
          <p:cNvPr id="35" name="Rectangle 34"/>
          <p:cNvSpPr/>
          <p:nvPr/>
        </p:nvSpPr>
        <p:spPr>
          <a:xfrm>
            <a:off x="2606040" y="2130552"/>
            <a:ext cx="29260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51760" y="2130552"/>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rarely</a:t>
            </a:r>
          </a:p>
        </p:txBody>
      </p:sp>
      <p:sp>
        <p:nvSpPr>
          <p:cNvPr id="37" name="Rectangle 36"/>
          <p:cNvSpPr/>
          <p:nvPr/>
        </p:nvSpPr>
        <p:spPr>
          <a:xfrm>
            <a:off x="5532120" y="2130552"/>
            <a:ext cx="32004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577840" y="2130552"/>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yes — this is the target</a:t>
            </a:r>
          </a:p>
        </p:txBody>
      </p:sp>
      <p:sp>
        <p:nvSpPr>
          <p:cNvPr id="39" name="Rectangle 38"/>
          <p:cNvSpPr/>
          <p:nvPr/>
        </p:nvSpPr>
        <p:spPr>
          <a:xfrm>
            <a:off x="8732520" y="2130552"/>
            <a:ext cx="29260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778240" y="2130552"/>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yes, but why would you</a:t>
            </a:r>
          </a:p>
        </p:txBody>
      </p:sp>
      <p:sp>
        <p:nvSpPr>
          <p:cNvPr id="41" name="Rectangle 40"/>
          <p:cNvSpPr/>
          <p:nvPr/>
        </p:nvSpPr>
        <p:spPr>
          <a:xfrm>
            <a:off x="411480" y="2459736"/>
            <a:ext cx="219456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57200" y="2459736"/>
            <a:ext cx="210312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 10k-gate design</a:t>
            </a:r>
          </a:p>
        </p:txBody>
      </p:sp>
      <p:sp>
        <p:nvSpPr>
          <p:cNvPr id="43" name="Rectangle 42"/>
          <p:cNvSpPr/>
          <p:nvPr/>
        </p:nvSpPr>
        <p:spPr>
          <a:xfrm>
            <a:off x="2606040" y="2459736"/>
            <a:ext cx="29260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651760" y="2459736"/>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unbuildable</a:t>
            </a:r>
          </a:p>
        </p:txBody>
      </p:sp>
      <p:sp>
        <p:nvSpPr>
          <p:cNvPr id="45" name="Rectangle 44"/>
          <p:cNvSpPr/>
          <p:nvPr/>
        </p:nvSpPr>
        <p:spPr>
          <a:xfrm>
            <a:off x="5532120" y="2459736"/>
            <a:ext cx="32004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577840" y="2459736"/>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a few hundred lines</a:t>
            </a:r>
          </a:p>
        </p:txBody>
      </p:sp>
      <p:sp>
        <p:nvSpPr>
          <p:cNvPr id="47" name="Rectangle 46"/>
          <p:cNvSpPr/>
          <p:nvPr/>
        </p:nvSpPr>
        <p:spPr>
          <a:xfrm>
            <a:off x="8732520" y="2459736"/>
            <a:ext cx="29260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778240" y="2459736"/>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tens of thousands of lines</a:t>
            </a:r>
          </a:p>
        </p:txBody>
      </p:sp>
      <p:sp>
        <p:nvSpPr>
          <p:cNvPr id="49" name="Rectangle 48"/>
          <p:cNvSpPr/>
          <p:nvPr/>
        </p:nvSpPr>
        <p:spPr>
          <a:xfrm>
            <a:off x="411480" y="2788920"/>
            <a:ext cx="219456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7200" y="2788920"/>
            <a:ext cx="210312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who writes it</a:t>
            </a:r>
          </a:p>
        </p:txBody>
      </p:sp>
      <p:sp>
        <p:nvSpPr>
          <p:cNvPr id="51" name="Rectangle 50"/>
          <p:cNvSpPr/>
          <p:nvPr/>
        </p:nvSpPr>
        <p:spPr>
          <a:xfrm>
            <a:off x="2606040" y="2788920"/>
            <a:ext cx="29260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2651760" y="2788920"/>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architects, in C or SystemC</a:t>
            </a:r>
          </a:p>
        </p:txBody>
      </p:sp>
      <p:sp>
        <p:nvSpPr>
          <p:cNvPr id="53" name="Rectangle 52"/>
          <p:cNvSpPr/>
          <p:nvPr/>
        </p:nvSpPr>
        <p:spPr>
          <a:xfrm>
            <a:off x="5532120" y="2788920"/>
            <a:ext cx="32004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5577840" y="2788920"/>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you</a:t>
            </a:r>
          </a:p>
        </p:txBody>
      </p:sp>
      <p:sp>
        <p:nvSpPr>
          <p:cNvPr id="55" name="Rectangle 54"/>
          <p:cNvSpPr/>
          <p:nvPr/>
        </p:nvSpPr>
        <p:spPr>
          <a:xfrm>
            <a:off x="8732520" y="2788920"/>
            <a:ext cx="29260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8778240" y="2788920"/>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the synthesiser</a:t>
            </a:r>
          </a:p>
        </p:txBody>
      </p:sp>
      <p:sp>
        <p:nvSpPr>
          <p:cNvPr id="57" name="Rounded Rectangle 56"/>
          <p:cNvSpPr/>
          <p:nvPr/>
        </p:nvSpPr>
        <p:spPr>
          <a:xfrm>
            <a:off x="411480" y="3209544"/>
            <a:ext cx="11247120" cy="100584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576072" y="3273552"/>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RTL is the level where the trade lands correctly</a:t>
            </a:r>
          </a:p>
        </p:txBody>
      </p:sp>
      <p:sp>
        <p:nvSpPr>
          <p:cNvPr id="59" name="TextBox 58"/>
          <p:cNvSpPr txBox="1"/>
          <p:nvPr/>
        </p:nvSpPr>
        <p:spPr>
          <a:xfrm>
            <a:off x="576072" y="3547872"/>
            <a:ext cx="10917936" cy="6035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High enough that a human can write and read a real design; low enough that a tool can build it without guessing at your intent.</a:t>
            </a:r>
          </a:p>
          <a:p>
            <a:pPr algn="l">
              <a:lnSpc>
                <a:spcPct val="103000"/>
              </a:lnSpc>
              <a:spcAft>
                <a:spcPts val="400"/>
              </a:spcAft>
            </a:pPr>
            <a:r>
              <a:rPr sz="1100" b="1" i="0">
                <a:solidFill>
                  <a:srgbClr val="0E2A47"/>
                </a:solidFill>
                <a:latin typeface="Calibri"/>
              </a:rPr>
              <a:t>Every industrial digital design in the last thirty years was written here. That is not fashion — it is where the abstraction pays for itself.</a:t>
            </a:r>
          </a:p>
        </p:txBody>
      </p:sp>
      <p:sp>
        <p:nvSpPr>
          <p:cNvPr id="60" name="TextBox 59"/>
          <p:cNvSpPr txBox="1"/>
          <p:nvPr/>
        </p:nvSpPr>
        <p:spPr>
          <a:xfrm>
            <a:off x="411480" y="4306824"/>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5A6B7B"/>
                </a:solidFill>
                <a:latin typeface="Calibri"/>
              </a:rPr>
              <a:t>Above RTL you cannot say when things happen. Below it you cannot say anything else.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1.5 · &lt;= AND =</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Two Assignment Operators, and Why It Matters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14</a:t>
            </a:r>
          </a:p>
        </p:txBody>
      </p:sp>
      <p:pic>
        <p:nvPicPr>
          <p:cNvPr id="9" name="Picture 8" descr="nonblocking.png"/>
          <p:cNvPicPr>
            <a:picLocks noChangeAspect="1"/>
          </p:cNvPicPr>
          <p:nvPr/>
        </p:nvPicPr>
        <p:blipFill>
          <a:blip r:embed="rId2"/>
          <a:stretch>
            <a:fillRect/>
          </a:stretch>
        </p:blipFill>
        <p:spPr>
          <a:xfrm>
            <a:off x="2757614" y="1097280"/>
            <a:ext cx="6554852" cy="4389120"/>
          </a:xfrm>
          <a:prstGeom prst="rect">
            <a:avLst/>
          </a:prstGeom>
        </p:spPr>
      </p:pic>
      <p:sp>
        <p:nvSpPr>
          <p:cNvPr id="10" name="TextBox 9"/>
          <p:cNvSpPr txBox="1"/>
          <p:nvPr/>
        </p:nvSpPr>
        <p:spPr>
          <a:xfrm>
            <a:off x="411480" y="557784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Neither one is an error. Both are caught by the linter you build in this topic.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1.5 · &lt;= AND =</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Swap, Worked Through</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15</a:t>
            </a:r>
          </a:p>
        </p:txBody>
      </p:sp>
      <p:sp>
        <p:nvSpPr>
          <p:cNvPr id="9" name="Rounded Rectangle 8"/>
          <p:cNvSpPr/>
          <p:nvPr/>
        </p:nvSpPr>
        <p:spPr>
          <a:xfrm>
            <a:off x="411480" y="1143000"/>
            <a:ext cx="11247120" cy="3085592"/>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856992"/>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 NON-BLOCKING - inside always @(posedge clk)</a:t>
            </a:r>
          </a:p>
          <a:p>
            <a:pPr algn="l">
              <a:lnSpc>
                <a:spcPct val="112000"/>
              </a:lnSpc>
            </a:pPr>
            <a:r>
              <a:rPr sz="950" b="0" i="0">
                <a:solidFill>
                  <a:srgbClr val="D8E4F0"/>
                </a:solidFill>
                <a:latin typeface="Consolas"/>
              </a:rPr>
              <a:t>//   Step 1: read every right-hand side, using the OLD values.</a:t>
            </a:r>
          </a:p>
          <a:p>
            <a:pPr algn="l">
              <a:lnSpc>
                <a:spcPct val="112000"/>
              </a:lnSpc>
            </a:pPr>
            <a:r>
              <a:rPr sz="950" b="0" i="0">
                <a:solidFill>
                  <a:srgbClr val="D8E4F0"/>
                </a:solidFill>
                <a:latin typeface="Consolas"/>
              </a:rPr>
              <a:t>//   Step 2: update every left-hand side, all at the same instant.</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a &lt;= b;        //  reads old b</a:t>
            </a:r>
          </a:p>
          <a:p>
            <a:pPr algn="l">
              <a:lnSpc>
                <a:spcPct val="112000"/>
              </a:lnSpc>
            </a:pPr>
            <a:r>
              <a:rPr sz="950" b="0" i="0">
                <a:solidFill>
                  <a:srgbClr val="D8E4F0"/>
                </a:solidFill>
                <a:latin typeface="Consolas"/>
              </a:rPr>
              <a:t>        b &lt;= a;        //  reads old a</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a and b are SWAPPED.  This is what a hardware register does.</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BLOCKING - inside always @*</a:t>
            </a:r>
          </a:p>
          <a:p>
            <a:pPr algn="l">
              <a:lnSpc>
                <a:spcPct val="112000"/>
              </a:lnSpc>
            </a:pPr>
            <a:r>
              <a:rPr sz="950" b="0" i="0">
                <a:solidFill>
                  <a:srgbClr val="D8E4F0"/>
                </a:solidFill>
                <a:latin typeface="Consolas"/>
              </a:rPr>
              <a:t>//   Each statement finishes before the next one starts.</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a = b;         //  a is now b</a:t>
            </a:r>
          </a:p>
          <a:p>
            <a:pPr algn="l">
              <a:lnSpc>
                <a:spcPct val="112000"/>
              </a:lnSpc>
            </a:pPr>
            <a:r>
              <a:rPr sz="950" b="0" i="0">
                <a:solidFill>
                  <a:srgbClr val="D8E4F0"/>
                </a:solidFill>
                <a:latin typeface="Consolas"/>
              </a:rPr>
              <a:t>        b = a;         //  a is already b, so this does nothing</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BOTH end up holding b.  This is what software does.</a:t>
            </a:r>
          </a:p>
        </p:txBody>
      </p:sp>
      <p:sp>
        <p:nvSpPr>
          <p:cNvPr id="11" name="Rounded Rectangle 10"/>
          <p:cNvSpPr/>
          <p:nvPr/>
        </p:nvSpPr>
        <p:spPr>
          <a:xfrm>
            <a:off x="411480" y="4320032"/>
            <a:ext cx="11247120" cy="10972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4384040"/>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Why the rule is absolute rather than stylistic</a:t>
            </a:r>
          </a:p>
        </p:txBody>
      </p:sp>
      <p:sp>
        <p:nvSpPr>
          <p:cNvPr id="13" name="TextBox 12"/>
          <p:cNvSpPr txBox="1"/>
          <p:nvPr/>
        </p:nvSpPr>
        <p:spPr>
          <a:xfrm>
            <a:off x="576072" y="4658360"/>
            <a:ext cx="10917936" cy="6949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Two clocked blocks using blocking assignments can see each other's half-updated values, and which one wins depends on the order the simulator happens to evaluate them in — an order the language standard deliberately does not fix.</a:t>
            </a:r>
          </a:p>
          <a:p>
            <a:pPr algn="l">
              <a:lnSpc>
                <a:spcPct val="103000"/>
              </a:lnSpc>
              <a:spcAft>
                <a:spcPts val="400"/>
              </a:spcAft>
            </a:pPr>
            <a:r>
              <a:rPr sz="1100" b="1" i="0">
                <a:solidFill>
                  <a:srgbClr val="0E2A47"/>
                </a:solidFill>
                <a:latin typeface="Calibri"/>
              </a:rPr>
              <a:t>Non-blocking assignment exists precisely to make that race impossible.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1.5 · &lt;= AND =</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And What Each One Actually Builds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16</a:t>
            </a:r>
          </a:p>
        </p:txBody>
      </p:sp>
      <p:pic>
        <p:nvPicPr>
          <p:cNvPr id="9" name="Picture 8" descr="blocking_measured.png"/>
          <p:cNvPicPr>
            <a:picLocks noChangeAspect="1"/>
          </p:cNvPicPr>
          <p:nvPr/>
        </p:nvPicPr>
        <p:blipFill>
          <a:blip r:embed="rId2"/>
          <a:stretch>
            <a:fillRect/>
          </a:stretch>
        </p:blipFill>
        <p:spPr>
          <a:xfrm>
            <a:off x="2845321" y="1097280"/>
            <a:ext cx="6379438"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Three flip-flops against one. Nothing illegal was written, so nothing warned.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1.6 · ABSTRACTION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Four Levels, One Circuit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17</a:t>
            </a:r>
          </a:p>
        </p:txBody>
      </p:sp>
      <p:pic>
        <p:nvPicPr>
          <p:cNvPr id="9" name="Picture 8" descr="ladder.png"/>
          <p:cNvPicPr>
            <a:picLocks noChangeAspect="1"/>
          </p:cNvPicPr>
          <p:nvPr/>
        </p:nvPicPr>
        <p:blipFill>
          <a:blip r:embed="rId2"/>
          <a:stretch>
            <a:fillRect/>
          </a:stretch>
        </p:blipFill>
        <p:spPr>
          <a:xfrm>
            <a:off x="2761795" y="1097280"/>
            <a:ext cx="6546491"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100" b="1" i="0">
                <a:solidFill>
                  <a:srgbClr val="2A9D5C"/>
                </a:solidFill>
                <a:latin typeface="Calibri"/>
              </a:rPr>
              <a:t>All four were simulated together on all 8 input patterns. Zero mismatches.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1.6 · ABSTRACTION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Same Adder, Written Four Ways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18</a:t>
            </a:r>
          </a:p>
        </p:txBody>
      </p:sp>
      <p:sp>
        <p:nvSpPr>
          <p:cNvPr id="9" name="Rounded Rectangle 8"/>
          <p:cNvSpPr/>
          <p:nvPr/>
        </p:nvSpPr>
        <p:spPr>
          <a:xfrm>
            <a:off x="411480" y="1143000"/>
            <a:ext cx="11247120" cy="2728468"/>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499868"/>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 BEHAVIOURAL - you describe the function</a:t>
            </a:r>
          </a:p>
          <a:p>
            <a:pPr algn="l">
              <a:lnSpc>
                <a:spcPct val="112000"/>
              </a:lnSpc>
            </a:pPr>
            <a:r>
              <a:rPr sz="950" b="0" i="0">
                <a:solidFill>
                  <a:srgbClr val="D8E4F0"/>
                </a:solidFill>
                <a:latin typeface="Consolas"/>
              </a:rPr>
              <a:t>always @* {cout, sum} = a + b + cin;</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DATAFLOW - you describe the Boolean form</a:t>
            </a:r>
          </a:p>
          <a:p>
            <a:pPr algn="l">
              <a:lnSpc>
                <a:spcPct val="112000"/>
              </a:lnSpc>
            </a:pPr>
            <a:r>
              <a:rPr sz="950" b="0" i="0">
                <a:solidFill>
                  <a:srgbClr val="D8E4F0"/>
                </a:solidFill>
                <a:latin typeface="Consolas"/>
              </a:rPr>
              <a:t>assign sum  = a ^ b ^ cin;</a:t>
            </a:r>
          </a:p>
          <a:p>
            <a:pPr algn="l">
              <a:lnSpc>
                <a:spcPct val="112000"/>
              </a:lnSpc>
            </a:pPr>
            <a:r>
              <a:rPr sz="950" b="0" i="0">
                <a:solidFill>
                  <a:srgbClr val="D8E4F0"/>
                </a:solidFill>
                <a:latin typeface="Consolas"/>
              </a:rPr>
              <a:t>assign cout = (a &amp; b) | (b &amp; cin) | (a &amp; cin);</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GATE - you name every gate and every wire</a:t>
            </a:r>
          </a:p>
          <a:p>
            <a:pPr algn="l">
              <a:lnSpc>
                <a:spcPct val="112000"/>
              </a:lnSpc>
            </a:pPr>
            <a:r>
              <a:rPr sz="950" b="0" i="0">
                <a:solidFill>
                  <a:srgbClr val="D8E4F0"/>
                </a:solidFill>
                <a:latin typeface="Consolas"/>
              </a:rPr>
              <a:t>xor x1 (s1, a, b);      xor x2 (sum, s1, cin);</a:t>
            </a:r>
          </a:p>
          <a:p>
            <a:pPr algn="l">
              <a:lnSpc>
                <a:spcPct val="112000"/>
              </a:lnSpc>
            </a:pPr>
            <a:r>
              <a:rPr sz="950" b="0" i="0">
                <a:solidFill>
                  <a:srgbClr val="D8E4F0"/>
                </a:solidFill>
                <a:latin typeface="Consolas"/>
              </a:rPr>
              <a:t>and a1 (ab, a, b);      and a2 (bc, b, cin);   and a3 (ac, a, cin);</a:t>
            </a:r>
          </a:p>
          <a:p>
            <a:pPr algn="l">
              <a:lnSpc>
                <a:spcPct val="112000"/>
              </a:lnSpc>
            </a:pPr>
            <a:r>
              <a:rPr sz="950" b="0" i="0">
                <a:solidFill>
                  <a:srgbClr val="D8E4F0"/>
                </a:solidFill>
                <a:latin typeface="Consolas"/>
              </a:rPr>
              <a:t>or  o1 (cout, ab, bc, ac);</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SWITCH - you place individual transistors</a:t>
            </a:r>
          </a:p>
          <a:p>
            <a:pPr algn="l">
              <a:lnSpc>
                <a:spcPct val="112000"/>
              </a:lnSpc>
            </a:pPr>
            <a:r>
              <a:rPr sz="950" b="0" i="0">
                <a:solidFill>
                  <a:srgbClr val="D8E4F0"/>
                </a:solidFill>
                <a:latin typeface="Consolas"/>
              </a:rPr>
              <a:t>pmos p1 (y, vdd, a);    nmos n1 (y, gnd, a);      // one CMOS inverter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1.6 · ABSTRACTION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And What a Synthesiser Makes of Each</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19</a:t>
            </a:r>
          </a:p>
        </p:txBody>
      </p:sp>
      <p:pic>
        <p:nvPicPr>
          <p:cNvPr id="9" name="Picture 8" descr="ladder_synthesis.png"/>
          <p:cNvPicPr>
            <a:picLocks noChangeAspect="1"/>
          </p:cNvPicPr>
          <p:nvPr/>
        </p:nvPicPr>
        <p:blipFill>
          <a:blip r:embed="rId2"/>
          <a:stretch>
            <a:fillRect/>
          </a:stretch>
        </p:blipFill>
        <p:spPr>
          <a:xfrm>
            <a:off x="2761795" y="1097280"/>
            <a:ext cx="6546491"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77514"/>
                </a:solidFill>
                <a:latin typeface="Calibri"/>
              </a:rPr>
              <a:t>The behavioural description produced the SMALLEST circuit — and dataflow and gate produced the identical netlist.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1.6 · ABSTRACTION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Rule This Gives You</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20</a:t>
            </a:r>
          </a:p>
        </p:txBody>
      </p:sp>
      <p:sp>
        <p:nvSpPr>
          <p:cNvPr id="9" name="Rounded Rectangle 8"/>
          <p:cNvSpPr/>
          <p:nvPr/>
        </p:nvSpPr>
        <p:spPr>
          <a:xfrm>
            <a:off x="411480" y="1143000"/>
            <a:ext cx="11247120" cy="68580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76072" y="120700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Write at the highest level that expresses your intent</a:t>
            </a:r>
          </a:p>
        </p:txBody>
      </p:sp>
      <p:sp>
        <p:nvSpPr>
          <p:cNvPr id="11" name="TextBox 10"/>
          <p:cNvSpPr txBox="1"/>
          <p:nvPr/>
        </p:nvSpPr>
        <p:spPr>
          <a:xfrm>
            <a:off x="576072" y="1481328"/>
            <a:ext cx="10917936" cy="283464"/>
          </a:xfrm>
          <a:prstGeom prst="rect">
            <a:avLst/>
          </a:prstGeom>
          <a:noFill/>
        </p:spPr>
        <p:txBody>
          <a:bodyPr wrap="square" lIns="0" rIns="0" tIns="0" bIns="0" anchor="t">
            <a:spAutoFit/>
          </a:bodyPr>
          <a:lstStyle/>
          <a:p>
            <a:pPr algn="l">
              <a:lnSpc>
                <a:spcPct val="103000"/>
              </a:lnSpc>
              <a:spcAft>
                <a:spcPts val="400"/>
              </a:spcAft>
            </a:pPr>
            <a:r>
              <a:rPr sz="1200" b="1" i="0">
                <a:solidFill>
                  <a:srgbClr val="0E2A47"/>
                </a:solidFill>
                <a:latin typeface="Calibri"/>
              </a:rPr>
              <a:t>Every level you descend takes a decision away from the tool and gives it to you — whether or not you wanted it.</a:t>
            </a:r>
          </a:p>
        </p:txBody>
      </p:sp>
      <p:sp>
        <p:nvSpPr>
          <p:cNvPr id="12" name="Rounded Rectangle 11"/>
          <p:cNvSpPr/>
          <p:nvPr/>
        </p:nvSpPr>
        <p:spPr>
          <a:xfrm>
            <a:off x="411480" y="1920240"/>
            <a:ext cx="5532120" cy="2011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48640" y="1984248"/>
            <a:ext cx="5257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What the tool is better at than you</a:t>
            </a:r>
          </a:p>
        </p:txBody>
      </p:sp>
      <p:sp>
        <p:nvSpPr>
          <p:cNvPr id="14" name="TextBox 13"/>
          <p:cNvSpPr txBox="1"/>
          <p:nvPr/>
        </p:nvSpPr>
        <p:spPr>
          <a:xfrm>
            <a:off x="548640" y="2258568"/>
            <a:ext cx="5257800" cy="1609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Choosing a gate mix for a Boolean function.</a:t>
            </a:r>
          </a:p>
          <a:p>
            <a:pPr algn="l">
              <a:lnSpc>
                <a:spcPct val="103000"/>
              </a:lnSpc>
              <a:spcAft>
                <a:spcPts val="400"/>
              </a:spcAft>
            </a:pPr>
            <a:r>
              <a:rPr sz="1100" b="0" i="0">
                <a:solidFill>
                  <a:srgbClr val="33414F"/>
                </a:solidFill>
                <a:latin typeface="Calibri"/>
              </a:rPr>
              <a:t>Balancing a logic tree.</a:t>
            </a:r>
          </a:p>
          <a:p>
            <a:pPr algn="l">
              <a:lnSpc>
                <a:spcPct val="103000"/>
              </a:lnSpc>
              <a:spcAft>
                <a:spcPts val="400"/>
              </a:spcAft>
            </a:pPr>
            <a:r>
              <a:rPr sz="1100" b="0" i="0">
                <a:solidFill>
                  <a:srgbClr val="33414F"/>
                </a:solidFill>
                <a:latin typeface="Calibri"/>
              </a:rPr>
              <a:t>Meeting a timing constraint by restructuring.</a:t>
            </a:r>
          </a:p>
          <a:p>
            <a:pPr algn="l">
              <a:lnSpc>
                <a:spcPct val="103000"/>
              </a:lnSpc>
              <a:spcAft>
                <a:spcPts val="400"/>
              </a:spcAft>
            </a:pPr>
            <a:r>
              <a:rPr sz="1100" b="0" i="0">
                <a:solidFill>
                  <a:srgbClr val="33414F"/>
                </a:solidFill>
                <a:latin typeface="Calibri"/>
              </a:rPr>
              <a:t>Doing all of that again, consistently, at 3 a.m.</a:t>
            </a:r>
          </a:p>
        </p:txBody>
      </p:sp>
      <p:sp>
        <p:nvSpPr>
          <p:cNvPr id="15" name="Rounded Rectangle 14"/>
          <p:cNvSpPr/>
          <p:nvPr/>
        </p:nvSpPr>
        <p:spPr>
          <a:xfrm>
            <a:off x="6126480" y="1920240"/>
            <a:ext cx="5532120" cy="201168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63640" y="1984248"/>
            <a:ext cx="5257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What you are better at than the tool</a:t>
            </a:r>
          </a:p>
        </p:txBody>
      </p:sp>
      <p:sp>
        <p:nvSpPr>
          <p:cNvPr id="17" name="TextBox 16"/>
          <p:cNvSpPr txBox="1"/>
          <p:nvPr/>
        </p:nvSpPr>
        <p:spPr>
          <a:xfrm>
            <a:off x="6263640" y="2258568"/>
            <a:ext cx="5257800" cy="1609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How many clock cycles the job should take.</a:t>
            </a:r>
          </a:p>
          <a:p>
            <a:pPr algn="l">
              <a:lnSpc>
                <a:spcPct val="103000"/>
              </a:lnSpc>
              <a:spcAft>
                <a:spcPts val="400"/>
              </a:spcAft>
            </a:pPr>
            <a:r>
              <a:rPr sz="1100" b="0" i="0">
                <a:solidFill>
                  <a:srgbClr val="33414F"/>
                </a:solidFill>
                <a:latin typeface="Calibri"/>
              </a:rPr>
              <a:t>Where the registers go.</a:t>
            </a:r>
          </a:p>
          <a:p>
            <a:pPr algn="l">
              <a:lnSpc>
                <a:spcPct val="103000"/>
              </a:lnSpc>
              <a:spcAft>
                <a:spcPts val="400"/>
              </a:spcAft>
            </a:pPr>
            <a:r>
              <a:rPr sz="1100" b="0" i="0">
                <a:solidFill>
                  <a:srgbClr val="33414F"/>
                </a:solidFill>
                <a:latin typeface="Calibri"/>
              </a:rPr>
              <a:t>What is shared and what is duplicated.</a:t>
            </a:r>
          </a:p>
          <a:p>
            <a:pPr algn="l">
              <a:lnSpc>
                <a:spcPct val="103000"/>
              </a:lnSpc>
              <a:spcAft>
                <a:spcPts val="400"/>
              </a:spcAft>
            </a:pPr>
            <a:r>
              <a:rPr sz="1100" b="0" i="0">
                <a:solidFill>
                  <a:srgbClr val="33414F"/>
                </a:solidFill>
                <a:latin typeface="Calibri"/>
              </a:rPr>
              <a:t>What the interface should look like.</a:t>
            </a:r>
          </a:p>
        </p:txBody>
      </p:sp>
      <p:sp>
        <p:nvSpPr>
          <p:cNvPr id="18" name="TextBox 17"/>
          <p:cNvSpPr txBox="1"/>
          <p:nvPr/>
        </p:nvSpPr>
        <p:spPr>
          <a:xfrm>
            <a:off x="411480" y="402336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0E2A47"/>
                </a:solidFill>
                <a:latin typeface="Calibri"/>
              </a:rPr>
              <a:t>Give the tool the first list. Keep the second one for yourself.</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1.7 · PROOF</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Simulation Shows. Proof Settles.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21</a:t>
            </a:r>
          </a:p>
        </p:txBody>
      </p:sp>
      <p:pic>
        <p:nvPicPr>
          <p:cNvPr id="9" name="Picture 8" descr="proof_vs_test.png"/>
          <p:cNvPicPr>
            <a:picLocks noChangeAspect="1"/>
          </p:cNvPicPr>
          <p:nvPr/>
        </p:nvPicPr>
        <p:blipFill>
          <a:blip r:embed="rId2"/>
          <a:stretch>
            <a:fillRect/>
          </a:stretch>
        </p:blipFill>
        <p:spPr>
          <a:xfrm>
            <a:off x="2506034" y="1097280"/>
            <a:ext cx="7058011"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A checker that cannot fail is not evidence of anything — which is why the lab includes a deliberately broken adder.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1.8 · THE RUNNING EXAMPLE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One Design, Carried All the Way Through</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22</a:t>
            </a:r>
          </a:p>
        </p:txBody>
      </p:sp>
      <p:pic>
        <p:nvPicPr>
          <p:cNvPr id="9" name="Picture 8" descr="running_example.png"/>
          <p:cNvPicPr>
            <a:picLocks noChangeAspect="1"/>
          </p:cNvPicPr>
          <p:nvPr/>
        </p:nvPicPr>
        <p:blipFill>
          <a:blip r:embed="rId2"/>
          <a:stretch>
            <a:fillRect/>
          </a:stretch>
        </p:blipFill>
        <p:spPr>
          <a:xfrm>
            <a:off x="2576608" y="1097280"/>
            <a:ext cx="6916864" cy="4754880"/>
          </a:xfrm>
          <a:prstGeom prst="rect">
            <a:avLst/>
          </a:prstGeom>
        </p:spPr>
      </p:pic>
      <p:sp>
        <p:nvSpPr>
          <p:cNvPr id="10" name="TextBox 9"/>
          <p:cNvSpPr txBox="1"/>
          <p:nvPr/>
        </p:nvSpPr>
        <p:spPr>
          <a:xfrm>
            <a:off x="411480" y="5943600"/>
            <a:ext cx="11247120" cy="27432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Four bits, an asynchronous reset, an enable and a terminal count. Small enough to read in one glance, big enough to be a real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1.8 · THE RUNNING EXAMPLE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Read It Line By Line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23</a:t>
            </a:r>
          </a:p>
        </p:txBody>
      </p:sp>
      <p:sp>
        <p:nvSpPr>
          <p:cNvPr id="9" name="Rounded Rectangle 8"/>
          <p:cNvSpPr/>
          <p:nvPr/>
        </p:nvSpPr>
        <p:spPr>
          <a:xfrm>
            <a:off x="411480" y="1143000"/>
            <a:ext cx="11247120" cy="2860040"/>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631440"/>
          </a:xfrm>
          <a:prstGeom prst="rect">
            <a:avLst/>
          </a:prstGeom>
          <a:noFill/>
        </p:spPr>
        <p:txBody>
          <a:bodyPr wrap="square" lIns="0" rIns="0" tIns="0" bIns="0" anchor="t">
            <a:spAutoFit/>
          </a:bodyPr>
          <a:lstStyle/>
          <a:p>
            <a:pPr algn="l">
              <a:lnSpc>
                <a:spcPct val="112000"/>
              </a:lnSpc>
            </a:pPr>
            <a:r>
              <a:rPr sz="1000" b="0" i="0">
                <a:solidFill>
                  <a:srgbClr val="D8E4F0"/>
                </a:solidFill>
                <a:latin typeface="Consolas"/>
              </a:rPr>
              <a:t>module counter4 (</a:t>
            </a:r>
          </a:p>
          <a:p>
            <a:pPr algn="l">
              <a:lnSpc>
                <a:spcPct val="112000"/>
              </a:lnSpc>
            </a:pPr>
            <a:r>
              <a:rPr sz="1000" b="0" i="0">
                <a:solidFill>
                  <a:srgbClr val="D8E4F0"/>
                </a:solidFill>
                <a:latin typeface="Consolas"/>
              </a:rPr>
              <a:t>    input            clk,</a:t>
            </a:r>
          </a:p>
          <a:p>
            <a:pPr algn="l">
              <a:lnSpc>
                <a:spcPct val="112000"/>
              </a:lnSpc>
            </a:pPr>
            <a:r>
              <a:rPr sz="1000" b="0" i="0">
                <a:solidFill>
                  <a:srgbClr val="D8E4F0"/>
                </a:solidFill>
                <a:latin typeface="Consolas"/>
              </a:rPr>
              <a:t>    input            rst_n,      // asynchronous, active LOW</a:t>
            </a:r>
          </a:p>
          <a:p>
            <a:pPr algn="l">
              <a:lnSpc>
                <a:spcPct val="112000"/>
              </a:lnSpc>
            </a:pPr>
            <a:r>
              <a:rPr sz="1000" b="0" i="0">
                <a:solidFill>
                  <a:srgbClr val="D8E4F0"/>
                </a:solidFill>
                <a:latin typeface="Consolas"/>
              </a:rPr>
              <a:t>    input            en,</a:t>
            </a:r>
          </a:p>
          <a:p>
            <a:pPr algn="l">
              <a:lnSpc>
                <a:spcPct val="112000"/>
              </a:lnSpc>
            </a:pPr>
            <a:r>
              <a:rPr sz="1000" b="0" i="0">
                <a:solidFill>
                  <a:srgbClr val="D8E4F0"/>
                </a:solidFill>
                <a:latin typeface="Consolas"/>
              </a:rPr>
              <a:t>    output reg [3:0] count,</a:t>
            </a:r>
          </a:p>
          <a:p>
            <a:pPr algn="l">
              <a:lnSpc>
                <a:spcPct val="112000"/>
              </a:lnSpc>
            </a:pPr>
            <a:r>
              <a:rPr sz="1000" b="0" i="0">
                <a:solidFill>
                  <a:srgbClr val="D8E4F0"/>
                </a:solidFill>
                <a:latin typeface="Consolas"/>
              </a:rPr>
              <a:t>    output           tc          // one cycle high at 15</a:t>
            </a:r>
          </a:p>
          <a:p>
            <a:pPr algn="l">
              <a:lnSpc>
                <a:spcPct val="112000"/>
              </a:lnSpc>
            </a:pPr>
            <a:r>
              <a:rPr sz="1000" b="0" i="0">
                <a:solidFill>
                  <a:srgbClr val="D8E4F0"/>
                </a:solidFill>
                <a:latin typeface="Consolas"/>
              </a:rPr>
              <a:t>);</a:t>
            </a:r>
          </a:p>
          <a:p>
            <a:pPr algn="l">
              <a:lnSpc>
                <a:spcPct val="112000"/>
              </a:lnSpc>
            </a:pPr>
            <a:r>
              <a:rPr sz="1000" b="0" i="0">
                <a:solidFill>
                  <a:srgbClr val="D8E4F0"/>
                </a:solidFill>
                <a:latin typeface="Consolas"/>
              </a:rPr>
              <a:t>    always @(posedge clk or negedge rst_n) begin</a:t>
            </a:r>
          </a:p>
          <a:p>
            <a:pPr algn="l">
              <a:lnSpc>
                <a:spcPct val="112000"/>
              </a:lnSpc>
            </a:pPr>
            <a:r>
              <a:rPr sz="1000" b="0" i="0">
                <a:solidFill>
                  <a:srgbClr val="D8E4F0"/>
                </a:solidFill>
                <a:latin typeface="Consolas"/>
              </a:rPr>
              <a:t>        if (!rst_n)     count &lt;= 4'd0;      // reset wins</a:t>
            </a:r>
          </a:p>
          <a:p>
            <a:pPr algn="l">
              <a:lnSpc>
                <a:spcPct val="112000"/>
              </a:lnSpc>
            </a:pPr>
            <a:r>
              <a:rPr sz="1000" b="0" i="0">
                <a:solidFill>
                  <a:srgbClr val="D8E4F0"/>
                </a:solidFill>
                <a:latin typeface="Consolas"/>
              </a:rPr>
              <a:t>        else if (en)    count &lt;= count + 4'd1;</a:t>
            </a:r>
          </a:p>
          <a:p>
            <a:pPr algn="l">
              <a:lnSpc>
                <a:spcPct val="112000"/>
              </a:lnSpc>
            </a:pPr>
            <a:r>
              <a:rPr sz="1000" b="0" i="0">
                <a:solidFill>
                  <a:srgbClr val="D8E4F0"/>
                </a:solidFill>
                <a:latin typeface="Consolas"/>
              </a:rPr>
              <a:t>    end                                     // no else: HOLD</a:t>
            </a:r>
          </a:p>
          <a:p>
            <a:pPr algn="l">
              <a:lnSpc>
                <a:spcPct val="112000"/>
              </a:lnSpc>
            </a:pPr>
            <a:r>
              <a:rPr sz="1000" b="0" i="0">
                <a:solidFill>
                  <a:srgbClr val="D8E4F0"/>
                </a:solidFill>
                <a:latin typeface="Consolas"/>
              </a:rPr>
              <a:t> </a:t>
            </a:r>
          </a:p>
          <a:p>
            <a:pPr algn="l">
              <a:lnSpc>
                <a:spcPct val="112000"/>
              </a:lnSpc>
            </a:pPr>
            <a:r>
              <a:rPr sz="1000" b="0" i="0">
                <a:solidFill>
                  <a:srgbClr val="D8E4F0"/>
                </a:solidFill>
                <a:latin typeface="Consolas"/>
              </a:rPr>
              <a:t>    assign tc = en &amp; (count == 4'd15);</a:t>
            </a:r>
          </a:p>
          <a:p>
            <a:pPr algn="l">
              <a:lnSpc>
                <a:spcPct val="112000"/>
              </a:lnSpc>
            </a:pPr>
            <a:r>
              <a:rPr sz="1000" b="0" i="0">
                <a:solidFill>
                  <a:srgbClr val="D8E4F0"/>
                </a:solidFill>
                <a:latin typeface="Consolas"/>
              </a:rPr>
              <a:t>endmodule</a:t>
            </a:r>
          </a:p>
        </p:txBody>
      </p:sp>
      <p:sp>
        <p:nvSpPr>
          <p:cNvPr id="11" name="Rounded Rectangle 10"/>
          <p:cNvSpPr/>
          <p:nvPr/>
        </p:nvSpPr>
        <p:spPr>
          <a:xfrm>
            <a:off x="411480" y="4094480"/>
            <a:ext cx="11247120" cy="10972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4158488"/>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Four decisions are visible in fourteen lines</a:t>
            </a:r>
          </a:p>
        </p:txBody>
      </p:sp>
      <p:sp>
        <p:nvSpPr>
          <p:cNvPr id="13" name="TextBox 12"/>
          <p:cNvSpPr txBox="1"/>
          <p:nvPr/>
        </p:nvSpPr>
        <p:spPr>
          <a:xfrm>
            <a:off x="576072" y="4432808"/>
            <a:ext cx="10917936" cy="6949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The reset is ASYNCHRONOUS, so it is in the sensitivity list; it is ACTIVE LOW, so the port is named rst_n and the test is !rst_n. Reset is tested FIRST, so it wins over the enable. And the missing else is deliberate — in a CLOCKED block, no assignment means hold, which is what a flip-flop does anyway.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1.8 · THE RUNNING EXAMPLE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Numbers, Worked Out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24</a:t>
            </a:r>
          </a:p>
        </p:txBody>
      </p:sp>
      <p:pic>
        <p:nvPicPr>
          <p:cNvPr id="9" name="Picture 8" descr="numerical_example.png"/>
          <p:cNvPicPr>
            <a:picLocks noChangeAspect="1"/>
          </p:cNvPicPr>
          <p:nvPr/>
        </p:nvPicPr>
        <p:blipFill>
          <a:blip r:embed="rId2"/>
          <a:stretch>
            <a:fillRect/>
          </a:stretch>
        </p:blipFill>
        <p:spPr>
          <a:xfrm>
            <a:off x="2701179" y="1097280"/>
            <a:ext cx="6667722" cy="5029200"/>
          </a:xfrm>
          <a:prstGeom prst="rect">
            <a:avLst/>
          </a:prstGeom>
        </p:spPr>
      </p:pic>
      <p:sp>
        <p:nvSpPr>
          <p:cNvPr id="10" name="TextBox 9"/>
          <p:cNvSpPr txBox="1"/>
          <p:nvPr/>
        </p:nvSpPr>
        <p:spPr>
          <a:xfrm>
            <a:off x="411480" y="621792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Derive the formula, then measure it. A testbench that only ever tries one value of N has told you almost nothing.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THEORY 1 · CHECKPOINT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Nine Questions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25</a:t>
            </a:r>
          </a:p>
        </p:txBody>
      </p:sp>
      <p:sp>
        <p:nvSpPr>
          <p:cNvPr id="9" name="Rectangle 8"/>
          <p:cNvSpPr/>
          <p:nvPr/>
        </p:nvSpPr>
        <p:spPr>
          <a:xfrm>
            <a:off x="411480" y="1143000"/>
            <a:ext cx="54864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45720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a:t>
            </a:r>
          </a:p>
        </p:txBody>
      </p:sp>
      <p:sp>
        <p:nvSpPr>
          <p:cNvPr id="11" name="Rectangle 10"/>
          <p:cNvSpPr/>
          <p:nvPr/>
        </p:nvSpPr>
        <p:spPr>
          <a:xfrm>
            <a:off x="960120" y="1143000"/>
            <a:ext cx="502920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1143000"/>
            <a:ext cx="493776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Question</a:t>
            </a:r>
          </a:p>
        </p:txBody>
      </p:sp>
      <p:sp>
        <p:nvSpPr>
          <p:cNvPr id="13" name="Rectangle 12"/>
          <p:cNvSpPr/>
          <p:nvPr/>
        </p:nvSpPr>
        <p:spPr>
          <a:xfrm>
            <a:off x="5989320" y="1143000"/>
            <a:ext cx="566928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5040" y="1143000"/>
            <a:ext cx="557784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The answer in one line</a:t>
            </a:r>
          </a:p>
        </p:txBody>
      </p:sp>
      <p:sp>
        <p:nvSpPr>
          <p:cNvPr id="15" name="Rectangle 14"/>
          <p:cNvSpPr/>
          <p:nvPr/>
        </p:nvSpPr>
        <p:spPr>
          <a:xfrm>
            <a:off x="411480" y="141732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1732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1</a:t>
            </a:r>
          </a:p>
        </p:txBody>
      </p:sp>
      <p:sp>
        <p:nvSpPr>
          <p:cNvPr id="17" name="Rectangle 16"/>
          <p:cNvSpPr/>
          <p:nvPr/>
        </p:nvSpPr>
        <p:spPr>
          <a:xfrm>
            <a:off x="960120" y="141732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141732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two things does an RTL description state?</a:t>
            </a:r>
          </a:p>
        </p:txBody>
      </p:sp>
      <p:sp>
        <p:nvSpPr>
          <p:cNvPr id="19" name="Rectangle 18"/>
          <p:cNvSpPr/>
          <p:nvPr/>
        </p:nvSpPr>
        <p:spPr>
          <a:xfrm>
            <a:off x="5989320" y="141732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5040" y="141732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which registers exist, and what transfers into them</a:t>
            </a:r>
          </a:p>
        </p:txBody>
      </p:sp>
      <p:sp>
        <p:nvSpPr>
          <p:cNvPr id="21" name="Rectangle 20"/>
          <p:cNvSpPr/>
          <p:nvPr/>
        </p:nvSpPr>
        <p:spPr>
          <a:xfrm>
            <a:off x="411480" y="169164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69164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2</a:t>
            </a:r>
          </a:p>
        </p:txBody>
      </p:sp>
      <p:sp>
        <p:nvSpPr>
          <p:cNvPr id="23" name="Rectangle 22"/>
          <p:cNvSpPr/>
          <p:nvPr/>
        </p:nvSpPr>
        <p:spPr>
          <a:xfrm>
            <a:off x="960120" y="169164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5840" y="169164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does &lt;= mean inside a clocked block?</a:t>
            </a:r>
          </a:p>
        </p:txBody>
      </p:sp>
      <p:sp>
        <p:nvSpPr>
          <p:cNvPr id="25" name="Rectangle 24"/>
          <p:cNvSpPr/>
          <p:nvPr/>
        </p:nvSpPr>
        <p:spPr>
          <a:xfrm>
            <a:off x="5989320" y="169164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0" y="169164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read all right-hand sides first, then update together</a:t>
            </a:r>
          </a:p>
        </p:txBody>
      </p:sp>
      <p:sp>
        <p:nvSpPr>
          <p:cNvPr id="27" name="Rectangle 26"/>
          <p:cNvSpPr/>
          <p:nvPr/>
        </p:nvSpPr>
        <p:spPr>
          <a:xfrm>
            <a:off x="411480" y="196596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196596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3</a:t>
            </a:r>
          </a:p>
        </p:txBody>
      </p:sp>
      <p:sp>
        <p:nvSpPr>
          <p:cNvPr id="29" name="Rectangle 28"/>
          <p:cNvSpPr/>
          <p:nvPr/>
        </p:nvSpPr>
        <p:spPr>
          <a:xfrm>
            <a:off x="960120" y="196596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05840" y="196596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Name the four levels of abstraction.</a:t>
            </a:r>
          </a:p>
        </p:txBody>
      </p:sp>
      <p:sp>
        <p:nvSpPr>
          <p:cNvPr id="31" name="Rectangle 30"/>
          <p:cNvSpPr/>
          <p:nvPr/>
        </p:nvSpPr>
        <p:spPr>
          <a:xfrm>
            <a:off x="5989320" y="196596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035040" y="196596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behavioural, dataflow, gate, switch</a:t>
            </a:r>
          </a:p>
        </p:txBody>
      </p:sp>
      <p:sp>
        <p:nvSpPr>
          <p:cNvPr id="33" name="Rectangle 32"/>
          <p:cNvSpPr/>
          <p:nvPr/>
        </p:nvSpPr>
        <p:spPr>
          <a:xfrm>
            <a:off x="411480" y="224028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24028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4</a:t>
            </a:r>
          </a:p>
        </p:txBody>
      </p:sp>
      <p:sp>
        <p:nvSpPr>
          <p:cNvPr id="35" name="Rectangle 34"/>
          <p:cNvSpPr/>
          <p:nvPr/>
        </p:nvSpPr>
        <p:spPr>
          <a:xfrm>
            <a:off x="960120" y="224028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05840" y="224028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Which level produced the smallest netlist, and why?</a:t>
            </a:r>
          </a:p>
        </p:txBody>
      </p:sp>
      <p:sp>
        <p:nvSpPr>
          <p:cNvPr id="37" name="Rectangle 36"/>
          <p:cNvSpPr/>
          <p:nvPr/>
        </p:nvSpPr>
        <p:spPr>
          <a:xfrm>
            <a:off x="5989320" y="224028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35040" y="224028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behavioural — it left the tool free to choose</a:t>
            </a:r>
          </a:p>
        </p:txBody>
      </p:sp>
      <p:sp>
        <p:nvSpPr>
          <p:cNvPr id="39" name="Rectangle 38"/>
          <p:cNvSpPr/>
          <p:nvPr/>
        </p:nvSpPr>
        <p:spPr>
          <a:xfrm>
            <a:off x="411480" y="251460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51460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5</a:t>
            </a:r>
          </a:p>
        </p:txBody>
      </p:sp>
      <p:sp>
        <p:nvSpPr>
          <p:cNvPr id="41" name="Rectangle 40"/>
          <p:cNvSpPr/>
          <p:nvPr/>
        </p:nvSpPr>
        <p:spPr>
          <a:xfrm>
            <a:off x="960120" y="251460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05840" y="251460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Why did dataflow and gate give identical netlists?</a:t>
            </a:r>
          </a:p>
        </p:txBody>
      </p:sp>
      <p:sp>
        <p:nvSpPr>
          <p:cNvPr id="43" name="Rectangle 42"/>
          <p:cNvSpPr/>
          <p:nvPr/>
        </p:nvSpPr>
        <p:spPr>
          <a:xfrm>
            <a:off x="5989320" y="251460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35040" y="251460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writing the Boolean form already fixes the structure</a:t>
            </a:r>
          </a:p>
        </p:txBody>
      </p:sp>
      <p:sp>
        <p:nvSpPr>
          <p:cNvPr id="45" name="Rectangle 44"/>
          <p:cNvSpPr/>
          <p:nvPr/>
        </p:nvSpPr>
        <p:spPr>
          <a:xfrm>
            <a:off x="411480" y="278892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7200" y="278892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6</a:t>
            </a:r>
          </a:p>
        </p:txBody>
      </p:sp>
      <p:sp>
        <p:nvSpPr>
          <p:cNvPr id="47" name="Rectangle 46"/>
          <p:cNvSpPr/>
          <p:nvPr/>
        </p:nvSpPr>
        <p:spPr>
          <a:xfrm>
            <a:off x="960120" y="278892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05840" y="278892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Why prove equivalence instead of simulating?</a:t>
            </a:r>
          </a:p>
        </p:txBody>
      </p:sp>
      <p:sp>
        <p:nvSpPr>
          <p:cNvPr id="49" name="Rectangle 48"/>
          <p:cNvSpPr/>
          <p:nvPr/>
        </p:nvSpPr>
        <p:spPr>
          <a:xfrm>
            <a:off x="5989320" y="278892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035040" y="278892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exhaustive simulation stops being possible at ~30 inputs</a:t>
            </a:r>
          </a:p>
        </p:txBody>
      </p:sp>
      <p:sp>
        <p:nvSpPr>
          <p:cNvPr id="51" name="Rectangle 50"/>
          <p:cNvSpPr/>
          <p:nvPr/>
        </p:nvSpPr>
        <p:spPr>
          <a:xfrm>
            <a:off x="411480" y="306324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457200" y="306324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7</a:t>
            </a:r>
          </a:p>
        </p:txBody>
      </p:sp>
      <p:sp>
        <p:nvSpPr>
          <p:cNvPr id="53" name="Rectangle 52"/>
          <p:cNvSpPr/>
          <p:nvPr/>
        </p:nvSpPr>
        <p:spPr>
          <a:xfrm>
            <a:off x="960120" y="306324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005840" y="306324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are the only two kinds of digital logic?</a:t>
            </a:r>
          </a:p>
        </p:txBody>
      </p:sp>
      <p:sp>
        <p:nvSpPr>
          <p:cNvPr id="55" name="Rectangle 54"/>
          <p:cNvSpPr/>
          <p:nvPr/>
        </p:nvSpPr>
        <p:spPr>
          <a:xfrm>
            <a:off x="5989320" y="306324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035040" y="306324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combinational and sequential — there is no third</a:t>
            </a:r>
          </a:p>
        </p:txBody>
      </p:sp>
      <p:sp>
        <p:nvSpPr>
          <p:cNvPr id="57" name="Rectangle 56"/>
          <p:cNvSpPr/>
          <p:nvPr/>
        </p:nvSpPr>
        <p:spPr>
          <a:xfrm>
            <a:off x="411480" y="333756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333756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8</a:t>
            </a:r>
          </a:p>
        </p:txBody>
      </p:sp>
      <p:sp>
        <p:nvSpPr>
          <p:cNvPr id="59" name="Rectangle 58"/>
          <p:cNvSpPr/>
          <p:nvPr/>
        </p:nvSpPr>
        <p:spPr>
          <a:xfrm>
            <a:off x="960120" y="333756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1005840" y="333756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Name three things the synchronous discipline buys you.</a:t>
            </a:r>
          </a:p>
        </p:txBody>
      </p:sp>
      <p:sp>
        <p:nvSpPr>
          <p:cNvPr id="61" name="Rectangle 60"/>
          <p:cNvSpPr/>
          <p:nvPr/>
        </p:nvSpPr>
        <p:spPr>
          <a:xfrm>
            <a:off x="5989320" y="333756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035040" y="333756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analysable timing, composable blocks, testable silicon</a:t>
            </a:r>
          </a:p>
        </p:txBody>
      </p:sp>
      <p:sp>
        <p:nvSpPr>
          <p:cNvPr id="63" name="Rectangle 62"/>
          <p:cNvSpPr/>
          <p:nvPr/>
        </p:nvSpPr>
        <p:spPr>
          <a:xfrm>
            <a:off x="411480" y="361188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457200" y="361188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9</a:t>
            </a:r>
          </a:p>
        </p:txBody>
      </p:sp>
      <p:sp>
        <p:nvSpPr>
          <p:cNvPr id="65" name="Rectangle 64"/>
          <p:cNvSpPr/>
          <p:nvPr/>
        </p:nvSpPr>
        <p:spPr>
          <a:xfrm>
            <a:off x="960120" y="361188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1005840" y="361188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In counter4, why is there no else on the enable?</a:t>
            </a:r>
          </a:p>
        </p:txBody>
      </p:sp>
      <p:sp>
        <p:nvSpPr>
          <p:cNvPr id="67" name="Rectangle 66"/>
          <p:cNvSpPr/>
          <p:nvPr/>
        </p:nvSpPr>
        <p:spPr>
          <a:xfrm>
            <a:off x="5989320" y="361188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6035040" y="361188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in a clocked block, no assignment means hold</a:t>
            </a:r>
          </a:p>
        </p:txBody>
      </p:sp>
      <p:sp>
        <p:nvSpPr>
          <p:cNvPr id="69" name="TextBox 68"/>
          <p:cNvSpPr txBox="1"/>
          <p:nvPr/>
        </p:nvSpPr>
        <p:spPr>
          <a:xfrm>
            <a:off x="411480" y="397764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2A9D5C"/>
                </a:solidFill>
                <a:latin typeface="Calibri"/>
              </a:rPr>
              <a:t>Theory 2 asks what you are allowed to write, and why the rules exist.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6B45A8"/>
                </a:solidFill>
                <a:latin typeface="Calibri"/>
              </a:rPr>
              <a:t>THEORY 2</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The RTL Design Process and Methodology</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Methodology is the hardest thing to teach, because the honest version is a list of habits and the dishonest version is a list of slogans.</a:t>
            </a:r>
          </a:p>
        </p:txBody>
      </p:sp>
      <p:sp>
        <p:nvSpPr>
          <p:cNvPr id="6" name="Rectangle 5"/>
          <p:cNvSpPr/>
          <p:nvPr/>
        </p:nvSpPr>
        <p:spPr>
          <a:xfrm>
            <a:off x="640080" y="394106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design flow, and where this topic sits in it</a:t>
            </a:r>
          </a:p>
        </p:txBody>
      </p:sp>
      <p:sp>
        <p:nvSpPr>
          <p:cNvPr id="8" name="Rectangle 7"/>
          <p:cNvSpPr/>
          <p:nvPr/>
        </p:nvSpPr>
        <p:spPr>
          <a:xfrm>
            <a:off x="640080" y="435254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synthesisable subset — measured, not asserted</a:t>
            </a:r>
          </a:p>
        </p:txBody>
      </p:sp>
      <p:sp>
        <p:nvSpPr>
          <p:cNvPr id="10" name="Rectangle 9"/>
          <p:cNvSpPr/>
          <p:nvPr/>
        </p:nvSpPr>
        <p:spPr>
          <a:xfrm>
            <a:off x="640080" y="476402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bug that makes simulation and silicon disagree</a:t>
            </a:r>
          </a:p>
        </p:txBody>
      </p:sp>
      <p:sp>
        <p:nvSpPr>
          <p:cNvPr id="12" name="Rectangle 11"/>
          <p:cNvSpPr/>
          <p:nvPr/>
        </p:nvSpPr>
        <p:spPr>
          <a:xfrm>
            <a:off x="640080" y="517550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Seven coding rules, and a tool that checks them</a:t>
            </a:r>
          </a:p>
        </p:txBody>
      </p:sp>
      <p:sp>
        <p:nvSpPr>
          <p:cNvPr id="14" name="Rectangle 13"/>
          <p:cNvSpPr/>
          <p:nvPr/>
        </p:nvSpPr>
        <p:spPr>
          <a:xfrm>
            <a:off x="640080" y="558698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Micro-architecture: the decisions RTL cannot make for you</a:t>
            </a:r>
          </a:p>
        </p:txBody>
      </p:sp>
      <p:sp>
        <p:nvSpPr>
          <p:cNvPr id="16" name="TextBox 15"/>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7" name="TextBox 16"/>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2.1 · THE FLOW</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RTL Design Flow</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27</a:t>
            </a:r>
          </a:p>
        </p:txBody>
      </p:sp>
      <p:pic>
        <p:nvPicPr>
          <p:cNvPr id="9" name="Picture 8" descr="design_flow.png"/>
          <p:cNvPicPr>
            <a:picLocks noChangeAspect="1"/>
          </p:cNvPicPr>
          <p:nvPr/>
        </p:nvPicPr>
        <p:blipFill>
          <a:blip r:embed="rId2"/>
          <a:stretch>
            <a:fillRect/>
          </a:stretch>
        </p:blipFill>
        <p:spPr>
          <a:xfrm>
            <a:off x="2975470" y="1097280"/>
            <a:ext cx="6119140"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Every arrow points both ways in practice: a timing failure sends you back to the RTL, a synthesis surprise back to the micro-architecture.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2.1 · THE FLOW</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Executed, Not Described</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28</a:t>
            </a:r>
          </a:p>
        </p:txBody>
      </p:sp>
      <p:pic>
        <p:nvPicPr>
          <p:cNvPr id="9" name="Picture 8" descr="flow_executed.png"/>
          <p:cNvPicPr>
            <a:picLocks noChangeAspect="1"/>
          </p:cNvPicPr>
          <p:nvPr/>
        </p:nvPicPr>
        <p:blipFill>
          <a:blip r:embed="rId2"/>
          <a:stretch>
            <a:fillRect/>
          </a:stretch>
        </p:blipFill>
        <p:spPr>
          <a:xfrm>
            <a:off x="2822410" y="1097280"/>
            <a:ext cx="6425260"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make flow  stops at the first stage that fails. That is what makes it a methodology rather than a diagram.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2.2 · THE SUBSET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Which Verilog Actually Synthesises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29</a:t>
            </a:r>
          </a:p>
        </p:txBody>
      </p:sp>
      <p:pic>
        <p:nvPicPr>
          <p:cNvPr id="9" name="Picture 8" descr="synth_subset.png"/>
          <p:cNvPicPr>
            <a:picLocks noChangeAspect="1"/>
          </p:cNvPicPr>
          <p:nvPr/>
        </p:nvPicPr>
        <p:blipFill>
          <a:blip r:embed="rId2"/>
          <a:stretch>
            <a:fillRect/>
          </a:stretch>
        </p:blipFill>
        <p:spPr>
          <a:xfrm>
            <a:off x="3097302" y="1097280"/>
            <a:ext cx="5875475"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Eleven constructs, run through a real synthesiser. The table is measured, not remembered.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2.2 · THE SUBSET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Three Rows Worth Discussing</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30</a:t>
            </a:r>
          </a:p>
        </p:txBody>
      </p:sp>
      <p:sp>
        <p:nvSpPr>
          <p:cNvPr id="9" name="Rounded Rectangle 8"/>
          <p:cNvSpPr/>
          <p:nvPr/>
        </p:nvSpPr>
        <p:spPr>
          <a:xfrm>
            <a:off x="411480" y="1143000"/>
            <a:ext cx="3627120" cy="256032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8640" y="1207008"/>
            <a:ext cx="3352800"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371 cells against 0</a:t>
            </a:r>
          </a:p>
        </p:txBody>
      </p:sp>
      <p:sp>
        <p:nvSpPr>
          <p:cNvPr id="11" name="TextBox 10"/>
          <p:cNvSpPr txBox="1"/>
          <p:nvPr/>
        </p:nvSpPr>
        <p:spPr>
          <a:xfrm>
            <a:off x="548640" y="1481328"/>
            <a:ext cx="3352800" cy="21579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 b  where b is a signal builds a full combinational divider — 371 cells.</a:t>
            </a:r>
          </a:p>
          <a:p>
            <a:pPr algn="l">
              <a:lnSpc>
                <a:spcPct val="103000"/>
              </a:lnSpc>
              <a:spcAft>
                <a:spcPts val="400"/>
              </a:spcAft>
            </a:pPr>
            <a:r>
              <a:rPr sz="1100" b="0" i="0">
                <a:solidFill>
                  <a:srgbClr val="33414F"/>
                </a:solidFill>
                <a:latin typeface="Calibri"/>
              </a:rPr>
              <a:t>a / 4  builds nothing at all. It is a rename of wires.</a:t>
            </a:r>
          </a:p>
          <a:p>
            <a:pPr algn="l">
              <a:lnSpc>
                <a:spcPct val="103000"/>
              </a:lnSpc>
              <a:spcAft>
                <a:spcPts val="400"/>
              </a:spcAft>
            </a:pPr>
            <a:r>
              <a:rPr sz="1100" b="1" i="0">
                <a:solidFill>
                  <a:srgbClr val="0E2A47"/>
                </a:solidFill>
                <a:latin typeface="Calibri"/>
              </a:rPr>
              <a:t>Same operator. The difference is entirely what you divided BY.</a:t>
            </a:r>
          </a:p>
        </p:txBody>
      </p:sp>
      <p:sp>
        <p:nvSpPr>
          <p:cNvPr id="12" name="Rounded Rectangle 11"/>
          <p:cNvSpPr/>
          <p:nvPr/>
        </p:nvSpPr>
        <p:spPr>
          <a:xfrm>
            <a:off x="4221480" y="1143000"/>
            <a:ext cx="3627120" cy="256032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58640" y="120700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#5 vanished silently</a:t>
            </a:r>
          </a:p>
        </p:txBody>
      </p:sp>
      <p:sp>
        <p:nvSpPr>
          <p:cNvPr id="14" name="TextBox 13"/>
          <p:cNvSpPr txBox="1"/>
          <p:nvPr/>
        </p:nvSpPr>
        <p:spPr>
          <a:xfrm>
            <a:off x="4358640" y="1481328"/>
            <a:ext cx="3352800" cy="21579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delay is a simulation instruction. Silicon has no way to wait five time units.</a:t>
            </a:r>
          </a:p>
          <a:p>
            <a:pPr algn="l">
              <a:lnSpc>
                <a:spcPct val="103000"/>
              </a:lnSpc>
              <a:spcAft>
                <a:spcPts val="400"/>
              </a:spcAft>
            </a:pPr>
            <a:r>
              <a:rPr sz="1100" b="0" i="0">
                <a:solidFill>
                  <a:srgbClr val="33414F"/>
                </a:solidFill>
                <a:latin typeface="Calibri"/>
              </a:rPr>
              <a:t>Synthesis ignored it and built the gate. Your simulation and your chip now behave differently.</a:t>
            </a:r>
          </a:p>
        </p:txBody>
      </p:sp>
      <p:sp>
        <p:nvSpPr>
          <p:cNvPr id="15" name="Rounded Rectangle 14"/>
          <p:cNvSpPr/>
          <p:nvPr/>
        </p:nvSpPr>
        <p:spPr>
          <a:xfrm>
            <a:off x="8031480" y="1143000"/>
            <a:ext cx="3627120" cy="2560320"/>
          </a:xfrm>
          <a:prstGeom prst="roundRect">
            <a:avLst>
              <a:gd name="adj" fmla="val 5714"/>
            </a:avLst>
          </a:prstGeom>
          <a:solidFill>
            <a:srgbClr val="F4F8FB"/>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168640" y="1207008"/>
            <a:ext cx="3352800" cy="274320"/>
          </a:xfrm>
          <a:prstGeom prst="rect">
            <a:avLst/>
          </a:prstGeom>
          <a:noFill/>
        </p:spPr>
        <p:txBody>
          <a:bodyPr wrap="square" lIns="0" rIns="0" tIns="0" bIns="0" anchor="ctr">
            <a:spAutoFit/>
          </a:bodyPr>
          <a:lstStyle/>
          <a:p>
            <a:pPr algn="l">
              <a:lnSpc>
                <a:spcPct val="103000"/>
              </a:lnSpc>
            </a:pPr>
            <a:r>
              <a:rPr sz="1150" b="1" i="0">
                <a:solidFill>
                  <a:srgbClr val="6B45A8"/>
                </a:solidFill>
                <a:latin typeface="Cambria"/>
              </a:rPr>
              <a:t>initial was accepted</a:t>
            </a:r>
          </a:p>
        </p:txBody>
      </p:sp>
      <p:sp>
        <p:nvSpPr>
          <p:cNvPr id="17" name="TextBox 16"/>
          <p:cNvSpPr txBox="1"/>
          <p:nvPr/>
        </p:nvSpPr>
        <p:spPr>
          <a:xfrm>
            <a:off x="8168640" y="1481328"/>
            <a:ext cx="3352800" cy="21579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Yosys targets FPGAs, where the bitstream really does initialise the flops.</a:t>
            </a:r>
          </a:p>
          <a:p>
            <a:pPr algn="l">
              <a:lnSpc>
                <a:spcPct val="103000"/>
              </a:lnSpc>
              <a:spcAft>
                <a:spcPts val="400"/>
              </a:spcAft>
            </a:pPr>
            <a:r>
              <a:rPr sz="1100" b="1" i="0">
                <a:solidFill>
                  <a:srgbClr val="0E2A47"/>
                </a:solidFill>
                <a:latin typeface="Calibri"/>
              </a:rPr>
              <a:t>An ASIC flow would not. This is how code that works on an FPGA fails on an ASIC.</a:t>
            </a:r>
          </a:p>
        </p:txBody>
      </p:sp>
      <p:sp>
        <p:nvSpPr>
          <p:cNvPr id="18" name="Rounded Rectangle 17"/>
          <p:cNvSpPr/>
          <p:nvPr/>
        </p:nvSpPr>
        <p:spPr>
          <a:xfrm>
            <a:off x="411480" y="3794760"/>
            <a:ext cx="11247120" cy="8229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6072" y="385876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The habit this table is for</a:t>
            </a:r>
          </a:p>
        </p:txBody>
      </p:sp>
      <p:sp>
        <p:nvSpPr>
          <p:cNvPr id="20" name="TextBox 19"/>
          <p:cNvSpPr txBox="1"/>
          <p:nvPr/>
        </p:nvSpPr>
        <p:spPr>
          <a:xfrm>
            <a:off x="576072" y="4133088"/>
            <a:ext cx="10917936" cy="4206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Before you write a construct you are unsure about, synthesise a ten-line module containing only that construct and read what came out. It takes two minutes and it is the only way to actually know.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2.3 · THE LATCH</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Most Common RTL Bug There Is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31</a:t>
            </a:r>
          </a:p>
        </p:txBody>
      </p:sp>
      <p:pic>
        <p:nvPicPr>
          <p:cNvPr id="9" name="Picture 8" descr="latch_inference.png"/>
          <p:cNvPicPr>
            <a:picLocks noChangeAspect="1"/>
          </p:cNvPicPr>
          <p:nvPr/>
        </p:nvPicPr>
        <p:blipFill>
          <a:blip r:embed="rId2"/>
          <a:stretch>
            <a:fillRect/>
          </a:stretch>
        </p:blipFill>
        <p:spPr>
          <a:xfrm>
            <a:off x="2721447" y="1097280"/>
            <a:ext cx="6627185" cy="4663440"/>
          </a:xfrm>
          <a:prstGeom prst="rect">
            <a:avLst/>
          </a:prstGeom>
        </p:spPr>
      </p:pic>
      <p:sp>
        <p:nvSpPr>
          <p:cNvPr id="10" name="TextBox 9"/>
          <p:cNvSpPr txBox="1"/>
          <p:nvPr/>
        </p:nvSpPr>
        <p:spPr>
          <a:xfrm>
            <a:off x="411480" y="585216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It is not an error. The tool builds it, mentions it in a log nobody reads, and hands you the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2.3 · THE LATCH</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a Latch In the Middle of Your Logic Hurts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32</a:t>
            </a:r>
          </a:p>
        </p:txBody>
      </p:sp>
      <p:sp>
        <p:nvSpPr>
          <p:cNvPr id="9" name="Rectangle 8"/>
          <p:cNvSpPr/>
          <p:nvPr/>
        </p:nvSpPr>
        <p:spPr>
          <a:xfrm>
            <a:off x="411480" y="1143000"/>
            <a:ext cx="237744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228600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
            </a:r>
          </a:p>
        </p:txBody>
      </p:sp>
      <p:sp>
        <p:nvSpPr>
          <p:cNvPr id="11" name="Rectangle 10"/>
          <p:cNvSpPr/>
          <p:nvPr/>
        </p:nvSpPr>
        <p:spPr>
          <a:xfrm>
            <a:off x="2788920" y="1143000"/>
            <a:ext cx="429768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834640" y="1143000"/>
            <a:ext cx="420624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A flip-flop</a:t>
            </a:r>
          </a:p>
        </p:txBody>
      </p:sp>
      <p:sp>
        <p:nvSpPr>
          <p:cNvPr id="13" name="Rectangle 12"/>
          <p:cNvSpPr/>
          <p:nvPr/>
        </p:nvSpPr>
        <p:spPr>
          <a:xfrm>
            <a:off x="7086600" y="1143000"/>
            <a:ext cx="457200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132320" y="1143000"/>
            <a:ext cx="448056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A latch</a:t>
            </a:r>
          </a:p>
        </p:txBody>
      </p:sp>
      <p:sp>
        <p:nvSpPr>
          <p:cNvPr id="15" name="Rectangle 14"/>
          <p:cNvSpPr/>
          <p:nvPr/>
        </p:nvSpPr>
        <p:spPr>
          <a:xfrm>
            <a:off x="411480" y="1472184"/>
            <a:ext cx="23774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72184"/>
            <a:ext cx="228600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captures</a:t>
            </a:r>
          </a:p>
        </p:txBody>
      </p:sp>
      <p:sp>
        <p:nvSpPr>
          <p:cNvPr id="17" name="Rectangle 16"/>
          <p:cNvSpPr/>
          <p:nvPr/>
        </p:nvSpPr>
        <p:spPr>
          <a:xfrm>
            <a:off x="2788920" y="1472184"/>
            <a:ext cx="42976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4640" y="1472184"/>
            <a:ext cx="42062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on the clock EDGE</a:t>
            </a:r>
          </a:p>
        </p:txBody>
      </p:sp>
      <p:sp>
        <p:nvSpPr>
          <p:cNvPr id="19" name="Rectangle 18"/>
          <p:cNvSpPr/>
          <p:nvPr/>
        </p:nvSpPr>
        <p:spPr>
          <a:xfrm>
            <a:off x="7086600" y="1472184"/>
            <a:ext cx="45720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32320" y="1472184"/>
            <a:ext cx="44805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while the enable is HIGH</a:t>
            </a:r>
          </a:p>
        </p:txBody>
      </p:sp>
      <p:sp>
        <p:nvSpPr>
          <p:cNvPr id="21" name="Rectangle 20"/>
          <p:cNvSpPr/>
          <p:nvPr/>
        </p:nvSpPr>
        <p:spPr>
          <a:xfrm>
            <a:off x="411480" y="1801368"/>
            <a:ext cx="237744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801368"/>
            <a:ext cx="228600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is transparent</a:t>
            </a:r>
          </a:p>
        </p:txBody>
      </p:sp>
      <p:sp>
        <p:nvSpPr>
          <p:cNvPr id="23" name="Rectangle 22"/>
          <p:cNvSpPr/>
          <p:nvPr/>
        </p:nvSpPr>
        <p:spPr>
          <a:xfrm>
            <a:off x="2788920" y="1801368"/>
            <a:ext cx="42976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834640" y="1801368"/>
            <a:ext cx="42062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never</a:t>
            </a:r>
          </a:p>
        </p:txBody>
      </p:sp>
      <p:sp>
        <p:nvSpPr>
          <p:cNvPr id="25" name="Rectangle 24"/>
          <p:cNvSpPr/>
          <p:nvPr/>
        </p:nvSpPr>
        <p:spPr>
          <a:xfrm>
            <a:off x="7086600" y="1801368"/>
            <a:ext cx="45720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132320" y="1801368"/>
            <a:ext cx="44805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for the whole enable window</a:t>
            </a:r>
          </a:p>
        </p:txBody>
      </p:sp>
      <p:sp>
        <p:nvSpPr>
          <p:cNvPr id="27" name="Rectangle 26"/>
          <p:cNvSpPr/>
          <p:nvPr/>
        </p:nvSpPr>
        <p:spPr>
          <a:xfrm>
            <a:off x="411480" y="2130552"/>
            <a:ext cx="23774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2130552"/>
            <a:ext cx="228600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timing analysis</a:t>
            </a:r>
          </a:p>
        </p:txBody>
      </p:sp>
      <p:sp>
        <p:nvSpPr>
          <p:cNvPr id="29" name="Rectangle 28"/>
          <p:cNvSpPr/>
          <p:nvPr/>
        </p:nvSpPr>
        <p:spPr>
          <a:xfrm>
            <a:off x="2788920" y="2130552"/>
            <a:ext cx="42976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834640" y="2130552"/>
            <a:ext cx="42062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one clean check per edge</a:t>
            </a:r>
          </a:p>
        </p:txBody>
      </p:sp>
      <p:sp>
        <p:nvSpPr>
          <p:cNvPr id="31" name="Rectangle 30"/>
          <p:cNvSpPr/>
          <p:nvPr/>
        </p:nvSpPr>
        <p:spPr>
          <a:xfrm>
            <a:off x="7086600" y="2130552"/>
            <a:ext cx="45720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132320" y="2130552"/>
            <a:ext cx="44805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time-borrowing; much harder to analyse</a:t>
            </a:r>
          </a:p>
        </p:txBody>
      </p:sp>
      <p:sp>
        <p:nvSpPr>
          <p:cNvPr id="33" name="Rectangle 32"/>
          <p:cNvSpPr/>
          <p:nvPr/>
        </p:nvSpPr>
        <p:spPr>
          <a:xfrm>
            <a:off x="411480" y="2459736"/>
            <a:ext cx="237744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459736"/>
            <a:ext cx="228600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in a scan chain</a:t>
            </a:r>
          </a:p>
        </p:txBody>
      </p:sp>
      <p:sp>
        <p:nvSpPr>
          <p:cNvPr id="35" name="Rectangle 34"/>
          <p:cNvSpPr/>
          <p:nvPr/>
        </p:nvSpPr>
        <p:spPr>
          <a:xfrm>
            <a:off x="2788920" y="2459736"/>
            <a:ext cx="42976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834640" y="2459736"/>
            <a:ext cx="42062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standard</a:t>
            </a:r>
          </a:p>
        </p:txBody>
      </p:sp>
      <p:sp>
        <p:nvSpPr>
          <p:cNvPr id="37" name="Rectangle 36"/>
          <p:cNvSpPr/>
          <p:nvPr/>
        </p:nvSpPr>
        <p:spPr>
          <a:xfrm>
            <a:off x="7086600" y="2459736"/>
            <a:ext cx="45720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132320" y="2459736"/>
            <a:ext cx="44805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usually needs special handling</a:t>
            </a:r>
          </a:p>
        </p:txBody>
      </p:sp>
      <p:sp>
        <p:nvSpPr>
          <p:cNvPr id="39" name="Rectangle 38"/>
          <p:cNvSpPr/>
          <p:nvPr/>
        </p:nvSpPr>
        <p:spPr>
          <a:xfrm>
            <a:off x="411480" y="2788920"/>
            <a:ext cx="23774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788920"/>
            <a:ext cx="228600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you asked for it</a:t>
            </a:r>
          </a:p>
        </p:txBody>
      </p:sp>
      <p:sp>
        <p:nvSpPr>
          <p:cNvPr id="41" name="Rectangle 40"/>
          <p:cNvSpPr/>
          <p:nvPr/>
        </p:nvSpPr>
        <p:spPr>
          <a:xfrm>
            <a:off x="2788920" y="2788920"/>
            <a:ext cx="42976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834640" y="2788920"/>
            <a:ext cx="42062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yes, by writing posedge</a:t>
            </a:r>
          </a:p>
        </p:txBody>
      </p:sp>
      <p:sp>
        <p:nvSpPr>
          <p:cNvPr id="43" name="Rectangle 42"/>
          <p:cNvSpPr/>
          <p:nvPr/>
        </p:nvSpPr>
        <p:spPr>
          <a:xfrm>
            <a:off x="7086600" y="2788920"/>
            <a:ext cx="45720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132320" y="2788920"/>
            <a:ext cx="44805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no — you forgot an else</a:t>
            </a:r>
          </a:p>
        </p:txBody>
      </p:sp>
      <p:sp>
        <p:nvSpPr>
          <p:cNvPr id="45" name="Rounded Rectangle 44"/>
          <p:cNvSpPr/>
          <p:nvPr/>
        </p:nvSpPr>
        <p:spPr>
          <a:xfrm>
            <a:off x="411480" y="3209544"/>
            <a:ext cx="11247120" cy="100584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76072" y="3273552"/>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So the rule is mechanical</a:t>
            </a:r>
          </a:p>
        </p:txBody>
      </p:sp>
      <p:sp>
        <p:nvSpPr>
          <p:cNvPr id="47" name="TextBox 46"/>
          <p:cNvSpPr txBox="1"/>
          <p:nvPr/>
        </p:nvSpPr>
        <p:spPr>
          <a:xfrm>
            <a:off x="576072" y="3547872"/>
            <a:ext cx="10917936" cy="6035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In a combinational block, assign every output on every path. An if needs an else; a case needs a default. If you would rather not write them out, assign a default value at the top of the block and let later assignments override it.</a:t>
            </a:r>
          </a:p>
        </p:txBody>
      </p:sp>
      <p:sp>
        <p:nvSpPr>
          <p:cNvPr id="48" name="TextBox 47"/>
          <p:cNvSpPr txBox="1"/>
          <p:nvPr/>
        </p:nvSpPr>
        <p:spPr>
          <a:xfrm>
            <a:off x="411480" y="4306824"/>
            <a:ext cx="11247120" cy="27432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Rules L005 and L006 of the linter catch this, and make lintcheck confirms the linter agrees with Yosys on every file.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2.4 · THE WORST BUG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When Simulation and Silicon Disagree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33</a:t>
            </a:r>
          </a:p>
        </p:txBody>
      </p:sp>
      <p:pic>
        <p:nvPicPr>
          <p:cNvPr id="9" name="Picture 8" descr="sim_synth_mismatch.png"/>
          <p:cNvPicPr>
            <a:picLocks noChangeAspect="1"/>
          </p:cNvPicPr>
          <p:nvPr/>
        </p:nvPicPr>
        <p:blipFill>
          <a:blip r:embed="rId2"/>
          <a:stretch>
            <a:fillRect/>
          </a:stretch>
        </p:blipFill>
        <p:spPr>
          <a:xfrm>
            <a:off x="2975470" y="1097280"/>
            <a:ext cx="6119140"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100" b="1" i="0">
                <a:solidFill>
                  <a:srgbClr val="C01F43"/>
                </a:solidFill>
                <a:latin typeface="Calibri"/>
              </a:rPr>
              <a:t>One disagreement in six — and nothing anywhere reported an error.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2.4 · THE WORST BUG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This Class of Bug Is Special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34</a:t>
            </a:r>
          </a:p>
        </p:txBody>
      </p:sp>
      <p:sp>
        <p:nvSpPr>
          <p:cNvPr id="9" name="TextBox 8"/>
          <p:cNvSpPr txBox="1"/>
          <p:nvPr/>
        </p:nvSpPr>
        <p:spPr>
          <a:xfrm>
            <a:off x="411480" y="1143000"/>
            <a:ext cx="11247120" cy="59436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Most bugs are found by testing. This one cannot be, because </a:t>
            </a:r>
            <a:r>
              <a:rPr sz="1200" b="1" i="0">
                <a:solidFill>
                  <a:srgbClr val="C01F43"/>
                </a:solidFill>
                <a:latin typeface="Calibri"/>
              </a:rPr>
              <a:t>the thing you are testing is not the thing that will be built</a:t>
            </a:r>
            <a:r>
              <a:rPr sz="1200" b="0" i="0">
                <a:solidFill>
                  <a:srgbClr val="33414F"/>
                </a:solidFill>
                <a:latin typeface="Calibri"/>
              </a:rPr>
              <a:t>. Every test you write passes, and the chip still fails.</a:t>
            </a:r>
          </a:p>
        </p:txBody>
      </p:sp>
      <p:sp>
        <p:nvSpPr>
          <p:cNvPr id="10" name="Rectangle 9"/>
          <p:cNvSpPr/>
          <p:nvPr/>
        </p:nvSpPr>
        <p:spPr>
          <a:xfrm>
            <a:off x="411480" y="1828800"/>
            <a:ext cx="338328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7200" y="1828800"/>
            <a:ext cx="329184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Cause</a:t>
            </a:r>
          </a:p>
        </p:txBody>
      </p:sp>
      <p:sp>
        <p:nvSpPr>
          <p:cNvPr id="12" name="Rectangle 11"/>
          <p:cNvSpPr/>
          <p:nvPr/>
        </p:nvSpPr>
        <p:spPr>
          <a:xfrm>
            <a:off x="3794760" y="1828800"/>
            <a:ext cx="393192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840480" y="1828800"/>
            <a:ext cx="384048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What simulation does</a:t>
            </a:r>
          </a:p>
        </p:txBody>
      </p:sp>
      <p:sp>
        <p:nvSpPr>
          <p:cNvPr id="14" name="Rectangle 13"/>
          <p:cNvSpPr/>
          <p:nvPr/>
        </p:nvSpPr>
        <p:spPr>
          <a:xfrm>
            <a:off x="7726680" y="1828800"/>
            <a:ext cx="393192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0" y="1828800"/>
            <a:ext cx="384048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What synthesis does</a:t>
            </a:r>
          </a:p>
        </p:txBody>
      </p:sp>
      <p:sp>
        <p:nvSpPr>
          <p:cNvPr id="16" name="Rectangle 15"/>
          <p:cNvSpPr/>
          <p:nvPr/>
        </p:nvSpPr>
        <p:spPr>
          <a:xfrm>
            <a:off x="411480" y="2157984"/>
            <a:ext cx="33832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7200" y="2157984"/>
            <a:ext cx="329184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incomplete sensitivity list</a:t>
            </a:r>
          </a:p>
        </p:txBody>
      </p:sp>
      <p:sp>
        <p:nvSpPr>
          <p:cNvPr id="18" name="Rectangle 17"/>
          <p:cNvSpPr/>
          <p:nvPr/>
        </p:nvSpPr>
        <p:spPr>
          <a:xfrm>
            <a:off x="3794760" y="2157984"/>
            <a:ext cx="3931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840480" y="2157984"/>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the block sleeps; the output goes stale</a:t>
            </a:r>
          </a:p>
        </p:txBody>
      </p:sp>
      <p:sp>
        <p:nvSpPr>
          <p:cNvPr id="20" name="Rectangle 19"/>
          <p:cNvSpPr/>
          <p:nvPr/>
        </p:nvSpPr>
        <p:spPr>
          <a:xfrm>
            <a:off x="7726680" y="2157984"/>
            <a:ext cx="3931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72400" y="2157984"/>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ignores the list; builds the logic</a:t>
            </a:r>
          </a:p>
        </p:txBody>
      </p:sp>
      <p:sp>
        <p:nvSpPr>
          <p:cNvPr id="22" name="Rectangle 21"/>
          <p:cNvSpPr/>
          <p:nvPr/>
        </p:nvSpPr>
        <p:spPr>
          <a:xfrm>
            <a:off x="411480" y="2487168"/>
            <a:ext cx="33832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7200" y="2487168"/>
            <a:ext cx="329184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 delays in RTL</a:t>
            </a:r>
          </a:p>
        </p:txBody>
      </p:sp>
      <p:sp>
        <p:nvSpPr>
          <p:cNvPr id="24" name="Rectangle 23"/>
          <p:cNvSpPr/>
          <p:nvPr/>
        </p:nvSpPr>
        <p:spPr>
          <a:xfrm>
            <a:off x="3794760" y="2487168"/>
            <a:ext cx="3931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40480" y="2487168"/>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waits the specified time</a:t>
            </a:r>
          </a:p>
        </p:txBody>
      </p:sp>
      <p:sp>
        <p:nvSpPr>
          <p:cNvPr id="26" name="Rectangle 25"/>
          <p:cNvSpPr/>
          <p:nvPr/>
        </p:nvSpPr>
        <p:spPr>
          <a:xfrm>
            <a:off x="7726680" y="2487168"/>
            <a:ext cx="3931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772400" y="2487168"/>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ignores them entirely</a:t>
            </a:r>
          </a:p>
        </p:txBody>
      </p:sp>
      <p:sp>
        <p:nvSpPr>
          <p:cNvPr id="28" name="Rectangle 27"/>
          <p:cNvSpPr/>
          <p:nvPr/>
        </p:nvSpPr>
        <p:spPr>
          <a:xfrm>
            <a:off x="411480" y="2816352"/>
            <a:ext cx="33832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57200" y="2816352"/>
            <a:ext cx="329184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initial block (ASIC)</a:t>
            </a:r>
          </a:p>
        </p:txBody>
      </p:sp>
      <p:sp>
        <p:nvSpPr>
          <p:cNvPr id="30" name="Rectangle 29"/>
          <p:cNvSpPr/>
          <p:nvPr/>
        </p:nvSpPr>
        <p:spPr>
          <a:xfrm>
            <a:off x="3794760" y="2816352"/>
            <a:ext cx="3931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840480" y="2816352"/>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sets the value at time zero</a:t>
            </a:r>
          </a:p>
        </p:txBody>
      </p:sp>
      <p:sp>
        <p:nvSpPr>
          <p:cNvPr id="32" name="Rectangle 31"/>
          <p:cNvSpPr/>
          <p:nvPr/>
        </p:nvSpPr>
        <p:spPr>
          <a:xfrm>
            <a:off x="7726680" y="2816352"/>
            <a:ext cx="3931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772400" y="2816352"/>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ignores it; the flop powers up unknown</a:t>
            </a:r>
          </a:p>
        </p:txBody>
      </p:sp>
      <p:sp>
        <p:nvSpPr>
          <p:cNvPr id="34" name="Rectangle 33"/>
          <p:cNvSpPr/>
          <p:nvPr/>
        </p:nvSpPr>
        <p:spPr>
          <a:xfrm>
            <a:off x="411480" y="3145536"/>
            <a:ext cx="33832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7200" y="3145536"/>
            <a:ext cx="329184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blocking in a clocked block</a:t>
            </a:r>
          </a:p>
        </p:txBody>
      </p:sp>
      <p:sp>
        <p:nvSpPr>
          <p:cNvPr id="36" name="Rectangle 35"/>
          <p:cNvSpPr/>
          <p:nvPr/>
        </p:nvSpPr>
        <p:spPr>
          <a:xfrm>
            <a:off x="3794760" y="3145536"/>
            <a:ext cx="3931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840480" y="3145536"/>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result depends on evaluation order</a:t>
            </a:r>
          </a:p>
        </p:txBody>
      </p:sp>
      <p:sp>
        <p:nvSpPr>
          <p:cNvPr id="38" name="Rectangle 37"/>
          <p:cNvSpPr/>
          <p:nvPr/>
        </p:nvSpPr>
        <p:spPr>
          <a:xfrm>
            <a:off x="7726680" y="3145536"/>
            <a:ext cx="3931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772400" y="3145536"/>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builds one specific circuit</a:t>
            </a:r>
          </a:p>
        </p:txBody>
      </p:sp>
      <p:sp>
        <p:nvSpPr>
          <p:cNvPr id="40" name="Rounded Rectangle 39"/>
          <p:cNvSpPr/>
          <p:nvPr/>
        </p:nvSpPr>
        <p:spPr>
          <a:xfrm>
            <a:off x="411480" y="3566160"/>
            <a:ext cx="11247120" cy="8229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76072" y="363016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All four have the same cure</a:t>
            </a:r>
          </a:p>
        </p:txBody>
      </p:sp>
      <p:sp>
        <p:nvSpPr>
          <p:cNvPr id="42" name="TextBox 41"/>
          <p:cNvSpPr txBox="1"/>
          <p:nvPr/>
        </p:nvSpPr>
        <p:spPr>
          <a:xfrm>
            <a:off x="576072" y="3904488"/>
            <a:ext cx="10917936" cy="420624"/>
          </a:xfrm>
          <a:prstGeom prst="rect">
            <a:avLst/>
          </a:prstGeom>
          <a:noFill/>
        </p:spPr>
        <p:txBody>
          <a:bodyPr wrap="square" lIns="0" rIns="0" tIns="0" bIns="0" anchor="t">
            <a:spAutoFit/>
          </a:bodyPr>
          <a:lstStyle/>
          <a:p>
            <a:pPr algn="l">
              <a:lnSpc>
                <a:spcPct val="103000"/>
              </a:lnSpc>
              <a:spcAft>
                <a:spcPts val="400"/>
              </a:spcAft>
            </a:pPr>
            <a:r>
              <a:rPr sz="1100" b="1" i="0">
                <a:solidFill>
                  <a:srgbClr val="2A9D5C"/>
                </a:solidFill>
                <a:latin typeface="Calibri"/>
              </a:rPr>
              <a:t>Use always @* and never a hand-written sensitivity list. No delays in RTL. A real reset instead of an initial block. Non-blocking in clocked blocks. Then lint for all four, so that nobody has to remember.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2.5 · THE RULES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Seven Rules, Checked By a Tool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35</a:t>
            </a:r>
          </a:p>
        </p:txBody>
      </p:sp>
      <p:pic>
        <p:nvPicPr>
          <p:cNvPr id="9" name="Picture 8" descr="lint_rules.png"/>
          <p:cNvPicPr>
            <a:picLocks noChangeAspect="1"/>
          </p:cNvPicPr>
          <p:nvPr/>
        </p:nvPicPr>
        <p:blipFill>
          <a:blip r:embed="rId2"/>
          <a:stretch>
            <a:fillRect/>
          </a:stretch>
        </p:blipFill>
        <p:spPr>
          <a:xfrm>
            <a:off x="2967490" y="1097280"/>
            <a:ext cx="6135099"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A linter that cries wolf gets switched off. One that stays quiet is worse than none at all.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2.5 · THE RULES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Coding Standard, In One Place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36</a:t>
            </a:r>
          </a:p>
        </p:txBody>
      </p:sp>
      <p:pic>
        <p:nvPicPr>
          <p:cNvPr id="9" name="Picture 8" descr="coding_rules.png"/>
          <p:cNvPicPr>
            <a:picLocks noChangeAspect="1"/>
          </p:cNvPicPr>
          <p:nvPr/>
        </p:nvPicPr>
        <p:blipFill>
          <a:blip r:embed="rId2"/>
          <a:stretch>
            <a:fillRect/>
          </a:stretch>
        </p:blipFill>
        <p:spPr>
          <a:xfrm>
            <a:off x="2893395" y="1097280"/>
            <a:ext cx="6283290"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None of these are style preferences. Every one exists because breaking it produces a design that simulates differently from the way it is built.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2.6 · MICRO-ARCHITECTURE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Decisions RTL Cannot Make For You</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37</a:t>
            </a:r>
          </a:p>
        </p:txBody>
      </p:sp>
      <p:pic>
        <p:nvPicPr>
          <p:cNvPr id="9" name="Picture 8" descr="partitioning.png"/>
          <p:cNvPicPr>
            <a:picLocks noChangeAspect="1"/>
          </p:cNvPicPr>
          <p:nvPr/>
        </p:nvPicPr>
        <p:blipFill>
          <a:blip r:embed="rId2"/>
          <a:stretch>
            <a:fillRect/>
          </a:stretch>
        </p:blipFill>
        <p:spPr>
          <a:xfrm>
            <a:off x="2606878" y="1097280"/>
            <a:ext cx="6856325"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77514"/>
                </a:solidFill>
                <a:latin typeface="Calibri"/>
              </a:rPr>
              <a:t>Make these on paper, before the first line of RTL. A synthesiser will faithfully build whatever you chose.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2.7 · REUSE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Writing RTL That Someone Else Can Use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38</a:t>
            </a:r>
          </a:p>
        </p:txBody>
      </p:sp>
      <p:pic>
        <p:nvPicPr>
          <p:cNvPr id="9" name="Picture 8" descr="reuse.png"/>
          <p:cNvPicPr>
            <a:picLocks noChangeAspect="1"/>
          </p:cNvPicPr>
          <p:nvPr/>
        </p:nvPicPr>
        <p:blipFill>
          <a:blip r:embed="rId2"/>
          <a:stretch>
            <a:fillRect/>
          </a:stretch>
        </p:blipFill>
        <p:spPr>
          <a:xfrm>
            <a:off x="2962453" y="1097280"/>
            <a:ext cx="6145173" cy="4114800"/>
          </a:xfrm>
          <a:prstGeom prst="rect">
            <a:avLst/>
          </a:prstGeom>
        </p:spPr>
      </p:pic>
      <p:sp>
        <p:nvSpPr>
          <p:cNvPr id="10" name="Rounded Rectangle 9"/>
          <p:cNvSpPr/>
          <p:nvPr/>
        </p:nvSpPr>
        <p:spPr>
          <a:xfrm>
            <a:off x="411480" y="5303520"/>
            <a:ext cx="11247120" cy="82296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367528"/>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Module 2's fourth terminal outcome asks for this by name</a:t>
            </a:r>
          </a:p>
        </p:txBody>
      </p:sp>
      <p:sp>
        <p:nvSpPr>
          <p:cNvPr id="12" name="TextBox 11"/>
          <p:cNvSpPr txBox="1"/>
          <p:nvPr/>
        </p:nvSpPr>
        <p:spPr>
          <a:xfrm>
            <a:off x="576072" y="5641848"/>
            <a:ext cx="10917936" cy="4206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"Emulate, debug and characterise reusable IPs." Reuse is not something you add to a design afterwards — it is a set of decisions you take while writing it, and every one of them is listed above.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2.8 · STYLE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One Function, Three Coding Styles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39</a:t>
            </a:r>
          </a:p>
        </p:txBody>
      </p:sp>
      <p:pic>
        <p:nvPicPr>
          <p:cNvPr id="9" name="Picture 8" descr="mux_styles.png"/>
          <p:cNvPicPr>
            <a:picLocks noChangeAspect="1"/>
          </p:cNvPicPr>
          <p:nvPr/>
        </p:nvPicPr>
        <p:blipFill>
          <a:blip r:embed="rId2"/>
          <a:stretch>
            <a:fillRect/>
          </a:stretch>
        </p:blipFill>
        <p:spPr>
          <a:xfrm>
            <a:off x="2701179" y="1097280"/>
            <a:ext cx="6667722"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Proved equivalent by SAT — and still three different netlists.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2.8 · STYLE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To Take From That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40</a:t>
            </a:r>
          </a:p>
        </p:txBody>
      </p:sp>
      <p:sp>
        <p:nvSpPr>
          <p:cNvPr id="9" name="Rounded Rectangle 8"/>
          <p:cNvSpPr/>
          <p:nvPr/>
        </p:nvSpPr>
        <p:spPr>
          <a:xfrm>
            <a:off x="411480" y="1143000"/>
            <a:ext cx="3627120" cy="274320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8640" y="1207008"/>
            <a:ext cx="3352800"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EQUIVALENT is not IDENTICAL</a:t>
            </a:r>
          </a:p>
        </p:txBody>
      </p:sp>
      <p:sp>
        <p:nvSpPr>
          <p:cNvPr id="11" name="TextBox 10"/>
          <p:cNvSpPr txBox="1"/>
          <p:nvPr/>
        </p:nvSpPr>
        <p:spPr>
          <a:xfrm>
            <a:off x="548640" y="1481328"/>
            <a:ext cx="3352800" cy="234086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formal equivalence proof answers exactly one question: do these two descriptions compute the same function?</a:t>
            </a:r>
          </a:p>
          <a:p>
            <a:pPr algn="l">
              <a:lnSpc>
                <a:spcPct val="103000"/>
              </a:lnSpc>
              <a:spcAft>
                <a:spcPts val="400"/>
              </a:spcAft>
            </a:pPr>
            <a:r>
              <a:rPr sz="1100" b="1" i="0">
                <a:solidFill>
                  <a:srgbClr val="0E2A47"/>
                </a:solidFill>
                <a:latin typeface="Calibri"/>
              </a:rPr>
              <a:t>It says nothing about area, nothing about timing and nothing about power. Those are separate questions with separate tools.</a:t>
            </a:r>
          </a:p>
        </p:txBody>
      </p:sp>
      <p:sp>
        <p:nvSpPr>
          <p:cNvPr id="12" name="Rounded Rectangle 11"/>
          <p:cNvSpPr/>
          <p:nvPr/>
        </p:nvSpPr>
        <p:spPr>
          <a:xfrm>
            <a:off x="4221480" y="1143000"/>
            <a:ext cx="3627120" cy="274320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58640" y="120700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MEASURE YOUR OWN TOOL</a:t>
            </a:r>
          </a:p>
        </p:txBody>
      </p:sp>
      <p:sp>
        <p:nvSpPr>
          <p:cNvPr id="14" name="TextBox 13"/>
          <p:cNvSpPr txBox="1"/>
          <p:nvPr/>
        </p:nvSpPr>
        <p:spPr>
          <a:xfrm>
            <a:off x="4358640" y="1481328"/>
            <a:ext cx="3352800" cy="234086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The claim 'the optimiser flattens the difference' is the most repeated statement in RTL teaching, and on this toolchain it is false: 3, 6 and 10 cells.</a:t>
            </a:r>
          </a:p>
          <a:p>
            <a:pPr algn="l">
              <a:lnSpc>
                <a:spcPct val="103000"/>
              </a:lnSpc>
              <a:spcAft>
                <a:spcPts val="400"/>
              </a:spcAft>
            </a:pPr>
            <a:r>
              <a:rPr sz="1100" b="1" i="0">
                <a:solidFill>
                  <a:srgbClr val="0E2A47"/>
                </a:solidFill>
                <a:latin typeface="Calibri"/>
              </a:rPr>
              <a:t>A different synthesiser may well close the gap. Find out rather than assume.</a:t>
            </a:r>
          </a:p>
        </p:txBody>
      </p:sp>
      <p:sp>
        <p:nvSpPr>
          <p:cNvPr id="15" name="Rounded Rectangle 14"/>
          <p:cNvSpPr/>
          <p:nvPr/>
        </p:nvSpPr>
        <p:spPr>
          <a:xfrm>
            <a:off x="8031480" y="1143000"/>
            <a:ext cx="3627120" cy="274320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168640" y="120700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SO WHICH DO YOU WRITE?</a:t>
            </a:r>
          </a:p>
        </p:txBody>
      </p:sp>
      <p:sp>
        <p:nvSpPr>
          <p:cNvPr id="17" name="TextBox 16"/>
          <p:cNvSpPr txBox="1"/>
          <p:nvPr/>
        </p:nvSpPr>
        <p:spPr>
          <a:xfrm>
            <a:off x="8168640" y="1481328"/>
            <a:ext cx="3352800" cy="234086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Whichever reads best to the next person, which is usually the case statement for anything with more than three branches.</a:t>
            </a:r>
          </a:p>
          <a:p>
            <a:pPr algn="l">
              <a:lnSpc>
                <a:spcPct val="103000"/>
              </a:lnSpc>
              <a:spcAft>
                <a:spcPts val="400"/>
              </a:spcAft>
            </a:pPr>
            <a:r>
              <a:rPr sz="1100" b="0" i="0">
                <a:solidFill>
                  <a:srgbClr val="33414F"/>
                </a:solidFill>
                <a:latin typeface="Calibri"/>
              </a:rPr>
              <a:t>Then measure, and only reach for the terse form if the block is actually on a critical path.</a:t>
            </a:r>
          </a:p>
        </p:txBody>
      </p:sp>
      <p:sp>
        <p:nvSpPr>
          <p:cNvPr id="18" name="Rounded Rectangle 17"/>
          <p:cNvSpPr/>
          <p:nvPr/>
        </p:nvSpPr>
        <p:spPr>
          <a:xfrm>
            <a:off x="411480" y="3977640"/>
            <a:ext cx="11247120" cy="8686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6072" y="4041648"/>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Why the three differ at all</a:t>
            </a:r>
          </a:p>
        </p:txBody>
      </p:sp>
      <p:sp>
        <p:nvSpPr>
          <p:cNvPr id="20" name="TextBox 19"/>
          <p:cNvSpPr txBox="1"/>
          <p:nvPr/>
        </p:nvSpPr>
        <p:spPr>
          <a:xfrm>
            <a:off x="576072" y="4315968"/>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The conditional expression hands sel[1] and sel[0] straight to the multiplexer selects. The case and if/else versions ask the tool to build equality comparators against 2'b00, 2'b01 and so on, and then to work out for itself that those comparisons ARE the select bits. It gets part of the way.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THEORY 2 · CHECKPOINT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Nine Questions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41</a:t>
            </a:r>
          </a:p>
        </p:txBody>
      </p:sp>
      <p:sp>
        <p:nvSpPr>
          <p:cNvPr id="9" name="Rectangle 8"/>
          <p:cNvSpPr/>
          <p:nvPr/>
        </p:nvSpPr>
        <p:spPr>
          <a:xfrm>
            <a:off x="411480" y="1143000"/>
            <a:ext cx="54864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45720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a:t>
            </a:r>
          </a:p>
        </p:txBody>
      </p:sp>
      <p:sp>
        <p:nvSpPr>
          <p:cNvPr id="11" name="Rectangle 10"/>
          <p:cNvSpPr/>
          <p:nvPr/>
        </p:nvSpPr>
        <p:spPr>
          <a:xfrm>
            <a:off x="960120" y="1143000"/>
            <a:ext cx="502920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1143000"/>
            <a:ext cx="493776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Question</a:t>
            </a:r>
          </a:p>
        </p:txBody>
      </p:sp>
      <p:sp>
        <p:nvSpPr>
          <p:cNvPr id="13" name="Rectangle 12"/>
          <p:cNvSpPr/>
          <p:nvPr/>
        </p:nvSpPr>
        <p:spPr>
          <a:xfrm>
            <a:off x="5989320" y="1143000"/>
            <a:ext cx="566928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5040" y="1143000"/>
            <a:ext cx="557784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The answer in one line</a:t>
            </a:r>
          </a:p>
        </p:txBody>
      </p:sp>
      <p:sp>
        <p:nvSpPr>
          <p:cNvPr id="15" name="Rectangle 14"/>
          <p:cNvSpPr/>
          <p:nvPr/>
        </p:nvSpPr>
        <p:spPr>
          <a:xfrm>
            <a:off x="411480" y="141732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1732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1</a:t>
            </a:r>
          </a:p>
        </p:txBody>
      </p:sp>
      <p:sp>
        <p:nvSpPr>
          <p:cNvPr id="17" name="Rectangle 16"/>
          <p:cNvSpPr/>
          <p:nvPr/>
        </p:nvSpPr>
        <p:spPr>
          <a:xfrm>
            <a:off x="960120" y="141732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141732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Name the first four stages of the flow.</a:t>
            </a:r>
          </a:p>
        </p:txBody>
      </p:sp>
      <p:sp>
        <p:nvSpPr>
          <p:cNvPr id="19" name="Rectangle 18"/>
          <p:cNvSpPr/>
          <p:nvPr/>
        </p:nvSpPr>
        <p:spPr>
          <a:xfrm>
            <a:off x="5989320" y="141732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5040" y="141732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spec, micro-architecture, RTL coding, lint</a:t>
            </a:r>
          </a:p>
        </p:txBody>
      </p:sp>
      <p:sp>
        <p:nvSpPr>
          <p:cNvPr id="21" name="Rectangle 20"/>
          <p:cNvSpPr/>
          <p:nvPr/>
        </p:nvSpPr>
        <p:spPr>
          <a:xfrm>
            <a:off x="411480" y="169164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69164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2</a:t>
            </a:r>
          </a:p>
        </p:txBody>
      </p:sp>
      <p:sp>
        <p:nvSpPr>
          <p:cNvPr id="23" name="Rectangle 22"/>
          <p:cNvSpPr/>
          <p:nvPr/>
        </p:nvSpPr>
        <p:spPr>
          <a:xfrm>
            <a:off x="960120" y="169164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5840" y="169164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Why lint before simulating?</a:t>
            </a:r>
          </a:p>
        </p:txBody>
      </p:sp>
      <p:sp>
        <p:nvSpPr>
          <p:cNvPr id="25" name="Rectangle 24"/>
          <p:cNvSpPr/>
          <p:nvPr/>
        </p:nvSpPr>
        <p:spPr>
          <a:xfrm>
            <a:off x="5989320" y="169164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0" y="169164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it costs seconds and catches what tests cannot</a:t>
            </a:r>
          </a:p>
        </p:txBody>
      </p:sp>
      <p:sp>
        <p:nvSpPr>
          <p:cNvPr id="27" name="Rectangle 26"/>
          <p:cNvSpPr/>
          <p:nvPr/>
        </p:nvSpPr>
        <p:spPr>
          <a:xfrm>
            <a:off x="411480" y="196596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196596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3</a:t>
            </a:r>
          </a:p>
        </p:txBody>
      </p:sp>
      <p:sp>
        <p:nvSpPr>
          <p:cNvPr id="29" name="Rectangle 28"/>
          <p:cNvSpPr/>
          <p:nvPr/>
        </p:nvSpPr>
        <p:spPr>
          <a:xfrm>
            <a:off x="960120" y="196596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05840" y="196596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builds a latch?</a:t>
            </a:r>
          </a:p>
        </p:txBody>
      </p:sp>
      <p:sp>
        <p:nvSpPr>
          <p:cNvPr id="31" name="Rectangle 30"/>
          <p:cNvSpPr/>
          <p:nvPr/>
        </p:nvSpPr>
        <p:spPr>
          <a:xfrm>
            <a:off x="5989320" y="196596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035040" y="196596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a combinational block that does not assign on every path</a:t>
            </a:r>
          </a:p>
        </p:txBody>
      </p:sp>
      <p:sp>
        <p:nvSpPr>
          <p:cNvPr id="33" name="Rectangle 32"/>
          <p:cNvSpPr/>
          <p:nvPr/>
        </p:nvSpPr>
        <p:spPr>
          <a:xfrm>
            <a:off x="411480" y="224028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24028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4</a:t>
            </a:r>
          </a:p>
        </p:txBody>
      </p:sp>
      <p:sp>
        <p:nvSpPr>
          <p:cNvPr id="35" name="Rectangle 34"/>
          <p:cNvSpPr/>
          <p:nvPr/>
        </p:nvSpPr>
        <p:spPr>
          <a:xfrm>
            <a:off x="960120" y="224028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05840" y="224028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a / b against a / 4 — what did they cost?</a:t>
            </a:r>
          </a:p>
        </p:txBody>
      </p:sp>
      <p:sp>
        <p:nvSpPr>
          <p:cNvPr id="37" name="Rectangle 36"/>
          <p:cNvSpPr/>
          <p:nvPr/>
        </p:nvSpPr>
        <p:spPr>
          <a:xfrm>
            <a:off x="5989320" y="224028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35040" y="224028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371 cells against 0</a:t>
            </a:r>
          </a:p>
        </p:txBody>
      </p:sp>
      <p:sp>
        <p:nvSpPr>
          <p:cNvPr id="39" name="Rectangle 38"/>
          <p:cNvSpPr/>
          <p:nvPr/>
        </p:nvSpPr>
        <p:spPr>
          <a:xfrm>
            <a:off x="411480" y="251460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51460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5</a:t>
            </a:r>
          </a:p>
        </p:txBody>
      </p:sp>
      <p:sp>
        <p:nvSpPr>
          <p:cNvPr id="41" name="Rectangle 40"/>
          <p:cNvSpPr/>
          <p:nvPr/>
        </p:nvSpPr>
        <p:spPr>
          <a:xfrm>
            <a:off x="960120" y="251460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05840" y="251460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Why is an incomplete sensitivity list so dangerous?</a:t>
            </a:r>
          </a:p>
        </p:txBody>
      </p:sp>
      <p:sp>
        <p:nvSpPr>
          <p:cNvPr id="43" name="Rectangle 42"/>
          <p:cNvSpPr/>
          <p:nvPr/>
        </p:nvSpPr>
        <p:spPr>
          <a:xfrm>
            <a:off x="5989320" y="251460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35040" y="251460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simulation and synthesis then build different circuits</a:t>
            </a:r>
          </a:p>
        </p:txBody>
      </p:sp>
      <p:sp>
        <p:nvSpPr>
          <p:cNvPr id="45" name="Rectangle 44"/>
          <p:cNvSpPr/>
          <p:nvPr/>
        </p:nvSpPr>
        <p:spPr>
          <a:xfrm>
            <a:off x="411480" y="278892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7200" y="278892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6</a:t>
            </a:r>
          </a:p>
        </p:txBody>
      </p:sp>
      <p:sp>
        <p:nvSpPr>
          <p:cNvPr id="47" name="Rectangle 46"/>
          <p:cNvSpPr/>
          <p:nvPr/>
        </p:nvSpPr>
        <p:spPr>
          <a:xfrm>
            <a:off x="960120" y="278892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05840" y="278892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does # do in synthesisable RTL?</a:t>
            </a:r>
          </a:p>
        </p:txBody>
      </p:sp>
      <p:sp>
        <p:nvSpPr>
          <p:cNvPr id="49" name="Rectangle 48"/>
          <p:cNvSpPr/>
          <p:nvPr/>
        </p:nvSpPr>
        <p:spPr>
          <a:xfrm>
            <a:off x="5989320" y="278892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035040" y="278892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nothing at all — it is silently ignored</a:t>
            </a:r>
          </a:p>
        </p:txBody>
      </p:sp>
      <p:sp>
        <p:nvSpPr>
          <p:cNvPr id="51" name="Rectangle 50"/>
          <p:cNvSpPr/>
          <p:nvPr/>
        </p:nvSpPr>
        <p:spPr>
          <a:xfrm>
            <a:off x="411480" y="306324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457200" y="306324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7</a:t>
            </a:r>
          </a:p>
        </p:txBody>
      </p:sp>
      <p:sp>
        <p:nvSpPr>
          <p:cNvPr id="53" name="Rectangle 52"/>
          <p:cNvSpPr/>
          <p:nvPr/>
        </p:nvSpPr>
        <p:spPr>
          <a:xfrm>
            <a:off x="960120" y="306324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005840" y="306324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Name three decisions synthesis will not make for you.</a:t>
            </a:r>
          </a:p>
        </p:txBody>
      </p:sp>
      <p:sp>
        <p:nvSpPr>
          <p:cNvPr id="55" name="Rectangle 54"/>
          <p:cNvSpPr/>
          <p:nvPr/>
        </p:nvSpPr>
        <p:spPr>
          <a:xfrm>
            <a:off x="5989320" y="306324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035040" y="306324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cycle count, register placement, sharing, interface</a:t>
            </a:r>
          </a:p>
        </p:txBody>
      </p:sp>
      <p:sp>
        <p:nvSpPr>
          <p:cNvPr id="57" name="Rectangle 56"/>
          <p:cNvSpPr/>
          <p:nvPr/>
        </p:nvSpPr>
        <p:spPr>
          <a:xfrm>
            <a:off x="411480" y="333756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333756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8</a:t>
            </a:r>
          </a:p>
        </p:txBody>
      </p:sp>
      <p:sp>
        <p:nvSpPr>
          <p:cNvPr id="59" name="Rectangle 58"/>
          <p:cNvSpPr/>
          <p:nvPr/>
        </p:nvSpPr>
        <p:spPr>
          <a:xfrm>
            <a:off x="960120" y="333756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1005840" y="333756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Does formal equivalence say anything about area?</a:t>
            </a:r>
          </a:p>
        </p:txBody>
      </p:sp>
      <p:sp>
        <p:nvSpPr>
          <p:cNvPr id="61" name="Rectangle 60"/>
          <p:cNvSpPr/>
          <p:nvPr/>
        </p:nvSpPr>
        <p:spPr>
          <a:xfrm>
            <a:off x="5989320" y="333756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035040" y="333756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no — equivalent is not the same as identical</a:t>
            </a:r>
          </a:p>
        </p:txBody>
      </p:sp>
      <p:sp>
        <p:nvSpPr>
          <p:cNvPr id="63" name="Rectangle 62"/>
          <p:cNvSpPr/>
          <p:nvPr/>
        </p:nvSpPr>
        <p:spPr>
          <a:xfrm>
            <a:off x="411480" y="361188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457200" y="361188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9</a:t>
            </a:r>
          </a:p>
        </p:txBody>
      </p:sp>
      <p:sp>
        <p:nvSpPr>
          <p:cNvPr id="65" name="Rectangle 64"/>
          <p:cNvSpPr/>
          <p:nvPr/>
        </p:nvSpPr>
        <p:spPr>
          <a:xfrm>
            <a:off x="960120" y="361188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1005840" y="361188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The three mux styles: how many cells each?</a:t>
            </a:r>
          </a:p>
        </p:txBody>
      </p:sp>
      <p:sp>
        <p:nvSpPr>
          <p:cNvPr id="67" name="Rectangle 66"/>
          <p:cNvSpPr/>
          <p:nvPr/>
        </p:nvSpPr>
        <p:spPr>
          <a:xfrm>
            <a:off x="5989320" y="361188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6035040" y="361188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3, 6 and 10 — style did reach the netlist here</a:t>
            </a:r>
          </a:p>
        </p:txBody>
      </p:sp>
      <p:sp>
        <p:nvSpPr>
          <p:cNvPr id="69" name="TextBox 68"/>
          <p:cNvSpPr txBox="1"/>
          <p:nvPr/>
        </p:nvSpPr>
        <p:spPr>
          <a:xfrm>
            <a:off x="411480" y="397764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2A9D5C"/>
                </a:solidFill>
                <a:latin typeface="Calibri"/>
              </a:rPr>
              <a:t>Theory 3 is about the patterns every real block is built from.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6B45A8"/>
                </a:solidFill>
                <a:latin typeface="Calibri"/>
              </a:rPr>
              <a:t>THEORY 3</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The Patterns Every Block Is Built From</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Three structures account for almost all synthesisable RTL. Once you can recognise them, most designs stop looking unfamiliar.</a:t>
            </a:r>
          </a:p>
        </p:txBody>
      </p:sp>
      <p:sp>
        <p:nvSpPr>
          <p:cNvPr id="6" name="Rectangle 5"/>
          <p:cNvSpPr/>
          <p:nvPr/>
        </p:nvSpPr>
        <p:spPr>
          <a:xfrm>
            <a:off x="640080" y="394106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Datapath and controller — the split that organises everything else</a:t>
            </a:r>
          </a:p>
        </p:txBody>
      </p:sp>
      <p:sp>
        <p:nvSpPr>
          <p:cNvPr id="8" name="Rectangle 7"/>
          <p:cNvSpPr/>
          <p:nvPr/>
        </p:nvSpPr>
        <p:spPr>
          <a:xfrm>
            <a:off x="640080" y="435254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finite state machine, and the three-block way to write one</a:t>
            </a:r>
          </a:p>
        </p:txBody>
      </p:sp>
      <p:sp>
        <p:nvSpPr>
          <p:cNvPr id="10" name="Rectangle 9"/>
          <p:cNvSpPr/>
          <p:nvPr/>
        </p:nvSpPr>
        <p:spPr>
          <a:xfrm>
            <a:off x="640080" y="476402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Moore against Mealy, in structure and in measured timing</a:t>
            </a:r>
          </a:p>
        </p:txBody>
      </p:sp>
      <p:sp>
        <p:nvSpPr>
          <p:cNvPr id="12" name="Rectangle 11"/>
          <p:cNvSpPr/>
          <p:nvPr/>
        </p:nvSpPr>
        <p:spPr>
          <a:xfrm>
            <a:off x="640080" y="517550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State encoding, and what it actually costs</a:t>
            </a:r>
          </a:p>
        </p:txBody>
      </p:sp>
      <p:sp>
        <p:nvSpPr>
          <p:cNvPr id="14" name="Rectangle 13"/>
          <p:cNvSpPr/>
          <p:nvPr/>
        </p:nvSpPr>
        <p:spPr>
          <a:xfrm>
            <a:off x="640080" y="558698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Parameters, hierarchy and generate: from a module to an IP</a:t>
            </a:r>
          </a:p>
        </p:txBody>
      </p:sp>
      <p:sp>
        <p:nvSpPr>
          <p:cNvPr id="16" name="TextBox 15"/>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7" name="TextBox 16"/>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3.1 · THE SPLIT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Datapath and Controller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43</a:t>
            </a:r>
          </a:p>
        </p:txBody>
      </p:sp>
      <p:pic>
        <p:nvPicPr>
          <p:cNvPr id="9" name="Picture 8" descr="datapath_controller.png"/>
          <p:cNvPicPr>
            <a:picLocks noChangeAspect="1"/>
          </p:cNvPicPr>
          <p:nvPr/>
        </p:nvPicPr>
        <p:blipFill>
          <a:blip r:embed="rId2"/>
          <a:stretch>
            <a:fillRect/>
          </a:stretch>
        </p:blipFill>
        <p:spPr>
          <a:xfrm>
            <a:off x="2624110" y="1097280"/>
            <a:ext cx="6821860"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A UART, a cache, a GPU. Different sizes, the same two halves.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3.1 · THE SPLIT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Worked Example: Accumulate N Samples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44</a:t>
            </a:r>
          </a:p>
        </p:txBody>
      </p:sp>
      <p:sp>
        <p:nvSpPr>
          <p:cNvPr id="9" name="Rounded Rectangle 8"/>
          <p:cNvSpPr/>
          <p:nvPr/>
        </p:nvSpPr>
        <p:spPr>
          <a:xfrm>
            <a:off x="411480" y="1143000"/>
            <a:ext cx="11247120" cy="2907030"/>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678430"/>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 the CONTROLLER decides.  Narrow. No data passes through it.</a:t>
            </a:r>
          </a:p>
          <a:p>
            <a:pPr algn="l">
              <a:lnSpc>
                <a:spcPct val="112000"/>
              </a:lnSpc>
            </a:pPr>
            <a:r>
              <a:rPr sz="950" b="0" i="0">
                <a:solidFill>
                  <a:srgbClr val="D8E4F0"/>
                </a:solidFill>
                <a:latin typeface="Consolas"/>
              </a:rPr>
              <a:t>always @(*) begin</a:t>
            </a:r>
          </a:p>
          <a:p>
            <a:pPr algn="l">
              <a:lnSpc>
                <a:spcPct val="112000"/>
              </a:lnSpc>
            </a:pPr>
            <a:r>
              <a:rPr sz="950" b="0" i="0">
                <a:solidFill>
                  <a:srgbClr val="D8E4F0"/>
                </a:solidFill>
                <a:latin typeface="Consolas"/>
              </a:rPr>
              <a:t>    acc_clr = 0; acc_en = 0; cnt_ld = 0; cnt_dec = 0; done = 0;</a:t>
            </a:r>
          </a:p>
          <a:p>
            <a:pPr algn="l">
              <a:lnSpc>
                <a:spcPct val="112000"/>
              </a:lnSpc>
            </a:pPr>
            <a:r>
              <a:rPr sz="950" b="0" i="0">
                <a:solidFill>
                  <a:srgbClr val="D8E4F0"/>
                </a:solidFill>
                <a:latin typeface="Consolas"/>
              </a:rPr>
              <a:t>    case (state)</a:t>
            </a:r>
          </a:p>
          <a:p>
            <a:pPr algn="l">
              <a:lnSpc>
                <a:spcPct val="112000"/>
              </a:lnSpc>
            </a:pPr>
            <a:r>
              <a:rPr sz="950" b="0" i="0">
                <a:solidFill>
                  <a:srgbClr val="D8E4F0"/>
                </a:solidFill>
                <a:latin typeface="Consolas"/>
              </a:rPr>
              <a:t>        S_IDLE : if (start)    begin acc_clr=1; cnt_ld =1; end</a:t>
            </a:r>
          </a:p>
          <a:p>
            <a:pPr algn="l">
              <a:lnSpc>
                <a:spcPct val="112000"/>
              </a:lnSpc>
            </a:pPr>
            <a:r>
              <a:rPr sz="950" b="0" i="0">
                <a:solidFill>
                  <a:srgbClr val="D8E4F0"/>
                </a:solidFill>
                <a:latin typeface="Consolas"/>
              </a:rPr>
              <a:t>        S_RUN  : if (!cnt_done) begin acc_en =1; cnt_dec=1; end</a:t>
            </a:r>
          </a:p>
          <a:p>
            <a:pPr algn="l">
              <a:lnSpc>
                <a:spcPct val="112000"/>
              </a:lnSpc>
            </a:pPr>
            <a:r>
              <a:rPr sz="950" b="0" i="0">
                <a:solidFill>
                  <a:srgbClr val="D8E4F0"/>
                </a:solidFill>
                <a:latin typeface="Consolas"/>
              </a:rPr>
              <a:t>        S_DONE :                     done   =1;</a:t>
            </a:r>
          </a:p>
          <a:p>
            <a:pPr algn="l">
              <a:lnSpc>
                <a:spcPct val="112000"/>
              </a:lnSpc>
            </a:pPr>
            <a:r>
              <a:rPr sz="950" b="0" i="0">
                <a:solidFill>
                  <a:srgbClr val="D8E4F0"/>
                </a:solidFill>
                <a:latin typeface="Consolas"/>
              </a:rPr>
              <a:t>    endcase</a:t>
            </a:r>
          </a:p>
          <a:p>
            <a:pPr algn="l">
              <a:lnSpc>
                <a:spcPct val="112000"/>
              </a:lnSpc>
            </a:pPr>
            <a:r>
              <a:rPr sz="950" b="0" i="0">
                <a:solidFill>
                  <a:srgbClr val="D8E4F0"/>
                </a:solidFill>
                <a:latin typeface="Consolas"/>
              </a:rPr>
              <a:t>end</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the DATAPATH holds and transforms.  Wide. It decides nothing.</a:t>
            </a:r>
          </a:p>
          <a:p>
            <a:pPr algn="l">
              <a:lnSpc>
                <a:spcPct val="112000"/>
              </a:lnSpc>
            </a:pPr>
            <a:r>
              <a:rPr sz="950" b="0" i="0">
                <a:solidFill>
                  <a:srgbClr val="D8E4F0"/>
                </a:solidFill>
                <a:latin typeface="Consolas"/>
              </a:rPr>
              <a:t>always @(posedge clk or negedge rst_n)</a:t>
            </a:r>
          </a:p>
          <a:p>
            <a:pPr algn="l">
              <a:lnSpc>
                <a:spcPct val="112000"/>
              </a:lnSpc>
            </a:pPr>
            <a:r>
              <a:rPr sz="950" b="0" i="0">
                <a:solidFill>
                  <a:srgbClr val="D8E4F0"/>
                </a:solidFill>
                <a:latin typeface="Consolas"/>
              </a:rPr>
              <a:t>    if      (!rst_n)  sum &lt;= 0;</a:t>
            </a:r>
          </a:p>
          <a:p>
            <a:pPr algn="l">
              <a:lnSpc>
                <a:spcPct val="112000"/>
              </a:lnSpc>
            </a:pPr>
            <a:r>
              <a:rPr sz="950" b="0" i="0">
                <a:solidFill>
                  <a:srgbClr val="D8E4F0"/>
                </a:solidFill>
                <a:latin typeface="Consolas"/>
              </a:rPr>
              <a:t>    else if (acc_clr) sum &lt;= 0;</a:t>
            </a:r>
          </a:p>
          <a:p>
            <a:pPr algn="l">
              <a:lnSpc>
                <a:spcPct val="112000"/>
              </a:lnSpc>
            </a:pPr>
            <a:r>
              <a:rPr sz="950" b="0" i="0">
                <a:solidFill>
                  <a:srgbClr val="D8E4F0"/>
                </a:solidFill>
                <a:latin typeface="Consolas"/>
              </a:rPr>
              <a:t>    else if (acc_en)  sum &lt;= sum + data;</a:t>
            </a:r>
          </a:p>
        </p:txBody>
      </p:sp>
      <p:sp>
        <p:nvSpPr>
          <p:cNvPr id="11" name="Rounded Rectangle 10"/>
          <p:cNvSpPr/>
          <p:nvPr/>
        </p:nvSpPr>
        <p:spPr>
          <a:xfrm>
            <a:off x="411480" y="4141470"/>
            <a:ext cx="11247120" cy="822960"/>
          </a:xfrm>
          <a:prstGeom prst="roundRect">
            <a:avLst>
              <a:gd name="adj" fmla="val 5714"/>
            </a:avLst>
          </a:prstGeom>
          <a:solidFill>
            <a:srgbClr val="F4F8FB"/>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4205478"/>
            <a:ext cx="10917936" cy="274320"/>
          </a:xfrm>
          <a:prstGeom prst="rect">
            <a:avLst/>
          </a:prstGeom>
          <a:noFill/>
        </p:spPr>
        <p:txBody>
          <a:bodyPr wrap="square" lIns="0" rIns="0" tIns="0" bIns="0" anchor="ctr">
            <a:spAutoFit/>
          </a:bodyPr>
          <a:lstStyle/>
          <a:p>
            <a:pPr algn="l">
              <a:lnSpc>
                <a:spcPct val="103000"/>
              </a:lnSpc>
            </a:pPr>
            <a:r>
              <a:rPr sz="1150" b="1" i="0">
                <a:solidFill>
                  <a:srgbClr val="6B45A8"/>
                </a:solidFill>
                <a:latin typeface="Cambria"/>
              </a:rPr>
              <a:t>Read the interface between them</a:t>
            </a:r>
          </a:p>
        </p:txBody>
      </p:sp>
      <p:sp>
        <p:nvSpPr>
          <p:cNvPr id="13" name="TextBox 12"/>
          <p:cNvSpPr txBox="1"/>
          <p:nvPr/>
        </p:nvSpPr>
        <p:spPr>
          <a:xfrm>
            <a:off x="576072" y="4479798"/>
            <a:ext cx="10917936" cy="420624"/>
          </a:xfrm>
          <a:prstGeom prst="rect">
            <a:avLst/>
          </a:prstGeom>
          <a:noFill/>
        </p:spPr>
        <p:txBody>
          <a:bodyPr wrap="square" lIns="0" rIns="0" tIns="0" bIns="0" anchor="t">
            <a:spAutoFit/>
          </a:bodyPr>
          <a:lstStyle/>
          <a:p>
            <a:pPr algn="l">
              <a:lnSpc>
                <a:spcPct val="103000"/>
              </a:lnSpc>
              <a:spcAft>
                <a:spcPts val="400"/>
              </a:spcAft>
            </a:pPr>
            <a:r>
              <a:rPr sz="1100" b="1" i="0">
                <a:solidFill>
                  <a:srgbClr val="0E2A47"/>
                </a:solidFill>
                <a:latin typeface="Calibri"/>
              </a:rPr>
              <a:t>Four control wires down, one status wire up. That is the entire contract. The controller never touches sum; the datapath never looks at state.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3.1 · THE SPLIT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Measured, On the Accumulator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45</a:t>
            </a:r>
          </a:p>
        </p:txBody>
      </p:sp>
      <p:sp>
        <p:nvSpPr>
          <p:cNvPr id="9" name="Rectangle 8"/>
          <p:cNvSpPr/>
          <p:nvPr/>
        </p:nvSpPr>
        <p:spPr>
          <a:xfrm>
            <a:off x="411480" y="1143000"/>
            <a:ext cx="256032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246888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module</a:t>
            </a:r>
          </a:p>
        </p:txBody>
      </p:sp>
      <p:sp>
        <p:nvSpPr>
          <p:cNvPr id="11" name="Rectangle 10"/>
          <p:cNvSpPr/>
          <p:nvPr/>
        </p:nvSpPr>
        <p:spPr>
          <a:xfrm>
            <a:off x="2971800" y="1143000"/>
            <a:ext cx="118872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017520" y="1143000"/>
            <a:ext cx="109728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cells</a:t>
            </a:r>
          </a:p>
        </p:txBody>
      </p:sp>
      <p:sp>
        <p:nvSpPr>
          <p:cNvPr id="13" name="Rectangle 12"/>
          <p:cNvSpPr/>
          <p:nvPr/>
        </p:nvSpPr>
        <p:spPr>
          <a:xfrm>
            <a:off x="4160520" y="1143000"/>
            <a:ext cx="146304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206240" y="1143000"/>
            <a:ext cx="137160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flip-flops</a:t>
            </a:r>
          </a:p>
        </p:txBody>
      </p:sp>
      <p:sp>
        <p:nvSpPr>
          <p:cNvPr id="15" name="Rectangle 14"/>
          <p:cNvSpPr/>
          <p:nvPr/>
        </p:nvSpPr>
        <p:spPr>
          <a:xfrm>
            <a:off x="5623560" y="1143000"/>
            <a:ext cx="603504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0" y="1143000"/>
            <a:ext cx="594360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what it contains</a:t>
            </a:r>
          </a:p>
        </p:txBody>
      </p:sp>
      <p:sp>
        <p:nvSpPr>
          <p:cNvPr id="17" name="Rectangle 16"/>
          <p:cNvSpPr/>
          <p:nvPr/>
        </p:nvSpPr>
        <p:spPr>
          <a:xfrm>
            <a:off x="411480" y="1472184"/>
            <a:ext cx="25603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7200" y="1472184"/>
            <a:ext cx="246888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accum_ctrl</a:t>
            </a:r>
          </a:p>
        </p:txBody>
      </p:sp>
      <p:sp>
        <p:nvSpPr>
          <p:cNvPr id="19" name="Rectangle 18"/>
          <p:cNvSpPr/>
          <p:nvPr/>
        </p:nvSpPr>
        <p:spPr>
          <a:xfrm>
            <a:off x="2971800" y="1472184"/>
            <a:ext cx="11887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17520" y="1472184"/>
            <a:ext cx="1097280" cy="329184"/>
          </a:xfrm>
          <a:prstGeom prst="rect">
            <a:avLst/>
          </a:prstGeom>
          <a:noFill/>
        </p:spPr>
        <p:txBody>
          <a:bodyPr wrap="square" lIns="0" rIns="0" tIns="0" bIns="0" anchor="ctr">
            <a:spAutoFit/>
          </a:bodyPr>
          <a:lstStyle/>
          <a:p>
            <a:pPr algn="ctr">
              <a:lnSpc>
                <a:spcPct val="103000"/>
              </a:lnSpc>
            </a:pPr>
            <a:r>
              <a:rPr sz="1000" b="0" i="0">
                <a:solidFill>
                  <a:srgbClr val="6B45A8"/>
                </a:solidFill>
                <a:latin typeface="Calibri"/>
              </a:rPr>
              <a:t>10</a:t>
            </a:r>
          </a:p>
        </p:txBody>
      </p:sp>
      <p:sp>
        <p:nvSpPr>
          <p:cNvPr id="21" name="Rectangle 20"/>
          <p:cNvSpPr/>
          <p:nvPr/>
        </p:nvSpPr>
        <p:spPr>
          <a:xfrm>
            <a:off x="4160520" y="1472184"/>
            <a:ext cx="14630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06240" y="1472184"/>
            <a:ext cx="137160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2</a:t>
            </a:r>
          </a:p>
        </p:txBody>
      </p:sp>
      <p:sp>
        <p:nvSpPr>
          <p:cNvPr id="23" name="Rectangle 22"/>
          <p:cNvSpPr/>
          <p:nvPr/>
        </p:nvSpPr>
        <p:spPr>
          <a:xfrm>
            <a:off x="5623560" y="1472184"/>
            <a:ext cx="60350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669280" y="1472184"/>
            <a:ext cx="594360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three states, five control outputs</a:t>
            </a:r>
          </a:p>
        </p:txBody>
      </p:sp>
      <p:sp>
        <p:nvSpPr>
          <p:cNvPr id="25" name="Rectangle 24"/>
          <p:cNvSpPr/>
          <p:nvPr/>
        </p:nvSpPr>
        <p:spPr>
          <a:xfrm>
            <a:off x="411480" y="1801368"/>
            <a:ext cx="25603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57200" y="1801368"/>
            <a:ext cx="246888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accum_datapath</a:t>
            </a:r>
          </a:p>
        </p:txBody>
      </p:sp>
      <p:sp>
        <p:nvSpPr>
          <p:cNvPr id="27" name="Rectangle 26"/>
          <p:cNvSpPr/>
          <p:nvPr/>
        </p:nvSpPr>
        <p:spPr>
          <a:xfrm>
            <a:off x="2971800" y="1801368"/>
            <a:ext cx="11887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017520" y="1801368"/>
            <a:ext cx="1097280" cy="329184"/>
          </a:xfrm>
          <a:prstGeom prst="rect">
            <a:avLst/>
          </a:prstGeom>
          <a:noFill/>
        </p:spPr>
        <p:txBody>
          <a:bodyPr wrap="square" lIns="0" rIns="0" tIns="0" bIns="0" anchor="ctr">
            <a:spAutoFit/>
          </a:bodyPr>
          <a:lstStyle/>
          <a:p>
            <a:pPr algn="ctr">
              <a:lnSpc>
                <a:spcPct val="103000"/>
              </a:lnSpc>
            </a:pPr>
            <a:r>
              <a:rPr sz="1000" b="0" i="0">
                <a:solidFill>
                  <a:srgbClr val="6B45A8"/>
                </a:solidFill>
                <a:latin typeface="Calibri"/>
              </a:rPr>
              <a:t>145</a:t>
            </a:r>
          </a:p>
        </p:txBody>
      </p:sp>
      <p:sp>
        <p:nvSpPr>
          <p:cNvPr id="29" name="Rectangle 28"/>
          <p:cNvSpPr/>
          <p:nvPr/>
        </p:nvSpPr>
        <p:spPr>
          <a:xfrm>
            <a:off x="4160520" y="1801368"/>
            <a:ext cx="146304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206240" y="1801368"/>
            <a:ext cx="137160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24</a:t>
            </a:r>
          </a:p>
        </p:txBody>
      </p:sp>
      <p:sp>
        <p:nvSpPr>
          <p:cNvPr id="31" name="Rectangle 30"/>
          <p:cNvSpPr/>
          <p:nvPr/>
        </p:nvSpPr>
        <p:spPr>
          <a:xfrm>
            <a:off x="5623560" y="1801368"/>
            <a:ext cx="603504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669280" y="1801368"/>
            <a:ext cx="594360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 16-bit accumulator, an 8-bit down-counter</a:t>
            </a:r>
          </a:p>
        </p:txBody>
      </p:sp>
      <p:sp>
        <p:nvSpPr>
          <p:cNvPr id="33" name="Rectangle 32"/>
          <p:cNvSpPr/>
          <p:nvPr/>
        </p:nvSpPr>
        <p:spPr>
          <a:xfrm>
            <a:off x="411480" y="2130552"/>
            <a:ext cx="25603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130552"/>
            <a:ext cx="246888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accum_top</a:t>
            </a:r>
          </a:p>
        </p:txBody>
      </p:sp>
      <p:sp>
        <p:nvSpPr>
          <p:cNvPr id="35" name="Rectangle 34"/>
          <p:cNvSpPr/>
          <p:nvPr/>
        </p:nvSpPr>
        <p:spPr>
          <a:xfrm>
            <a:off x="2971800" y="2130552"/>
            <a:ext cx="11887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017520" y="2130552"/>
            <a:ext cx="1097280" cy="329184"/>
          </a:xfrm>
          <a:prstGeom prst="rect">
            <a:avLst/>
          </a:prstGeom>
          <a:noFill/>
        </p:spPr>
        <p:txBody>
          <a:bodyPr wrap="square" lIns="0" rIns="0" tIns="0" bIns="0" anchor="ctr">
            <a:spAutoFit/>
          </a:bodyPr>
          <a:lstStyle/>
          <a:p>
            <a:pPr algn="ctr">
              <a:lnSpc>
                <a:spcPct val="103000"/>
              </a:lnSpc>
            </a:pPr>
            <a:r>
              <a:rPr sz="1000" b="0" i="0">
                <a:solidFill>
                  <a:srgbClr val="6B45A8"/>
                </a:solidFill>
                <a:latin typeface="Calibri"/>
              </a:rPr>
              <a:t>156</a:t>
            </a:r>
          </a:p>
        </p:txBody>
      </p:sp>
      <p:sp>
        <p:nvSpPr>
          <p:cNvPr id="37" name="Rectangle 36"/>
          <p:cNvSpPr/>
          <p:nvPr/>
        </p:nvSpPr>
        <p:spPr>
          <a:xfrm>
            <a:off x="4160520" y="2130552"/>
            <a:ext cx="14630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206240" y="2130552"/>
            <a:ext cx="137160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26</a:t>
            </a:r>
          </a:p>
        </p:txBody>
      </p:sp>
      <p:sp>
        <p:nvSpPr>
          <p:cNvPr id="39" name="Rectangle 38"/>
          <p:cNvSpPr/>
          <p:nvPr/>
        </p:nvSpPr>
        <p:spPr>
          <a:xfrm>
            <a:off x="5623560" y="2130552"/>
            <a:ext cx="60350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669280" y="2130552"/>
            <a:ext cx="594360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both, plus the wires between them</a:t>
            </a:r>
          </a:p>
        </p:txBody>
      </p:sp>
      <p:sp>
        <p:nvSpPr>
          <p:cNvPr id="41" name="Rounded Rectangle 40"/>
          <p:cNvSpPr/>
          <p:nvPr/>
        </p:nvSpPr>
        <p:spPr>
          <a:xfrm>
            <a:off x="411480" y="2551176"/>
            <a:ext cx="11247120" cy="10972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76072" y="2615184"/>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Six per cent of the cells, one hundred per cent of the behaviour</a:t>
            </a:r>
          </a:p>
        </p:txBody>
      </p:sp>
      <p:sp>
        <p:nvSpPr>
          <p:cNvPr id="43" name="TextBox 42"/>
          <p:cNvSpPr txBox="1"/>
          <p:nvPr/>
        </p:nvSpPr>
        <p:spPr>
          <a:xfrm>
            <a:off x="576072" y="2889504"/>
            <a:ext cx="10917936" cy="6949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That ratio is the whole argument for the split. You will re-time, widen and pipeline the expensive half many times over the life of a design — and each time, the half that decides what happens stays exactly as it was.</a:t>
            </a:r>
          </a:p>
          <a:p>
            <a:pPr algn="l">
              <a:lnSpc>
                <a:spcPct val="103000"/>
              </a:lnSpc>
              <a:spcAft>
                <a:spcPts val="400"/>
              </a:spcAft>
            </a:pPr>
            <a:r>
              <a:rPr sz="1100" b="1" i="0">
                <a:solidFill>
                  <a:srgbClr val="0E2A47"/>
                </a:solidFill>
                <a:latin typeface="Calibri"/>
              </a:rPr>
              <a:t>It also means the part that is hardest to get right is the part small enough to read in one sitting.</a:t>
            </a:r>
          </a:p>
        </p:txBody>
      </p:sp>
      <p:sp>
        <p:nvSpPr>
          <p:cNvPr id="44" name="TextBox 43"/>
          <p:cNvSpPr txBox="1"/>
          <p:nvPr/>
        </p:nvSpPr>
        <p:spPr>
          <a:xfrm>
            <a:off x="411480" y="3739896"/>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make dpctrl  prints every control signal on every cycle, next to the accumulated sum.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3.2 · THE FSM</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Three-Block Coding Pattern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46</a:t>
            </a:r>
          </a:p>
        </p:txBody>
      </p:sp>
      <p:pic>
        <p:nvPicPr>
          <p:cNvPr id="9" name="Picture 8" descr="fsm_pattern.png"/>
          <p:cNvPicPr>
            <a:picLocks noChangeAspect="1"/>
          </p:cNvPicPr>
          <p:nvPr/>
        </p:nvPicPr>
        <p:blipFill>
          <a:blip r:embed="rId2"/>
          <a:stretch>
            <a:fillRect/>
          </a:stretch>
        </p:blipFill>
        <p:spPr>
          <a:xfrm>
            <a:off x="2975470" y="1097280"/>
            <a:ext cx="6119140"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Every state machine in this lab is written exactly like this. So is most industrial RTL.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3.2 · THE FSM</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Not One Block?</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47</a:t>
            </a:r>
          </a:p>
        </p:txBody>
      </p:sp>
      <p:sp>
        <p:nvSpPr>
          <p:cNvPr id="9" name="TextBox 8"/>
          <p:cNvSpPr txBox="1"/>
          <p:nvPr/>
        </p:nvSpPr>
        <p:spPr>
          <a:xfrm>
            <a:off x="411480" y="1143000"/>
            <a:ext cx="11247120" cy="274320"/>
          </a:xfrm>
          <a:prstGeom prst="rect">
            <a:avLst/>
          </a:prstGeom>
          <a:noFill/>
        </p:spPr>
        <p:txBody>
          <a:bodyPr wrap="square" lIns="0" rIns="0" tIns="0" bIns="0" anchor="t">
            <a:spAutoFit/>
          </a:bodyPr>
          <a:lstStyle/>
          <a:p>
            <a:pPr algn="l">
              <a:lnSpc>
                <a:spcPct val="103000"/>
              </a:lnSpc>
              <a:spcAft>
                <a:spcPts val="700"/>
              </a:spcAft>
            </a:pPr>
            <a:r>
              <a:rPr sz="1100" b="0" i="0">
                <a:solidFill>
                  <a:srgbClr val="33414F"/>
                </a:solidFill>
                <a:latin typeface="Calibri"/>
              </a:rPr>
              <a:t>You can write a working state machine in a single clocked block, with the case statement inside it. Nothing about it is illegal.</a:t>
            </a:r>
          </a:p>
        </p:txBody>
      </p:sp>
      <p:sp>
        <p:nvSpPr>
          <p:cNvPr id="10" name="Rectangle 9"/>
          <p:cNvSpPr/>
          <p:nvPr/>
        </p:nvSpPr>
        <p:spPr>
          <a:xfrm>
            <a:off x="411480" y="1508760"/>
            <a:ext cx="274320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7200" y="1508760"/>
            <a:ext cx="265176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
            </a:r>
          </a:p>
        </p:txBody>
      </p:sp>
      <p:sp>
        <p:nvSpPr>
          <p:cNvPr id="12" name="Rectangle 11"/>
          <p:cNvSpPr/>
          <p:nvPr/>
        </p:nvSpPr>
        <p:spPr>
          <a:xfrm>
            <a:off x="3154680" y="1508760"/>
            <a:ext cx="411480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200400" y="1508760"/>
            <a:ext cx="402336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one block</a:t>
            </a:r>
          </a:p>
        </p:txBody>
      </p:sp>
      <p:sp>
        <p:nvSpPr>
          <p:cNvPr id="14" name="Rectangle 13"/>
          <p:cNvSpPr/>
          <p:nvPr/>
        </p:nvSpPr>
        <p:spPr>
          <a:xfrm>
            <a:off x="7269480" y="1508760"/>
            <a:ext cx="438912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315200" y="1508760"/>
            <a:ext cx="429768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three blocks</a:t>
            </a:r>
          </a:p>
        </p:txBody>
      </p:sp>
      <p:sp>
        <p:nvSpPr>
          <p:cNvPr id="16" name="Rectangle 15"/>
          <p:cNvSpPr/>
          <p:nvPr/>
        </p:nvSpPr>
        <p:spPr>
          <a:xfrm>
            <a:off x="411480" y="1783080"/>
            <a:ext cx="2743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7200" y="1783080"/>
            <a:ext cx="2651760" cy="274320"/>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works?</a:t>
            </a:r>
          </a:p>
        </p:txBody>
      </p:sp>
      <p:sp>
        <p:nvSpPr>
          <p:cNvPr id="18" name="Rectangle 17"/>
          <p:cNvSpPr/>
          <p:nvPr/>
        </p:nvSpPr>
        <p:spPr>
          <a:xfrm>
            <a:off x="3154680" y="1783080"/>
            <a:ext cx="41148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0400" y="1783080"/>
            <a:ext cx="402336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yes</a:t>
            </a:r>
          </a:p>
        </p:txBody>
      </p:sp>
      <p:sp>
        <p:nvSpPr>
          <p:cNvPr id="20" name="Rectangle 19"/>
          <p:cNvSpPr/>
          <p:nvPr/>
        </p:nvSpPr>
        <p:spPr>
          <a:xfrm>
            <a:off x="7269480" y="1783080"/>
            <a:ext cx="438912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315200" y="1783080"/>
            <a:ext cx="429768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yes</a:t>
            </a:r>
          </a:p>
        </p:txBody>
      </p:sp>
      <p:sp>
        <p:nvSpPr>
          <p:cNvPr id="22" name="Rectangle 21"/>
          <p:cNvSpPr/>
          <p:nvPr/>
        </p:nvSpPr>
        <p:spPr>
          <a:xfrm>
            <a:off x="411480" y="2057400"/>
            <a:ext cx="2743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7200" y="2057400"/>
            <a:ext cx="2651760" cy="274320"/>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where is the reset?</a:t>
            </a:r>
          </a:p>
        </p:txBody>
      </p:sp>
      <p:sp>
        <p:nvSpPr>
          <p:cNvPr id="24" name="Rectangle 23"/>
          <p:cNvSpPr/>
          <p:nvPr/>
        </p:nvSpPr>
        <p:spPr>
          <a:xfrm>
            <a:off x="3154680" y="2057400"/>
            <a:ext cx="41148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0400" y="2057400"/>
            <a:ext cx="402336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mixed in with the logic</a:t>
            </a:r>
          </a:p>
        </p:txBody>
      </p:sp>
      <p:sp>
        <p:nvSpPr>
          <p:cNvPr id="26" name="Rectangle 25"/>
          <p:cNvSpPr/>
          <p:nvPr/>
        </p:nvSpPr>
        <p:spPr>
          <a:xfrm>
            <a:off x="7269480" y="2057400"/>
            <a:ext cx="438912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315200" y="2057400"/>
            <a:ext cx="429768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block 1, and nowhere else</a:t>
            </a:r>
          </a:p>
        </p:txBody>
      </p:sp>
      <p:sp>
        <p:nvSpPr>
          <p:cNvPr id="28" name="Rectangle 27"/>
          <p:cNvSpPr/>
          <p:nvPr/>
        </p:nvSpPr>
        <p:spPr>
          <a:xfrm>
            <a:off x="411480" y="2331720"/>
            <a:ext cx="2743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57200" y="2331720"/>
            <a:ext cx="2651760" cy="274320"/>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where is the clock?</a:t>
            </a:r>
          </a:p>
        </p:txBody>
      </p:sp>
      <p:sp>
        <p:nvSpPr>
          <p:cNvPr id="30" name="Rectangle 29"/>
          <p:cNvSpPr/>
          <p:nvPr/>
        </p:nvSpPr>
        <p:spPr>
          <a:xfrm>
            <a:off x="3154680" y="2331720"/>
            <a:ext cx="41148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00400" y="2331720"/>
            <a:ext cx="402336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wrapped around everything</a:t>
            </a:r>
          </a:p>
        </p:txBody>
      </p:sp>
      <p:sp>
        <p:nvSpPr>
          <p:cNvPr id="32" name="Rectangle 31"/>
          <p:cNvSpPr/>
          <p:nvPr/>
        </p:nvSpPr>
        <p:spPr>
          <a:xfrm>
            <a:off x="7269480" y="2331720"/>
            <a:ext cx="438912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315200" y="2331720"/>
            <a:ext cx="429768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block 1, and nowhere else</a:t>
            </a:r>
          </a:p>
        </p:txBody>
      </p:sp>
      <p:sp>
        <p:nvSpPr>
          <p:cNvPr id="34" name="Rectangle 33"/>
          <p:cNvSpPr/>
          <p:nvPr/>
        </p:nvSpPr>
        <p:spPr>
          <a:xfrm>
            <a:off x="411480" y="2606040"/>
            <a:ext cx="2743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7200" y="2606040"/>
            <a:ext cx="2651760" cy="274320"/>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outputs are</a:t>
            </a:r>
          </a:p>
        </p:txBody>
      </p:sp>
      <p:sp>
        <p:nvSpPr>
          <p:cNvPr id="36" name="Rectangle 35"/>
          <p:cNvSpPr/>
          <p:nvPr/>
        </p:nvSpPr>
        <p:spPr>
          <a:xfrm>
            <a:off x="3154680" y="2606040"/>
            <a:ext cx="41148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00400" y="2606040"/>
            <a:ext cx="402336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registered, always</a:t>
            </a:r>
          </a:p>
        </p:txBody>
      </p:sp>
      <p:sp>
        <p:nvSpPr>
          <p:cNvPr id="38" name="Rectangle 37"/>
          <p:cNvSpPr/>
          <p:nvPr/>
        </p:nvSpPr>
        <p:spPr>
          <a:xfrm>
            <a:off x="7269480" y="2606040"/>
            <a:ext cx="438912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315200" y="2606040"/>
            <a:ext cx="429768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your choice — Moore or Mealy</a:t>
            </a:r>
          </a:p>
        </p:txBody>
      </p:sp>
      <p:sp>
        <p:nvSpPr>
          <p:cNvPr id="40" name="Rectangle 39"/>
          <p:cNvSpPr/>
          <p:nvPr/>
        </p:nvSpPr>
        <p:spPr>
          <a:xfrm>
            <a:off x="411480" y="2880360"/>
            <a:ext cx="2743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57200" y="2880360"/>
            <a:ext cx="2651760" cy="274320"/>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reviewing a change</a:t>
            </a:r>
          </a:p>
        </p:txBody>
      </p:sp>
      <p:sp>
        <p:nvSpPr>
          <p:cNvPr id="42" name="Rectangle 41"/>
          <p:cNvSpPr/>
          <p:nvPr/>
        </p:nvSpPr>
        <p:spPr>
          <a:xfrm>
            <a:off x="3154680" y="2880360"/>
            <a:ext cx="41148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200400" y="2880360"/>
            <a:ext cx="402336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you re-read the timing every time</a:t>
            </a:r>
          </a:p>
        </p:txBody>
      </p:sp>
      <p:sp>
        <p:nvSpPr>
          <p:cNvPr id="44" name="Rectangle 43"/>
          <p:cNvSpPr/>
          <p:nvPr/>
        </p:nvSpPr>
        <p:spPr>
          <a:xfrm>
            <a:off x="7269480" y="2880360"/>
            <a:ext cx="438912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315200" y="2880360"/>
            <a:ext cx="429768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blocks 2 and 3 have no timing to re-read</a:t>
            </a:r>
          </a:p>
        </p:txBody>
      </p:sp>
      <p:sp>
        <p:nvSpPr>
          <p:cNvPr id="46" name="Rectangle 45"/>
          <p:cNvSpPr/>
          <p:nvPr/>
        </p:nvSpPr>
        <p:spPr>
          <a:xfrm>
            <a:off x="411480" y="3154680"/>
            <a:ext cx="2743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57200" y="3154680"/>
            <a:ext cx="2651760" cy="274320"/>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adding a state</a:t>
            </a:r>
          </a:p>
        </p:txBody>
      </p:sp>
      <p:sp>
        <p:nvSpPr>
          <p:cNvPr id="48" name="Rectangle 47"/>
          <p:cNvSpPr/>
          <p:nvPr/>
        </p:nvSpPr>
        <p:spPr>
          <a:xfrm>
            <a:off x="3154680" y="3154680"/>
            <a:ext cx="41148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3200400" y="3154680"/>
            <a:ext cx="402336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one place, easy to miss a branch</a:t>
            </a:r>
          </a:p>
        </p:txBody>
      </p:sp>
      <p:sp>
        <p:nvSpPr>
          <p:cNvPr id="50" name="Rectangle 49"/>
          <p:cNvSpPr/>
          <p:nvPr/>
        </p:nvSpPr>
        <p:spPr>
          <a:xfrm>
            <a:off x="7269480" y="3154680"/>
            <a:ext cx="438912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315200" y="3154680"/>
            <a:ext cx="429768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two places, both of them a case statement</a:t>
            </a:r>
          </a:p>
        </p:txBody>
      </p:sp>
      <p:sp>
        <p:nvSpPr>
          <p:cNvPr id="52" name="TextBox 51"/>
          <p:cNvSpPr txBox="1"/>
          <p:nvPr/>
        </p:nvSpPr>
        <p:spPr>
          <a:xfrm>
            <a:off x="411480" y="352044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One block is not wrong. Three blocks are easier to be right in, which over a project is the same thing.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3.2 · THE FSM</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Default Assignment, and Why It Matters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48</a:t>
            </a:r>
          </a:p>
        </p:txBody>
      </p:sp>
      <p:sp>
        <p:nvSpPr>
          <p:cNvPr id="9" name="Rounded Rectangle 8"/>
          <p:cNvSpPr/>
          <p:nvPr/>
        </p:nvSpPr>
        <p:spPr>
          <a:xfrm>
            <a:off x="411480" y="1143000"/>
            <a:ext cx="11247120" cy="2371344"/>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142744"/>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always @(*) begin</a:t>
            </a:r>
          </a:p>
          <a:p>
            <a:pPr algn="l">
              <a:lnSpc>
                <a:spcPct val="112000"/>
              </a:lnSpc>
            </a:pPr>
            <a:r>
              <a:rPr sz="950" b="0" i="0">
                <a:solidFill>
                  <a:srgbClr val="D8E4F0"/>
                </a:solidFill>
                <a:latin typeface="Consolas"/>
              </a:rPr>
              <a:t>    next_state = state;          // &lt;-- THE DEFAULT ASSIGNMENT</a:t>
            </a:r>
          </a:p>
          <a:p>
            <a:pPr algn="l">
              <a:lnSpc>
                <a:spcPct val="112000"/>
              </a:lnSpc>
            </a:pPr>
            <a:r>
              <a:rPr sz="950" b="0" i="0">
                <a:solidFill>
                  <a:srgbClr val="D8E4F0"/>
                </a:solidFill>
                <a:latin typeface="Consolas"/>
              </a:rPr>
              <a:t>    case (state)</a:t>
            </a:r>
          </a:p>
          <a:p>
            <a:pPr algn="l">
              <a:lnSpc>
                <a:spcPct val="112000"/>
              </a:lnSpc>
            </a:pPr>
            <a:r>
              <a:rPr sz="950" b="0" i="0">
                <a:solidFill>
                  <a:srgbClr val="D8E4F0"/>
                </a:solidFill>
                <a:latin typeface="Consolas"/>
              </a:rPr>
              <a:t>        S_MAIN_GREEN  : if (car &amp;&amp; timeout) next_state = S_MAIN_YELLOW;</a:t>
            </a:r>
          </a:p>
          <a:p>
            <a:pPr algn="l">
              <a:lnSpc>
                <a:spcPct val="112000"/>
              </a:lnSpc>
            </a:pPr>
            <a:r>
              <a:rPr sz="950" b="0" i="0">
                <a:solidFill>
                  <a:srgbClr val="D8E4F0"/>
                </a:solidFill>
                <a:latin typeface="Consolas"/>
              </a:rPr>
              <a:t>        S_MAIN_YELLOW : if (timeout)        next_state = S_SIDE_GREEN;</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endcase</a:t>
            </a:r>
          </a:p>
          <a:p>
            <a:pPr algn="l">
              <a:lnSpc>
                <a:spcPct val="112000"/>
              </a:lnSpc>
            </a:pPr>
            <a:r>
              <a:rPr sz="950" b="0" i="0">
                <a:solidFill>
                  <a:srgbClr val="D8E4F0"/>
                </a:solidFill>
                <a:latin typeface="Consolas"/>
              </a:rPr>
              <a:t>end</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Not one of those if statements has an else.  Not one of them needs</a:t>
            </a:r>
          </a:p>
          <a:p>
            <a:pPr algn="l">
              <a:lnSpc>
                <a:spcPct val="112000"/>
              </a:lnSpc>
            </a:pPr>
            <a:r>
              <a:rPr sz="950" b="0" i="0">
                <a:solidFill>
                  <a:srgbClr val="D8E4F0"/>
                </a:solidFill>
                <a:latin typeface="Consolas"/>
              </a:rPr>
              <a:t>// one: next_state was already written, unconditionally, on line 2.</a:t>
            </a:r>
          </a:p>
          <a:p>
            <a:pPr algn="l">
              <a:lnSpc>
                <a:spcPct val="112000"/>
              </a:lnSpc>
            </a:pPr>
            <a:r>
              <a:rPr sz="950" b="0" i="0">
                <a:solidFill>
                  <a:srgbClr val="D8E4F0"/>
                </a:solidFill>
                <a:latin typeface="Consolas"/>
              </a:rPr>
              <a:t>// No path through this block leaves it unassigned, so no latch.</a:t>
            </a:r>
          </a:p>
        </p:txBody>
      </p:sp>
      <p:sp>
        <p:nvSpPr>
          <p:cNvPr id="11" name="Rounded Rectangle 10"/>
          <p:cNvSpPr/>
          <p:nvPr/>
        </p:nvSpPr>
        <p:spPr>
          <a:xfrm>
            <a:off x="411480" y="3605784"/>
            <a:ext cx="11247120" cy="100584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3669792"/>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This is the idiom the lab linter had to learn</a:t>
            </a:r>
          </a:p>
        </p:txBody>
      </p:sp>
      <p:sp>
        <p:nvSpPr>
          <p:cNvPr id="13" name="TextBox 12"/>
          <p:cNvSpPr txBox="1"/>
          <p:nvPr/>
        </p:nvSpPr>
        <p:spPr>
          <a:xfrm>
            <a:off x="576072" y="3944112"/>
            <a:ext cx="10917936" cy="6035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naive latch rule flags every one of those if statements. Yosys builds a latch in none of them. make lintcheck puts the two opinions side by side on sixteen designs — and a linter that cries wolf gets switched off, which makes it worse than no linter at all.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Where the Output Comes From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49</a:t>
            </a:r>
          </a:p>
        </p:txBody>
      </p:sp>
      <p:pic>
        <p:nvPicPr>
          <p:cNvPr id="9" name="Picture 8" descr="moore_mealy.png"/>
          <p:cNvPicPr>
            <a:picLocks noChangeAspect="1"/>
          </p:cNvPicPr>
          <p:nvPr/>
        </p:nvPicPr>
        <p:blipFill>
          <a:blip r:embed="rId2"/>
          <a:stretch>
            <a:fillRect/>
          </a:stretch>
        </p:blipFill>
        <p:spPr>
          <a:xfrm>
            <a:off x="3097302" y="1097280"/>
            <a:ext cx="5875475"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One structural difference — whether the output logic can see the input. Everything else follows.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'101' Detector, Moore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50</a:t>
            </a:r>
          </a:p>
        </p:txBody>
      </p:sp>
      <p:pic>
        <p:nvPicPr>
          <p:cNvPr id="9" name="Picture 8" descr="seq101_moore_states.png"/>
          <p:cNvPicPr>
            <a:picLocks noChangeAspect="1"/>
          </p:cNvPicPr>
          <p:nvPr/>
        </p:nvPicPr>
        <p:blipFill>
          <a:blip r:embed="rId2"/>
          <a:stretch>
            <a:fillRect/>
          </a:stretch>
        </p:blipFill>
        <p:spPr>
          <a:xfrm>
            <a:off x="2347936" y="1097280"/>
            <a:ext cx="7374208"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Four states. The output is decoded from the state register alone.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Same Detector, Mealy</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51</a:t>
            </a:r>
          </a:p>
        </p:txBody>
      </p:sp>
      <p:pic>
        <p:nvPicPr>
          <p:cNvPr id="9" name="Picture 8" descr="seq101_mealy_states.png"/>
          <p:cNvPicPr>
            <a:picLocks noChangeAspect="1"/>
          </p:cNvPicPr>
          <p:nvPr/>
        </p:nvPicPr>
        <p:blipFill>
          <a:blip r:embed="rId2"/>
          <a:stretch>
            <a:fillRect/>
          </a:stretch>
        </p:blipFill>
        <p:spPr>
          <a:xfrm>
            <a:off x="2251643" y="1097280"/>
            <a:ext cx="7566795"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Three states. The output is written on the arrows, as input / output.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3.3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One-Cycle Difference, Measured</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52</a:t>
            </a:r>
          </a:p>
        </p:txBody>
      </p:sp>
      <p:pic>
        <p:nvPicPr>
          <p:cNvPr id="9" name="Picture 8" descr="moore_mealy_timing.png"/>
          <p:cNvPicPr>
            <a:picLocks noChangeAspect="1"/>
          </p:cNvPicPr>
          <p:nvPr/>
        </p:nvPicPr>
        <p:blipFill>
          <a:blip r:embed="rId2"/>
          <a:stretch>
            <a:fillRect/>
          </a:stretch>
        </p:blipFill>
        <p:spPr>
          <a:xfrm>
            <a:off x="2181580" y="1097280"/>
            <a:ext cx="7706921"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2A9D5C"/>
                </a:solidFill>
                <a:latin typeface="Calibri"/>
              </a:rPr>
              <a:t>Five matches, zero mismatches against a golden model computed from the stream itself.</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Choosing Between Them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53</a:t>
            </a:r>
          </a:p>
        </p:txBody>
      </p:sp>
      <p:sp>
        <p:nvSpPr>
          <p:cNvPr id="9" name="Rounded Rectangle 8"/>
          <p:cNvSpPr/>
          <p:nvPr/>
        </p:nvSpPr>
        <p:spPr>
          <a:xfrm>
            <a:off x="411480" y="1143000"/>
            <a:ext cx="11247120" cy="100584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411480" y="1143000"/>
            <a:ext cx="1737360" cy="1005840"/>
          </a:xfrm>
          <a:prstGeom prst="roundRect">
            <a:avLst>
              <a:gd name="adj" fmla="val 5714"/>
            </a:avLst>
          </a:prstGeom>
          <a:solidFill>
            <a:srgbClr val="2A9D5C"/>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1480" y="1143000"/>
            <a:ext cx="1737360" cy="100584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CHOOSE MOORE</a:t>
            </a:r>
          </a:p>
        </p:txBody>
      </p:sp>
      <p:sp>
        <p:nvSpPr>
          <p:cNvPr id="12" name="TextBox 11"/>
          <p:cNvSpPr txBox="1"/>
          <p:nvPr/>
        </p:nvSpPr>
        <p:spPr>
          <a:xfrm>
            <a:off x="2331720" y="1188720"/>
            <a:ext cx="9144000" cy="91440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when the output leaves the block, drives other logic, or is timing critical. It comes out of a decode of registered bits, so it is clean, predictable and easy to constrain.</a:t>
            </a:r>
          </a:p>
        </p:txBody>
      </p:sp>
      <p:sp>
        <p:nvSpPr>
          <p:cNvPr id="13" name="Rounded Rectangle 12"/>
          <p:cNvSpPr/>
          <p:nvPr/>
        </p:nvSpPr>
        <p:spPr>
          <a:xfrm>
            <a:off x="411480" y="2194560"/>
            <a:ext cx="11247120" cy="100584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11480" y="2194560"/>
            <a:ext cx="1737360" cy="1005840"/>
          </a:xfrm>
          <a:prstGeom prst="roundRect">
            <a:avLst>
              <a:gd name="adj" fmla="val 5714"/>
            </a:avLst>
          </a:prstGeom>
          <a:solidFill>
            <a:srgbClr val="C01F43"/>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11480" y="2194560"/>
            <a:ext cx="1737360" cy="100584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CHOOSE MEALY</a:t>
            </a:r>
          </a:p>
        </p:txBody>
      </p:sp>
      <p:sp>
        <p:nvSpPr>
          <p:cNvPr id="16" name="TextBox 15"/>
          <p:cNvSpPr txBox="1"/>
          <p:nvPr/>
        </p:nvSpPr>
        <p:spPr>
          <a:xfrm>
            <a:off x="2331720" y="2240280"/>
            <a:ext cx="9144000" cy="91440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when the cycle genuinely matters — a handshake that must be answered immediately, or a pipeline where one more cycle of latency costs throughput you cannot spare.</a:t>
            </a:r>
          </a:p>
        </p:txBody>
      </p:sp>
      <p:sp>
        <p:nvSpPr>
          <p:cNvPr id="17" name="Rounded Rectangle 16"/>
          <p:cNvSpPr/>
          <p:nvPr/>
        </p:nvSpPr>
        <p:spPr>
          <a:xfrm>
            <a:off x="411480" y="3246120"/>
            <a:ext cx="11247120" cy="100584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11480" y="3246120"/>
            <a:ext cx="1737360" cy="1005840"/>
          </a:xfrm>
          <a:prstGeom prst="roundRect">
            <a:avLst>
              <a:gd name="adj" fmla="val 5714"/>
            </a:avLst>
          </a:prstGeom>
          <a:solidFill>
            <a:srgbClr val="0E2A47"/>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1480" y="3246120"/>
            <a:ext cx="1737360" cy="100584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EITHER WAY, REGISTER IT AT THE BOUNDARY</a:t>
            </a:r>
          </a:p>
        </p:txBody>
      </p:sp>
      <p:sp>
        <p:nvSpPr>
          <p:cNvPr id="20" name="TextBox 19"/>
          <p:cNvSpPr txBox="1"/>
          <p:nvPr/>
        </p:nvSpPr>
        <p:spPr>
          <a:xfrm>
            <a:off x="2331720" y="3291840"/>
            <a:ext cx="9144000" cy="91440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A Mealy output that leaves your block hands the next designer a combinational path they did not ask for. If it crosses a module boundary, put a flip-flop on it — which turns it back into Moore.</a:t>
            </a:r>
          </a:p>
        </p:txBody>
      </p:sp>
      <p:sp>
        <p:nvSpPr>
          <p:cNvPr id="21" name="Rounded Rectangle 20"/>
          <p:cNvSpPr/>
          <p:nvPr/>
        </p:nvSpPr>
        <p:spPr>
          <a:xfrm>
            <a:off x="411480" y="4389120"/>
            <a:ext cx="11247120" cy="100584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6072" y="4453128"/>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The trap in the folklore</a:t>
            </a:r>
          </a:p>
        </p:txBody>
      </p:sp>
      <p:sp>
        <p:nvSpPr>
          <p:cNvPr id="23" name="TextBox 22"/>
          <p:cNvSpPr txBox="1"/>
          <p:nvPr/>
        </p:nvSpPr>
        <p:spPr>
          <a:xfrm>
            <a:off x="576072" y="4727448"/>
            <a:ext cx="10917936" cy="6035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"Mealy needs fewer states" is true and almost never the reason to pick it. Here it saved one flip-flop's worth of nothing — both machines needed two — and cost one cell more. The real trade is the cycle against the glitch-free output, and that is a system question, not a coding one.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3.4 · ENCODING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Choice You Make By Typing Numbers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54</a:t>
            </a:r>
          </a:p>
        </p:txBody>
      </p:sp>
      <p:pic>
        <p:nvPicPr>
          <p:cNvPr id="9" name="Picture 8" descr="state_encoding.png"/>
          <p:cNvPicPr>
            <a:picLocks noChangeAspect="1"/>
          </p:cNvPicPr>
          <p:nvPr/>
        </p:nvPicPr>
        <p:blipFill>
          <a:blip r:embed="rId2"/>
          <a:stretch>
            <a:fillRect/>
          </a:stretch>
        </p:blipFill>
        <p:spPr>
          <a:xfrm>
            <a:off x="3361716" y="1097280"/>
            <a:ext cx="5346648"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Same behaviour, different hardware — and the direction of the difference is not the one usually quoted.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3.5 · A CONTROLLER WITH A TIMER</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Traffic Light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55</a:t>
            </a:r>
          </a:p>
        </p:txBody>
      </p:sp>
      <p:pic>
        <p:nvPicPr>
          <p:cNvPr id="9" name="Picture 8" descr="traffic_states.png"/>
          <p:cNvPicPr>
            <a:picLocks noChangeAspect="1"/>
          </p:cNvPicPr>
          <p:nvPr/>
        </p:nvPicPr>
        <p:blipFill>
          <a:blip r:embed="rId2"/>
          <a:stretch>
            <a:fillRect/>
          </a:stretch>
        </p:blipFill>
        <p:spPr>
          <a:xfrm>
            <a:off x="3037624" y="1097280"/>
            <a:ext cx="5994833"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2A9D5C"/>
                </a:solidFill>
                <a:latin typeface="Calibri"/>
              </a:rPr>
              <a:t>Two safety properties, checked on every one of forty cycles. Zero violations.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3.5 · A CONTROLLER WITH A TIMER</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Checking a Property Instead of a Waveform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56</a:t>
            </a:r>
          </a:p>
        </p:txBody>
      </p:sp>
      <p:sp>
        <p:nvSpPr>
          <p:cNvPr id="9" name="Rounded Rectangle 8"/>
          <p:cNvSpPr/>
          <p:nvPr/>
        </p:nvSpPr>
        <p:spPr>
          <a:xfrm>
            <a:off x="411480" y="1143000"/>
            <a:ext cx="11247120" cy="2192782"/>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1964182"/>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 P1 : the two roads are never green at the same time</a:t>
            </a:r>
          </a:p>
          <a:p>
            <a:pPr algn="l">
              <a:lnSpc>
                <a:spcPct val="112000"/>
              </a:lnSpc>
            </a:pPr>
            <a:r>
              <a:rPr sz="950" b="0" i="0">
                <a:solidFill>
                  <a:srgbClr val="D8E4F0"/>
                </a:solidFill>
                <a:latin typeface="Consolas"/>
              </a:rPr>
              <a:t>if (main_light == GREEN &amp;&amp; side_light == GREEN) begin</a:t>
            </a:r>
          </a:p>
          <a:p>
            <a:pPr algn="l">
              <a:lnSpc>
                <a:spcPct val="112000"/>
              </a:lnSpc>
            </a:pPr>
            <a:r>
              <a:rPr sz="950" b="0" i="0">
                <a:solidFill>
                  <a:srgbClr val="D8E4F0"/>
                </a:solidFill>
                <a:latin typeface="Consolas"/>
              </a:rPr>
              <a:t>    $display("*** P1 VIOLATED at cycle %0d", cycles);</a:t>
            </a:r>
          </a:p>
          <a:p>
            <a:pPr algn="l">
              <a:lnSpc>
                <a:spcPct val="112000"/>
              </a:lnSpc>
            </a:pPr>
            <a:r>
              <a:rPr sz="950" b="0" i="0">
                <a:solidFill>
                  <a:srgbClr val="D8E4F0"/>
                </a:solidFill>
                <a:latin typeface="Consolas"/>
              </a:rPr>
              <a:t>    errors = errors + 1;</a:t>
            </a:r>
          </a:p>
          <a:p>
            <a:pPr algn="l">
              <a:lnSpc>
                <a:spcPct val="112000"/>
              </a:lnSpc>
            </a:pPr>
            <a:r>
              <a:rPr sz="950" b="0" i="0">
                <a:solidFill>
                  <a:srgbClr val="D8E4F0"/>
                </a:solidFill>
                <a:latin typeface="Consolas"/>
              </a:rPr>
              <a:t>end</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P2 : a green never goes straight to red - yellow comes first</a:t>
            </a:r>
          </a:p>
          <a:p>
            <a:pPr algn="l">
              <a:lnSpc>
                <a:spcPct val="112000"/>
              </a:lnSpc>
            </a:pPr>
            <a:r>
              <a:rPr sz="950" b="0" i="0">
                <a:solidFill>
                  <a:srgbClr val="D8E4F0"/>
                </a:solidFill>
                <a:latin typeface="Consolas"/>
              </a:rPr>
              <a:t>if (prev_main == GREEN &amp;&amp; main_light == RED) begin</a:t>
            </a:r>
          </a:p>
          <a:p>
            <a:pPr algn="l">
              <a:lnSpc>
                <a:spcPct val="112000"/>
              </a:lnSpc>
            </a:pPr>
            <a:r>
              <a:rPr sz="950" b="0" i="0">
                <a:solidFill>
                  <a:srgbClr val="D8E4F0"/>
                </a:solidFill>
                <a:latin typeface="Consolas"/>
              </a:rPr>
              <a:t>    $display("*** P2 VIOLATED at cycle %0d", cycles);</a:t>
            </a:r>
          </a:p>
          <a:p>
            <a:pPr algn="l">
              <a:lnSpc>
                <a:spcPct val="112000"/>
              </a:lnSpc>
            </a:pPr>
            <a:r>
              <a:rPr sz="950" b="0" i="0">
                <a:solidFill>
                  <a:srgbClr val="D8E4F0"/>
                </a:solidFill>
                <a:latin typeface="Consolas"/>
              </a:rPr>
              <a:t>    errors = errors + 1;</a:t>
            </a:r>
          </a:p>
          <a:p>
            <a:pPr algn="l">
              <a:lnSpc>
                <a:spcPct val="112000"/>
              </a:lnSpc>
            </a:pPr>
            <a:r>
              <a:rPr sz="950" b="0" i="0">
                <a:solidFill>
                  <a:srgbClr val="D8E4F0"/>
                </a:solidFill>
                <a:latin typeface="Consolas"/>
              </a:rPr>
              <a:t>end</a:t>
            </a:r>
          </a:p>
        </p:txBody>
      </p:sp>
      <p:sp>
        <p:nvSpPr>
          <p:cNvPr id="11" name="Rounded Rectangle 10"/>
          <p:cNvSpPr/>
          <p:nvPr/>
        </p:nvSpPr>
        <p:spPr>
          <a:xfrm>
            <a:off x="411480" y="3427222"/>
            <a:ext cx="11247120" cy="868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3491230"/>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You write the rule once; the simulator tests it every cycle of every run</a:t>
            </a:r>
          </a:p>
        </p:txBody>
      </p:sp>
      <p:sp>
        <p:nvSpPr>
          <p:cNvPr id="13" name="TextBox 12"/>
          <p:cNvSpPr txBox="1"/>
          <p:nvPr/>
        </p:nvSpPr>
        <p:spPr>
          <a:xfrm>
            <a:off x="576072" y="3765550"/>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This is the cheap half of formal verification, available in any simulator, in about ten lines. It scales to runs far longer than anyone would page through by hand, and it keeps working after you change the design.</a:t>
            </a:r>
          </a:p>
        </p:txBody>
      </p:sp>
      <p:sp>
        <p:nvSpPr>
          <p:cNvPr id="14" name="TextBox 13"/>
          <p:cNvSpPr txBox="1"/>
          <p:nvPr/>
        </p:nvSpPr>
        <p:spPr>
          <a:xfrm>
            <a:off x="411480" y="4387342"/>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The expensive half — proving the property holds for every possible input — is what make prove does with a SAT solver.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3.6 · FROM MODULE TO IP</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Parameters, Hierarchy and Generate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57</a:t>
            </a:r>
          </a:p>
        </p:txBody>
      </p:sp>
      <p:pic>
        <p:nvPicPr>
          <p:cNvPr id="9" name="Picture 8" descr="hierarchy_generate.png"/>
          <p:cNvPicPr>
            <a:picLocks noChangeAspect="1"/>
          </p:cNvPicPr>
          <p:nvPr/>
        </p:nvPicPr>
        <p:blipFill>
          <a:blip r:embed="rId2"/>
          <a:stretch>
            <a:fillRect/>
          </a:stretch>
        </p:blipFill>
        <p:spPr>
          <a:xfrm>
            <a:off x="2774842" y="1097280"/>
            <a:ext cx="6520395"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2A9D5C"/>
                </a:solidFill>
                <a:latin typeface="Calibri"/>
              </a:rPr>
              <a:t>Eight flip-flops per stage, exactly N stages, measured at four depths.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3.6 · FROM MODULE TO IP</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Elaboration Actually Does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58</a:t>
            </a:r>
          </a:p>
        </p:txBody>
      </p:sp>
      <p:sp>
        <p:nvSpPr>
          <p:cNvPr id="9" name="Rounded Rectangle 8"/>
          <p:cNvSpPr/>
          <p:nvPr/>
        </p:nvSpPr>
        <p:spPr>
          <a:xfrm>
            <a:off x="411480" y="1143000"/>
            <a:ext cx="11247120" cy="3104388"/>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875788"/>
          </a:xfrm>
          <a:prstGeom prst="rect">
            <a:avLst/>
          </a:prstGeom>
          <a:noFill/>
        </p:spPr>
        <p:txBody>
          <a:bodyPr wrap="square" lIns="0" rIns="0" tIns="0" bIns="0" anchor="t">
            <a:spAutoFit/>
          </a:bodyPr>
          <a:lstStyle/>
          <a:p>
            <a:pPr algn="l">
              <a:lnSpc>
                <a:spcPct val="112000"/>
              </a:lnSpc>
            </a:pPr>
            <a:r>
              <a:rPr sz="900" b="0" i="0">
                <a:solidFill>
                  <a:srgbClr val="D8E4F0"/>
                </a:solidFill>
                <a:latin typeface="Consolas"/>
              </a:rPr>
              <a:t>module delayline #(parameter W = 8, parameter N = 4)</a:t>
            </a:r>
          </a:p>
          <a:p>
            <a:pPr algn="l">
              <a:lnSpc>
                <a:spcPct val="112000"/>
              </a:lnSpc>
            </a:pPr>
            <a:r>
              <a:rPr sz="900" b="0" i="0">
                <a:solidFill>
                  <a:srgbClr val="D8E4F0"/>
                </a:solidFill>
                <a:latin typeface="Consolas"/>
              </a:rPr>
              <a:t>                 (input clk, rst, en, input [W-1:0] din,</a:t>
            </a:r>
          </a:p>
          <a:p>
            <a:pPr algn="l">
              <a:lnSpc>
                <a:spcPct val="112000"/>
              </a:lnSpc>
            </a:pPr>
            <a:r>
              <a:rPr sz="900" b="0" i="0">
                <a:solidFill>
                  <a:srgbClr val="D8E4F0"/>
                </a:solidFill>
                <a:latin typeface="Consolas"/>
              </a:rPr>
              <a:t>                  output [W-1:0] dout);</a:t>
            </a:r>
          </a:p>
          <a:p>
            <a:pPr algn="l">
              <a:lnSpc>
                <a:spcPct val="112000"/>
              </a:lnSpc>
            </a:pPr>
            <a:r>
              <a:rPr sz="900" b="0" i="0">
                <a:solidFill>
                  <a:srgbClr val="D8E4F0"/>
                </a:solidFill>
                <a:latin typeface="Consolas"/>
              </a:rPr>
              <a:t> </a:t>
            </a:r>
          </a:p>
          <a:p>
            <a:pPr algn="l">
              <a:lnSpc>
                <a:spcPct val="112000"/>
              </a:lnSpc>
            </a:pPr>
            <a:r>
              <a:rPr sz="900" b="0" i="0">
                <a:solidFill>
                  <a:srgbClr val="D8E4F0"/>
                </a:solidFill>
                <a:latin typeface="Consolas"/>
              </a:rPr>
              <a:t>    wire [W-1:0] tap [0:N];      // one more element than stages</a:t>
            </a:r>
          </a:p>
          <a:p>
            <a:pPr algn="l">
              <a:lnSpc>
                <a:spcPct val="112000"/>
              </a:lnSpc>
            </a:pPr>
            <a:r>
              <a:rPr sz="900" b="0" i="0">
                <a:solidFill>
                  <a:srgbClr val="D8E4F0"/>
                </a:solidFill>
                <a:latin typeface="Consolas"/>
              </a:rPr>
              <a:t>    assign tap[0] = din;</a:t>
            </a:r>
          </a:p>
          <a:p>
            <a:pPr algn="l">
              <a:lnSpc>
                <a:spcPct val="112000"/>
              </a:lnSpc>
            </a:pPr>
            <a:r>
              <a:rPr sz="900" b="0" i="0">
                <a:solidFill>
                  <a:srgbClr val="D8E4F0"/>
                </a:solidFill>
                <a:latin typeface="Consolas"/>
              </a:rPr>
              <a:t> </a:t>
            </a:r>
          </a:p>
          <a:p>
            <a:pPr algn="l">
              <a:lnSpc>
                <a:spcPct val="112000"/>
              </a:lnSpc>
            </a:pPr>
            <a:r>
              <a:rPr sz="900" b="0" i="0">
                <a:solidFill>
                  <a:srgbClr val="D8E4F0"/>
                </a:solidFill>
                <a:latin typeface="Consolas"/>
              </a:rPr>
              <a:t>    genvar k;</a:t>
            </a:r>
          </a:p>
          <a:p>
            <a:pPr algn="l">
              <a:lnSpc>
                <a:spcPct val="112000"/>
              </a:lnSpc>
            </a:pPr>
            <a:r>
              <a:rPr sz="900" b="0" i="0">
                <a:solidFill>
                  <a:srgbClr val="D8E4F0"/>
                </a:solidFill>
                <a:latin typeface="Consolas"/>
              </a:rPr>
              <a:t>    generate</a:t>
            </a:r>
          </a:p>
          <a:p>
            <a:pPr algn="l">
              <a:lnSpc>
                <a:spcPct val="112000"/>
              </a:lnSpc>
            </a:pPr>
            <a:r>
              <a:rPr sz="900" b="0" i="0">
                <a:solidFill>
                  <a:srgbClr val="D8E4F0"/>
                </a:solidFill>
                <a:latin typeface="Consolas"/>
              </a:rPr>
              <a:t>        for (k = 0; k &lt; N; k = k + 1) begin : stage</a:t>
            </a:r>
          </a:p>
          <a:p>
            <a:pPr algn="l">
              <a:lnSpc>
                <a:spcPct val="112000"/>
              </a:lnSpc>
            </a:pPr>
            <a:r>
              <a:rPr sz="900" b="0" i="0">
                <a:solidFill>
                  <a:srgbClr val="D8E4F0"/>
                </a:solidFill>
                <a:latin typeface="Consolas"/>
              </a:rPr>
              <a:t>            preg #(.W(W)) u_reg (.clk(clk), .rst(rst), .en(en),</a:t>
            </a:r>
          </a:p>
          <a:p>
            <a:pPr algn="l">
              <a:lnSpc>
                <a:spcPct val="112000"/>
              </a:lnSpc>
            </a:pPr>
            <a:r>
              <a:rPr sz="900" b="0" i="0">
                <a:solidFill>
                  <a:srgbClr val="D8E4F0"/>
                </a:solidFill>
                <a:latin typeface="Consolas"/>
              </a:rPr>
              <a:t>                                 .d(tap[k]), .q(tap[k+1]));</a:t>
            </a:r>
          </a:p>
          <a:p>
            <a:pPr algn="l">
              <a:lnSpc>
                <a:spcPct val="112000"/>
              </a:lnSpc>
            </a:pPr>
            <a:r>
              <a:rPr sz="900" b="0" i="0">
                <a:solidFill>
                  <a:srgbClr val="D8E4F0"/>
                </a:solidFill>
                <a:latin typeface="Consolas"/>
              </a:rPr>
              <a:t>        end</a:t>
            </a:r>
          </a:p>
          <a:p>
            <a:pPr algn="l">
              <a:lnSpc>
                <a:spcPct val="112000"/>
              </a:lnSpc>
            </a:pPr>
            <a:r>
              <a:rPr sz="900" b="0" i="0">
                <a:solidFill>
                  <a:srgbClr val="D8E4F0"/>
                </a:solidFill>
                <a:latin typeface="Consolas"/>
              </a:rPr>
              <a:t>    endgenerate</a:t>
            </a:r>
          </a:p>
          <a:p>
            <a:pPr algn="l">
              <a:lnSpc>
                <a:spcPct val="112000"/>
              </a:lnSpc>
            </a:pPr>
            <a:r>
              <a:rPr sz="900" b="0" i="0">
                <a:solidFill>
                  <a:srgbClr val="D8E4F0"/>
                </a:solidFill>
                <a:latin typeface="Consolas"/>
              </a:rPr>
              <a:t> </a:t>
            </a:r>
          </a:p>
          <a:p>
            <a:pPr algn="l">
              <a:lnSpc>
                <a:spcPct val="112000"/>
              </a:lnSpc>
            </a:pPr>
            <a:r>
              <a:rPr sz="900" b="0" i="0">
                <a:solidFill>
                  <a:srgbClr val="D8E4F0"/>
                </a:solidFill>
                <a:latin typeface="Consolas"/>
              </a:rPr>
              <a:t>    assign dout = tap[N];</a:t>
            </a:r>
          </a:p>
          <a:p>
            <a:pPr algn="l">
              <a:lnSpc>
                <a:spcPct val="112000"/>
              </a:lnSpc>
            </a:pPr>
            <a:r>
              <a:rPr sz="900" b="0" i="0">
                <a:solidFill>
                  <a:srgbClr val="D8E4F0"/>
                </a:solidFill>
                <a:latin typeface="Consolas"/>
              </a:rPr>
              <a:t>endmodule</a:t>
            </a:r>
          </a:p>
        </p:txBody>
      </p:sp>
      <p:sp>
        <p:nvSpPr>
          <p:cNvPr id="11" name="TextBox 10"/>
          <p:cNvSpPr txBox="1"/>
          <p:nvPr/>
        </p:nvSpPr>
        <p:spPr>
          <a:xfrm>
            <a:off x="411480" y="4338828"/>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The for loop is an instruction to the ELABORATOR, not a loop in hardware. After elaboration there are N preg instances and no loop anywhere.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THEORY 3 · CHECKPOINT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Eight Questions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59</a:t>
            </a:r>
          </a:p>
        </p:txBody>
      </p:sp>
      <p:sp>
        <p:nvSpPr>
          <p:cNvPr id="9" name="Rectangle 8"/>
          <p:cNvSpPr/>
          <p:nvPr/>
        </p:nvSpPr>
        <p:spPr>
          <a:xfrm>
            <a:off x="411480" y="1143000"/>
            <a:ext cx="54864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45720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a:t>
            </a:r>
          </a:p>
        </p:txBody>
      </p:sp>
      <p:sp>
        <p:nvSpPr>
          <p:cNvPr id="11" name="Rectangle 10"/>
          <p:cNvSpPr/>
          <p:nvPr/>
        </p:nvSpPr>
        <p:spPr>
          <a:xfrm>
            <a:off x="960120" y="1143000"/>
            <a:ext cx="502920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1143000"/>
            <a:ext cx="493776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Question</a:t>
            </a:r>
          </a:p>
        </p:txBody>
      </p:sp>
      <p:sp>
        <p:nvSpPr>
          <p:cNvPr id="13" name="Rectangle 12"/>
          <p:cNvSpPr/>
          <p:nvPr/>
        </p:nvSpPr>
        <p:spPr>
          <a:xfrm>
            <a:off x="5989320" y="1143000"/>
            <a:ext cx="566928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5040" y="1143000"/>
            <a:ext cx="557784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The answer in one line</a:t>
            </a:r>
          </a:p>
        </p:txBody>
      </p:sp>
      <p:sp>
        <p:nvSpPr>
          <p:cNvPr id="15" name="Rectangle 14"/>
          <p:cNvSpPr/>
          <p:nvPr/>
        </p:nvSpPr>
        <p:spPr>
          <a:xfrm>
            <a:off x="411480" y="141732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1732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1</a:t>
            </a:r>
          </a:p>
        </p:txBody>
      </p:sp>
      <p:sp>
        <p:nvSpPr>
          <p:cNvPr id="17" name="Rectangle 16"/>
          <p:cNvSpPr/>
          <p:nvPr/>
        </p:nvSpPr>
        <p:spPr>
          <a:xfrm>
            <a:off x="960120" y="141732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141732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are the two halves of almost every block?</a:t>
            </a:r>
          </a:p>
        </p:txBody>
      </p:sp>
      <p:sp>
        <p:nvSpPr>
          <p:cNvPr id="19" name="Rectangle 18"/>
          <p:cNvSpPr/>
          <p:nvPr/>
        </p:nvSpPr>
        <p:spPr>
          <a:xfrm>
            <a:off x="5989320" y="141732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5040" y="141732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a datapath that holds, a controller that decides</a:t>
            </a:r>
          </a:p>
        </p:txBody>
      </p:sp>
      <p:sp>
        <p:nvSpPr>
          <p:cNvPr id="21" name="Rectangle 20"/>
          <p:cNvSpPr/>
          <p:nvPr/>
        </p:nvSpPr>
        <p:spPr>
          <a:xfrm>
            <a:off x="411480" y="169164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69164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2</a:t>
            </a:r>
          </a:p>
        </p:txBody>
      </p:sp>
      <p:sp>
        <p:nvSpPr>
          <p:cNvPr id="23" name="Rectangle 22"/>
          <p:cNvSpPr/>
          <p:nvPr/>
        </p:nvSpPr>
        <p:spPr>
          <a:xfrm>
            <a:off x="960120" y="169164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5840" y="169164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crosses between them?</a:t>
            </a:r>
          </a:p>
        </p:txBody>
      </p:sp>
      <p:sp>
        <p:nvSpPr>
          <p:cNvPr id="25" name="Rectangle 24"/>
          <p:cNvSpPr/>
          <p:nvPr/>
        </p:nvSpPr>
        <p:spPr>
          <a:xfrm>
            <a:off x="5989320" y="169164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0" y="169164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control signals down, status signals up</a:t>
            </a:r>
          </a:p>
        </p:txBody>
      </p:sp>
      <p:sp>
        <p:nvSpPr>
          <p:cNvPr id="27" name="Rectangle 26"/>
          <p:cNvSpPr/>
          <p:nvPr/>
        </p:nvSpPr>
        <p:spPr>
          <a:xfrm>
            <a:off x="411480" y="196596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196596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3</a:t>
            </a:r>
          </a:p>
        </p:txBody>
      </p:sp>
      <p:sp>
        <p:nvSpPr>
          <p:cNvPr id="29" name="Rectangle 28"/>
          <p:cNvSpPr/>
          <p:nvPr/>
        </p:nvSpPr>
        <p:spPr>
          <a:xfrm>
            <a:off x="960120" y="196596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05840" y="196596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Name the three blocks of an FSM.</a:t>
            </a:r>
          </a:p>
        </p:txBody>
      </p:sp>
      <p:sp>
        <p:nvSpPr>
          <p:cNvPr id="31" name="Rectangle 30"/>
          <p:cNvSpPr/>
          <p:nvPr/>
        </p:nvSpPr>
        <p:spPr>
          <a:xfrm>
            <a:off x="5989320" y="196596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035040" y="196596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state register, next-state logic, output logic</a:t>
            </a:r>
          </a:p>
        </p:txBody>
      </p:sp>
      <p:sp>
        <p:nvSpPr>
          <p:cNvPr id="33" name="Rectangle 32"/>
          <p:cNvSpPr/>
          <p:nvPr/>
        </p:nvSpPr>
        <p:spPr>
          <a:xfrm>
            <a:off x="411480" y="224028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24028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4</a:t>
            </a:r>
          </a:p>
        </p:txBody>
      </p:sp>
      <p:sp>
        <p:nvSpPr>
          <p:cNvPr id="35" name="Rectangle 34"/>
          <p:cNvSpPr/>
          <p:nvPr/>
        </p:nvSpPr>
        <p:spPr>
          <a:xfrm>
            <a:off x="960120" y="224028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05840" y="224028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Why does a default assignment prevent a latch?</a:t>
            </a:r>
          </a:p>
        </p:txBody>
      </p:sp>
      <p:sp>
        <p:nvSpPr>
          <p:cNvPr id="37" name="Rectangle 36"/>
          <p:cNvSpPr/>
          <p:nvPr/>
        </p:nvSpPr>
        <p:spPr>
          <a:xfrm>
            <a:off x="5989320" y="224028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35040" y="224028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every output is written before any branch runs</a:t>
            </a:r>
          </a:p>
        </p:txBody>
      </p:sp>
      <p:sp>
        <p:nvSpPr>
          <p:cNvPr id="39" name="Rectangle 38"/>
          <p:cNvSpPr/>
          <p:nvPr/>
        </p:nvSpPr>
        <p:spPr>
          <a:xfrm>
            <a:off x="411480" y="251460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51460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5</a:t>
            </a:r>
          </a:p>
        </p:txBody>
      </p:sp>
      <p:sp>
        <p:nvSpPr>
          <p:cNvPr id="41" name="Rectangle 40"/>
          <p:cNvSpPr/>
          <p:nvPr/>
        </p:nvSpPr>
        <p:spPr>
          <a:xfrm>
            <a:off x="960120" y="251460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05840" y="251460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does the output logic read in a Moore machine?</a:t>
            </a:r>
          </a:p>
        </p:txBody>
      </p:sp>
      <p:sp>
        <p:nvSpPr>
          <p:cNvPr id="43" name="Rectangle 42"/>
          <p:cNvSpPr/>
          <p:nvPr/>
        </p:nvSpPr>
        <p:spPr>
          <a:xfrm>
            <a:off x="5989320" y="251460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35040" y="251460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the state, and nothing else</a:t>
            </a:r>
          </a:p>
        </p:txBody>
      </p:sp>
      <p:sp>
        <p:nvSpPr>
          <p:cNvPr id="45" name="Rectangle 44"/>
          <p:cNvSpPr/>
          <p:nvPr/>
        </p:nvSpPr>
        <p:spPr>
          <a:xfrm>
            <a:off x="411480" y="278892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7200" y="278892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6</a:t>
            </a:r>
          </a:p>
        </p:txBody>
      </p:sp>
      <p:sp>
        <p:nvSpPr>
          <p:cNvPr id="47" name="Rectangle 46"/>
          <p:cNvSpPr/>
          <p:nvPr/>
        </p:nvSpPr>
        <p:spPr>
          <a:xfrm>
            <a:off x="960120" y="278892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05840" y="278892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How much later does a Moore output appear?</a:t>
            </a:r>
          </a:p>
        </p:txBody>
      </p:sp>
      <p:sp>
        <p:nvSpPr>
          <p:cNvPr id="49" name="Rectangle 48"/>
          <p:cNvSpPr/>
          <p:nvPr/>
        </p:nvSpPr>
        <p:spPr>
          <a:xfrm>
            <a:off x="5989320" y="278892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035040" y="278892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exactly one clock cycle, every time</a:t>
            </a:r>
          </a:p>
        </p:txBody>
      </p:sp>
      <p:sp>
        <p:nvSpPr>
          <p:cNvPr id="51" name="Rectangle 50"/>
          <p:cNvSpPr/>
          <p:nvPr/>
        </p:nvSpPr>
        <p:spPr>
          <a:xfrm>
            <a:off x="411480" y="306324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457200" y="306324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7</a:t>
            </a:r>
          </a:p>
        </p:txBody>
      </p:sp>
      <p:sp>
        <p:nvSpPr>
          <p:cNvPr id="53" name="Rectangle 52"/>
          <p:cNvSpPr/>
          <p:nvPr/>
        </p:nvSpPr>
        <p:spPr>
          <a:xfrm>
            <a:off x="960120" y="306324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005840" y="306324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One-hot: fewer or more flip-flops than binary?</a:t>
            </a:r>
          </a:p>
        </p:txBody>
      </p:sp>
      <p:sp>
        <p:nvSpPr>
          <p:cNvPr id="55" name="Rectangle 54"/>
          <p:cNvSpPr/>
          <p:nvPr/>
        </p:nvSpPr>
        <p:spPr>
          <a:xfrm>
            <a:off x="5989320" y="306324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035040" y="306324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more — one per state instead of log2(states)</a:t>
            </a:r>
          </a:p>
        </p:txBody>
      </p:sp>
      <p:sp>
        <p:nvSpPr>
          <p:cNvPr id="57" name="Rectangle 56"/>
          <p:cNvSpPr/>
          <p:nvPr/>
        </p:nvSpPr>
        <p:spPr>
          <a:xfrm>
            <a:off x="411480" y="333756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333756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8</a:t>
            </a:r>
          </a:p>
        </p:txBody>
      </p:sp>
      <p:sp>
        <p:nvSpPr>
          <p:cNvPr id="59" name="Rectangle 58"/>
          <p:cNvSpPr/>
          <p:nvPr/>
        </p:nvSpPr>
        <p:spPr>
          <a:xfrm>
            <a:off x="960120" y="333756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1005840" y="333756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Does a generate loop exist in the netlist?</a:t>
            </a:r>
          </a:p>
        </p:txBody>
      </p:sp>
      <p:sp>
        <p:nvSpPr>
          <p:cNvPr id="61" name="Rectangle 60"/>
          <p:cNvSpPr/>
          <p:nvPr/>
        </p:nvSpPr>
        <p:spPr>
          <a:xfrm>
            <a:off x="5989320" y="333756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035040" y="333756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no — it is elaborated away before synthesis</a:t>
            </a:r>
          </a:p>
        </p:txBody>
      </p:sp>
      <p:sp>
        <p:nvSpPr>
          <p:cNvPr id="63" name="TextBox 62"/>
          <p:cNvSpPr txBox="1"/>
          <p:nvPr/>
        </p:nvSpPr>
        <p:spPr>
          <a:xfrm>
            <a:off x="411480" y="370332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2A9D5C"/>
                </a:solidFill>
                <a:latin typeface="Calibri"/>
              </a:rPr>
              <a:t>Theory 4 is about the notation — which turns out to be the least important part.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0E2A47"/>
                </a:solidFill>
                <a:latin typeface="Calibri"/>
              </a:rPr>
              <a:t>THEORY 4</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Introduction to Hardware Description Languages</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The syllabus says "HDLs such as Verilog or VHDL". The word doing the work is OR.</a:t>
            </a:r>
          </a:p>
        </p:txBody>
      </p:sp>
      <p:sp>
        <p:nvSpPr>
          <p:cNvPr id="6" name="Rectangle 5"/>
          <p:cNvSpPr/>
          <p:nvPr/>
        </p:nvSpPr>
        <p:spPr>
          <a:xfrm>
            <a:off x="640080" y="3941064"/>
            <a:ext cx="91440" cy="1828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Why an HDL is not a programming language</a:t>
            </a:r>
          </a:p>
        </p:txBody>
      </p:sp>
      <p:sp>
        <p:nvSpPr>
          <p:cNvPr id="8" name="Rectangle 7"/>
          <p:cNvSpPr/>
          <p:nvPr/>
        </p:nvSpPr>
        <p:spPr>
          <a:xfrm>
            <a:off x="640080" y="4352544"/>
            <a:ext cx="91440" cy="1828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Everything happens at once</a:t>
            </a:r>
          </a:p>
        </p:txBody>
      </p:sp>
      <p:sp>
        <p:nvSpPr>
          <p:cNvPr id="10" name="Rectangle 9"/>
          <p:cNvSpPr/>
          <p:nvPr/>
        </p:nvSpPr>
        <p:spPr>
          <a:xfrm>
            <a:off x="640080" y="4764024"/>
            <a:ext cx="91440" cy="1828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parts of a module, and the word reg that confuses everyone</a:t>
            </a:r>
          </a:p>
        </p:txBody>
      </p:sp>
      <p:sp>
        <p:nvSpPr>
          <p:cNvPr id="12" name="Rectangle 11"/>
          <p:cNvSpPr/>
          <p:nvPr/>
        </p:nvSpPr>
        <p:spPr>
          <a:xfrm>
            <a:off x="640080" y="5175504"/>
            <a:ext cx="91440" cy="1828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Verilog and VHDL as reference cards, and a line-for-line mapping</a:t>
            </a:r>
          </a:p>
        </p:txBody>
      </p:sp>
      <p:sp>
        <p:nvSpPr>
          <p:cNvPr id="14" name="Rectangle 13"/>
          <p:cNvSpPr/>
          <p:nvPr/>
        </p:nvSpPr>
        <p:spPr>
          <a:xfrm>
            <a:off x="640080" y="5586984"/>
            <a:ext cx="91440" cy="1828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anatomy of a testbench that checks itself</a:t>
            </a:r>
          </a:p>
        </p:txBody>
      </p:sp>
      <p:sp>
        <p:nvSpPr>
          <p:cNvPr id="16" name="Rectangle 15"/>
          <p:cNvSpPr/>
          <p:nvPr/>
        </p:nvSpPr>
        <p:spPr>
          <a:xfrm>
            <a:off x="640080" y="5998464"/>
            <a:ext cx="91440" cy="1828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14400" y="58978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Both languages actually run, and their transcripts diffed</a:t>
            </a:r>
          </a:p>
        </p:txBody>
      </p:sp>
      <p:sp>
        <p:nvSpPr>
          <p:cNvPr id="18" name="TextBox 17"/>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9" name="TextBox 18"/>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4.1 · NOT A PROGRAM</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An HDL Is Not a Programming Language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61</a:t>
            </a:r>
          </a:p>
        </p:txBody>
      </p:sp>
      <p:pic>
        <p:nvPicPr>
          <p:cNvPr id="9" name="Picture 8" descr="what_is_hdl.png"/>
          <p:cNvPicPr>
            <a:picLocks noChangeAspect="1"/>
          </p:cNvPicPr>
          <p:nvPr/>
        </p:nvPicPr>
        <p:blipFill>
          <a:blip r:embed="rId2"/>
          <a:stretch>
            <a:fillRect/>
          </a:stretch>
        </p:blipFill>
        <p:spPr>
          <a:xfrm>
            <a:off x="2321706" y="1097280"/>
            <a:ext cx="7426669"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0E2A47"/>
                </a:solidFill>
                <a:latin typeface="Calibri"/>
              </a:rPr>
              <a:t>You are not writing instructions for a machine to follow. You are writing a description of a machine.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4.2 · CONCURRENCY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Everything Happens At Once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62</a:t>
            </a:r>
          </a:p>
        </p:txBody>
      </p:sp>
      <p:pic>
        <p:nvPicPr>
          <p:cNvPr id="9" name="Picture 8" descr="concurrency.png"/>
          <p:cNvPicPr>
            <a:picLocks noChangeAspect="1"/>
          </p:cNvPicPr>
          <p:nvPr/>
        </p:nvPicPr>
        <p:blipFill>
          <a:blip r:embed="rId2"/>
          <a:stretch>
            <a:fillRect/>
          </a:stretch>
        </p:blipFill>
        <p:spPr>
          <a:xfrm>
            <a:off x="2591502" y="1097280"/>
            <a:ext cx="6887075"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Write those three assign lines in any order you like — the circuit is identical.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4.3 · ANATOMY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Parts of a Verilog Module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63</a:t>
            </a:r>
          </a:p>
        </p:txBody>
      </p:sp>
      <p:pic>
        <p:nvPicPr>
          <p:cNvPr id="9" name="Picture 8" descr="module_anatomy.png"/>
          <p:cNvPicPr>
            <a:picLocks noChangeAspect="1"/>
          </p:cNvPicPr>
          <p:nvPr/>
        </p:nvPicPr>
        <p:blipFill>
          <a:blip r:embed="rId2"/>
          <a:stretch>
            <a:fillRect/>
          </a:stretch>
        </p:blipFill>
        <p:spPr>
          <a:xfrm>
            <a:off x="2761795" y="1097280"/>
            <a:ext cx="6546491"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77514"/>
                </a:solidFill>
                <a:latin typeface="Calibri"/>
              </a:rPr>
              <a:t>reg does not mean register. What creates a flip-flop is assigning inside always @(posedge clk) — nothing else.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4.4 · SIMULATION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How a Simulator Runs an HDL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64</a:t>
            </a:r>
          </a:p>
        </p:txBody>
      </p:sp>
      <p:pic>
        <p:nvPicPr>
          <p:cNvPr id="9" name="Picture 8" descr="event_simulation.png"/>
          <p:cNvPicPr>
            <a:picLocks noChangeAspect="1"/>
          </p:cNvPicPr>
          <p:nvPr/>
        </p:nvPicPr>
        <p:blipFill>
          <a:blip r:embed="rId2"/>
          <a:stretch>
            <a:fillRect/>
          </a:stretch>
        </p:blipFill>
        <p:spPr>
          <a:xfrm>
            <a:off x="2686127" y="1097280"/>
            <a:ext cx="6697827"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The order blocks are evaluated in is genuinely unspecified. That is why non-blocking assignment exists.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4.5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Verilog On One Page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65</a:t>
            </a:r>
          </a:p>
        </p:txBody>
      </p:sp>
      <p:pic>
        <p:nvPicPr>
          <p:cNvPr id="9" name="Picture 8" descr="verilog_card.png"/>
          <p:cNvPicPr>
            <a:picLocks noChangeAspect="1"/>
          </p:cNvPicPr>
          <p:nvPr/>
        </p:nvPicPr>
        <p:blipFill>
          <a:blip r:embed="rId2"/>
          <a:stretch>
            <a:fillRect/>
          </a:stretch>
        </p:blipFill>
        <p:spPr>
          <a:xfrm>
            <a:off x="3314139" y="1097280"/>
            <a:ext cx="5441802" cy="5211445"/>
          </a:xfrm>
          <a:prstGeom prst="rect">
            <a:avLst/>
          </a:prstGeom>
        </p:spPr>
      </p:pic>
      <p:sp>
        <p:nvSpPr>
          <p:cNvPr id="10" name="TextBox 9"/>
          <p:cNvSpPr txBox="1"/>
          <p:nvPr/>
        </p:nvSpPr>
        <p:spPr>
          <a:xfrm>
            <a:off x="411480" y="6400165"/>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Not the whole language — the part that synthesises, which is much smaller.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4.5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VHDL On One Page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66</a:t>
            </a:r>
          </a:p>
        </p:txBody>
      </p:sp>
      <p:pic>
        <p:nvPicPr>
          <p:cNvPr id="9" name="Picture 8" descr="vhdl_card.png"/>
          <p:cNvPicPr>
            <a:picLocks noChangeAspect="1"/>
          </p:cNvPicPr>
          <p:nvPr/>
        </p:nvPicPr>
        <p:blipFill>
          <a:blip r:embed="rId2"/>
          <a:stretch>
            <a:fillRect/>
          </a:stretch>
        </p:blipFill>
        <p:spPr>
          <a:xfrm>
            <a:off x="3493587" y="1097280"/>
            <a:ext cx="5082905" cy="5211445"/>
          </a:xfrm>
          <a:prstGeom prst="rect">
            <a:avLst/>
          </a:prstGeom>
        </p:spPr>
      </p:pic>
      <p:sp>
        <p:nvSpPr>
          <p:cNvPr id="10" name="TextBox 9"/>
          <p:cNvSpPr txBox="1"/>
          <p:nvPr/>
        </p:nvSpPr>
        <p:spPr>
          <a:xfrm>
            <a:off x="411480" y="6400165"/>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Everything on this page has an exact counterpart on the previous one.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4.5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Verilog to VHDL, Line For Line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67</a:t>
            </a:r>
          </a:p>
        </p:txBody>
      </p:sp>
      <p:pic>
        <p:nvPicPr>
          <p:cNvPr id="9" name="Picture 8" descr="lang_mapping.png"/>
          <p:cNvPicPr>
            <a:picLocks noChangeAspect="1"/>
          </p:cNvPicPr>
          <p:nvPr/>
        </p:nvPicPr>
        <p:blipFill>
          <a:blip r:embed="rId2"/>
          <a:stretch>
            <a:fillRect/>
          </a:stretch>
        </p:blipFill>
        <p:spPr>
          <a:xfrm>
            <a:off x="3213725" y="1097280"/>
            <a:ext cx="5642630" cy="5211445"/>
          </a:xfrm>
          <a:prstGeom prst="rect">
            <a:avLst/>
          </a:prstGeom>
        </p:spPr>
      </p:pic>
      <p:sp>
        <p:nvSpPr>
          <p:cNvPr id="10" name="TextBox 9"/>
          <p:cNvSpPr txBox="1"/>
          <p:nvPr/>
        </p:nvSpPr>
        <p:spPr>
          <a:xfrm>
            <a:off x="411480" y="6400165"/>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Learn one and you can read the other in an afternoon. This table is the afternoon.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4.5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a Testbench Is Made Of</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68</a:t>
            </a:r>
          </a:p>
        </p:txBody>
      </p:sp>
      <p:pic>
        <p:nvPicPr>
          <p:cNvPr id="9" name="Picture 8" descr="testbench_anatomy.png"/>
          <p:cNvPicPr>
            <a:picLocks noChangeAspect="1"/>
          </p:cNvPicPr>
          <p:nvPr/>
        </p:nvPicPr>
        <p:blipFill>
          <a:blip r:embed="rId2"/>
          <a:stretch>
            <a:fillRect/>
          </a:stretch>
        </p:blipFill>
        <p:spPr>
          <a:xfrm>
            <a:off x="3105615" y="1097280"/>
            <a:ext cx="5858849" cy="5211445"/>
          </a:xfrm>
          <a:prstGeom prst="rect">
            <a:avLst/>
          </a:prstGeom>
        </p:spPr>
      </p:pic>
      <p:sp>
        <p:nvSpPr>
          <p:cNvPr id="10" name="TextBox 9"/>
          <p:cNvSpPr txBox="1"/>
          <p:nvPr/>
        </p:nvSpPr>
        <p:spPr>
          <a:xfrm>
            <a:off x="411480" y="6400165"/>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Topic 5 covers verification properly. These six parts are the minimum you need to finish Topic 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4.6 · TWO LANGUAGES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Verilog and VHDL, Side By Side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69</a:t>
            </a:r>
          </a:p>
        </p:txBody>
      </p:sp>
      <p:pic>
        <p:nvPicPr>
          <p:cNvPr id="9" name="Picture 8" descr="verilog_vhdl.png"/>
          <p:cNvPicPr>
            <a:picLocks noChangeAspect="1"/>
          </p:cNvPicPr>
          <p:nvPr/>
        </p:nvPicPr>
        <p:blipFill>
          <a:blip r:embed="rId2"/>
          <a:stretch>
            <a:fillRect/>
          </a:stretch>
        </p:blipFill>
        <p:spPr>
          <a:xfrm>
            <a:off x="2975470" y="1097280"/>
            <a:ext cx="6119140"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None of those differences are about hardware. Both describe registers, logic and hierarchy; both synthesise to the same gates.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4.6 · TWO LANGUAGES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Both Designs, In Both Languages, Actually Run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70</a:t>
            </a:r>
          </a:p>
        </p:txBody>
      </p:sp>
      <p:pic>
        <p:nvPicPr>
          <p:cNvPr id="9" name="Picture 8" descr="two_languages_result.png"/>
          <p:cNvPicPr>
            <a:picLocks noChangeAspect="1"/>
          </p:cNvPicPr>
          <p:nvPr/>
        </p:nvPicPr>
        <p:blipFill>
          <a:blip r:embed="rId2"/>
          <a:stretch>
            <a:fillRect/>
          </a:stretch>
        </p:blipFill>
        <p:spPr>
          <a:xfrm>
            <a:off x="3058228" y="1097280"/>
            <a:ext cx="5953624" cy="4389120"/>
          </a:xfrm>
          <a:prstGeom prst="rect">
            <a:avLst/>
          </a:prstGeom>
        </p:spPr>
      </p:pic>
      <p:sp>
        <p:nvSpPr>
          <p:cNvPr id="10" name="Rounded Rectangle 9"/>
          <p:cNvSpPr/>
          <p:nvPr/>
        </p:nvSpPr>
        <p:spPr>
          <a:xfrm>
            <a:off x="411480" y="5577840"/>
            <a:ext cx="11247120" cy="868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64184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Not "they look similar"</a:t>
            </a:r>
          </a:p>
        </p:txBody>
      </p:sp>
      <p:sp>
        <p:nvSpPr>
          <p:cNvPr id="12" name="TextBox 11"/>
          <p:cNvSpPr txBox="1"/>
          <p:nvPr/>
        </p:nvSpPr>
        <p:spPr>
          <a:xfrm>
            <a:off x="576072" y="5916168"/>
            <a:ext cx="10917936" cy="46634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Both transcripts were compared line by line by diff, and there was nothing to report. The state machine is the interesting one: VHDL gives the states a real enumerated TYPE, so an illegal state will not compile. Verilog gives them numbers.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4.7 · WHICH ONE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Which HDL Should You Learn?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71</a:t>
            </a:r>
          </a:p>
        </p:txBody>
      </p:sp>
      <p:pic>
        <p:nvPicPr>
          <p:cNvPr id="9" name="Picture 8" descr="hdl_choose.png"/>
          <p:cNvPicPr>
            <a:picLocks noChangeAspect="1"/>
          </p:cNvPicPr>
          <p:nvPr/>
        </p:nvPicPr>
        <p:blipFill>
          <a:blip r:embed="rId2"/>
          <a:stretch>
            <a:fillRect/>
          </a:stretch>
        </p:blipFill>
        <p:spPr>
          <a:xfrm>
            <a:off x="2606878" y="1097280"/>
            <a:ext cx="6856325"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100" b="1" i="0">
                <a:solidFill>
                  <a:srgbClr val="2A9D5C"/>
                </a:solidFill>
                <a:latin typeface="Calibri"/>
              </a:rPr>
              <a:t>Learn the concepts. The notation follows in an afternoon.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THEORY 4 · CHECKPOINT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Seven Questions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72</a:t>
            </a:r>
          </a:p>
        </p:txBody>
      </p:sp>
      <p:sp>
        <p:nvSpPr>
          <p:cNvPr id="9" name="Rectangle 8"/>
          <p:cNvSpPr/>
          <p:nvPr/>
        </p:nvSpPr>
        <p:spPr>
          <a:xfrm>
            <a:off x="411480" y="1143000"/>
            <a:ext cx="54864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45720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a:t>
            </a:r>
          </a:p>
        </p:txBody>
      </p:sp>
      <p:sp>
        <p:nvSpPr>
          <p:cNvPr id="11" name="Rectangle 10"/>
          <p:cNvSpPr/>
          <p:nvPr/>
        </p:nvSpPr>
        <p:spPr>
          <a:xfrm>
            <a:off x="960120" y="1143000"/>
            <a:ext cx="502920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1143000"/>
            <a:ext cx="493776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Question</a:t>
            </a:r>
          </a:p>
        </p:txBody>
      </p:sp>
      <p:sp>
        <p:nvSpPr>
          <p:cNvPr id="13" name="Rectangle 12"/>
          <p:cNvSpPr/>
          <p:nvPr/>
        </p:nvSpPr>
        <p:spPr>
          <a:xfrm>
            <a:off x="5989320" y="1143000"/>
            <a:ext cx="566928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5040" y="1143000"/>
            <a:ext cx="557784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The answer in one line</a:t>
            </a:r>
          </a:p>
        </p:txBody>
      </p:sp>
      <p:sp>
        <p:nvSpPr>
          <p:cNvPr id="15" name="Rectangle 14"/>
          <p:cNvSpPr/>
          <p:nvPr/>
        </p:nvSpPr>
        <p:spPr>
          <a:xfrm>
            <a:off x="411480" y="1426464"/>
            <a:ext cx="54864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26464"/>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1</a:t>
            </a:r>
          </a:p>
        </p:txBody>
      </p:sp>
      <p:sp>
        <p:nvSpPr>
          <p:cNvPr id="17" name="Rectangle 16"/>
          <p:cNvSpPr/>
          <p:nvPr/>
        </p:nvSpPr>
        <p:spPr>
          <a:xfrm>
            <a:off x="960120" y="1426464"/>
            <a:ext cx="50292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1426464"/>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Name the biggest difference between an HDL and a program.</a:t>
            </a:r>
          </a:p>
        </p:txBody>
      </p:sp>
      <p:sp>
        <p:nvSpPr>
          <p:cNvPr id="19" name="Rectangle 18"/>
          <p:cNvSpPr/>
          <p:nvPr/>
        </p:nvSpPr>
        <p:spPr>
          <a:xfrm>
            <a:off x="5989320" y="1426464"/>
            <a:ext cx="566928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5040" y="1426464"/>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everything in an HDL runs all the time, concurrently</a:t>
            </a:r>
          </a:p>
        </p:txBody>
      </p:sp>
      <p:sp>
        <p:nvSpPr>
          <p:cNvPr id="21" name="Rectangle 20"/>
          <p:cNvSpPr/>
          <p:nvPr/>
        </p:nvSpPr>
        <p:spPr>
          <a:xfrm>
            <a:off x="411480" y="1709928"/>
            <a:ext cx="54864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709928"/>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2</a:t>
            </a:r>
          </a:p>
        </p:txBody>
      </p:sp>
      <p:sp>
        <p:nvSpPr>
          <p:cNvPr id="23" name="Rectangle 22"/>
          <p:cNvSpPr/>
          <p:nvPr/>
        </p:nvSpPr>
        <p:spPr>
          <a:xfrm>
            <a:off x="960120" y="1709928"/>
            <a:ext cx="50292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5840" y="1709928"/>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Does the order of assign statements matter?</a:t>
            </a:r>
          </a:p>
        </p:txBody>
      </p:sp>
      <p:sp>
        <p:nvSpPr>
          <p:cNvPr id="25" name="Rectangle 24"/>
          <p:cNvSpPr/>
          <p:nvPr/>
        </p:nvSpPr>
        <p:spPr>
          <a:xfrm>
            <a:off x="5989320" y="1709928"/>
            <a:ext cx="566928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0" y="1709928"/>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no — they describe hardware that exists together</a:t>
            </a:r>
          </a:p>
        </p:txBody>
      </p:sp>
      <p:sp>
        <p:nvSpPr>
          <p:cNvPr id="27" name="Rectangle 26"/>
          <p:cNvSpPr/>
          <p:nvPr/>
        </p:nvSpPr>
        <p:spPr>
          <a:xfrm>
            <a:off x="411480" y="1993392"/>
            <a:ext cx="54864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1993392"/>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3</a:t>
            </a:r>
          </a:p>
        </p:txBody>
      </p:sp>
      <p:sp>
        <p:nvSpPr>
          <p:cNvPr id="29" name="Rectangle 28"/>
          <p:cNvSpPr/>
          <p:nvPr/>
        </p:nvSpPr>
        <p:spPr>
          <a:xfrm>
            <a:off x="960120" y="1993392"/>
            <a:ext cx="50292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05840" y="1993392"/>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What does reg actually mean?</a:t>
            </a:r>
          </a:p>
        </p:txBody>
      </p:sp>
      <p:sp>
        <p:nvSpPr>
          <p:cNvPr id="31" name="Rectangle 30"/>
          <p:cNvSpPr/>
          <p:nvPr/>
        </p:nvSpPr>
        <p:spPr>
          <a:xfrm>
            <a:off x="5989320" y="1993392"/>
            <a:ext cx="566928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035040" y="1993392"/>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assigned in a procedural block; NOT a flip-flop</a:t>
            </a:r>
          </a:p>
        </p:txBody>
      </p:sp>
      <p:sp>
        <p:nvSpPr>
          <p:cNvPr id="33" name="Rectangle 32"/>
          <p:cNvSpPr/>
          <p:nvPr/>
        </p:nvSpPr>
        <p:spPr>
          <a:xfrm>
            <a:off x="411480" y="2276856"/>
            <a:ext cx="54864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276856"/>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4</a:t>
            </a:r>
          </a:p>
        </p:txBody>
      </p:sp>
      <p:sp>
        <p:nvSpPr>
          <p:cNvPr id="35" name="Rectangle 34"/>
          <p:cNvSpPr/>
          <p:nvPr/>
        </p:nvSpPr>
        <p:spPr>
          <a:xfrm>
            <a:off x="960120" y="2276856"/>
            <a:ext cx="50292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05840" y="2276856"/>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Why is the evaluation order unspecified?</a:t>
            </a:r>
          </a:p>
        </p:txBody>
      </p:sp>
      <p:sp>
        <p:nvSpPr>
          <p:cNvPr id="37" name="Rectangle 36"/>
          <p:cNvSpPr/>
          <p:nvPr/>
        </p:nvSpPr>
        <p:spPr>
          <a:xfrm>
            <a:off x="5989320" y="2276856"/>
            <a:ext cx="566928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35040" y="2276856"/>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the standard leaves it free; &lt;= makes it not matter</a:t>
            </a:r>
          </a:p>
        </p:txBody>
      </p:sp>
      <p:sp>
        <p:nvSpPr>
          <p:cNvPr id="39" name="Rectangle 38"/>
          <p:cNvSpPr/>
          <p:nvPr/>
        </p:nvSpPr>
        <p:spPr>
          <a:xfrm>
            <a:off x="411480" y="2560320"/>
            <a:ext cx="54864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560320"/>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5</a:t>
            </a:r>
          </a:p>
        </p:txBody>
      </p:sp>
      <p:sp>
        <p:nvSpPr>
          <p:cNvPr id="41" name="Rectangle 40"/>
          <p:cNvSpPr/>
          <p:nvPr/>
        </p:nvSpPr>
        <p:spPr>
          <a:xfrm>
            <a:off x="960120" y="2560320"/>
            <a:ext cx="50292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05840" y="2560320"/>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Verilog or VHDL?</a:t>
            </a:r>
          </a:p>
        </p:txBody>
      </p:sp>
      <p:sp>
        <p:nvSpPr>
          <p:cNvPr id="43" name="Rectangle 42"/>
          <p:cNvSpPr/>
          <p:nvPr/>
        </p:nvSpPr>
        <p:spPr>
          <a:xfrm>
            <a:off x="5989320" y="2560320"/>
            <a:ext cx="566928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35040" y="2560320"/>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either — the concepts are identical, and the lab proves it</a:t>
            </a:r>
          </a:p>
        </p:txBody>
      </p:sp>
      <p:sp>
        <p:nvSpPr>
          <p:cNvPr id="45" name="Rectangle 44"/>
          <p:cNvSpPr/>
          <p:nvPr/>
        </p:nvSpPr>
        <p:spPr>
          <a:xfrm>
            <a:off x="411480" y="2843784"/>
            <a:ext cx="54864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7200" y="2843784"/>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6</a:t>
            </a:r>
          </a:p>
        </p:txBody>
      </p:sp>
      <p:sp>
        <p:nvSpPr>
          <p:cNvPr id="47" name="Rectangle 46"/>
          <p:cNvSpPr/>
          <p:nvPr/>
        </p:nvSpPr>
        <p:spPr>
          <a:xfrm>
            <a:off x="960120" y="2843784"/>
            <a:ext cx="50292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05840" y="2843784"/>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What does VHDL catch that Verilog does not?</a:t>
            </a:r>
          </a:p>
        </p:txBody>
      </p:sp>
      <p:sp>
        <p:nvSpPr>
          <p:cNvPr id="49" name="Rectangle 48"/>
          <p:cNvSpPr/>
          <p:nvPr/>
        </p:nvSpPr>
        <p:spPr>
          <a:xfrm>
            <a:off x="5989320" y="2843784"/>
            <a:ext cx="566928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035040" y="2843784"/>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illegal states, non-exhaustive cases, width mismatches</a:t>
            </a:r>
          </a:p>
        </p:txBody>
      </p:sp>
      <p:sp>
        <p:nvSpPr>
          <p:cNvPr id="51" name="Rectangle 50"/>
          <p:cNvSpPr/>
          <p:nvPr/>
        </p:nvSpPr>
        <p:spPr>
          <a:xfrm>
            <a:off x="411480" y="3127248"/>
            <a:ext cx="54864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457200" y="3127248"/>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7</a:t>
            </a:r>
          </a:p>
        </p:txBody>
      </p:sp>
      <p:sp>
        <p:nvSpPr>
          <p:cNvPr id="53" name="Rectangle 52"/>
          <p:cNvSpPr/>
          <p:nvPr/>
        </p:nvSpPr>
        <p:spPr>
          <a:xfrm>
            <a:off x="960120" y="3127248"/>
            <a:ext cx="50292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005840" y="3127248"/>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Where must a testbench's expected answer come from?</a:t>
            </a:r>
          </a:p>
        </p:txBody>
      </p:sp>
      <p:sp>
        <p:nvSpPr>
          <p:cNvPr id="55" name="Rectangle 54"/>
          <p:cNvSpPr/>
          <p:nvPr/>
        </p:nvSpPr>
        <p:spPr>
          <a:xfrm>
            <a:off x="5989320" y="3127248"/>
            <a:ext cx="566928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035040" y="3127248"/>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the stimulus — never from the design under test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2A9D5C"/>
                </a:solidFill>
                <a:latin typeface="Calibri"/>
              </a:rPr>
              <a:t>PRACTICAL</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Labs A–N</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26 hours, 103 graded exercises, and not one number in this deck that you cannot reproduce yourself.</a:t>
            </a:r>
          </a:p>
        </p:txBody>
      </p:sp>
      <p:sp>
        <p:nvSpPr>
          <p:cNvPr id="6" name="Rectangle 5"/>
          <p:cNvSpPr/>
          <p:nvPr/>
        </p:nvSpPr>
        <p:spPr>
          <a:xfrm>
            <a:off x="640080" y="394106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Which tool answers which question, and how to install them</a:t>
            </a:r>
          </a:p>
        </p:txBody>
      </p:sp>
      <p:sp>
        <p:nvSpPr>
          <p:cNvPr id="8" name="Rectangle 7"/>
          <p:cNvSpPr/>
          <p:nvPr/>
        </p:nvSpPr>
        <p:spPr>
          <a:xfrm>
            <a:off x="640080" y="435254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Labs A–D: what RTL means, the ladder, proof, and the subset</a:t>
            </a:r>
          </a:p>
        </p:txBody>
      </p:sp>
      <p:sp>
        <p:nvSpPr>
          <p:cNvPr id="10" name="Rectangle 9"/>
          <p:cNvSpPr/>
          <p:nvPr/>
        </p:nvSpPr>
        <p:spPr>
          <a:xfrm>
            <a:off x="640080" y="476402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Labs E–H: the mismatch, the coding rules, style, and the two pitfalls</a:t>
            </a:r>
          </a:p>
        </p:txBody>
      </p:sp>
      <p:sp>
        <p:nvSpPr>
          <p:cNvPr id="12" name="Rectangle 11"/>
          <p:cNvSpPr/>
          <p:nvPr/>
        </p:nvSpPr>
        <p:spPr>
          <a:xfrm>
            <a:off x="640080" y="517550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Labs I–L: state machines, a controller with a timer, datapath and controller, and reuse</a:t>
            </a:r>
          </a:p>
        </p:txBody>
      </p:sp>
      <p:sp>
        <p:nvSpPr>
          <p:cNvPr id="14" name="Rectangle 13"/>
          <p:cNvSpPr/>
          <p:nvPr/>
        </p:nvSpPr>
        <p:spPr>
          <a:xfrm>
            <a:off x="640080" y="558698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Labs M–N: two languages, the whole flow, and the vendor tools</a:t>
            </a:r>
          </a:p>
        </p:txBody>
      </p:sp>
      <p:sp>
        <p:nvSpPr>
          <p:cNvPr id="16" name="TextBox 15"/>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7" name="TextBox 16"/>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TOOLS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Tools, and What Each One Is For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74</a:t>
            </a:r>
          </a:p>
        </p:txBody>
      </p:sp>
      <p:pic>
        <p:nvPicPr>
          <p:cNvPr id="9" name="Picture 8" descr="tool_landscape.png"/>
          <p:cNvPicPr>
            <a:picLocks noChangeAspect="1"/>
          </p:cNvPicPr>
          <p:nvPr/>
        </p:nvPicPr>
        <p:blipFill>
          <a:blip r:embed="rId2"/>
          <a:stretch>
            <a:fillRect/>
          </a:stretch>
        </p:blipFill>
        <p:spPr>
          <a:xfrm>
            <a:off x="2975470" y="1097280"/>
            <a:ext cx="6119140"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Yosys is the interesting one: the only free tool here that both synthesises your RTL and PROVES the netlist matches it.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PRACTICAL · INSTALL</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Two apt Lines, and the Whole Lab Runs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75</a:t>
            </a:r>
          </a:p>
        </p:txBody>
      </p:sp>
      <p:pic>
        <p:nvPicPr>
          <p:cNvPr id="9" name="Picture 8" descr="install_required.png"/>
          <p:cNvPicPr>
            <a:picLocks noChangeAspect="1"/>
          </p:cNvPicPr>
          <p:nvPr/>
        </p:nvPicPr>
        <p:blipFill>
          <a:blip r:embed="rId2"/>
          <a:stretch>
            <a:fillRect/>
          </a:stretch>
        </p:blipFill>
        <p:spPr>
          <a:xfrm>
            <a:off x="3622629" y="1097280"/>
            <a:ext cx="4824821" cy="3474720"/>
          </a:xfrm>
          <a:prstGeom prst="rect">
            <a:avLst/>
          </a:prstGeom>
        </p:spPr>
      </p:pic>
      <p:sp>
        <p:nvSpPr>
          <p:cNvPr id="10" name="Rounded Rectangle 9"/>
          <p:cNvSpPr/>
          <p:nvPr/>
        </p:nvSpPr>
        <p:spPr>
          <a:xfrm>
            <a:off x="411480" y="4663440"/>
            <a:ext cx="11247120" cy="1066800"/>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94360" y="4777740"/>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Debian / Ubuntu / WSL2</a:t>
            </a:r>
          </a:p>
        </p:txBody>
      </p:sp>
      <p:sp>
        <p:nvSpPr>
          <p:cNvPr id="12" name="TextBox 11"/>
          <p:cNvSpPr txBox="1"/>
          <p:nvPr/>
        </p:nvSpPr>
        <p:spPr>
          <a:xfrm>
            <a:off x="594360" y="5052060"/>
            <a:ext cx="10881360" cy="563880"/>
          </a:xfrm>
          <a:prstGeom prst="rect">
            <a:avLst/>
          </a:prstGeom>
          <a:noFill/>
        </p:spPr>
        <p:txBody>
          <a:bodyPr wrap="square" lIns="0" rIns="0" tIns="0" bIns="0" anchor="t">
            <a:spAutoFit/>
          </a:bodyPr>
          <a:lstStyle/>
          <a:p>
            <a:pPr algn="l">
              <a:lnSpc>
                <a:spcPct val="112000"/>
              </a:lnSpc>
            </a:pPr>
            <a:r>
              <a:rPr sz="1000" b="0" i="0">
                <a:solidFill>
                  <a:srgbClr val="D8E4F0"/>
                </a:solidFill>
                <a:latin typeface="Consolas"/>
              </a:rPr>
              <a:t>sudo apt install yosys iverilog gtkwave python3</a:t>
            </a:r>
          </a:p>
          <a:p>
            <a:pPr algn="l">
              <a:lnSpc>
                <a:spcPct val="112000"/>
              </a:lnSpc>
            </a:pPr>
            <a:r>
              <a:rPr sz="1000" b="0" i="0">
                <a:solidFill>
                  <a:srgbClr val="D8E4F0"/>
                </a:solidFill>
                <a:latin typeface="Consolas"/>
              </a:rPr>
              <a:t>sudo apt install ghdl                    # only for the VHDL comparison</a:t>
            </a:r>
          </a:p>
          <a:p>
            <a:pPr algn="l">
              <a:lnSpc>
                <a:spcPct val="112000"/>
              </a:lnSpc>
            </a:pPr>
            <a:r>
              <a:rPr sz="1000" b="0" i="0">
                <a:solidFill>
                  <a:srgbClr val="D8E4F0"/>
                </a:solidFill>
                <a:latin typeface="Consolas"/>
              </a:rPr>
              <a:t>yosys -V &amp;&amp; iverilog -V &amp;&amp; ghdl --version</a:t>
            </a:r>
          </a:p>
        </p:txBody>
      </p:sp>
      <p:sp>
        <p:nvSpPr>
          <p:cNvPr id="13" name="TextBox 12"/>
          <p:cNvSpPr txBox="1"/>
          <p:nvPr/>
        </p:nvSpPr>
        <p:spPr>
          <a:xfrm>
            <a:off x="411480" y="582168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Without ghdl everything except  make langs  still runs.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INSTALL</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Vendor Tools the Syllabus Names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76</a:t>
            </a:r>
          </a:p>
        </p:txBody>
      </p:sp>
      <p:pic>
        <p:nvPicPr>
          <p:cNvPr id="9" name="Picture 8" descr="install_vendor.png"/>
          <p:cNvPicPr>
            <a:picLocks noChangeAspect="1"/>
          </p:cNvPicPr>
          <p:nvPr/>
        </p:nvPicPr>
        <p:blipFill>
          <a:blip r:embed="rId2"/>
          <a:stretch>
            <a:fillRect/>
          </a:stretch>
        </p:blipFill>
        <p:spPr>
          <a:xfrm>
            <a:off x="2416216" y="1097280"/>
            <a:ext cx="7237649"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They add a real device library and a flow you will meet at work. They add nothing to the concepts.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THE FLOW</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Four Questions About One Piece of Code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77</a:t>
            </a:r>
          </a:p>
        </p:txBody>
      </p:sp>
      <p:pic>
        <p:nvPicPr>
          <p:cNvPr id="9" name="Picture 8" descr="lab_flow.png"/>
          <p:cNvPicPr>
            <a:picLocks noChangeAspect="1"/>
          </p:cNvPicPr>
          <p:nvPr/>
        </p:nvPicPr>
        <p:blipFill>
          <a:blip r:embed="rId2"/>
          <a:stretch>
            <a:fillRect/>
          </a:stretch>
        </p:blipFill>
        <p:spPr>
          <a:xfrm>
            <a:off x="2416216" y="1097280"/>
            <a:ext cx="7237649"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Does it follow the rules? Does it do what the spec says? What will be built? Is that still your design?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MAP</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Fourteen Parts, Twenty-Six Hours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78</a:t>
            </a:r>
          </a:p>
        </p:txBody>
      </p:sp>
      <p:pic>
        <p:nvPicPr>
          <p:cNvPr id="9" name="Picture 8" descr="lab_map.png"/>
          <p:cNvPicPr>
            <a:picLocks noChangeAspect="1"/>
          </p:cNvPicPr>
          <p:nvPr/>
        </p:nvPicPr>
        <p:blipFill>
          <a:blip r:embed="rId2"/>
          <a:stretch>
            <a:fillRect/>
          </a:stretch>
        </p:blipFill>
        <p:spPr>
          <a:xfrm>
            <a:off x="3682088" y="1097280"/>
            <a:ext cx="4705904" cy="5303520"/>
          </a:xfrm>
          <a:prstGeom prst="rect">
            <a:avLst/>
          </a:prstGeom>
        </p:spPr>
      </p:pic>
      <p:sp>
        <p:nvSpPr>
          <p:cNvPr id="10" name="TextBox 9"/>
          <p:cNvSpPr txBox="1"/>
          <p:nvPr/>
        </p:nvSpPr>
        <p:spPr>
          <a:xfrm>
            <a:off x="411480" y="6492240"/>
            <a:ext cx="11247120" cy="182880"/>
          </a:xfrm>
          <a:prstGeom prst="rect">
            <a:avLst/>
          </a:prstGeom>
          <a:noFill/>
        </p:spPr>
        <p:txBody>
          <a:bodyPr wrap="square" lIns="0" rIns="0" tIns="0" bIns="0" anchor="t">
            <a:spAutoFit/>
          </a:bodyPr>
          <a:lstStyle/>
          <a:p>
            <a:pPr algn="l">
              <a:lnSpc>
                <a:spcPct val="103000"/>
              </a:lnSpc>
              <a:spcAft>
                <a:spcPts val="700"/>
              </a:spcAft>
            </a:pPr>
            <a:r>
              <a:rPr sz="1000" b="0" i="0">
                <a:solidFill>
                  <a:srgbClr val="33414F"/>
                </a:solidFill>
                <a:latin typeface="Calibri"/>
              </a:rPr>
              <a:t>A–D build the mental model, E–H the methodology, I–L the patterns every block is built from, M–N the connection to other languages and real tools.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A–C</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RTL Means, the Ladder, and Proof</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79</a:t>
            </a:r>
          </a:p>
        </p:txBody>
      </p:sp>
      <p:sp>
        <p:nvSpPr>
          <p:cNvPr id="9" name="Rounded Rectangle 8"/>
          <p:cNvSpPr/>
          <p:nvPr/>
        </p:nvSpPr>
        <p:spPr>
          <a:xfrm>
            <a:off x="411480" y="1143000"/>
            <a:ext cx="3627120" cy="30175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8640" y="120700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A · what RTL means (1 h)</a:t>
            </a:r>
          </a:p>
        </p:txBody>
      </p:sp>
      <p:sp>
        <p:nvSpPr>
          <p:cNvPr id="11" name="TextBox 10"/>
          <p:cNvSpPr txBox="1"/>
          <p:nvPr/>
        </p:nvSpPr>
        <p:spPr>
          <a:xfrm>
            <a:off x="548640" y="1481328"/>
            <a:ext cx="3352800" cy="26151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Run make transfer. Follow a single 5 through four registers.</a:t>
            </a:r>
          </a:p>
          <a:p>
            <a:pPr algn="l">
              <a:lnSpc>
                <a:spcPct val="103000"/>
              </a:lnSpc>
              <a:spcAft>
                <a:spcPts val="400"/>
              </a:spcAft>
            </a:pPr>
            <a:r>
              <a:rPr sz="1100" b="0" i="0">
                <a:solidFill>
                  <a:srgbClr val="33414F"/>
                </a:solidFill>
                <a:latin typeface="Calibri"/>
              </a:rPr>
              <a:t>Predict the value in each register on each cycle BEFORE running it.</a:t>
            </a:r>
          </a:p>
          <a:p>
            <a:pPr algn="l">
              <a:lnSpc>
                <a:spcPct val="103000"/>
              </a:lnSpc>
              <a:spcAft>
                <a:spcPts val="400"/>
              </a:spcAft>
            </a:pPr>
            <a:r>
              <a:rPr sz="1100" b="0" i="0">
                <a:solidFill>
                  <a:srgbClr val="33414F"/>
                </a:solidFill>
                <a:latin typeface="Calibri"/>
              </a:rPr>
              <a:t>Deliverable: the table, and why y is 1 on cycle 0.</a:t>
            </a:r>
          </a:p>
        </p:txBody>
      </p:sp>
      <p:sp>
        <p:nvSpPr>
          <p:cNvPr id="12" name="Rounded Rectangle 11"/>
          <p:cNvSpPr/>
          <p:nvPr/>
        </p:nvSpPr>
        <p:spPr>
          <a:xfrm>
            <a:off x="4221480" y="1143000"/>
            <a:ext cx="3627120" cy="301752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58640" y="1207008"/>
            <a:ext cx="3352800"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B · the ladder (2 h)</a:t>
            </a:r>
          </a:p>
        </p:txBody>
      </p:sp>
      <p:sp>
        <p:nvSpPr>
          <p:cNvPr id="14" name="TextBox 13"/>
          <p:cNvSpPr txBox="1"/>
          <p:nvPr/>
        </p:nvSpPr>
        <p:spPr>
          <a:xfrm>
            <a:off x="4358640" y="1481328"/>
            <a:ext cx="3352800" cy="26151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Write the same full adder at all four levels.</a:t>
            </a:r>
          </a:p>
          <a:p>
            <a:pPr algn="l">
              <a:lnSpc>
                <a:spcPct val="103000"/>
              </a:lnSpc>
              <a:spcAft>
                <a:spcPts val="400"/>
              </a:spcAft>
            </a:pPr>
            <a:r>
              <a:rPr sz="1100" b="0" i="0">
                <a:solidFill>
                  <a:srgbClr val="33414F"/>
                </a:solidFill>
                <a:latin typeface="Calibri"/>
              </a:rPr>
              <a:t>Run make ladder — all four together, exhaustively.</a:t>
            </a:r>
          </a:p>
          <a:p>
            <a:pPr algn="l">
              <a:lnSpc>
                <a:spcPct val="103000"/>
              </a:lnSpc>
              <a:spcAft>
                <a:spcPts val="400"/>
              </a:spcAft>
            </a:pPr>
            <a:r>
              <a:rPr sz="1100" b="0" i="0">
                <a:solidFill>
                  <a:srgbClr val="33414F"/>
                </a:solidFill>
                <a:latin typeface="Calibri"/>
              </a:rPr>
              <a:t>Then synthesise each and compare cell counts.</a:t>
            </a:r>
          </a:p>
          <a:p>
            <a:pPr algn="l">
              <a:lnSpc>
                <a:spcPct val="103000"/>
              </a:lnSpc>
              <a:spcAft>
                <a:spcPts val="400"/>
              </a:spcAft>
            </a:pPr>
            <a:r>
              <a:rPr sz="1100" b="0" i="0">
                <a:solidFill>
                  <a:srgbClr val="33414F"/>
                </a:solidFill>
                <a:latin typeface="Calibri"/>
              </a:rPr>
              <a:t>Deliverable: why behavioural won.</a:t>
            </a:r>
          </a:p>
        </p:txBody>
      </p:sp>
      <p:sp>
        <p:nvSpPr>
          <p:cNvPr id="15" name="Rounded Rectangle 14"/>
          <p:cNvSpPr/>
          <p:nvPr/>
        </p:nvSpPr>
        <p:spPr>
          <a:xfrm>
            <a:off x="8031480" y="1143000"/>
            <a:ext cx="3627120" cy="3017520"/>
          </a:xfrm>
          <a:prstGeom prst="roundRect">
            <a:avLst>
              <a:gd name="adj" fmla="val 5714"/>
            </a:avLst>
          </a:prstGeom>
          <a:solidFill>
            <a:srgbClr val="F4F8FB"/>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168640" y="1207008"/>
            <a:ext cx="3352800" cy="274320"/>
          </a:xfrm>
          <a:prstGeom prst="rect">
            <a:avLst/>
          </a:prstGeom>
          <a:noFill/>
        </p:spPr>
        <p:txBody>
          <a:bodyPr wrap="square" lIns="0" rIns="0" tIns="0" bIns="0" anchor="ctr">
            <a:spAutoFit/>
          </a:bodyPr>
          <a:lstStyle/>
          <a:p>
            <a:pPr algn="l">
              <a:lnSpc>
                <a:spcPct val="103000"/>
              </a:lnSpc>
            </a:pPr>
            <a:r>
              <a:rPr sz="1150" b="1" i="0">
                <a:solidFill>
                  <a:srgbClr val="6B45A8"/>
                </a:solidFill>
                <a:latin typeface="Cambria"/>
              </a:rPr>
              <a:t>C · proof (2 h)</a:t>
            </a:r>
          </a:p>
        </p:txBody>
      </p:sp>
      <p:sp>
        <p:nvSpPr>
          <p:cNvPr id="17" name="TextBox 16"/>
          <p:cNvSpPr txBox="1"/>
          <p:nvPr/>
        </p:nvSpPr>
        <p:spPr>
          <a:xfrm>
            <a:off x="8168640" y="1481328"/>
            <a:ext cx="3352800" cy="26151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Run make prove. Three pairs proved equivalent.</a:t>
            </a:r>
          </a:p>
          <a:p>
            <a:pPr algn="l">
              <a:lnSpc>
                <a:spcPct val="103000"/>
              </a:lnSpc>
              <a:spcAft>
                <a:spcPts val="400"/>
              </a:spcAft>
            </a:pPr>
            <a:r>
              <a:rPr sz="1100" b="0" i="0">
                <a:solidFill>
                  <a:srgbClr val="33414F"/>
                </a:solidFill>
                <a:latin typeface="Calibri"/>
              </a:rPr>
              <a:t>Then break the adder yourself and watch the checker catch it.</a:t>
            </a:r>
          </a:p>
          <a:p>
            <a:pPr algn="l">
              <a:lnSpc>
                <a:spcPct val="103000"/>
              </a:lnSpc>
              <a:spcAft>
                <a:spcPts val="400"/>
              </a:spcAft>
            </a:pPr>
            <a:r>
              <a:rPr sz="1100" b="0" i="0">
                <a:solidFill>
                  <a:srgbClr val="33414F"/>
                </a:solidFill>
                <a:latin typeface="Calibri"/>
              </a:rPr>
              <a:t>Deliverable: why 8 patterns was enough here and will not be next time.</a:t>
            </a:r>
          </a:p>
        </p:txBody>
      </p:sp>
      <p:sp>
        <p:nvSpPr>
          <p:cNvPr id="18" name="Rounded Rectangle 17"/>
          <p:cNvSpPr/>
          <p:nvPr/>
        </p:nvSpPr>
        <p:spPr>
          <a:xfrm>
            <a:off x="411480" y="4251960"/>
            <a:ext cx="11247120" cy="8229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6072" y="431596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The exercise that teaches the most is C</a:t>
            </a:r>
          </a:p>
        </p:txBody>
      </p:sp>
      <p:sp>
        <p:nvSpPr>
          <p:cNvPr id="20" name="TextBox 19"/>
          <p:cNvSpPr txBox="1"/>
          <p:nvPr/>
        </p:nvSpPr>
        <p:spPr>
          <a:xfrm>
            <a:off x="576072" y="4590288"/>
            <a:ext cx="10917936" cy="4206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Delete a different term from fa_broken.v and predict which input pattern the solver will find. Getting that prediction right means you understand both the circuit and the tool.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D–F</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Subset, the Mismatch, and the Rules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80</a:t>
            </a:r>
          </a:p>
        </p:txBody>
      </p:sp>
      <p:sp>
        <p:nvSpPr>
          <p:cNvPr id="9" name="Rounded Rectangle 8"/>
          <p:cNvSpPr/>
          <p:nvPr/>
        </p:nvSpPr>
        <p:spPr>
          <a:xfrm>
            <a:off x="411480" y="1143000"/>
            <a:ext cx="11247120" cy="2130753"/>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1902153"/>
          </a:xfrm>
          <a:prstGeom prst="rect">
            <a:avLst/>
          </a:prstGeom>
          <a:noFill/>
        </p:spPr>
        <p:txBody>
          <a:bodyPr wrap="square" lIns="0" rIns="0" tIns="0" bIns="0" anchor="t">
            <a:spAutoFit/>
          </a:bodyPr>
          <a:lstStyle/>
          <a:p>
            <a:pPr algn="l">
              <a:lnSpc>
                <a:spcPct val="112000"/>
              </a:lnSpc>
            </a:pPr>
            <a:r>
              <a:rPr sz="919" b="0" i="0">
                <a:solidFill>
                  <a:srgbClr val="D8E4F0"/>
                </a:solidFill>
                <a:latin typeface="Consolas"/>
              </a:rPr>
              <a:t>$ make subset</a:t>
            </a:r>
          </a:p>
          <a:p>
            <a:pPr algn="l">
              <a:lnSpc>
                <a:spcPct val="112000"/>
              </a:lnSpc>
            </a:pPr>
            <a:r>
              <a:rPr sz="919" b="0" i="0">
                <a:solidFill>
                  <a:srgbClr val="D8E4F0"/>
                </a:solidFill>
                <a:latin typeface="Consolas"/>
              </a:rPr>
              <a:t>  s03_latch            OK       1     YES     inferred a LATCH: $_DLATCH_P_</a:t>
            </a:r>
          </a:p>
          <a:p>
            <a:pPr algn="l">
              <a:lnSpc>
                <a:spcPct val="112000"/>
              </a:lnSpc>
            </a:pPr>
            <a:r>
              <a:rPr sz="919" b="0" i="0">
                <a:solidFill>
                  <a:srgbClr val="D8E4F0"/>
                </a:solidFill>
                <a:latin typeface="Consolas"/>
              </a:rPr>
              <a:t>  s08_whileloop        REFUSED  -     -       "only allowed in constant functions"</a:t>
            </a:r>
          </a:p>
          <a:p>
            <a:pPr algn="l">
              <a:lnSpc>
                <a:spcPct val="112000"/>
              </a:lnSpc>
            </a:pPr>
            <a:r>
              <a:rPr sz="919" b="0" i="0">
                <a:solidFill>
                  <a:srgbClr val="D8E4F0"/>
                </a:solidFill>
                <a:latin typeface="Consolas"/>
              </a:rPr>
              <a:t>  s10_divide           OK       371   no      a full combinational divider</a:t>
            </a:r>
          </a:p>
          <a:p>
            <a:pPr algn="l">
              <a:lnSpc>
                <a:spcPct val="112000"/>
              </a:lnSpc>
            </a:pPr>
            <a:r>
              <a:rPr sz="919" b="0" i="0">
                <a:solidFill>
                  <a:srgbClr val="D8E4F0"/>
                </a:solidFill>
                <a:latin typeface="Consolas"/>
              </a:rPr>
              <a:t>  s11_shift            OK       0     no      no logic at all - just wires</a:t>
            </a:r>
          </a:p>
          <a:p>
            <a:pPr algn="l">
              <a:lnSpc>
                <a:spcPct val="112000"/>
              </a:lnSpc>
            </a:pPr>
            <a:r>
              <a:rPr sz="919" b="0" i="0">
                <a:solidFill>
                  <a:srgbClr val="D8E4F0"/>
                </a:solidFill>
                <a:latin typeface="Consolas"/>
              </a:rPr>
              <a:t> </a:t>
            </a:r>
          </a:p>
          <a:p>
            <a:pPr algn="l">
              <a:lnSpc>
                <a:spcPct val="112000"/>
              </a:lnSpc>
            </a:pPr>
            <a:r>
              <a:rPr sz="919" b="0" i="0">
                <a:solidFill>
                  <a:srgbClr val="D8E4F0"/>
                </a:solidFill>
                <a:latin typeface="Consolas"/>
              </a:rPr>
              <a:t>$ make mismatch</a:t>
            </a:r>
          </a:p>
          <a:p>
            <a:pPr algn="l">
              <a:lnSpc>
                <a:spcPct val="112000"/>
              </a:lnSpc>
            </a:pPr>
            <a:r>
              <a:rPr sz="919" b="0" i="0">
                <a:solidFill>
                  <a:srgbClr val="D8E4F0"/>
                </a:solidFill>
                <a:latin typeface="Consolas"/>
              </a:rPr>
              <a:t>  change b (list ASLEEP)   a=1 b=1   RTL y=0   NETLIST y=1  &lt;-- THEY DISAGREE</a:t>
            </a:r>
          </a:p>
          <a:p>
            <a:pPr algn="l">
              <a:lnSpc>
                <a:spcPct val="112000"/>
              </a:lnSpc>
            </a:pPr>
            <a:r>
              <a:rPr sz="919" b="0" i="0">
                <a:solidFill>
                  <a:srgbClr val="D8E4F0"/>
                </a:solidFill>
                <a:latin typeface="Consolas"/>
              </a:rPr>
              <a:t> </a:t>
            </a:r>
          </a:p>
          <a:p>
            <a:pPr algn="l">
              <a:lnSpc>
                <a:spcPct val="112000"/>
              </a:lnSpc>
            </a:pPr>
            <a:r>
              <a:rPr sz="919" b="0" i="0">
                <a:solidFill>
                  <a:srgbClr val="D8E4F0"/>
                </a:solidFill>
                <a:latin typeface="Consolas"/>
              </a:rPr>
              <a:t>$ make lintcheck</a:t>
            </a:r>
          </a:p>
          <a:p>
            <a:pPr algn="l">
              <a:lnSpc>
                <a:spcPct val="112000"/>
              </a:lnSpc>
            </a:pPr>
            <a:r>
              <a:rPr sz="919" b="0" i="0">
                <a:solidFill>
                  <a:srgbClr val="D8E4F0"/>
                </a:solidFill>
                <a:latin typeface="Consolas"/>
              </a:rPr>
              <a:t>  10 files  ·  linter and Yosys agree on every one  ·  0 disagreements</a:t>
            </a:r>
          </a:p>
        </p:txBody>
      </p:sp>
      <p:sp>
        <p:nvSpPr>
          <p:cNvPr id="11" name="Rectangle 10"/>
          <p:cNvSpPr/>
          <p:nvPr/>
        </p:nvSpPr>
        <p:spPr>
          <a:xfrm>
            <a:off x="411480" y="3365193"/>
            <a:ext cx="118872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 y="3365193"/>
            <a:ext cx="109728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Exercise</a:t>
            </a:r>
          </a:p>
        </p:txBody>
      </p:sp>
      <p:sp>
        <p:nvSpPr>
          <p:cNvPr id="13" name="Rectangle 12"/>
          <p:cNvSpPr/>
          <p:nvPr/>
        </p:nvSpPr>
        <p:spPr>
          <a:xfrm>
            <a:off x="1600200" y="3365193"/>
            <a:ext cx="1005840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645920" y="3365193"/>
            <a:ext cx="996696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Task</a:t>
            </a:r>
          </a:p>
        </p:txBody>
      </p:sp>
      <p:sp>
        <p:nvSpPr>
          <p:cNvPr id="15" name="Rectangle 14"/>
          <p:cNvSpPr/>
          <p:nvPr/>
        </p:nvSpPr>
        <p:spPr>
          <a:xfrm>
            <a:off x="411480" y="3648657"/>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3648657"/>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D.1</a:t>
            </a:r>
          </a:p>
        </p:txBody>
      </p:sp>
      <p:sp>
        <p:nvSpPr>
          <p:cNvPr id="17" name="Rectangle 16"/>
          <p:cNvSpPr/>
          <p:nvPr/>
        </p:nvSpPr>
        <p:spPr>
          <a:xfrm>
            <a:off x="1600200" y="3648657"/>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645920" y="3648657"/>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Predict the cell count for each construct before running make subset</a:t>
            </a:r>
          </a:p>
        </p:txBody>
      </p:sp>
      <p:sp>
        <p:nvSpPr>
          <p:cNvPr id="19" name="Rectangle 18"/>
          <p:cNvSpPr/>
          <p:nvPr/>
        </p:nvSpPr>
        <p:spPr>
          <a:xfrm>
            <a:off x="411480" y="3932121"/>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7200" y="3932121"/>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D.2</a:t>
            </a:r>
          </a:p>
        </p:txBody>
      </p:sp>
      <p:sp>
        <p:nvSpPr>
          <p:cNvPr id="21" name="Rectangle 20"/>
          <p:cNvSpPr/>
          <p:nvPr/>
        </p:nvSpPr>
        <p:spPr>
          <a:xfrm>
            <a:off x="1600200" y="3932121"/>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645920" y="3932121"/>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Add a twelfth construct of your own and predict the result</a:t>
            </a:r>
          </a:p>
        </p:txBody>
      </p:sp>
      <p:sp>
        <p:nvSpPr>
          <p:cNvPr id="23" name="Rectangle 22"/>
          <p:cNvSpPr/>
          <p:nvPr/>
        </p:nvSpPr>
        <p:spPr>
          <a:xfrm>
            <a:off x="411480" y="4215585"/>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7200" y="4215585"/>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E.1</a:t>
            </a:r>
          </a:p>
        </p:txBody>
      </p:sp>
      <p:sp>
        <p:nvSpPr>
          <p:cNvPr id="25" name="Rectangle 24"/>
          <p:cNvSpPr/>
          <p:nvPr/>
        </p:nvSpPr>
        <p:spPr>
          <a:xfrm>
            <a:off x="1600200" y="4215585"/>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645920" y="4215585"/>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Explain the mismatch to someone who has not seen it, in three sentences</a:t>
            </a:r>
          </a:p>
        </p:txBody>
      </p:sp>
      <p:sp>
        <p:nvSpPr>
          <p:cNvPr id="27" name="Rectangle 26"/>
          <p:cNvSpPr/>
          <p:nvPr/>
        </p:nvSpPr>
        <p:spPr>
          <a:xfrm>
            <a:off x="411480" y="4499049"/>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4499049"/>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F.1</a:t>
            </a:r>
          </a:p>
        </p:txBody>
      </p:sp>
      <p:sp>
        <p:nvSpPr>
          <p:cNvPr id="29" name="Rectangle 28"/>
          <p:cNvSpPr/>
          <p:nvPr/>
        </p:nvSpPr>
        <p:spPr>
          <a:xfrm>
            <a:off x="1600200" y="4499049"/>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645920" y="4499049"/>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Add rule L008 to the linter — your choice — and justify it</a:t>
            </a:r>
          </a:p>
        </p:txBody>
      </p:sp>
      <p:sp>
        <p:nvSpPr>
          <p:cNvPr id="31" name="Rectangle 30"/>
          <p:cNvSpPr/>
          <p:nvPr/>
        </p:nvSpPr>
        <p:spPr>
          <a:xfrm>
            <a:off x="411480" y="4782513"/>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7200" y="4782513"/>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F.2</a:t>
            </a:r>
          </a:p>
        </p:txBody>
      </p:sp>
      <p:sp>
        <p:nvSpPr>
          <p:cNvPr id="33" name="Rectangle 32"/>
          <p:cNvSpPr/>
          <p:nvPr/>
        </p:nvSpPr>
        <p:spPr>
          <a:xfrm>
            <a:off x="1600200" y="4782513"/>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645920" y="4782513"/>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Find a file the linter gets wrong, and say why regexes cannot fix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G–H</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Coding Style, and the Two Pitfalls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81</a:t>
            </a:r>
          </a:p>
        </p:txBody>
      </p:sp>
      <p:sp>
        <p:nvSpPr>
          <p:cNvPr id="9" name="Rounded Rectangle 8"/>
          <p:cNvSpPr/>
          <p:nvPr/>
        </p:nvSpPr>
        <p:spPr>
          <a:xfrm>
            <a:off x="411480" y="1143000"/>
            <a:ext cx="11247120" cy="2303676"/>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075076"/>
          </a:xfrm>
          <a:prstGeom prst="rect">
            <a:avLst/>
          </a:prstGeom>
          <a:noFill/>
        </p:spPr>
        <p:txBody>
          <a:bodyPr wrap="square" lIns="0" rIns="0" tIns="0" bIns="0" anchor="t">
            <a:spAutoFit/>
          </a:bodyPr>
          <a:lstStyle/>
          <a:p>
            <a:pPr algn="l">
              <a:lnSpc>
                <a:spcPct val="112000"/>
              </a:lnSpc>
            </a:pPr>
            <a:r>
              <a:rPr sz="919" b="0" i="0">
                <a:solidFill>
                  <a:srgbClr val="D8E4F0"/>
                </a:solidFill>
                <a:latin typeface="Consolas"/>
              </a:rPr>
              <a:t>$ make mux</a:t>
            </a:r>
          </a:p>
          <a:p>
            <a:pPr algn="l">
              <a:lnSpc>
                <a:spcPct val="112000"/>
              </a:lnSpc>
            </a:pPr>
            <a:r>
              <a:rPr sz="919" b="0" i="0">
                <a:solidFill>
                  <a:srgbClr val="D8E4F0"/>
                </a:solidFill>
                <a:latin typeface="Consolas"/>
              </a:rPr>
              <a:t>  mux4_assign vs mux4_case      EQUIVALENT  (proved, 92 SAT variables)</a:t>
            </a:r>
          </a:p>
          <a:p>
            <a:pPr algn="l">
              <a:lnSpc>
                <a:spcPct val="112000"/>
              </a:lnSpc>
            </a:pPr>
            <a:r>
              <a:rPr sz="919" b="0" i="0">
                <a:solidFill>
                  <a:srgbClr val="D8E4F0"/>
                </a:solidFill>
                <a:latin typeface="Consolas"/>
              </a:rPr>
              <a:t>  mux4_assign                     3 cells     0 flip-flops</a:t>
            </a:r>
          </a:p>
          <a:p>
            <a:pPr algn="l">
              <a:lnSpc>
                <a:spcPct val="112000"/>
              </a:lnSpc>
            </a:pPr>
            <a:r>
              <a:rPr sz="919" b="0" i="0">
                <a:solidFill>
                  <a:srgbClr val="D8E4F0"/>
                </a:solidFill>
                <a:latin typeface="Consolas"/>
              </a:rPr>
              <a:t>  mux4_if                         6 cells     0 flip-flops</a:t>
            </a:r>
          </a:p>
          <a:p>
            <a:pPr algn="l">
              <a:lnSpc>
                <a:spcPct val="112000"/>
              </a:lnSpc>
            </a:pPr>
            <a:r>
              <a:rPr sz="919" b="0" i="0">
                <a:solidFill>
                  <a:srgbClr val="D8E4F0"/>
                </a:solidFill>
                <a:latin typeface="Consolas"/>
              </a:rPr>
              <a:t>  mux4_case                      10 cells     0 flip-flops</a:t>
            </a:r>
          </a:p>
          <a:p>
            <a:pPr algn="l">
              <a:lnSpc>
                <a:spcPct val="112000"/>
              </a:lnSpc>
            </a:pPr>
            <a:r>
              <a:rPr sz="919" b="0" i="0">
                <a:solidFill>
                  <a:srgbClr val="D8E4F0"/>
                </a:solidFill>
                <a:latin typeface="Consolas"/>
              </a:rPr>
              <a:t> </a:t>
            </a:r>
          </a:p>
          <a:p>
            <a:pPr algn="l">
              <a:lnSpc>
                <a:spcPct val="112000"/>
              </a:lnSpc>
            </a:pPr>
            <a:r>
              <a:rPr sz="919" b="0" i="0">
                <a:solidFill>
                  <a:srgbClr val="D8E4F0"/>
                </a:solidFill>
                <a:latin typeface="Consolas"/>
              </a:rPr>
              <a:t>$ make pitfalls</a:t>
            </a:r>
          </a:p>
          <a:p>
            <a:pPr algn="l">
              <a:lnSpc>
                <a:spcPct val="112000"/>
              </a:lnSpc>
            </a:pPr>
            <a:r>
              <a:rPr sz="919" b="0" i="0">
                <a:solidFill>
                  <a:srgbClr val="D8E4F0"/>
                </a:solidFill>
                <a:latin typeface="Consolas"/>
              </a:rPr>
              <a:t>  non-blocking version : 0 wrong cycles</a:t>
            </a:r>
          </a:p>
          <a:p>
            <a:pPr algn="l">
              <a:lnSpc>
                <a:spcPct val="112000"/>
              </a:lnSpc>
            </a:pPr>
            <a:r>
              <a:rPr sz="919" b="0" i="0">
                <a:solidFill>
                  <a:srgbClr val="D8E4F0"/>
                </a:solidFill>
                <a:latin typeface="Consolas"/>
              </a:rPr>
              <a:t>  blocking version     : 6 wrong cycles</a:t>
            </a:r>
          </a:p>
          <a:p>
            <a:pPr algn="l">
              <a:lnSpc>
                <a:spcPct val="112000"/>
              </a:lnSpc>
            </a:pPr>
            <a:r>
              <a:rPr sz="919" b="0" i="0">
                <a:solidFill>
                  <a:srgbClr val="D8E4F0"/>
                </a:solidFill>
                <a:latin typeface="Consolas"/>
              </a:rPr>
              <a:t>  shift_nb (non-blocking)         3 cells     3 flip-flops</a:t>
            </a:r>
          </a:p>
          <a:p>
            <a:pPr algn="l">
              <a:lnSpc>
                <a:spcPct val="112000"/>
              </a:lnSpc>
            </a:pPr>
            <a:r>
              <a:rPr sz="919" b="0" i="0">
                <a:solidFill>
                  <a:srgbClr val="D8E4F0"/>
                </a:solidFill>
                <a:latin typeface="Consolas"/>
              </a:rPr>
              <a:t>  shift_bl (blocking)             1 cells     1 flip-flops</a:t>
            </a:r>
          </a:p>
          <a:p>
            <a:pPr algn="l">
              <a:lnSpc>
                <a:spcPct val="112000"/>
              </a:lnSpc>
            </a:pPr>
            <a:r>
              <a:rPr sz="919" b="0" i="0">
                <a:solidFill>
                  <a:srgbClr val="D8E4F0"/>
                </a:solidFill>
                <a:latin typeface="Consolas"/>
              </a:rPr>
              <a:t>  s03_latch   (missing else)      1 cells     *** 1 LATCH INFERRED ***</a:t>
            </a:r>
          </a:p>
        </p:txBody>
      </p:sp>
      <p:sp>
        <p:nvSpPr>
          <p:cNvPr id="11" name="Rectangle 10"/>
          <p:cNvSpPr/>
          <p:nvPr/>
        </p:nvSpPr>
        <p:spPr>
          <a:xfrm>
            <a:off x="411480" y="3538116"/>
            <a:ext cx="118872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 y="3538116"/>
            <a:ext cx="109728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Exercise</a:t>
            </a:r>
          </a:p>
        </p:txBody>
      </p:sp>
      <p:sp>
        <p:nvSpPr>
          <p:cNvPr id="13" name="Rectangle 12"/>
          <p:cNvSpPr/>
          <p:nvPr/>
        </p:nvSpPr>
        <p:spPr>
          <a:xfrm>
            <a:off x="1600200" y="3538116"/>
            <a:ext cx="1005840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645920" y="3538116"/>
            <a:ext cx="996696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Task</a:t>
            </a:r>
          </a:p>
        </p:txBody>
      </p:sp>
      <p:sp>
        <p:nvSpPr>
          <p:cNvPr id="15" name="Rectangle 14"/>
          <p:cNvSpPr/>
          <p:nvPr/>
        </p:nvSpPr>
        <p:spPr>
          <a:xfrm>
            <a:off x="411480" y="3821580"/>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3821580"/>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G.1</a:t>
            </a:r>
          </a:p>
        </p:txBody>
      </p:sp>
      <p:sp>
        <p:nvSpPr>
          <p:cNvPr id="17" name="Rectangle 16"/>
          <p:cNvSpPr/>
          <p:nvPr/>
        </p:nvSpPr>
        <p:spPr>
          <a:xfrm>
            <a:off x="1600200" y="3821580"/>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645920" y="3821580"/>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Predict the three cell counts before you run make mux</a:t>
            </a:r>
          </a:p>
        </p:txBody>
      </p:sp>
      <p:sp>
        <p:nvSpPr>
          <p:cNvPr id="19" name="Rectangle 18"/>
          <p:cNvSpPr/>
          <p:nvPr/>
        </p:nvSpPr>
        <p:spPr>
          <a:xfrm>
            <a:off x="411480" y="4105044"/>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7200" y="4105044"/>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G.2</a:t>
            </a:r>
          </a:p>
        </p:txBody>
      </p:sp>
      <p:sp>
        <p:nvSpPr>
          <p:cNvPr id="21" name="Rectangle 20"/>
          <p:cNvSpPr/>
          <p:nvPr/>
        </p:nvSpPr>
        <p:spPr>
          <a:xfrm>
            <a:off x="1600200" y="4105044"/>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645920" y="4105044"/>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Write a fourth style of your own and predict where it lands</a:t>
            </a:r>
          </a:p>
        </p:txBody>
      </p:sp>
      <p:sp>
        <p:nvSpPr>
          <p:cNvPr id="23" name="Rectangle 22"/>
          <p:cNvSpPr/>
          <p:nvPr/>
        </p:nvSpPr>
        <p:spPr>
          <a:xfrm>
            <a:off x="411480" y="4388508"/>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7200" y="4388508"/>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H.1</a:t>
            </a:r>
          </a:p>
        </p:txBody>
      </p:sp>
      <p:sp>
        <p:nvSpPr>
          <p:cNvPr id="25" name="Rectangle 24"/>
          <p:cNvSpPr/>
          <p:nvPr/>
        </p:nvSpPr>
        <p:spPr>
          <a:xfrm>
            <a:off x="1600200" y="4388508"/>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645920" y="4388508"/>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Predict q_bl for the first six cycles, then run it</a:t>
            </a:r>
          </a:p>
        </p:txBody>
      </p:sp>
      <p:sp>
        <p:nvSpPr>
          <p:cNvPr id="27" name="Rectangle 26"/>
          <p:cNvSpPr/>
          <p:nvPr/>
        </p:nvSpPr>
        <p:spPr>
          <a:xfrm>
            <a:off x="411480" y="4671972"/>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4671972"/>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H.2</a:t>
            </a:r>
          </a:p>
        </p:txBody>
      </p:sp>
      <p:sp>
        <p:nvSpPr>
          <p:cNvPr id="29" name="Rectangle 28"/>
          <p:cNvSpPr/>
          <p:nvPr/>
        </p:nvSpPr>
        <p:spPr>
          <a:xfrm>
            <a:off x="1600200" y="4671972"/>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645920" y="4671972"/>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Explain in two sentences why no tool warned about shift_bl</a:t>
            </a:r>
          </a:p>
        </p:txBody>
      </p:sp>
      <p:sp>
        <p:nvSpPr>
          <p:cNvPr id="31" name="Rectangle 30"/>
          <p:cNvSpPr/>
          <p:nvPr/>
        </p:nvSpPr>
        <p:spPr>
          <a:xfrm>
            <a:off x="411480" y="4955436"/>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7200" y="4955436"/>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H.3</a:t>
            </a:r>
          </a:p>
        </p:txBody>
      </p:sp>
      <p:sp>
        <p:nvSpPr>
          <p:cNvPr id="33" name="Rectangle 32"/>
          <p:cNvSpPr/>
          <p:nvPr/>
        </p:nvSpPr>
        <p:spPr>
          <a:xfrm>
            <a:off x="1600200" y="4955436"/>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645920" y="4955436"/>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Add an else to s03_latch and confirm the latch disappears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I–K</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State Machines, a Timer, and a Datapath</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82</a:t>
            </a:r>
          </a:p>
        </p:txBody>
      </p:sp>
      <p:sp>
        <p:nvSpPr>
          <p:cNvPr id="9" name="Rounded Rectangle 8"/>
          <p:cNvSpPr/>
          <p:nvPr/>
        </p:nvSpPr>
        <p:spPr>
          <a:xfrm>
            <a:off x="411480" y="1143000"/>
            <a:ext cx="11247120" cy="2303676"/>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075076"/>
          </a:xfrm>
          <a:prstGeom prst="rect">
            <a:avLst/>
          </a:prstGeom>
          <a:noFill/>
        </p:spPr>
        <p:txBody>
          <a:bodyPr wrap="square" lIns="0" rIns="0" tIns="0" bIns="0" anchor="t">
            <a:spAutoFit/>
          </a:bodyPr>
          <a:lstStyle/>
          <a:p>
            <a:pPr algn="l">
              <a:lnSpc>
                <a:spcPct val="112000"/>
              </a:lnSpc>
            </a:pPr>
            <a:r>
              <a:rPr sz="919" b="0" i="0">
                <a:solidFill>
                  <a:srgbClr val="D8E4F0"/>
                </a:solidFill>
                <a:latin typeface="Consolas"/>
              </a:rPr>
              <a:t>$ make fsm</a:t>
            </a:r>
          </a:p>
          <a:p>
            <a:pPr algn="l">
              <a:lnSpc>
                <a:spcPct val="112000"/>
              </a:lnSpc>
            </a:pPr>
            <a:r>
              <a:rPr sz="919" b="0" i="0">
                <a:solidFill>
                  <a:srgbClr val="D8E4F0"/>
                </a:solidFill>
                <a:latin typeface="Consolas"/>
              </a:rPr>
              <a:t>  matches in the stream : 5      mismatches vs golden  : 0</a:t>
            </a:r>
          </a:p>
          <a:p>
            <a:pPr algn="l">
              <a:lnSpc>
                <a:spcPct val="112000"/>
              </a:lnSpc>
            </a:pPr>
            <a:r>
              <a:rPr sz="919" b="0" i="0">
                <a:solidFill>
                  <a:srgbClr val="D8E4F0"/>
                </a:solidFill>
                <a:latin typeface="Consolas"/>
              </a:rPr>
              <a:t>  PASS - same language, Moore trails Mealy by one cycle,</a:t>
            </a:r>
          </a:p>
          <a:p>
            <a:pPr algn="l">
              <a:lnSpc>
                <a:spcPct val="112000"/>
              </a:lnSpc>
            </a:pPr>
            <a:r>
              <a:rPr sz="919" b="0" i="0">
                <a:solidFill>
                  <a:srgbClr val="D8E4F0"/>
                </a:solidFill>
                <a:latin typeface="Consolas"/>
              </a:rPr>
              <a:t>         and the one-hot encoding is indistinguishable</a:t>
            </a:r>
          </a:p>
          <a:p>
            <a:pPr algn="l">
              <a:lnSpc>
                <a:spcPct val="112000"/>
              </a:lnSpc>
            </a:pPr>
            <a:r>
              <a:rPr sz="919" b="0" i="0">
                <a:solidFill>
                  <a:srgbClr val="D8E4F0"/>
                </a:solidFill>
                <a:latin typeface="Consolas"/>
              </a:rPr>
              <a:t>  seq101_moore  binary           13 cells     2 flip-flops</a:t>
            </a:r>
          </a:p>
          <a:p>
            <a:pPr algn="l">
              <a:lnSpc>
                <a:spcPct val="112000"/>
              </a:lnSpc>
            </a:pPr>
            <a:r>
              <a:rPr sz="919" b="0" i="0">
                <a:solidFill>
                  <a:srgbClr val="D8E4F0"/>
                </a:solidFill>
                <a:latin typeface="Consolas"/>
              </a:rPr>
              <a:t>  seq101_moore  one-hot          30 cells     4 flip-flops</a:t>
            </a:r>
          </a:p>
          <a:p>
            <a:pPr algn="l">
              <a:lnSpc>
                <a:spcPct val="112000"/>
              </a:lnSpc>
            </a:pPr>
            <a:r>
              <a:rPr sz="919" b="0" i="0">
                <a:solidFill>
                  <a:srgbClr val="D8E4F0"/>
                </a:solidFill>
                <a:latin typeface="Consolas"/>
              </a:rPr>
              <a:t>  cycles checked : 40   property violations : 0        (traffic light)</a:t>
            </a:r>
          </a:p>
          <a:p>
            <a:pPr algn="l">
              <a:lnSpc>
                <a:spcPct val="112000"/>
              </a:lnSpc>
            </a:pPr>
            <a:r>
              <a:rPr sz="919" b="0" i="0">
                <a:solidFill>
                  <a:srgbClr val="D8E4F0"/>
                </a:solidFill>
                <a:latin typeface="Consolas"/>
              </a:rPr>
              <a:t> </a:t>
            </a:r>
          </a:p>
          <a:p>
            <a:pPr algn="l">
              <a:lnSpc>
                <a:spcPct val="112000"/>
              </a:lnSpc>
            </a:pPr>
            <a:r>
              <a:rPr sz="919" b="0" i="0">
                <a:solidFill>
                  <a:srgbClr val="D8E4F0"/>
                </a:solidFill>
                <a:latin typeface="Consolas"/>
              </a:rPr>
              <a:t>$ make dpctrl</a:t>
            </a:r>
          </a:p>
          <a:p>
            <a:pPr algn="l">
              <a:lnSpc>
                <a:spcPct val="112000"/>
              </a:lnSpc>
            </a:pPr>
            <a:r>
              <a:rPr sz="919" b="0" i="0">
                <a:solidFill>
                  <a:srgbClr val="D8E4F0"/>
                </a:solidFill>
                <a:latin typeface="Consolas"/>
              </a:rPr>
              <a:t>  golden total : 157   hardware sum : 157</a:t>
            </a:r>
          </a:p>
          <a:p>
            <a:pPr algn="l">
              <a:lnSpc>
                <a:spcPct val="112000"/>
              </a:lnSpc>
            </a:pPr>
            <a:r>
              <a:rPr sz="919" b="0" i="0">
                <a:solidFill>
                  <a:srgbClr val="D8E4F0"/>
                </a:solidFill>
                <a:latin typeface="Consolas"/>
              </a:rPr>
              <a:t>  accum_ctrl   (controller)      10 cells     2 flip-flops</a:t>
            </a:r>
          </a:p>
          <a:p>
            <a:pPr algn="l">
              <a:lnSpc>
                <a:spcPct val="112000"/>
              </a:lnSpc>
            </a:pPr>
            <a:r>
              <a:rPr sz="919" b="0" i="0">
                <a:solidFill>
                  <a:srgbClr val="D8E4F0"/>
                </a:solidFill>
                <a:latin typeface="Consolas"/>
              </a:rPr>
              <a:t>  accum_datapath (datapath)     145 cells    24 flip-flops</a:t>
            </a:r>
          </a:p>
        </p:txBody>
      </p:sp>
      <p:sp>
        <p:nvSpPr>
          <p:cNvPr id="11" name="Rectangle 10"/>
          <p:cNvSpPr/>
          <p:nvPr/>
        </p:nvSpPr>
        <p:spPr>
          <a:xfrm>
            <a:off x="411480" y="3538116"/>
            <a:ext cx="118872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 y="3538116"/>
            <a:ext cx="109728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Exercise</a:t>
            </a:r>
          </a:p>
        </p:txBody>
      </p:sp>
      <p:sp>
        <p:nvSpPr>
          <p:cNvPr id="13" name="Rectangle 12"/>
          <p:cNvSpPr/>
          <p:nvPr/>
        </p:nvSpPr>
        <p:spPr>
          <a:xfrm>
            <a:off x="1600200" y="3538116"/>
            <a:ext cx="1005840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645920" y="3538116"/>
            <a:ext cx="996696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Task</a:t>
            </a:r>
          </a:p>
        </p:txBody>
      </p:sp>
      <p:sp>
        <p:nvSpPr>
          <p:cNvPr id="15" name="Rectangle 14"/>
          <p:cNvSpPr/>
          <p:nvPr/>
        </p:nvSpPr>
        <p:spPr>
          <a:xfrm>
            <a:off x="411480" y="3821580"/>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3821580"/>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I.1</a:t>
            </a:r>
          </a:p>
        </p:txBody>
      </p:sp>
      <p:sp>
        <p:nvSpPr>
          <p:cNvPr id="17" name="Rectangle 16"/>
          <p:cNvSpPr/>
          <p:nvPr/>
        </p:nvSpPr>
        <p:spPr>
          <a:xfrm>
            <a:off x="1600200" y="3821580"/>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645920" y="3821580"/>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Draw the state diagram for '110' before you write any code</a:t>
            </a:r>
          </a:p>
        </p:txBody>
      </p:sp>
      <p:sp>
        <p:nvSpPr>
          <p:cNvPr id="19" name="Rectangle 18"/>
          <p:cNvSpPr/>
          <p:nvPr/>
        </p:nvSpPr>
        <p:spPr>
          <a:xfrm>
            <a:off x="411480" y="4105044"/>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7200" y="4105044"/>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I.2</a:t>
            </a:r>
          </a:p>
        </p:txBody>
      </p:sp>
      <p:sp>
        <p:nvSpPr>
          <p:cNvPr id="21" name="Rectangle 20"/>
          <p:cNvSpPr/>
          <p:nvPr/>
        </p:nvSpPr>
        <p:spPr>
          <a:xfrm>
            <a:off x="1600200" y="4105044"/>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645920" y="4105044"/>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Write it in both styles and confirm the one-cycle offset</a:t>
            </a:r>
          </a:p>
        </p:txBody>
      </p:sp>
      <p:sp>
        <p:nvSpPr>
          <p:cNvPr id="23" name="Rectangle 22"/>
          <p:cNvSpPr/>
          <p:nvPr/>
        </p:nvSpPr>
        <p:spPr>
          <a:xfrm>
            <a:off x="411480" y="4388508"/>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7200" y="4388508"/>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I.3</a:t>
            </a:r>
          </a:p>
        </p:txBody>
      </p:sp>
      <p:sp>
        <p:nvSpPr>
          <p:cNvPr id="25" name="Rectangle 24"/>
          <p:cNvSpPr/>
          <p:nvPr/>
        </p:nvSpPr>
        <p:spPr>
          <a:xfrm>
            <a:off x="1600200" y="4388508"/>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645920" y="4388508"/>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Re-encode the Moore machine as gray and measure the cells</a:t>
            </a:r>
          </a:p>
        </p:txBody>
      </p:sp>
      <p:sp>
        <p:nvSpPr>
          <p:cNvPr id="27" name="Rectangle 26"/>
          <p:cNvSpPr/>
          <p:nvPr/>
        </p:nvSpPr>
        <p:spPr>
          <a:xfrm>
            <a:off x="411480" y="4671972"/>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4671972"/>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J.1</a:t>
            </a:r>
          </a:p>
        </p:txBody>
      </p:sp>
      <p:sp>
        <p:nvSpPr>
          <p:cNvPr id="29" name="Rectangle 28"/>
          <p:cNvSpPr/>
          <p:nvPr/>
        </p:nvSpPr>
        <p:spPr>
          <a:xfrm>
            <a:off x="1600200" y="4671972"/>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645920" y="4671972"/>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Add a pedestrian request input and a third property to check</a:t>
            </a:r>
          </a:p>
        </p:txBody>
      </p:sp>
      <p:sp>
        <p:nvSpPr>
          <p:cNvPr id="31" name="Rectangle 30"/>
          <p:cNvSpPr/>
          <p:nvPr/>
        </p:nvSpPr>
        <p:spPr>
          <a:xfrm>
            <a:off x="411480" y="4955436"/>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7200" y="4955436"/>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K.1</a:t>
            </a:r>
          </a:p>
        </p:txBody>
      </p:sp>
      <p:sp>
        <p:nvSpPr>
          <p:cNvPr id="33" name="Rectangle 32"/>
          <p:cNvSpPr/>
          <p:nvPr/>
        </p:nvSpPr>
        <p:spPr>
          <a:xfrm>
            <a:off x="1600200" y="4955436"/>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645920" y="4955436"/>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Move the terminal-count test into the controller. What breaks, and why is it worse?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 L</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From a Module to an IP</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83</a:t>
            </a:r>
          </a:p>
        </p:txBody>
      </p:sp>
      <p:sp>
        <p:nvSpPr>
          <p:cNvPr id="9" name="Rounded Rectangle 8"/>
          <p:cNvSpPr/>
          <p:nvPr/>
        </p:nvSpPr>
        <p:spPr>
          <a:xfrm>
            <a:off x="411480" y="1143000"/>
            <a:ext cx="11247120" cy="1657096"/>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1428496"/>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 make reuse</a:t>
            </a:r>
          </a:p>
          <a:p>
            <a:pPr algn="l">
              <a:lnSpc>
                <a:spcPct val="112000"/>
              </a:lnSpc>
            </a:pPr>
            <a:r>
              <a:rPr sz="950" b="0" i="0">
                <a:solidFill>
                  <a:srgbClr val="D8E4F0"/>
                </a:solidFill>
                <a:latin typeface="Consolas"/>
              </a:rPr>
              <a:t>  delayline mismatches : 0        prescaler ratio errors : 0</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delayline #(W=8, N) synthesised at four different depths:</a:t>
            </a:r>
          </a:p>
          <a:p>
            <a:pPr algn="l">
              <a:lnSpc>
                <a:spcPct val="112000"/>
              </a:lnSpc>
            </a:pPr>
            <a:r>
              <a:rPr sz="950" b="0" i="0">
                <a:solidFill>
                  <a:srgbClr val="D8E4F0"/>
                </a:solidFill>
                <a:latin typeface="Consolas"/>
              </a:rPr>
              <a:t>    N = 1                           8 cells     8 flip-flops</a:t>
            </a:r>
          </a:p>
          <a:p>
            <a:pPr algn="l">
              <a:lnSpc>
                <a:spcPct val="112000"/>
              </a:lnSpc>
            </a:pPr>
            <a:r>
              <a:rPr sz="950" b="0" i="0">
                <a:solidFill>
                  <a:srgbClr val="D8E4F0"/>
                </a:solidFill>
                <a:latin typeface="Consolas"/>
              </a:rPr>
              <a:t>    N = 2                          16 cells    16 flip-flops</a:t>
            </a:r>
          </a:p>
          <a:p>
            <a:pPr algn="l">
              <a:lnSpc>
                <a:spcPct val="112000"/>
              </a:lnSpc>
            </a:pPr>
            <a:r>
              <a:rPr sz="950" b="0" i="0">
                <a:solidFill>
                  <a:srgbClr val="D8E4F0"/>
                </a:solidFill>
                <a:latin typeface="Consolas"/>
              </a:rPr>
              <a:t>    N = 4                          32 cells    32 flip-flops</a:t>
            </a:r>
          </a:p>
          <a:p>
            <a:pPr algn="l">
              <a:lnSpc>
                <a:spcPct val="112000"/>
              </a:lnSpc>
            </a:pPr>
            <a:r>
              <a:rPr sz="950" b="0" i="0">
                <a:solidFill>
                  <a:srgbClr val="D8E4F0"/>
                </a:solidFill>
                <a:latin typeface="Consolas"/>
              </a:rPr>
              <a:t>    N = 8                          64 cells    64 flip-flops</a:t>
            </a:r>
          </a:p>
        </p:txBody>
      </p:sp>
      <p:sp>
        <p:nvSpPr>
          <p:cNvPr id="11" name="Rectangle 10"/>
          <p:cNvSpPr/>
          <p:nvPr/>
        </p:nvSpPr>
        <p:spPr>
          <a:xfrm>
            <a:off x="411480" y="2891536"/>
            <a:ext cx="118872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 y="2891536"/>
            <a:ext cx="109728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Exercise</a:t>
            </a:r>
          </a:p>
        </p:txBody>
      </p:sp>
      <p:sp>
        <p:nvSpPr>
          <p:cNvPr id="13" name="Rectangle 12"/>
          <p:cNvSpPr/>
          <p:nvPr/>
        </p:nvSpPr>
        <p:spPr>
          <a:xfrm>
            <a:off x="1600200" y="2891536"/>
            <a:ext cx="1005840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645920" y="2891536"/>
            <a:ext cx="996696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Task</a:t>
            </a:r>
          </a:p>
        </p:txBody>
      </p:sp>
      <p:sp>
        <p:nvSpPr>
          <p:cNvPr id="15" name="Rectangle 14"/>
          <p:cNvSpPr/>
          <p:nvPr/>
        </p:nvSpPr>
        <p:spPr>
          <a:xfrm>
            <a:off x="411480" y="3175000"/>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3175000"/>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L.1</a:t>
            </a:r>
          </a:p>
        </p:txBody>
      </p:sp>
      <p:sp>
        <p:nvSpPr>
          <p:cNvPr id="17" name="Rectangle 16"/>
          <p:cNvSpPr/>
          <p:nvPr/>
        </p:nvSpPr>
        <p:spPr>
          <a:xfrm>
            <a:off x="1600200" y="3175000"/>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645920" y="3175000"/>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Predict the cell count for N = 16 before running it</a:t>
            </a:r>
          </a:p>
        </p:txBody>
      </p:sp>
      <p:sp>
        <p:nvSpPr>
          <p:cNvPr id="19" name="Rectangle 18"/>
          <p:cNvSpPr/>
          <p:nvPr/>
        </p:nvSpPr>
        <p:spPr>
          <a:xfrm>
            <a:off x="411480" y="3458464"/>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7200" y="3458464"/>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L.2</a:t>
            </a:r>
          </a:p>
        </p:txBody>
      </p:sp>
      <p:sp>
        <p:nvSpPr>
          <p:cNvPr id="21" name="Rectangle 20"/>
          <p:cNvSpPr/>
          <p:nvPr/>
        </p:nvSpPr>
        <p:spPr>
          <a:xfrm>
            <a:off x="1600200" y="3458464"/>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645920" y="3458464"/>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Add a bypass parameter that removes the registers entirely when N = 0</a:t>
            </a:r>
          </a:p>
        </p:txBody>
      </p:sp>
      <p:sp>
        <p:nvSpPr>
          <p:cNvPr id="23" name="Rectangle 22"/>
          <p:cNvSpPr/>
          <p:nvPr/>
        </p:nvSpPr>
        <p:spPr>
          <a:xfrm>
            <a:off x="411480" y="3741928"/>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7200" y="3741928"/>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L.3</a:t>
            </a:r>
          </a:p>
        </p:txBody>
      </p:sp>
      <p:sp>
        <p:nvSpPr>
          <p:cNvPr id="25" name="Rectangle 24"/>
          <p:cNvSpPr/>
          <p:nvPr/>
        </p:nvSpPr>
        <p:spPr>
          <a:xfrm>
            <a:off x="1600200" y="3741928"/>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645920" y="3741928"/>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Instantiate counter_n three times to divide by 4096, and check the ratio</a:t>
            </a:r>
          </a:p>
        </p:txBody>
      </p:sp>
      <p:sp>
        <p:nvSpPr>
          <p:cNvPr id="27" name="Rounded Rectangle 26"/>
          <p:cNvSpPr/>
          <p:nvPr/>
        </p:nvSpPr>
        <p:spPr>
          <a:xfrm>
            <a:off x="411480" y="4116832"/>
            <a:ext cx="11247120" cy="868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76072" y="4180840"/>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L.2 is the one worth arguing about</a:t>
            </a:r>
          </a:p>
        </p:txBody>
      </p:sp>
      <p:sp>
        <p:nvSpPr>
          <p:cNvPr id="29" name="TextBox 28"/>
          <p:cNvSpPr txBox="1"/>
          <p:nvPr/>
        </p:nvSpPr>
        <p:spPr>
          <a:xfrm>
            <a:off x="576072" y="4455160"/>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generate loop with N = 0 builds nothing, so dout must come straight from din. Getting that right means understanding that the parameter is resolved before any hardware exists — which is the whole point of the lab.</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M–N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Two Languages, the Whole Flow, and the Vendor Tools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84</a:t>
            </a:r>
          </a:p>
        </p:txBody>
      </p:sp>
      <p:sp>
        <p:nvSpPr>
          <p:cNvPr id="9" name="Rounded Rectangle 8"/>
          <p:cNvSpPr/>
          <p:nvPr/>
        </p:nvSpPr>
        <p:spPr>
          <a:xfrm>
            <a:off x="411480" y="1143000"/>
            <a:ext cx="11247120" cy="2371344"/>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142744"/>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 make langs</a:t>
            </a:r>
          </a:p>
          <a:p>
            <a:pPr algn="l">
              <a:lnSpc>
                <a:spcPct val="112000"/>
              </a:lnSpc>
            </a:pPr>
            <a:r>
              <a:rPr sz="950" b="0" i="0">
                <a:solidFill>
                  <a:srgbClr val="D8E4F0"/>
                </a:solidFill>
                <a:latin typeface="Consolas"/>
              </a:rPr>
              <a:t>  === Verilog: iverilog ===        === VHDL: ghdl ===</a:t>
            </a:r>
          </a:p>
          <a:p>
            <a:pPr algn="l">
              <a:lnSpc>
                <a:spcPct val="112000"/>
              </a:lnSpc>
            </a:pPr>
            <a:r>
              <a:rPr sz="950" b="0" i="0">
                <a:solidFill>
                  <a:srgbClr val="D8E4F0"/>
                </a:solidFill>
                <a:latin typeface="Consolas"/>
              </a:rPr>
              <a:t>  IDENTICAL over all 18 cycles - including the wrap and the terminal count.</a:t>
            </a:r>
          </a:p>
          <a:p>
            <a:pPr algn="l">
              <a:lnSpc>
                <a:spcPct val="112000"/>
              </a:lnSpc>
            </a:pPr>
            <a:r>
              <a:rPr sz="950" b="0" i="0">
                <a:solidFill>
                  <a:srgbClr val="D8E4F0"/>
                </a:solidFill>
                <a:latin typeface="Consolas"/>
              </a:rPr>
              <a:t>  IDENTICAL over all 17 cycles, detections included.   (the '101' detector)</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make flow</a:t>
            </a:r>
          </a:p>
          <a:p>
            <a:pPr algn="l">
              <a:lnSpc>
                <a:spcPct val="112000"/>
              </a:lnSpc>
            </a:pPr>
            <a:r>
              <a:rPr sz="950" b="0" i="0">
                <a:solidFill>
                  <a:srgbClr val="D8E4F0"/>
                </a:solidFill>
                <a:latin typeface="Consolas"/>
              </a:rPr>
              <a:t>  STAGE 2  LINT              0 issues</a:t>
            </a:r>
          </a:p>
          <a:p>
            <a:pPr algn="l">
              <a:lnSpc>
                <a:spcPct val="112000"/>
              </a:lnSpc>
            </a:pPr>
            <a:r>
              <a:rPr sz="950" b="0" i="0">
                <a:solidFill>
                  <a:srgbClr val="D8E4F0"/>
                </a:solidFill>
                <a:latin typeface="Consolas"/>
              </a:rPr>
              <a:t>  STAGE 4  SYNTHESIS         12 cells</a:t>
            </a:r>
          </a:p>
          <a:p>
            <a:pPr algn="l">
              <a:lnSpc>
                <a:spcPct val="112000"/>
              </a:lnSpc>
            </a:pPr>
            <a:r>
              <a:rPr sz="950" b="0" i="0">
                <a:solidFill>
                  <a:srgbClr val="D8E4F0"/>
                </a:solidFill>
                <a:latin typeface="Consolas"/>
              </a:rPr>
              <a:t>  STAGE 6  COMPARE           IDENTICAL on all 18 cycles</a:t>
            </a:r>
          </a:p>
          <a:p>
            <a:pPr algn="l">
              <a:lnSpc>
                <a:spcPct val="112000"/>
              </a:lnSpc>
            </a:pPr>
            <a:r>
              <a:rPr sz="950" b="0" i="0">
                <a:solidFill>
                  <a:srgbClr val="D8E4F0"/>
                </a:solidFill>
                <a:latin typeface="Consolas"/>
              </a:rPr>
              <a:t>  STAGE 7  PROVE             Equivalence PROVEN by induction</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All seven stages passed.</a:t>
            </a:r>
          </a:p>
        </p:txBody>
      </p:sp>
      <p:sp>
        <p:nvSpPr>
          <p:cNvPr id="11" name="Rounded Rectangle 10"/>
          <p:cNvSpPr/>
          <p:nvPr/>
        </p:nvSpPr>
        <p:spPr>
          <a:xfrm>
            <a:off x="411480" y="3605784"/>
            <a:ext cx="11247120" cy="100584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3669792"/>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Lab N: the same design in Vivado</a:t>
            </a:r>
          </a:p>
        </p:txBody>
      </p:sp>
      <p:sp>
        <p:nvSpPr>
          <p:cNvPr id="13" name="TextBox 12"/>
          <p:cNvSpPr txBox="1"/>
          <p:nvPr/>
        </p:nvSpPr>
        <p:spPr>
          <a:xfrm>
            <a:off x="576072" y="3944112"/>
            <a:ext cx="10917936" cy="6035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Read the design, synthesise for a real part, report utilisation, write the netlist for gate-level simulation. Vivado is not installed in the environment these materials were built in, so lab N is the one whose output is not reproduced here — run it and record what you get.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VENDOR</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Same Flow in Vivado and ModelSim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85</a:t>
            </a:r>
          </a:p>
        </p:txBody>
      </p:sp>
      <p:pic>
        <p:nvPicPr>
          <p:cNvPr id="9" name="Picture 8" descr="vivado_flow.png"/>
          <p:cNvPicPr>
            <a:picLocks noChangeAspect="1"/>
          </p:cNvPicPr>
          <p:nvPr/>
        </p:nvPicPr>
        <p:blipFill>
          <a:blip r:embed="rId2"/>
          <a:stretch>
            <a:fillRect/>
          </a:stretch>
        </p:blipFill>
        <p:spPr>
          <a:xfrm>
            <a:off x="2834119" y="1097280"/>
            <a:ext cx="6401843"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77514"/>
                </a:solidFill>
                <a:latin typeface="Calibri"/>
              </a:rPr>
              <a:t>Stated plainly on the slide: these commands were not run here. Every number in this deck came from the free toolchain.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 ASSESSMENT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How the 103 Exercises Are Weighted</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86</a:t>
            </a:r>
          </a:p>
        </p:txBody>
      </p:sp>
      <p:pic>
        <p:nvPicPr>
          <p:cNvPr id="9" name="Picture 8" descr="assessment.png"/>
          <p:cNvPicPr>
            <a:picLocks noChangeAspect="1"/>
          </p:cNvPicPr>
          <p:nvPr/>
        </p:nvPicPr>
        <p:blipFill>
          <a:blip r:embed="rId2"/>
          <a:stretch>
            <a:fillRect/>
          </a:stretch>
        </p:blipFill>
        <p:spPr>
          <a:xfrm>
            <a:off x="3264842" y="1097280"/>
            <a:ext cx="5540397" cy="5211445"/>
          </a:xfrm>
          <a:prstGeom prst="rect">
            <a:avLst/>
          </a:prstGeom>
        </p:spPr>
      </p:pic>
      <p:sp>
        <p:nvSpPr>
          <p:cNvPr id="10" name="TextBox 9"/>
          <p:cNvSpPr txBox="1"/>
          <p:nvPr/>
        </p:nvSpPr>
        <p:spPr>
          <a:xfrm>
            <a:off x="411480" y="6400165"/>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Predict, then measure. Being wrong and knowing why is the whole point of a lab.</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PRACTICAL · LIMITS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This Lab Does Not Show You</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87</a:t>
            </a:r>
          </a:p>
        </p:txBody>
      </p:sp>
      <p:sp>
        <p:nvSpPr>
          <p:cNvPr id="9" name="TextBox 8"/>
          <p:cNvSpPr txBox="1"/>
          <p:nvPr/>
        </p:nvSpPr>
        <p:spPr>
          <a:xfrm>
            <a:off x="411480" y="11430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10" name="TextBox 9"/>
          <p:cNvSpPr txBox="1"/>
          <p:nvPr/>
        </p:nvSpPr>
        <p:spPr>
          <a:xfrm>
            <a:off x="640080" y="11430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rtl_lint.py is regular expressions, not a Verilog parser. It reads code the way a careful reviewer skims it and can be fooled by unusual formatting.</a:t>
            </a:r>
          </a:p>
        </p:txBody>
      </p:sp>
      <p:sp>
        <p:nvSpPr>
          <p:cNvPr id="11" name="TextBox 10"/>
          <p:cNvSpPr txBox="1"/>
          <p:nvPr/>
        </p:nvSpPr>
        <p:spPr>
          <a:xfrm>
            <a:off x="411480" y="16002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12" name="TextBox 11"/>
          <p:cNvSpPr txBox="1"/>
          <p:nvPr/>
        </p:nvSpPr>
        <p:spPr>
          <a:xfrm>
            <a:off x="640080" y="16002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The cell counts come from Yosys' generic library, not a foundry library. They compare designs against each other; they are not area figures.</a:t>
            </a:r>
          </a:p>
        </p:txBody>
      </p:sp>
      <p:sp>
        <p:nvSpPr>
          <p:cNvPr id="13" name="TextBox 12"/>
          <p:cNvSpPr txBox="1"/>
          <p:nvPr/>
        </p:nvSpPr>
        <p:spPr>
          <a:xfrm>
            <a:off x="411480" y="20574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14" name="TextBox 13"/>
          <p:cNvSpPr txBox="1"/>
          <p:nvPr/>
        </p:nvSpPr>
        <p:spPr>
          <a:xfrm>
            <a:off x="640080" y="20574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fa_switch.v is a functional transistor model. There are no threshold voltages and no capacitances — SPICE is the tool for that.</a:t>
            </a:r>
          </a:p>
        </p:txBody>
      </p:sp>
      <p:sp>
        <p:nvSpPr>
          <p:cNvPr id="15" name="TextBox 14"/>
          <p:cNvSpPr txBox="1"/>
          <p:nvPr/>
        </p:nvSpPr>
        <p:spPr>
          <a:xfrm>
            <a:off x="411480" y="25146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16" name="TextBox 15"/>
          <p:cNvSpPr txBox="1"/>
          <p:nvPr/>
        </p:nvSpPr>
        <p:spPr>
          <a:xfrm>
            <a:off x="640080" y="25146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Yosys accepts initial blocks because it targets FPGAs. An ASIC flow would not, and that difference is a genuine trap.</a:t>
            </a:r>
          </a:p>
        </p:txBody>
      </p:sp>
      <p:sp>
        <p:nvSpPr>
          <p:cNvPr id="17" name="TextBox 16"/>
          <p:cNvSpPr txBox="1"/>
          <p:nvPr/>
        </p:nvSpPr>
        <p:spPr>
          <a:xfrm>
            <a:off x="411480" y="29718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18" name="TextBox 17"/>
          <p:cNvSpPr txBox="1"/>
          <p:nvPr/>
        </p:nvSpPr>
        <p:spPr>
          <a:xfrm>
            <a:off x="640080" y="29718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Vivado and ModelSim were not run. Every measured number here came from iverilog, ghdl and yosys, and is reproducible with make.</a:t>
            </a:r>
          </a:p>
        </p:txBody>
      </p:sp>
      <p:sp>
        <p:nvSpPr>
          <p:cNvPr id="19" name="TextBox 18"/>
          <p:cNvSpPr txBox="1"/>
          <p:nvPr/>
        </p:nvSpPr>
        <p:spPr>
          <a:xfrm>
            <a:off x="411480" y="34290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20" name="TextBox 19"/>
          <p:cNvSpPr txBox="1"/>
          <p:nvPr/>
        </p:nvSpPr>
        <p:spPr>
          <a:xfrm>
            <a:off x="640080" y="34290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Nothing here covers verification methodology beyond a directed testbench and a handful of assertions — that is Topic 5, a large subject on its own.</a:t>
            </a:r>
          </a:p>
        </p:txBody>
      </p:sp>
      <p:sp>
        <p:nvSpPr>
          <p:cNvPr id="21" name="TextBox 20"/>
          <p:cNvSpPr txBox="1"/>
          <p:nvPr/>
        </p:nvSpPr>
        <p:spPr>
          <a:xfrm>
            <a:off x="411480" y="38862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22" name="TextBox 21"/>
          <p:cNvSpPr txBox="1"/>
          <p:nvPr/>
        </p:nvSpPr>
        <p:spPr>
          <a:xfrm>
            <a:off x="640080" y="38862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The state machines here are small and single-clock. Clock-domain crossing, reset synchronisers and safe-state recovery are all real, and all later.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SUMMARY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Topic 2 In Fourteen Lines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88</a:t>
            </a:r>
          </a:p>
        </p:txBody>
      </p:sp>
      <p:sp>
        <p:nvSpPr>
          <p:cNvPr id="9" name="TextBox 8"/>
          <p:cNvSpPr txBox="1"/>
          <p:nvPr/>
        </p:nvSpPr>
        <p:spPr>
          <a:xfrm>
            <a:off x="411480" y="1143000"/>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10" name="TextBox 9"/>
          <p:cNvSpPr txBox="1"/>
          <p:nvPr/>
        </p:nvSpPr>
        <p:spPr>
          <a:xfrm>
            <a:off x="640080" y="1143000"/>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RTL says which registers exist and what transfers into them. Nothing else.</a:t>
            </a:r>
          </a:p>
        </p:txBody>
      </p:sp>
      <p:sp>
        <p:nvSpPr>
          <p:cNvPr id="11" name="TextBox 10"/>
          <p:cNvSpPr txBox="1"/>
          <p:nvPr/>
        </p:nvSpPr>
        <p:spPr>
          <a:xfrm>
            <a:off x="411480" y="1453896"/>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12" name="TextBox 11"/>
          <p:cNvSpPr txBox="1"/>
          <p:nvPr/>
        </p:nvSpPr>
        <p:spPr>
          <a:xfrm>
            <a:off x="640080" y="1453896"/>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There are two kinds of logic, combinational and sequential, and no third.</a:t>
            </a:r>
          </a:p>
        </p:txBody>
      </p:sp>
      <p:sp>
        <p:nvSpPr>
          <p:cNvPr id="13" name="TextBox 12"/>
          <p:cNvSpPr txBox="1"/>
          <p:nvPr/>
        </p:nvSpPr>
        <p:spPr>
          <a:xfrm>
            <a:off x="411480" y="1764792"/>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14" name="TextBox 13"/>
          <p:cNvSpPr txBox="1"/>
          <p:nvPr/>
        </p:nvSpPr>
        <p:spPr>
          <a:xfrm>
            <a:off x="640080" y="1764792"/>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&lt;= reads every right-hand side first, then updates together. = does not — and the blocking version built 1 flip-flop where 3 were meant.</a:t>
            </a:r>
          </a:p>
        </p:txBody>
      </p:sp>
      <p:sp>
        <p:nvSpPr>
          <p:cNvPr id="15" name="TextBox 14"/>
          <p:cNvSpPr txBox="1"/>
          <p:nvPr/>
        </p:nvSpPr>
        <p:spPr>
          <a:xfrm>
            <a:off x="411480" y="2075688"/>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16" name="TextBox 15"/>
          <p:cNvSpPr txBox="1"/>
          <p:nvPr/>
        </p:nvSpPr>
        <p:spPr>
          <a:xfrm>
            <a:off x="640080" y="2075688"/>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Four levels of abstraction describe the same circuit — proved, not assumed.</a:t>
            </a:r>
          </a:p>
        </p:txBody>
      </p:sp>
      <p:sp>
        <p:nvSpPr>
          <p:cNvPr id="17" name="TextBox 16"/>
          <p:cNvSpPr txBox="1"/>
          <p:nvPr/>
        </p:nvSpPr>
        <p:spPr>
          <a:xfrm>
            <a:off x="411480" y="2386584"/>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18" name="TextBox 17"/>
          <p:cNvSpPr txBox="1"/>
          <p:nvPr/>
        </p:nvSpPr>
        <p:spPr>
          <a:xfrm>
            <a:off x="640080" y="2386584"/>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Write at the highest level that says what you mean: behavioural gave 5 cells against 6.</a:t>
            </a:r>
          </a:p>
        </p:txBody>
      </p:sp>
      <p:sp>
        <p:nvSpPr>
          <p:cNvPr id="19" name="TextBox 18"/>
          <p:cNvSpPr txBox="1"/>
          <p:nvPr/>
        </p:nvSpPr>
        <p:spPr>
          <a:xfrm>
            <a:off x="411480" y="2697480"/>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20" name="TextBox 19"/>
          <p:cNvSpPr txBox="1"/>
          <p:nvPr/>
        </p:nvSpPr>
        <p:spPr>
          <a:xfrm>
            <a:off x="640080" y="2697480"/>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Not all legal Verilog is synthesisable, and a / b cost 371 cells against 0.</a:t>
            </a:r>
          </a:p>
        </p:txBody>
      </p:sp>
      <p:sp>
        <p:nvSpPr>
          <p:cNvPr id="21" name="TextBox 20"/>
          <p:cNvSpPr txBox="1"/>
          <p:nvPr/>
        </p:nvSpPr>
        <p:spPr>
          <a:xfrm>
            <a:off x="411480" y="3008376"/>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22" name="TextBox 21"/>
          <p:cNvSpPr txBox="1"/>
          <p:nvPr/>
        </p:nvSpPr>
        <p:spPr>
          <a:xfrm>
            <a:off x="640080" y="3008376"/>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A combinational block that does not assign on every path builds a latch; a default assignment at the top of the block prevents it.</a:t>
            </a:r>
          </a:p>
        </p:txBody>
      </p:sp>
      <p:sp>
        <p:nvSpPr>
          <p:cNvPr id="23" name="TextBox 22"/>
          <p:cNvSpPr txBox="1"/>
          <p:nvPr/>
        </p:nvSpPr>
        <p:spPr>
          <a:xfrm>
            <a:off x="411480" y="3319272"/>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24" name="TextBox 23"/>
          <p:cNvSpPr txBox="1"/>
          <p:nvPr/>
        </p:nvSpPr>
        <p:spPr>
          <a:xfrm>
            <a:off x="640080" y="3319272"/>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An incomplete sensitivity list makes simulation and silicon disagree silently.</a:t>
            </a:r>
          </a:p>
        </p:txBody>
      </p:sp>
      <p:sp>
        <p:nvSpPr>
          <p:cNvPr id="25" name="TextBox 24"/>
          <p:cNvSpPr txBox="1"/>
          <p:nvPr/>
        </p:nvSpPr>
        <p:spPr>
          <a:xfrm>
            <a:off x="411480" y="3630168"/>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26" name="TextBox 25"/>
          <p:cNvSpPr txBox="1"/>
          <p:nvPr/>
        </p:nvSpPr>
        <p:spPr>
          <a:xfrm>
            <a:off x="640080" y="3630168"/>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Equivalent is not identical: three mux styles, 3, 6 and 10 cells.</a:t>
            </a:r>
          </a:p>
        </p:txBody>
      </p:sp>
      <p:sp>
        <p:nvSpPr>
          <p:cNvPr id="27" name="TextBox 26"/>
          <p:cNvSpPr txBox="1"/>
          <p:nvPr/>
        </p:nvSpPr>
        <p:spPr>
          <a:xfrm>
            <a:off x="411480" y="3941064"/>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28" name="TextBox 27"/>
          <p:cNvSpPr txBox="1"/>
          <p:nvPr/>
        </p:nvSpPr>
        <p:spPr>
          <a:xfrm>
            <a:off x="640080" y="3941064"/>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Almost every block is a datapath and a controller. Here: 145 cells against 10.</a:t>
            </a:r>
          </a:p>
        </p:txBody>
      </p:sp>
      <p:sp>
        <p:nvSpPr>
          <p:cNvPr id="29" name="TextBox 28"/>
          <p:cNvSpPr txBox="1"/>
          <p:nvPr/>
        </p:nvSpPr>
        <p:spPr>
          <a:xfrm>
            <a:off x="411480" y="4251960"/>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30" name="TextBox 29"/>
          <p:cNvSpPr txBox="1"/>
          <p:nvPr/>
        </p:nvSpPr>
        <p:spPr>
          <a:xfrm>
            <a:off x="640080" y="4251960"/>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Write state machines in three blocks — register, next state, output.</a:t>
            </a:r>
          </a:p>
        </p:txBody>
      </p:sp>
      <p:sp>
        <p:nvSpPr>
          <p:cNvPr id="31" name="TextBox 30"/>
          <p:cNvSpPr txBox="1"/>
          <p:nvPr/>
        </p:nvSpPr>
        <p:spPr>
          <a:xfrm>
            <a:off x="411480" y="4562856"/>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32" name="TextBox 31"/>
          <p:cNvSpPr txBox="1"/>
          <p:nvPr/>
        </p:nvSpPr>
        <p:spPr>
          <a:xfrm>
            <a:off x="640080" y="4562856"/>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Moore trails Mealy by exactly one cycle, and one-hot was BIGGER here.</a:t>
            </a:r>
          </a:p>
        </p:txBody>
      </p:sp>
      <p:sp>
        <p:nvSpPr>
          <p:cNvPr id="33" name="TextBox 32"/>
          <p:cNvSpPr txBox="1"/>
          <p:nvPr/>
        </p:nvSpPr>
        <p:spPr>
          <a:xfrm>
            <a:off x="411480" y="4873752"/>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34" name="TextBox 33"/>
          <p:cNvSpPr txBox="1"/>
          <p:nvPr/>
        </p:nvSpPr>
        <p:spPr>
          <a:xfrm>
            <a:off x="640080" y="4873752"/>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parameter, hierarchy and generate are elaborated away before synthesis.</a:t>
            </a:r>
          </a:p>
        </p:txBody>
      </p:sp>
      <p:sp>
        <p:nvSpPr>
          <p:cNvPr id="35" name="TextBox 34"/>
          <p:cNvSpPr txBox="1"/>
          <p:nvPr/>
        </p:nvSpPr>
        <p:spPr>
          <a:xfrm>
            <a:off x="411480" y="5184648"/>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36" name="TextBox 35"/>
          <p:cNvSpPr txBox="1"/>
          <p:nvPr/>
        </p:nvSpPr>
        <p:spPr>
          <a:xfrm>
            <a:off x="640080" y="5184648"/>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Verilog and VHDL produced identical transcripts, on both designs.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CLOSE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To Do Next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89</a:t>
            </a:r>
          </a:p>
        </p:txBody>
      </p:sp>
      <p:pic>
        <p:nvPicPr>
          <p:cNvPr id="9" name="Picture 8" descr="what_you_can_do.png"/>
          <p:cNvPicPr>
            <a:picLocks noChangeAspect="1"/>
          </p:cNvPicPr>
          <p:nvPr/>
        </p:nvPicPr>
        <p:blipFill>
          <a:blip r:embed="rId2"/>
          <a:stretch>
            <a:fillRect/>
          </a:stretch>
        </p:blipFill>
        <p:spPr>
          <a:xfrm>
            <a:off x="3631437" y="1097280"/>
            <a:ext cx="4807207" cy="4114800"/>
          </a:xfrm>
          <a:prstGeom prst="rect">
            <a:avLst/>
          </a:prstGeom>
        </p:spPr>
      </p:pic>
      <p:sp>
        <p:nvSpPr>
          <p:cNvPr id="10" name="Rounded Rectangle 9"/>
          <p:cNvSpPr/>
          <p:nvPr/>
        </p:nvSpPr>
        <p:spPr>
          <a:xfrm>
            <a:off x="411480" y="5303520"/>
            <a:ext cx="11247120" cy="82296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367528"/>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Coming next in Module 2</a:t>
            </a:r>
          </a:p>
        </p:txBody>
      </p:sp>
      <p:sp>
        <p:nvSpPr>
          <p:cNvPr id="12" name="TextBox 11"/>
          <p:cNvSpPr txBox="1"/>
          <p:nvPr/>
        </p:nvSpPr>
        <p:spPr>
          <a:xfrm>
            <a:off x="576072" y="5641848"/>
            <a:ext cx="10917936" cy="4206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Topic 3 covers the digital logic this all rests on. Topic 4 writes much more RTL. Topic 5 is verification — how you know it works. Topic 6 is timing — whether it is fast enough.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