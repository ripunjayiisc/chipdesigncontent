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</p:sldIdLst>
  <p:sldSz cx="1216152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A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2103120"/>
            <a:ext cx="7315200" cy="7315200"/>
          </a:xfrm>
          <a:prstGeom prst="ellipse">
            <a:avLst/>
          </a:prstGeom>
          <a:solidFill>
            <a:srgbClr val="163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966960" y="-822960"/>
            <a:ext cx="4572000" cy="4572000"/>
          </a:xfrm>
          <a:prstGeom prst="ellipse">
            <a:avLst/>
          </a:prstGeom>
          <a:solidFill>
            <a:srgbClr val="0E2A47"/>
          </a:solidFill>
          <a:ln w="12700">
            <a:solidFill>
              <a:srgbClr val="1B9A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500" b="1" i="0" spc="300">
                <a:solidFill>
                  <a:srgbClr val="1B9AAA"/>
                </a:solidFill>
                <a:latin typeface="Calibri"/>
              </a:rPr>
              <a:t>MODULE 2 · TOPIC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874520"/>
            <a:ext cx="1042416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3500" b="1" i="0">
                <a:solidFill>
                  <a:srgbClr val="FFFFFF"/>
                </a:solidFill>
                <a:latin typeface="Cambria"/>
              </a:rPr>
              <a:t>RTL Design 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926080"/>
            <a:ext cx="9418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400" b="0" i="0">
                <a:solidFill>
                  <a:srgbClr val="C9D6E3"/>
                </a:solidFill>
                <a:latin typeface="Calibri"/>
              </a:rPr>
              <a:t>Basics of register transfer level (RTL) design  ·  Overview of the RTL design process and methodology  ·  Introduction to hardware description languages such as Verilog or VHDL</a:t>
            </a:r>
          </a:p>
        </p:txBody>
      </p:sp>
      <p:sp>
        <p:nvSpPr>
          <p:cNvPr id="7" name="Oval 6"/>
          <p:cNvSpPr/>
          <p:nvPr/>
        </p:nvSpPr>
        <p:spPr>
          <a:xfrm>
            <a:off x="713232" y="4014216"/>
            <a:ext cx="237744" cy="237744"/>
          </a:xfrm>
          <a:prstGeom prst="ellipse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931920"/>
            <a:ext cx="9875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350" b="0" i="0">
                <a:solidFill>
                  <a:srgbClr val="E7EEF5"/>
                </a:solidFill>
                <a:latin typeface="Calibri"/>
              </a:rPr>
              <a:t>Theory 1 · What RTL is — registers, transfers, and four levels of abstraction</a:t>
            </a:r>
          </a:p>
        </p:txBody>
      </p:sp>
      <p:sp>
        <p:nvSpPr>
          <p:cNvPr id="9" name="Oval 8"/>
          <p:cNvSpPr/>
          <p:nvPr/>
        </p:nvSpPr>
        <p:spPr>
          <a:xfrm>
            <a:off x="713232" y="4471416"/>
            <a:ext cx="237744" cy="237744"/>
          </a:xfrm>
          <a:prstGeom prst="ellipse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4389120"/>
            <a:ext cx="9875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350" b="0" i="0">
                <a:solidFill>
                  <a:srgbClr val="E7EEF5"/>
                </a:solidFill>
                <a:latin typeface="Calibri"/>
              </a:rPr>
              <a:t>Theory 2 · The methodology — the flow, the synthesisable subset, the rules</a:t>
            </a:r>
          </a:p>
        </p:txBody>
      </p:sp>
      <p:sp>
        <p:nvSpPr>
          <p:cNvPr id="11" name="Oval 10"/>
          <p:cNvSpPr/>
          <p:nvPr/>
        </p:nvSpPr>
        <p:spPr>
          <a:xfrm>
            <a:off x="713232" y="4928616"/>
            <a:ext cx="237744" cy="237744"/>
          </a:xfrm>
          <a:prstGeom prst="ellipse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9875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350" b="0" i="0">
                <a:solidFill>
                  <a:srgbClr val="E7EEF5"/>
                </a:solidFill>
                <a:latin typeface="Calibri"/>
              </a:rPr>
              <a:t>Theory 3 · HDLs — what one is, and Verilog against VHDL</a:t>
            </a:r>
          </a:p>
        </p:txBody>
      </p:sp>
      <p:sp>
        <p:nvSpPr>
          <p:cNvPr id="13" name="Oval 12"/>
          <p:cNvSpPr/>
          <p:nvPr/>
        </p:nvSpPr>
        <p:spPr>
          <a:xfrm>
            <a:off x="713232" y="5385816"/>
            <a:ext cx="237744" cy="237744"/>
          </a:xfrm>
          <a:prstGeom prst="ellipse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5303520"/>
            <a:ext cx="9875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350" b="0" i="0">
                <a:solidFill>
                  <a:srgbClr val="E7EEF5"/>
                </a:solidFill>
                <a:latin typeface="Calibri"/>
              </a:rPr>
              <a:t>Practical · Labs A–I · 14 hours · 60 exercises · every number measured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6547104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800" b="0" i="0">
                <a:solidFill>
                  <a:srgbClr val="7C8EA2"/>
                </a:solidFill>
                <a:latin typeface="Calibri"/>
              </a:rPr>
              <a:t>Chip Design Associate · Module 2 · Verilog RTL Coding for Synthesis · Topic 2: RTL Design Methodology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6547104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3000"/>
              </a:lnSpc>
            </a:pPr>
            <a:r>
              <a:rPr sz="800" b="0" i="0">
                <a:solidFill>
                  <a:srgbClr val="7C8EA2"/>
                </a:solidFill>
                <a:latin typeface="Calibri"/>
              </a:rPr>
              <a:t>M2-T2 ·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292608"/>
            <a:ext cx="530352" cy="530352"/>
          </a:xfrm>
          <a:prstGeom prst="ellipse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402336"/>
            <a:ext cx="155448" cy="310896"/>
          </a:xfrm>
          <a:prstGeom prst="rect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292608"/>
            <a:ext cx="106070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 spc="200">
                <a:solidFill>
                  <a:srgbClr val="1B9AAA"/>
                </a:solidFill>
                <a:latin typeface="Calibri"/>
              </a:rPr>
              <a:t>MODULE 2 · NOS NIE/ELE/N0102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0292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2100" b="1" i="0">
                <a:solidFill>
                  <a:srgbClr val="0E2A47"/>
                </a:solidFill>
                <a:latin typeface="Cambria"/>
              </a:rPr>
              <a:t>Terminal Outcomes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8992" y="1024128"/>
            <a:ext cx="10579608" cy="9525"/>
          </a:xfrm>
          <a:prstGeom prst="rect">
            <a:avLst/>
          </a:prstGeom>
          <a:solidFill>
            <a:srgbClr val="D8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47104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Chip Design Associate · Module 2 · Verilog RTL Coding for Synthesis · Topic 2: RTL Design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47104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M2-T2 · 2</a:t>
            </a:r>
          </a:p>
        </p:txBody>
      </p:sp>
      <p:pic>
        <p:nvPicPr>
          <p:cNvPr id="9" name="Picture 8" descr="terminal_outcom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4870" y="1097280"/>
            <a:ext cx="5340341" cy="43891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11480" y="5577840"/>
            <a:ext cx="11247120" cy="868680"/>
          </a:xfrm>
          <a:prstGeom prst="roundRect">
            <a:avLst>
              <a:gd name="adj" fmla="val 5714"/>
            </a:avLst>
          </a:prstGeom>
          <a:solidFill>
            <a:srgbClr val="F4F8FB"/>
          </a:solidFill>
          <a:ln w="1397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" y="5641848"/>
            <a:ext cx="1091793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150" b="1" i="0">
                <a:solidFill>
                  <a:srgbClr val="0E2A47"/>
                </a:solidFill>
                <a:latin typeface="Cambria"/>
              </a:rPr>
              <a:t>Outcome 2 names this subtopic in the NOS itself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5916168"/>
            <a:ext cx="10917936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1050" b="0" i="0">
                <a:solidFill>
                  <a:srgbClr val="33414F"/>
                </a:solidFill>
                <a:latin typeface="Calibri"/>
              </a:rPr>
              <a:t>"Level of abstraction in Verilog programming" is the phrase. This session takes one circuit down all four levels, simulates them together, and proves they are the same — which is the deliverable the outcome asks for.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292608"/>
            <a:ext cx="530352" cy="530352"/>
          </a:xfrm>
          <a:prstGeom prst="ellipse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402336"/>
            <a:ext cx="155448" cy="310896"/>
          </a:xfrm>
          <a:prstGeom prst="rect">
            <a:avLst/>
          </a:prstGeom>
          <a:solidFill>
            <a:srgbClr val="2A9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292608"/>
            <a:ext cx="106070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 spc="200">
                <a:solidFill>
                  <a:srgbClr val="2A9D5C"/>
                </a:solidFill>
                <a:latin typeface="Calibri"/>
              </a:rPr>
              <a:t>MODULE 2 · TOPIC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0292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2100" b="1" i="0">
                <a:solidFill>
                  <a:srgbClr val="0E2A47"/>
                </a:solidFill>
                <a:latin typeface="Cambria"/>
              </a:rPr>
              <a:t>Key Learning Outcomes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8992" y="1024128"/>
            <a:ext cx="10579608" cy="9525"/>
          </a:xfrm>
          <a:prstGeom prst="rect">
            <a:avLst/>
          </a:prstGeom>
          <a:solidFill>
            <a:srgbClr val="D8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47104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Chip Design Associate · Module 2 · Verilog RTL Coding for Synthesis · Topic 2: RTL Design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47104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M2-T2 · 3</a:t>
            </a:r>
          </a:p>
        </p:txBody>
      </p:sp>
      <p:pic>
        <p:nvPicPr>
          <p:cNvPr id="9" name="Picture 8" descr="learning_outcom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8959" y="1097280"/>
            <a:ext cx="6392161" cy="43891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1480" y="5577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100" b="1" i="0">
                <a:solidFill>
                  <a:srgbClr val="2A9D5C"/>
                </a:solidFill>
                <a:latin typeface="Calibri"/>
              </a:rPr>
              <a:t>Every outcome is assessed by a command you run, not by something you recite.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292608"/>
            <a:ext cx="530352" cy="530352"/>
          </a:xfrm>
          <a:prstGeom prst="ellipse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402336"/>
            <a:ext cx="155448" cy="310896"/>
          </a:xfrm>
          <a:prstGeom prst="rect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292608"/>
            <a:ext cx="106070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 spc="200">
                <a:solidFill>
                  <a:srgbClr val="1B9AAA"/>
                </a:solidFill>
                <a:latin typeface="Calibri"/>
              </a:rPr>
              <a:t>TOPIC 2 · 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0292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2100" b="1" i="0">
                <a:solidFill>
                  <a:srgbClr val="0E2A47"/>
                </a:solidFill>
                <a:latin typeface="Cambria"/>
              </a:rPr>
              <a:t>Every Syllabus Phrase, and Where It Is Covered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8992" y="1024128"/>
            <a:ext cx="10579608" cy="9525"/>
          </a:xfrm>
          <a:prstGeom prst="rect">
            <a:avLst/>
          </a:prstGeom>
          <a:solidFill>
            <a:srgbClr val="D8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47104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Chip Design Associate · Module 2 · Verilog RTL Coding for Synthesis · Topic 2: RTL Design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47104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M2-T2 · 4</a:t>
            </a:r>
          </a:p>
        </p:txBody>
      </p:sp>
      <p:pic>
        <p:nvPicPr>
          <p:cNvPr id="9" name="Picture 8" descr="syllabus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2020" y="1097280"/>
            <a:ext cx="6726040" cy="43891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11480" y="5577840"/>
            <a:ext cx="11247120" cy="868680"/>
          </a:xfrm>
          <a:prstGeom prst="roundRect">
            <a:avLst>
              <a:gd name="adj" fmla="val 5714"/>
            </a:avLst>
          </a:prstGeom>
          <a:solidFill>
            <a:srgbClr val="FFF7EC"/>
          </a:solidFill>
          <a:ln w="13970">
            <a:solidFill>
              <a:srgbClr val="C775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" y="5641848"/>
            <a:ext cx="1091793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150" b="1" i="0">
                <a:solidFill>
                  <a:srgbClr val="C77514"/>
                </a:solidFill>
                <a:latin typeface="Cambria"/>
              </a:rPr>
              <a:t>On the four notional hours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5916168"/>
            <a:ext cx="10917936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1050" b="0" i="0">
                <a:solidFill>
                  <a:srgbClr val="33414F"/>
                </a:solidFill>
                <a:latin typeface="Calibri"/>
              </a:rPr>
              <a:t>Four hours is enough to define the terms. It is not enough to make anyone believe them — and nothing in this subtopic is believed until it has been seen to happen. Lecture from the summary slides to fit four hours; run the lab alongside to teach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292608"/>
            <a:ext cx="530352" cy="530352"/>
          </a:xfrm>
          <a:prstGeom prst="ellipse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402336"/>
            <a:ext cx="155448" cy="310896"/>
          </a:xfrm>
          <a:prstGeom prst="rect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292608"/>
            <a:ext cx="106070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 spc="200">
                <a:solidFill>
                  <a:srgbClr val="1B9AAA"/>
                </a:solidFill>
                <a:latin typeface="Calibri"/>
              </a:rPr>
              <a:t>TOPIC 2 ·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0292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2100" b="1" i="0">
                <a:solidFill>
                  <a:srgbClr val="0E2A47"/>
                </a:solidFill>
                <a:latin typeface="Cambria"/>
              </a:rPr>
              <a:t>How This Session Runs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8992" y="1024128"/>
            <a:ext cx="10579608" cy="9525"/>
          </a:xfrm>
          <a:prstGeom prst="rect">
            <a:avLst/>
          </a:prstGeom>
          <a:solidFill>
            <a:srgbClr val="D8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47104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Chip Design Associate · Module 2 · Verilog RTL Coding for Synthesis · Topic 2: RTL Design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47104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M2-T2 · 5</a:t>
            </a:r>
          </a:p>
        </p:txBody>
      </p:sp>
      <p:pic>
        <p:nvPicPr>
          <p:cNvPr id="9" name="Picture 8" descr="topic_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0500" y="1097280"/>
            <a:ext cx="5809080" cy="4480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1480" y="566928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100" b="1" i="0">
                <a:solidFill>
                  <a:srgbClr val="0E2A47"/>
                </a:solidFill>
                <a:latin typeface="Calibri"/>
              </a:rPr>
              <a:t>RTL is not a language and it is not a tool. It is a way of thinking about hardware.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A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144000" y="-1828800"/>
            <a:ext cx="6400800" cy="6400800"/>
          </a:xfrm>
          <a:prstGeom prst="ellipse">
            <a:avLst/>
          </a:prstGeom>
          <a:solidFill>
            <a:srgbClr val="163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6002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400" b="1" i="0" spc="300">
                <a:solidFill>
                  <a:srgbClr val="1B9AAA"/>
                </a:solidFill>
                <a:latin typeface="Calibri"/>
              </a:rPr>
              <a:t>THEORY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011680"/>
            <a:ext cx="96012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3000" b="1" i="0">
                <a:solidFill>
                  <a:srgbClr val="FFFFFF"/>
                </a:solidFill>
                <a:latin typeface="Cambria"/>
              </a:rPr>
              <a:t>What RTL 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971800"/>
            <a:ext cx="86868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350" b="0" i="0">
                <a:solidFill>
                  <a:srgbClr val="C9D6E3"/>
                </a:solidFill>
                <a:latin typeface="Calibri"/>
              </a:rPr>
              <a:t>The name is the definition, and almost everything else in this topic is a consequence of 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941064"/>
            <a:ext cx="91440" cy="182880"/>
          </a:xfrm>
          <a:prstGeom prst="rect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840480"/>
            <a:ext cx="9875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300" b="0" i="0">
                <a:solidFill>
                  <a:srgbClr val="E7EEF5"/>
                </a:solidFill>
                <a:latin typeface="Calibri"/>
              </a:rPr>
              <a:t>Registers, and what transfers into them on each clock edge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352544"/>
            <a:ext cx="91440" cy="182880"/>
          </a:xfrm>
          <a:prstGeom prst="rect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251960"/>
            <a:ext cx="9875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300" b="0" i="0">
                <a:solidFill>
                  <a:srgbClr val="E7EEF5"/>
                </a:solidFill>
                <a:latin typeface="Calibri"/>
              </a:rPr>
              <a:t>Why &lt;= and = are not interchangeable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764024"/>
            <a:ext cx="91440" cy="182880"/>
          </a:xfrm>
          <a:prstGeom prst="rect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663440"/>
            <a:ext cx="9875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300" b="0" i="0">
                <a:solidFill>
                  <a:srgbClr val="E7EEF5"/>
                </a:solidFill>
                <a:latin typeface="Calibri"/>
              </a:rPr>
              <a:t>Four levels of abstraction, one circuit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5175504"/>
            <a:ext cx="91440" cy="182880"/>
          </a:xfrm>
          <a:prstGeom prst="rect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074920"/>
            <a:ext cx="9875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300" b="0" i="0">
                <a:solidFill>
                  <a:srgbClr val="E7EEF5"/>
                </a:solidFill>
                <a:latin typeface="Calibri"/>
              </a:rPr>
              <a:t>And what a synthesiser makes of each level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547104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800" b="0" i="0">
                <a:solidFill>
                  <a:srgbClr val="7C8EA2"/>
                </a:solidFill>
                <a:latin typeface="Calibri"/>
              </a:rPr>
              <a:t>Chip Design Associate · Module 2 · Verilog RTL Coding for Synthesis · Topic 2: RTL Design Methodology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6547104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3000"/>
              </a:lnSpc>
            </a:pPr>
            <a:r>
              <a:rPr sz="800" b="0" i="0">
                <a:solidFill>
                  <a:srgbClr val="7C8EA2"/>
                </a:solidFill>
                <a:latin typeface="Calibri"/>
              </a:rPr>
              <a:t>M2-T2 ·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292608"/>
            <a:ext cx="530352" cy="530352"/>
          </a:xfrm>
          <a:prstGeom prst="ellipse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402336"/>
            <a:ext cx="155448" cy="310896"/>
          </a:xfrm>
          <a:prstGeom prst="rect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292608"/>
            <a:ext cx="106070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 spc="200">
                <a:solidFill>
                  <a:srgbClr val="1B9AAA"/>
                </a:solidFill>
                <a:latin typeface="Calibri"/>
              </a:rPr>
              <a:t>1.1 · THE DEFINITION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0292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2100" b="1" i="0">
                <a:solidFill>
                  <a:srgbClr val="0E2A47"/>
                </a:solidFill>
                <a:latin typeface="Cambria"/>
              </a:rPr>
              <a:t>Register Transfer Level: the Name Is the Definition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8992" y="1024128"/>
            <a:ext cx="10579608" cy="9525"/>
          </a:xfrm>
          <a:prstGeom prst="rect">
            <a:avLst/>
          </a:prstGeom>
          <a:solidFill>
            <a:srgbClr val="D8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47104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Chip Design Associate · Module 2 · Verilog RTL Coding for Synthesis · Topic 2: RTL Design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47104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M2-T2 · 7</a:t>
            </a:r>
          </a:p>
        </p:txBody>
      </p:sp>
      <p:pic>
        <p:nvPicPr>
          <p:cNvPr id="9" name="Picture 8" descr="rtl_defin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5894" y="1097280"/>
            <a:ext cx="6418292" cy="42976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11480" y="5486400"/>
            <a:ext cx="11247120" cy="868680"/>
          </a:xfrm>
          <a:prstGeom prst="roundRect">
            <a:avLst>
              <a:gd name="adj" fmla="val 5714"/>
            </a:avLst>
          </a:prstGeom>
          <a:solidFill>
            <a:srgbClr val="F4F8FB"/>
          </a:solidFill>
          <a:ln w="1397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" y="5550408"/>
            <a:ext cx="1091793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150" b="1" i="0">
                <a:solidFill>
                  <a:srgbClr val="0E2A47"/>
                </a:solidFill>
                <a:latin typeface="Cambria"/>
              </a:rPr>
              <a:t>Two statements, and nothing else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5824728"/>
            <a:ext cx="10917936" cy="466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1100" b="0" i="0">
                <a:solidFill>
                  <a:srgbClr val="33414F"/>
                </a:solidFill>
                <a:latin typeface="Calibri"/>
              </a:rPr>
              <a:t>1.  Which registers exist.    2.  What transfers into each one, on each clock edge.</a:t>
            </a:r>
          </a:p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1100" b="1" i="0">
                <a:solidFill>
                  <a:srgbClr val="0E2A47"/>
                </a:solidFill>
                <a:latin typeface="Calibri"/>
              </a:rPr>
              <a:t>How many gates, which gates, how they are wired, how fast they are — none of that is in the description. You state the transfers; synthesis works out the circuit.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292608"/>
            <a:ext cx="530352" cy="530352"/>
          </a:xfrm>
          <a:prstGeom prst="ellipse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402336"/>
            <a:ext cx="155448" cy="310896"/>
          </a:xfrm>
          <a:prstGeom prst="rect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292608"/>
            <a:ext cx="106070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 spc="200">
                <a:solidFill>
                  <a:srgbClr val="1B9AAA"/>
                </a:solidFill>
                <a:latin typeface="Calibri"/>
              </a:rPr>
              <a:t>1.1 · THE DEFINITION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0292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2100" b="1" i="0">
                <a:solidFill>
                  <a:srgbClr val="0E2A47"/>
                </a:solidFill>
                <a:latin typeface="Cambria"/>
              </a:rPr>
              <a:t>Watch One Value Transfer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8992" y="1024128"/>
            <a:ext cx="10579608" cy="9525"/>
          </a:xfrm>
          <a:prstGeom prst="rect">
            <a:avLst/>
          </a:prstGeom>
          <a:solidFill>
            <a:srgbClr val="D8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47104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Chip Design Associate · Module 2 · Verilog RTL Coding for Synthesis · Topic 2: RTL Design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47104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M2-T2 · 8</a:t>
            </a:r>
          </a:p>
        </p:txBody>
      </p:sp>
      <p:pic>
        <p:nvPicPr>
          <p:cNvPr id="9" name="Picture 8" descr="rtl_transfer_tr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7614" y="1097280"/>
            <a:ext cx="6554852" cy="43891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1480" y="5577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050" b="0" i="0">
                <a:solidFill>
                  <a:srgbClr val="33414F"/>
                </a:solidFill>
                <a:latin typeface="Calibri"/>
              </a:rPr>
              <a:t>A single 5 applied on cycle 0. It reaches x, then y as 6, then z as 12, then acc — one register per clock edge, and nothing moves in between.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292608"/>
            <a:ext cx="530352" cy="530352"/>
          </a:xfrm>
          <a:prstGeom prst="ellipse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402336"/>
            <a:ext cx="155448" cy="310896"/>
          </a:xfrm>
          <a:prstGeom prst="rect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292608"/>
            <a:ext cx="106070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 spc="200">
                <a:solidFill>
                  <a:srgbClr val="1B9AAA"/>
                </a:solidFill>
                <a:latin typeface="Calibri"/>
              </a:rPr>
              <a:t>1.2 · WHY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0292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2100" b="1" i="0">
                <a:solidFill>
                  <a:srgbClr val="0E2A47"/>
                </a:solidFill>
                <a:latin typeface="Cambria"/>
              </a:rPr>
              <a:t>Why Anyone Designs At This Level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8992" y="1024128"/>
            <a:ext cx="10579608" cy="9525"/>
          </a:xfrm>
          <a:prstGeom prst="rect">
            <a:avLst/>
          </a:prstGeom>
          <a:solidFill>
            <a:srgbClr val="D8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47104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Chip Design Associate · Module 2 · Verilog RTL Coding for Synthesis · Topic 2: RTL Design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47104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M2-T2 · 9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43000"/>
            <a:ext cx="2194560" cy="329184"/>
          </a:xfrm>
          <a:prstGeom prst="rect">
            <a:avLst/>
          </a:prstGeom>
          <a:solidFill>
            <a:srgbClr val="0E2A47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43000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2606040" y="1143000"/>
            <a:ext cx="2926080" cy="329184"/>
          </a:xfrm>
          <a:prstGeom prst="rect">
            <a:avLst/>
          </a:prstGeom>
          <a:solidFill>
            <a:srgbClr val="0E2A47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51760" y="1143000"/>
            <a:ext cx="2834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Behavioural / algorithmic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32120" y="1143000"/>
            <a:ext cx="3200400" cy="329184"/>
          </a:xfrm>
          <a:prstGeom prst="rect">
            <a:avLst/>
          </a:prstGeom>
          <a:solidFill>
            <a:srgbClr val="0E2A47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77840" y="1143000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RTL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32520" y="1143000"/>
            <a:ext cx="2926080" cy="329184"/>
          </a:xfrm>
          <a:prstGeom prst="rect">
            <a:avLst/>
          </a:prstGeom>
          <a:solidFill>
            <a:srgbClr val="0E2A47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0" y="1143000"/>
            <a:ext cx="2834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Gate netlist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1472184"/>
            <a:ext cx="219456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1472184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1000" b="0" i="0">
                <a:solidFill>
                  <a:srgbClr val="33414F"/>
                </a:solidFill>
                <a:latin typeface="Calibri"/>
              </a:rPr>
              <a:t>you write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606040" y="1472184"/>
            <a:ext cx="292608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51760" y="1472184"/>
            <a:ext cx="2834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1000" b="0" i="0">
                <a:solidFill>
                  <a:srgbClr val="33414F"/>
                </a:solidFill>
                <a:latin typeface="Calibri"/>
              </a:rPr>
              <a:t>the algorithm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532120" y="1472184"/>
            <a:ext cx="320040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77840" y="1472184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1000" b="1" i="0">
                <a:solidFill>
                  <a:srgbClr val="0E2A47"/>
                </a:solidFill>
                <a:latin typeface="Calibri"/>
              </a:rPr>
              <a:t>registers and transfers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32520" y="1472184"/>
            <a:ext cx="292608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0" y="1472184"/>
            <a:ext cx="2834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1000" b="0" i="0">
                <a:solidFill>
                  <a:srgbClr val="33414F"/>
                </a:solidFill>
                <a:latin typeface="Calibri"/>
              </a:rPr>
              <a:t>every gate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1801368"/>
            <a:ext cx="2194560" cy="329184"/>
          </a:xfrm>
          <a:prstGeom prst="rect">
            <a:avLst/>
          </a:prstGeom>
          <a:solidFill>
            <a:srgbClr val="F4F8FB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1801368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1000" b="0" i="0">
                <a:solidFill>
                  <a:srgbClr val="33414F"/>
                </a:solidFill>
                <a:latin typeface="Calibri"/>
              </a:rPr>
              <a:t>timing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06040" y="1801368"/>
            <a:ext cx="2926080" cy="329184"/>
          </a:xfrm>
          <a:prstGeom prst="rect">
            <a:avLst/>
          </a:prstGeom>
          <a:solidFill>
            <a:srgbClr val="F4F8FB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651760" y="1801368"/>
            <a:ext cx="2834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1000" b="0" i="0">
                <a:solidFill>
                  <a:srgbClr val="33414F"/>
                </a:solidFill>
                <a:latin typeface="Calibri"/>
              </a:rPr>
              <a:t>none at all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532120" y="1801368"/>
            <a:ext cx="3200400" cy="329184"/>
          </a:xfrm>
          <a:prstGeom prst="rect">
            <a:avLst/>
          </a:prstGeom>
          <a:solidFill>
            <a:srgbClr val="F4F8FB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77840" y="1801368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1000" b="1" i="0">
                <a:solidFill>
                  <a:srgbClr val="0E2A47"/>
                </a:solidFill>
                <a:latin typeface="Calibri"/>
              </a:rPr>
              <a:t>one clock period per stage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732520" y="1801368"/>
            <a:ext cx="2926080" cy="329184"/>
          </a:xfrm>
          <a:prstGeom prst="rect">
            <a:avLst/>
          </a:prstGeom>
          <a:solidFill>
            <a:srgbClr val="F4F8FB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78240" y="1801368"/>
            <a:ext cx="2834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1000" b="0" i="0">
                <a:solidFill>
                  <a:srgbClr val="33414F"/>
                </a:solidFill>
                <a:latin typeface="Calibri"/>
              </a:rPr>
              <a:t>exact, per gate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2130552"/>
            <a:ext cx="219456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2130552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1000" b="0" i="0">
                <a:solidFill>
                  <a:srgbClr val="33414F"/>
                </a:solidFill>
                <a:latin typeface="Calibri"/>
              </a:rPr>
              <a:t>synthesisable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606040" y="2130552"/>
            <a:ext cx="292608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651760" y="2130552"/>
            <a:ext cx="2834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1000" b="0" i="0">
                <a:solidFill>
                  <a:srgbClr val="33414F"/>
                </a:solidFill>
                <a:latin typeface="Calibri"/>
              </a:rPr>
              <a:t>rarely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32120" y="2130552"/>
            <a:ext cx="320040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577840" y="213055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1000" b="1" i="0">
                <a:solidFill>
                  <a:srgbClr val="0E2A47"/>
                </a:solidFill>
                <a:latin typeface="Calibri"/>
              </a:rPr>
              <a:t>yes — this is the target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732520" y="2130552"/>
            <a:ext cx="292608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778240" y="2130552"/>
            <a:ext cx="2834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1000" b="0" i="0">
                <a:solidFill>
                  <a:srgbClr val="33414F"/>
                </a:solidFill>
                <a:latin typeface="Calibri"/>
              </a:rPr>
              <a:t>yes, but why would you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2459736"/>
            <a:ext cx="2194560" cy="329184"/>
          </a:xfrm>
          <a:prstGeom prst="rect">
            <a:avLst/>
          </a:prstGeom>
          <a:solidFill>
            <a:srgbClr val="F4F8FB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2459736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1000" b="0" i="0">
                <a:solidFill>
                  <a:srgbClr val="33414F"/>
                </a:solidFill>
                <a:latin typeface="Calibri"/>
              </a:rPr>
              <a:t>a 10k-gate design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606040" y="2459736"/>
            <a:ext cx="2926080" cy="329184"/>
          </a:xfrm>
          <a:prstGeom prst="rect">
            <a:avLst/>
          </a:prstGeom>
          <a:solidFill>
            <a:srgbClr val="F4F8FB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651760" y="2459736"/>
            <a:ext cx="2834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1000" b="0" i="0">
                <a:solidFill>
                  <a:srgbClr val="33414F"/>
                </a:solidFill>
                <a:latin typeface="Calibri"/>
              </a:rPr>
              <a:t>unbuildable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532120" y="2459736"/>
            <a:ext cx="3200400" cy="329184"/>
          </a:xfrm>
          <a:prstGeom prst="rect">
            <a:avLst/>
          </a:prstGeom>
          <a:solidFill>
            <a:srgbClr val="F4F8FB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577840" y="2459736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1000" b="1" i="0">
                <a:solidFill>
                  <a:srgbClr val="0E2A47"/>
                </a:solidFill>
                <a:latin typeface="Calibri"/>
              </a:rPr>
              <a:t>a few hundred lines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732520" y="2459736"/>
            <a:ext cx="2926080" cy="329184"/>
          </a:xfrm>
          <a:prstGeom prst="rect">
            <a:avLst/>
          </a:prstGeom>
          <a:solidFill>
            <a:srgbClr val="F4F8FB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778240" y="2459736"/>
            <a:ext cx="2834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1000" b="0" i="0">
                <a:solidFill>
                  <a:srgbClr val="33414F"/>
                </a:solidFill>
                <a:latin typeface="Calibri"/>
              </a:rPr>
              <a:t>tens of thousands of lines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11480" y="2788920"/>
            <a:ext cx="219456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57200" y="2788920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1000" b="0" i="0">
                <a:solidFill>
                  <a:srgbClr val="33414F"/>
                </a:solidFill>
                <a:latin typeface="Calibri"/>
              </a:rPr>
              <a:t>who writes it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606040" y="2788920"/>
            <a:ext cx="292608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651760" y="2788920"/>
            <a:ext cx="2834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1000" b="0" i="0">
                <a:solidFill>
                  <a:srgbClr val="33414F"/>
                </a:solidFill>
                <a:latin typeface="Calibri"/>
              </a:rPr>
              <a:t>architects, in C or SystemC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532120" y="2788920"/>
            <a:ext cx="320040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577840" y="2788920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1000" b="1" i="0">
                <a:solidFill>
                  <a:srgbClr val="0E2A47"/>
                </a:solidFill>
                <a:latin typeface="Calibri"/>
              </a:rPr>
              <a:t>you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732520" y="2788920"/>
            <a:ext cx="292608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778240" y="2788920"/>
            <a:ext cx="2834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1000" b="0" i="0">
                <a:solidFill>
                  <a:srgbClr val="33414F"/>
                </a:solidFill>
                <a:latin typeface="Calibri"/>
              </a:rPr>
              <a:t>the synthesiser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11480" y="3209544"/>
            <a:ext cx="11247120" cy="1005840"/>
          </a:xfrm>
          <a:prstGeom prst="roundRect">
            <a:avLst>
              <a:gd name="adj" fmla="val 5714"/>
            </a:avLst>
          </a:prstGeom>
          <a:solidFill>
            <a:srgbClr val="F4F8FB"/>
          </a:solidFill>
          <a:ln w="13970">
            <a:solidFill>
              <a:srgbClr val="1B9A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76072" y="3273552"/>
            <a:ext cx="1091793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150" b="1" i="0">
                <a:solidFill>
                  <a:srgbClr val="1B9AAA"/>
                </a:solidFill>
                <a:latin typeface="Cambria"/>
              </a:rPr>
              <a:t>RTL is the level where the trade lands correctly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76072" y="3547872"/>
            <a:ext cx="10917936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1100" b="0" i="0">
                <a:solidFill>
                  <a:srgbClr val="33414F"/>
                </a:solidFill>
                <a:latin typeface="Calibri"/>
              </a:rPr>
              <a:t>High enough that a human can write and read a real design; low enough that a tool can build it without guessing at your intent.</a:t>
            </a:r>
          </a:p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1100" b="1" i="0">
                <a:solidFill>
                  <a:srgbClr val="0E2A47"/>
                </a:solidFill>
                <a:latin typeface="Calibri"/>
              </a:rPr>
              <a:t>Every industrial digital design in the last thirty years was written here. That is not fashion — it is where the abstraction pays for itself.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11480" y="4306824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050" b="1" i="0">
                <a:solidFill>
                  <a:srgbClr val="5A6B7B"/>
                </a:solidFill>
                <a:latin typeface="Calibri"/>
              </a:rPr>
              <a:t>Above RTL you cannot say when things happen. Below it you cannot say anything else.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292608"/>
            <a:ext cx="530352" cy="530352"/>
          </a:xfrm>
          <a:prstGeom prst="ellipse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402336"/>
            <a:ext cx="155448" cy="310896"/>
          </a:xfrm>
          <a:prstGeom prst="rect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292608"/>
            <a:ext cx="106070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 spc="200">
                <a:solidFill>
                  <a:srgbClr val="1B9AAA"/>
                </a:solidFill>
                <a:latin typeface="Calibri"/>
              </a:rPr>
              <a:t>1.3 · &lt;= AND =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0292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2100" b="1" i="0">
                <a:solidFill>
                  <a:srgbClr val="0E2A47"/>
                </a:solidFill>
                <a:latin typeface="Cambria"/>
              </a:rPr>
              <a:t>The Two Assignment Operators, and Why It Matters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8992" y="1024128"/>
            <a:ext cx="10579608" cy="9525"/>
          </a:xfrm>
          <a:prstGeom prst="rect">
            <a:avLst/>
          </a:prstGeom>
          <a:solidFill>
            <a:srgbClr val="D8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47104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Chip Design Associate · Module 2 · Verilog RTL Coding for Synthesis · Topic 2: RTL Design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47104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M2-T2 · 10</a:t>
            </a:r>
          </a:p>
        </p:txBody>
      </p:sp>
      <p:pic>
        <p:nvPicPr>
          <p:cNvPr id="9" name="Picture 8" descr="nonbloc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7614" y="1097280"/>
            <a:ext cx="6554852" cy="43891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1480" y="55778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050" b="1" i="0">
                <a:solidFill>
                  <a:srgbClr val="C01F43"/>
                </a:solidFill>
                <a:latin typeface="Calibri"/>
              </a:rPr>
              <a:t>Neither one is an error. Both are caught by the linter you build in this topic.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292608"/>
            <a:ext cx="530352" cy="530352"/>
          </a:xfrm>
          <a:prstGeom prst="ellipse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402336"/>
            <a:ext cx="155448" cy="310896"/>
          </a:xfrm>
          <a:prstGeom prst="rect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292608"/>
            <a:ext cx="106070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 spc="200">
                <a:solidFill>
                  <a:srgbClr val="1B9AAA"/>
                </a:solidFill>
                <a:latin typeface="Calibri"/>
              </a:rPr>
              <a:t>1.3 · &lt;= AND =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0292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2100" b="1" i="0">
                <a:solidFill>
                  <a:srgbClr val="0E2A47"/>
                </a:solidFill>
                <a:latin typeface="Cambria"/>
              </a:rPr>
              <a:t>The Swap, Worked Through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8992" y="1024128"/>
            <a:ext cx="10579608" cy="9525"/>
          </a:xfrm>
          <a:prstGeom prst="rect">
            <a:avLst/>
          </a:prstGeom>
          <a:solidFill>
            <a:srgbClr val="D8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47104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Chip Design Associate · Module 2 · Verilog RTL Coding for Synthesis · Topic 2: RTL Design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47104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M2-T2 · 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43000"/>
            <a:ext cx="11247120" cy="3085592"/>
          </a:xfrm>
          <a:prstGeom prst="roundRect">
            <a:avLst>
              <a:gd name="adj" fmla="val 3000"/>
            </a:avLst>
          </a:prstGeom>
          <a:solidFill>
            <a:srgbClr val="112233"/>
          </a:solidFill>
          <a:ln w="13970">
            <a:solidFill>
              <a:srgbClr val="1B9A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257300"/>
            <a:ext cx="10881360" cy="2856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D8E4F0"/>
                </a:solidFill>
                <a:latin typeface="Consolas"/>
              </a:rPr>
              <a:t>// NON-BLOCKING - inside always @(posedge clk)</a:t>
            </a:r>
          </a:p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D8E4F0"/>
                </a:solidFill>
                <a:latin typeface="Consolas"/>
              </a:rPr>
              <a:t>//   Step 1: read every right-hand side, using the OLD values.</a:t>
            </a:r>
          </a:p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D8E4F0"/>
                </a:solidFill>
                <a:latin typeface="Consolas"/>
              </a:rPr>
              <a:t>//   Step 2: update every left-hand side, all at the same instant.</a:t>
            </a:r>
          </a:p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D8E4F0"/>
                </a:solidFill>
                <a:latin typeface="Consolas"/>
              </a:rPr>
              <a:t> </a:t>
            </a:r>
          </a:p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D8E4F0"/>
                </a:solidFill>
                <a:latin typeface="Consolas"/>
              </a:rPr>
              <a:t>        a &lt;= b;        //  reads old b</a:t>
            </a:r>
          </a:p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D8E4F0"/>
                </a:solidFill>
                <a:latin typeface="Consolas"/>
              </a:rPr>
              <a:t>        b &lt;= a;        //  reads old a</a:t>
            </a:r>
          </a:p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D8E4F0"/>
                </a:solidFill>
                <a:latin typeface="Consolas"/>
              </a:rPr>
              <a:t> </a:t>
            </a:r>
          </a:p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D8E4F0"/>
                </a:solidFill>
                <a:latin typeface="Consolas"/>
              </a:rPr>
              <a:t>        a and b are SWAPPED.  This is what a hardware register does.</a:t>
            </a:r>
          </a:p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D8E4F0"/>
                </a:solidFill>
                <a:latin typeface="Consolas"/>
              </a:rPr>
              <a:t> </a:t>
            </a:r>
          </a:p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D8E4F0"/>
                </a:solidFill>
                <a:latin typeface="Consolas"/>
              </a:rPr>
              <a:t>// BLOCKING - inside always @*</a:t>
            </a:r>
          </a:p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D8E4F0"/>
                </a:solidFill>
                <a:latin typeface="Consolas"/>
              </a:rPr>
              <a:t>//   Each statement finishes before the next one starts.</a:t>
            </a:r>
          </a:p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D8E4F0"/>
                </a:solidFill>
                <a:latin typeface="Consolas"/>
              </a:rPr>
              <a:t> </a:t>
            </a:r>
          </a:p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D8E4F0"/>
                </a:solidFill>
                <a:latin typeface="Consolas"/>
              </a:rPr>
              <a:t>        a = b;         //  a is now b</a:t>
            </a:r>
          </a:p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D8E4F0"/>
                </a:solidFill>
                <a:latin typeface="Consolas"/>
              </a:rPr>
              <a:t>        b = a;         //  a is already b, so this does nothing</a:t>
            </a:r>
          </a:p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D8E4F0"/>
                </a:solidFill>
                <a:latin typeface="Consolas"/>
              </a:rPr>
              <a:t> </a:t>
            </a:r>
          </a:p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D8E4F0"/>
                </a:solidFill>
                <a:latin typeface="Consolas"/>
              </a:rPr>
              <a:t>        BOTH end up holding b.  This is what software does.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4320032"/>
            <a:ext cx="11247120" cy="1097280"/>
          </a:xfrm>
          <a:prstGeom prst="roundRect">
            <a:avLst>
              <a:gd name="adj" fmla="val 5714"/>
            </a:avLst>
          </a:prstGeom>
          <a:solidFill>
            <a:srgbClr val="F4F8FB"/>
          </a:solidFill>
          <a:ln w="1397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" y="4384040"/>
            <a:ext cx="1091793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150" b="1" i="0">
                <a:solidFill>
                  <a:srgbClr val="0E2A47"/>
                </a:solidFill>
                <a:latin typeface="Cambria"/>
              </a:rPr>
              <a:t>Why the rule is absolute rather than stylistic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4658360"/>
            <a:ext cx="10917936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1100" b="0" i="0">
                <a:solidFill>
                  <a:srgbClr val="33414F"/>
                </a:solidFill>
                <a:latin typeface="Calibri"/>
              </a:rPr>
              <a:t>Two clocked blocks using blocking assignments can see each other's half-updated values, and which one wins depends on the order the simulator happens to evaluate them in — an order the language standard deliberately does not fix.</a:t>
            </a:r>
          </a:p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1100" b="1" i="0">
                <a:solidFill>
                  <a:srgbClr val="0E2A47"/>
                </a:solidFill>
                <a:latin typeface="Calibri"/>
              </a:rPr>
              <a:t>Non-blocking assignment exists precisely to make that race impossible.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292608"/>
            <a:ext cx="530352" cy="530352"/>
          </a:xfrm>
          <a:prstGeom prst="ellipse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402336"/>
            <a:ext cx="155448" cy="310896"/>
          </a:xfrm>
          <a:prstGeom prst="rect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292608"/>
            <a:ext cx="106070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 spc="200">
                <a:solidFill>
                  <a:srgbClr val="1B9AAA"/>
                </a:solidFill>
                <a:latin typeface="Calibri"/>
              </a:rPr>
              <a:t>1.4 · ABSTRACTION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0292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2100" b="1" i="0">
                <a:solidFill>
                  <a:srgbClr val="0E2A47"/>
                </a:solidFill>
                <a:latin typeface="Cambria"/>
              </a:rPr>
              <a:t>Four Levels, One Circuit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8992" y="1024128"/>
            <a:ext cx="10579608" cy="9525"/>
          </a:xfrm>
          <a:prstGeom prst="rect">
            <a:avLst/>
          </a:prstGeom>
          <a:solidFill>
            <a:srgbClr val="D8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47104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Chip Design Associate · Module 2 · Verilog RTL Coding for Synthesis · Topic 2: RTL Design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47104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M2-T2 · 12</a:t>
            </a:r>
          </a:p>
        </p:txBody>
      </p:sp>
      <p:pic>
        <p:nvPicPr>
          <p:cNvPr id="9" name="Picture 8" descr="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1795" y="1097280"/>
            <a:ext cx="6546491" cy="4937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1480" y="6126480"/>
            <a:ext cx="11247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100" b="1" i="0">
                <a:solidFill>
                  <a:srgbClr val="2A9D5C"/>
                </a:solidFill>
                <a:latin typeface="Calibri"/>
              </a:rPr>
              <a:t>All four were simulated together on all 8 input patterns. Zero mismatches.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292608"/>
            <a:ext cx="530352" cy="530352"/>
          </a:xfrm>
          <a:prstGeom prst="ellipse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402336"/>
            <a:ext cx="155448" cy="310896"/>
          </a:xfrm>
          <a:prstGeom prst="rect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292608"/>
            <a:ext cx="106070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 spc="200">
                <a:solidFill>
                  <a:srgbClr val="1B9AAA"/>
                </a:solidFill>
                <a:latin typeface="Calibri"/>
              </a:rPr>
              <a:t>1.4 · ABSTRACTION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0292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2100" b="1" i="0">
                <a:solidFill>
                  <a:srgbClr val="0E2A47"/>
                </a:solidFill>
                <a:latin typeface="Cambria"/>
              </a:rPr>
              <a:t>The Same Adder, Written Four Ways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8992" y="1024128"/>
            <a:ext cx="10579608" cy="9525"/>
          </a:xfrm>
          <a:prstGeom prst="rect">
            <a:avLst/>
          </a:prstGeom>
          <a:solidFill>
            <a:srgbClr val="D8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47104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Chip Design Associate · Module 2 · Verilog RTL Coding for Synthesis · Topic 2: RTL Design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47104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M2-T2 · 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43000"/>
            <a:ext cx="11247120" cy="2728468"/>
          </a:xfrm>
          <a:prstGeom prst="roundRect">
            <a:avLst>
              <a:gd name="adj" fmla="val 3000"/>
            </a:avLst>
          </a:prstGeom>
          <a:solidFill>
            <a:srgbClr val="112233"/>
          </a:solidFill>
          <a:ln w="13970">
            <a:solidFill>
              <a:srgbClr val="1B9A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257300"/>
            <a:ext cx="10881360" cy="24998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D8E4F0"/>
                </a:solidFill>
                <a:latin typeface="Consolas"/>
              </a:rPr>
              <a:t>// BEHAVIOURAL - you describe the function</a:t>
            </a:r>
          </a:p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D8E4F0"/>
                </a:solidFill>
                <a:latin typeface="Consolas"/>
              </a:rPr>
              <a:t>always @* {cout, sum} = a + b + cin;</a:t>
            </a:r>
          </a:p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D8E4F0"/>
                </a:solidFill>
                <a:latin typeface="Consolas"/>
              </a:rPr>
              <a:t> </a:t>
            </a:r>
          </a:p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D8E4F0"/>
                </a:solidFill>
                <a:latin typeface="Consolas"/>
              </a:rPr>
              <a:t>// DATAFLOW - you describe the Boolean form</a:t>
            </a:r>
          </a:p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D8E4F0"/>
                </a:solidFill>
                <a:latin typeface="Consolas"/>
              </a:rPr>
              <a:t>assign sum  = a ^ b ^ cin;</a:t>
            </a:r>
          </a:p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D8E4F0"/>
                </a:solidFill>
                <a:latin typeface="Consolas"/>
              </a:rPr>
              <a:t>assign cout = (a &amp; b) | (b &amp; cin) | (a &amp; cin);</a:t>
            </a:r>
          </a:p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D8E4F0"/>
                </a:solidFill>
                <a:latin typeface="Consolas"/>
              </a:rPr>
              <a:t> </a:t>
            </a:r>
          </a:p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D8E4F0"/>
                </a:solidFill>
                <a:latin typeface="Consolas"/>
              </a:rPr>
              <a:t>// GATE - you name every gate and every wire</a:t>
            </a:r>
          </a:p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D8E4F0"/>
                </a:solidFill>
                <a:latin typeface="Consolas"/>
              </a:rPr>
              <a:t>xor x1 (s1, a, b);      xor x2 (sum, s1, cin);</a:t>
            </a:r>
          </a:p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D8E4F0"/>
                </a:solidFill>
                <a:latin typeface="Consolas"/>
              </a:rPr>
              <a:t>and a1 (ab, a, b);      and a2 (bc, b, cin);   and a3 (ac, a, cin);</a:t>
            </a:r>
          </a:p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D8E4F0"/>
                </a:solidFill>
                <a:latin typeface="Consolas"/>
              </a:rPr>
              <a:t>or  o1 (cout, ab, bc, ac);</a:t>
            </a:r>
          </a:p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D8E4F0"/>
                </a:solidFill>
                <a:latin typeface="Consolas"/>
              </a:rPr>
              <a:t> </a:t>
            </a:r>
          </a:p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D8E4F0"/>
                </a:solidFill>
                <a:latin typeface="Consolas"/>
              </a:rPr>
              <a:t>// SWITCH - you place individual transistors</a:t>
            </a:r>
          </a:p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D8E4F0"/>
                </a:solidFill>
                <a:latin typeface="Consolas"/>
              </a:rPr>
              <a:t>pmos p1 (y, vdd, a);    nmos n1 (y, gnd, a);      // one CMOS inverter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292608"/>
            <a:ext cx="530352" cy="530352"/>
          </a:xfrm>
          <a:prstGeom prst="ellipse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402336"/>
            <a:ext cx="155448" cy="310896"/>
          </a:xfrm>
          <a:prstGeom prst="rect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292608"/>
            <a:ext cx="106070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 spc="200">
                <a:solidFill>
                  <a:srgbClr val="1B9AAA"/>
                </a:solidFill>
                <a:latin typeface="Calibri"/>
              </a:rPr>
              <a:t>1.4 · ABSTRACTION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0292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2100" b="1" i="0">
                <a:solidFill>
                  <a:srgbClr val="0E2A47"/>
                </a:solidFill>
                <a:latin typeface="Cambria"/>
              </a:rPr>
              <a:t>And What a Synthesiser Makes of Each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8992" y="1024128"/>
            <a:ext cx="10579608" cy="9525"/>
          </a:xfrm>
          <a:prstGeom prst="rect">
            <a:avLst/>
          </a:prstGeom>
          <a:solidFill>
            <a:srgbClr val="D8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47104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Chip Design Associate · Module 2 · Verilog RTL Coding for Synthesis · Topic 2: RTL Design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47104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M2-T2 · 14</a:t>
            </a:r>
          </a:p>
        </p:txBody>
      </p:sp>
      <p:pic>
        <p:nvPicPr>
          <p:cNvPr id="9" name="Picture 8" descr="ladder_synthe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1795" y="1097280"/>
            <a:ext cx="6546491" cy="4937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1480" y="6126480"/>
            <a:ext cx="11247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050" b="1" i="0">
                <a:solidFill>
                  <a:srgbClr val="C77514"/>
                </a:solidFill>
                <a:latin typeface="Calibri"/>
              </a:rPr>
              <a:t>The behavioural description produced the SMALLEST circuit — and dataflow and gate produced the identical netlist.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292608"/>
            <a:ext cx="530352" cy="530352"/>
          </a:xfrm>
          <a:prstGeom prst="ellipse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402336"/>
            <a:ext cx="155448" cy="310896"/>
          </a:xfrm>
          <a:prstGeom prst="rect">
            <a:avLst/>
          </a:prstGeom>
          <a:solidFill>
            <a:srgbClr val="2A9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292608"/>
            <a:ext cx="106070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 spc="200">
                <a:solidFill>
                  <a:srgbClr val="2A9D5C"/>
                </a:solidFill>
                <a:latin typeface="Calibri"/>
              </a:rPr>
              <a:t>1.4 · ABSTRACTION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0292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2100" b="1" i="0">
                <a:solidFill>
                  <a:srgbClr val="0E2A47"/>
                </a:solidFill>
                <a:latin typeface="Cambria"/>
              </a:rPr>
              <a:t>The Rule This Gives You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8992" y="1024128"/>
            <a:ext cx="10579608" cy="9525"/>
          </a:xfrm>
          <a:prstGeom prst="rect">
            <a:avLst/>
          </a:prstGeom>
          <a:solidFill>
            <a:srgbClr val="D8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47104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Chip Design Associate · Module 2 · Verilog RTL Coding for Synthesis · Topic 2: RTL Design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47104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M2-T2 · 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43000"/>
            <a:ext cx="11247120" cy="685800"/>
          </a:xfrm>
          <a:prstGeom prst="roundRect">
            <a:avLst>
              <a:gd name="adj" fmla="val 5714"/>
            </a:avLst>
          </a:prstGeom>
          <a:solidFill>
            <a:srgbClr val="EEF7F1"/>
          </a:solidFill>
          <a:ln w="13970">
            <a:solidFill>
              <a:srgbClr val="2A9D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207008"/>
            <a:ext cx="1091793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150" b="1" i="0">
                <a:solidFill>
                  <a:srgbClr val="2A9D5C"/>
                </a:solidFill>
                <a:latin typeface="Cambria"/>
              </a:rPr>
              <a:t>Write at the highest level that expresses your intent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" y="1481328"/>
            <a:ext cx="10917936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1200" b="1" i="0">
                <a:solidFill>
                  <a:srgbClr val="0E2A47"/>
                </a:solidFill>
                <a:latin typeface="Calibri"/>
              </a:rPr>
              <a:t>Every level you descend takes a decision away from the tool and gives it to you — whether or not you wanted 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1920240"/>
            <a:ext cx="5532120" cy="2011680"/>
          </a:xfrm>
          <a:prstGeom prst="roundRect">
            <a:avLst>
              <a:gd name="adj" fmla="val 5714"/>
            </a:avLst>
          </a:prstGeom>
          <a:solidFill>
            <a:srgbClr val="EEF7F1"/>
          </a:solidFill>
          <a:ln w="13970">
            <a:solidFill>
              <a:srgbClr val="2A9D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984248"/>
            <a:ext cx="5257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150" b="1" i="0">
                <a:solidFill>
                  <a:srgbClr val="2A9D5C"/>
                </a:solidFill>
                <a:latin typeface="Cambria"/>
              </a:rPr>
              <a:t>What the tool is better at than you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258568"/>
            <a:ext cx="5257800" cy="1609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1100" b="0" i="0">
                <a:solidFill>
                  <a:srgbClr val="33414F"/>
                </a:solidFill>
                <a:latin typeface="Calibri"/>
              </a:rPr>
              <a:t>Choosing a gate mix for a Boolean function.</a:t>
            </a:r>
          </a:p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1100" b="0" i="0">
                <a:solidFill>
                  <a:srgbClr val="33414F"/>
                </a:solidFill>
                <a:latin typeface="Calibri"/>
              </a:rPr>
              <a:t>Balancing a logic tree.</a:t>
            </a:r>
          </a:p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1100" b="0" i="0">
                <a:solidFill>
                  <a:srgbClr val="33414F"/>
                </a:solidFill>
                <a:latin typeface="Calibri"/>
              </a:rPr>
              <a:t>Meeting a timing constraint by restructuring.</a:t>
            </a:r>
          </a:p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1100" b="0" i="0">
                <a:solidFill>
                  <a:srgbClr val="33414F"/>
                </a:solidFill>
                <a:latin typeface="Calibri"/>
              </a:rPr>
              <a:t>Doing all of that again, consistently, at 3 a.m.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920240"/>
            <a:ext cx="5532120" cy="2011680"/>
          </a:xfrm>
          <a:prstGeom prst="roundRect">
            <a:avLst>
              <a:gd name="adj" fmla="val 5714"/>
            </a:avLst>
          </a:prstGeom>
          <a:solidFill>
            <a:srgbClr val="FFF7EC"/>
          </a:solidFill>
          <a:ln w="13970">
            <a:solidFill>
              <a:srgbClr val="C775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984248"/>
            <a:ext cx="5257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150" b="1" i="0">
                <a:solidFill>
                  <a:srgbClr val="C77514"/>
                </a:solidFill>
                <a:latin typeface="Cambria"/>
              </a:rPr>
              <a:t>What you are better at than the tool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2258568"/>
            <a:ext cx="5257800" cy="1609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1100" b="0" i="0">
                <a:solidFill>
                  <a:srgbClr val="33414F"/>
                </a:solidFill>
                <a:latin typeface="Calibri"/>
              </a:rPr>
              <a:t>How many clock cycles the job should take.</a:t>
            </a:r>
          </a:p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1100" b="0" i="0">
                <a:solidFill>
                  <a:srgbClr val="33414F"/>
                </a:solidFill>
                <a:latin typeface="Calibri"/>
              </a:rPr>
              <a:t>Where the registers go.</a:t>
            </a:r>
          </a:p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1100" b="0" i="0">
                <a:solidFill>
                  <a:srgbClr val="33414F"/>
                </a:solidFill>
                <a:latin typeface="Calibri"/>
              </a:rPr>
              <a:t>What is shared and what is duplicated.</a:t>
            </a:r>
          </a:p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1100" b="0" i="0">
                <a:solidFill>
                  <a:srgbClr val="33414F"/>
                </a:solidFill>
                <a:latin typeface="Calibri"/>
              </a:rPr>
              <a:t>What the interface should look like.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40233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100" b="1" i="0">
                <a:solidFill>
                  <a:srgbClr val="0E2A47"/>
                </a:solidFill>
                <a:latin typeface="Calibri"/>
              </a:rPr>
              <a:t>Give the tool the first list. Keep the second one for yourself.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292608"/>
            <a:ext cx="530352" cy="530352"/>
          </a:xfrm>
          <a:prstGeom prst="ellipse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402336"/>
            <a:ext cx="155448" cy="310896"/>
          </a:xfrm>
          <a:prstGeom prst="rect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292608"/>
            <a:ext cx="106070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 spc="200">
                <a:solidFill>
                  <a:srgbClr val="1B9AAA"/>
                </a:solidFill>
                <a:latin typeface="Calibri"/>
              </a:rPr>
              <a:t>1.5 · PROOF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0292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2100" b="1" i="0">
                <a:solidFill>
                  <a:srgbClr val="0E2A47"/>
                </a:solidFill>
                <a:latin typeface="Cambria"/>
              </a:rPr>
              <a:t>Simulation Shows. Proof Settles.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8992" y="1024128"/>
            <a:ext cx="10579608" cy="9525"/>
          </a:xfrm>
          <a:prstGeom prst="rect">
            <a:avLst/>
          </a:prstGeom>
          <a:solidFill>
            <a:srgbClr val="D8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47104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Chip Design Associate · Module 2 · Verilog RTL Coding for Synthesis · Topic 2: RTL Design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47104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M2-T2 · 16</a:t>
            </a:r>
          </a:p>
        </p:txBody>
      </p:sp>
      <p:pic>
        <p:nvPicPr>
          <p:cNvPr id="9" name="Picture 8" descr="proof_vs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6034" y="1097280"/>
            <a:ext cx="7058011" cy="4846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1480" y="6035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050" b="1" i="0">
                <a:solidFill>
                  <a:srgbClr val="C01F43"/>
                </a:solidFill>
                <a:latin typeface="Calibri"/>
              </a:rPr>
              <a:t>A checker that cannot fail is not evidence of anything — which is why the lab includes a deliberately broken adder.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292608"/>
            <a:ext cx="530352" cy="530352"/>
          </a:xfrm>
          <a:prstGeom prst="ellipse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402336"/>
            <a:ext cx="155448" cy="310896"/>
          </a:xfrm>
          <a:prstGeom prst="rect">
            <a:avLst/>
          </a:prstGeom>
          <a:solidFill>
            <a:srgbClr val="2A9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292608"/>
            <a:ext cx="106070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 spc="200">
                <a:solidFill>
                  <a:srgbClr val="2A9D5C"/>
                </a:solidFill>
                <a:latin typeface="Calibri"/>
              </a:rPr>
              <a:t>THEORY 1 · CHECKPOINT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0292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2100" b="1" i="0">
                <a:solidFill>
                  <a:srgbClr val="0E2A47"/>
                </a:solidFill>
                <a:latin typeface="Cambria"/>
              </a:rPr>
              <a:t>Six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8992" y="1024128"/>
            <a:ext cx="10579608" cy="9525"/>
          </a:xfrm>
          <a:prstGeom prst="rect">
            <a:avLst/>
          </a:prstGeom>
          <a:solidFill>
            <a:srgbClr val="D8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47104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Chip Design Associate · Module 2 · Verilog RTL Coding for Synthesis · Topic 2: RTL Design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47104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M2-T2 · 17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43000"/>
            <a:ext cx="548640" cy="283464"/>
          </a:xfrm>
          <a:prstGeom prst="rect">
            <a:avLst/>
          </a:prstGeom>
          <a:solidFill>
            <a:srgbClr val="0E2A47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43000"/>
            <a:ext cx="45720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0120" y="1143000"/>
            <a:ext cx="5029200" cy="283464"/>
          </a:xfrm>
          <a:prstGeom prst="rect">
            <a:avLst/>
          </a:prstGeom>
          <a:solidFill>
            <a:srgbClr val="0E2A47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143000"/>
            <a:ext cx="493776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Question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89320" y="1143000"/>
            <a:ext cx="5669280" cy="283464"/>
          </a:xfrm>
          <a:prstGeom prst="rect">
            <a:avLst/>
          </a:prstGeom>
          <a:solidFill>
            <a:srgbClr val="0E2A47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0" y="1143000"/>
            <a:ext cx="557784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The answer in one line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1426464"/>
            <a:ext cx="54864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1426464"/>
            <a:ext cx="45720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950" b="1" i="0">
                <a:solidFill>
                  <a:srgbClr val="0E2A47"/>
                </a:solidFill>
                <a:latin typeface="Calibri"/>
              </a:rPr>
              <a:t>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0120" y="1426464"/>
            <a:ext cx="502920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1426464"/>
            <a:ext cx="493776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950" b="0" i="0">
                <a:solidFill>
                  <a:srgbClr val="33414F"/>
                </a:solidFill>
                <a:latin typeface="Calibri"/>
              </a:rPr>
              <a:t>What two things does an RTL description state?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89320" y="1426464"/>
            <a:ext cx="566928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5040" y="1426464"/>
            <a:ext cx="557784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950" b="0" i="0">
                <a:solidFill>
                  <a:srgbClr val="33414F"/>
                </a:solidFill>
                <a:latin typeface="Calibri"/>
              </a:rPr>
              <a:t>which registers exist, and what transfers into them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1709928"/>
            <a:ext cx="548640" cy="283464"/>
          </a:xfrm>
          <a:prstGeom prst="rect">
            <a:avLst/>
          </a:prstGeom>
          <a:solidFill>
            <a:srgbClr val="F4F8FB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1709928"/>
            <a:ext cx="45720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950" b="1" i="0">
                <a:solidFill>
                  <a:srgbClr val="0E2A47"/>
                </a:solidFill>
                <a:latin typeface="Calibri"/>
              </a:rPr>
              <a:t>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0120" y="1709928"/>
            <a:ext cx="5029200" cy="283464"/>
          </a:xfrm>
          <a:prstGeom prst="rect">
            <a:avLst/>
          </a:prstGeom>
          <a:solidFill>
            <a:srgbClr val="F4F8FB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1709928"/>
            <a:ext cx="493776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950" b="0" i="0">
                <a:solidFill>
                  <a:srgbClr val="33414F"/>
                </a:solidFill>
                <a:latin typeface="Calibri"/>
              </a:rPr>
              <a:t>What does &lt;= mean inside a clocked block?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89320" y="1709928"/>
            <a:ext cx="5669280" cy="283464"/>
          </a:xfrm>
          <a:prstGeom prst="rect">
            <a:avLst/>
          </a:prstGeom>
          <a:solidFill>
            <a:srgbClr val="F4F8FB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5040" y="1709928"/>
            <a:ext cx="557784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950" b="0" i="0">
                <a:solidFill>
                  <a:srgbClr val="33414F"/>
                </a:solidFill>
                <a:latin typeface="Calibri"/>
              </a:rPr>
              <a:t>read all right-hand sides first, then update together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1993392"/>
            <a:ext cx="54864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1993392"/>
            <a:ext cx="45720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950" b="1" i="0">
                <a:solidFill>
                  <a:srgbClr val="0E2A47"/>
                </a:solidFill>
                <a:latin typeface="Calibri"/>
              </a:rPr>
              <a:t>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0120" y="1993392"/>
            <a:ext cx="502920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5840" y="1993392"/>
            <a:ext cx="493776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950" b="0" i="0">
                <a:solidFill>
                  <a:srgbClr val="33414F"/>
                </a:solidFill>
                <a:latin typeface="Calibri"/>
              </a:rPr>
              <a:t>Name the four levels of abstraction.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89320" y="1993392"/>
            <a:ext cx="566928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35040" y="1993392"/>
            <a:ext cx="557784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950" b="0" i="0">
                <a:solidFill>
                  <a:srgbClr val="33414F"/>
                </a:solidFill>
                <a:latin typeface="Calibri"/>
              </a:rPr>
              <a:t>behavioural, dataflow, gate, switch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2276856"/>
            <a:ext cx="548640" cy="283464"/>
          </a:xfrm>
          <a:prstGeom prst="rect">
            <a:avLst/>
          </a:prstGeom>
          <a:solidFill>
            <a:srgbClr val="F4F8FB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2276856"/>
            <a:ext cx="45720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950" b="1" i="0">
                <a:solidFill>
                  <a:srgbClr val="0E2A47"/>
                </a:solidFill>
                <a:latin typeface="Calibri"/>
              </a:rPr>
              <a:t>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0120" y="2276856"/>
            <a:ext cx="5029200" cy="283464"/>
          </a:xfrm>
          <a:prstGeom prst="rect">
            <a:avLst/>
          </a:prstGeom>
          <a:solidFill>
            <a:srgbClr val="F4F8FB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5840" y="2276856"/>
            <a:ext cx="493776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950" b="0" i="0">
                <a:solidFill>
                  <a:srgbClr val="33414F"/>
                </a:solidFill>
                <a:latin typeface="Calibri"/>
              </a:rPr>
              <a:t>Which level produced the smallest netlist, and why?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89320" y="2276856"/>
            <a:ext cx="5669280" cy="283464"/>
          </a:xfrm>
          <a:prstGeom prst="rect">
            <a:avLst/>
          </a:prstGeom>
          <a:solidFill>
            <a:srgbClr val="F4F8FB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35040" y="2276856"/>
            <a:ext cx="557784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950" b="0" i="0">
                <a:solidFill>
                  <a:srgbClr val="33414F"/>
                </a:solidFill>
                <a:latin typeface="Calibri"/>
              </a:rPr>
              <a:t>behavioural — it left the tool free to choose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2560320"/>
            <a:ext cx="54864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2560320"/>
            <a:ext cx="45720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950" b="1" i="0">
                <a:solidFill>
                  <a:srgbClr val="0E2A47"/>
                </a:solidFill>
                <a:latin typeface="Calibri"/>
              </a:rPr>
              <a:t>5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0120" y="2560320"/>
            <a:ext cx="502920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5840" y="2560320"/>
            <a:ext cx="493776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950" b="0" i="0">
                <a:solidFill>
                  <a:srgbClr val="33414F"/>
                </a:solidFill>
                <a:latin typeface="Calibri"/>
              </a:rPr>
              <a:t>Why did dataflow and gate give identical netlists?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989320" y="2560320"/>
            <a:ext cx="566928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35040" y="2560320"/>
            <a:ext cx="557784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950" b="0" i="0">
                <a:solidFill>
                  <a:srgbClr val="33414F"/>
                </a:solidFill>
                <a:latin typeface="Calibri"/>
              </a:rPr>
              <a:t>writing the Boolean form already fixes the structure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1480" y="2843784"/>
            <a:ext cx="548640" cy="283464"/>
          </a:xfrm>
          <a:prstGeom prst="rect">
            <a:avLst/>
          </a:prstGeom>
          <a:solidFill>
            <a:srgbClr val="F4F8FB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7200" y="2843784"/>
            <a:ext cx="45720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950" b="1" i="0">
                <a:solidFill>
                  <a:srgbClr val="0E2A47"/>
                </a:solidFill>
                <a:latin typeface="Calibri"/>
              </a:rPr>
              <a:t>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0120" y="2843784"/>
            <a:ext cx="5029200" cy="283464"/>
          </a:xfrm>
          <a:prstGeom prst="rect">
            <a:avLst/>
          </a:prstGeom>
          <a:solidFill>
            <a:srgbClr val="F4F8FB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05840" y="2843784"/>
            <a:ext cx="493776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950" b="0" i="0">
                <a:solidFill>
                  <a:srgbClr val="33414F"/>
                </a:solidFill>
                <a:latin typeface="Calibri"/>
              </a:rPr>
              <a:t>Why prove equivalence instead of simulating?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989320" y="2843784"/>
            <a:ext cx="5669280" cy="283464"/>
          </a:xfrm>
          <a:prstGeom prst="rect">
            <a:avLst/>
          </a:prstGeom>
          <a:solidFill>
            <a:srgbClr val="F4F8FB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035040" y="2843784"/>
            <a:ext cx="557784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950" b="0" i="0">
                <a:solidFill>
                  <a:srgbClr val="33414F"/>
                </a:solidFill>
                <a:latin typeface="Calibri"/>
              </a:rPr>
              <a:t>exhaustive simulation stops being possible at ~30 inputs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3218688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100" b="1" i="0">
                <a:solidFill>
                  <a:srgbClr val="2A9D5C"/>
                </a:solidFill>
                <a:latin typeface="Calibri"/>
              </a:rPr>
              <a:t>Theory 2 asks what you are allowed to write, and why the rules exist.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A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144000" y="-1828800"/>
            <a:ext cx="6400800" cy="6400800"/>
          </a:xfrm>
          <a:prstGeom prst="ellipse">
            <a:avLst/>
          </a:prstGeom>
          <a:solidFill>
            <a:srgbClr val="163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6002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400" b="1" i="0" spc="300">
                <a:solidFill>
                  <a:srgbClr val="6B45A8"/>
                </a:solidFill>
                <a:latin typeface="Calibri"/>
              </a:rPr>
              <a:t>THEORY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011680"/>
            <a:ext cx="96012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3000" b="1" i="0">
                <a:solidFill>
                  <a:srgbClr val="FFFFFF"/>
                </a:solidFill>
                <a:latin typeface="Cambria"/>
              </a:rPr>
              <a:t>The RTL Design Process and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971800"/>
            <a:ext cx="86868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350" b="0" i="0">
                <a:solidFill>
                  <a:srgbClr val="C9D6E3"/>
                </a:solidFill>
                <a:latin typeface="Calibri"/>
              </a:rPr>
              <a:t>Methodology is the hardest thing to teach, because the honest version is a list of habits and the dishonest version is a list of slogans.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941064"/>
            <a:ext cx="91440" cy="182880"/>
          </a:xfrm>
          <a:prstGeom prst="rect">
            <a:avLst/>
          </a:prstGeom>
          <a:solidFill>
            <a:srgbClr val="6B4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840480"/>
            <a:ext cx="9875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300" b="0" i="0">
                <a:solidFill>
                  <a:srgbClr val="E7EEF5"/>
                </a:solidFill>
                <a:latin typeface="Calibri"/>
              </a:rPr>
              <a:t>The design flow, and where this topic sits in it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352544"/>
            <a:ext cx="91440" cy="182880"/>
          </a:xfrm>
          <a:prstGeom prst="rect">
            <a:avLst/>
          </a:prstGeom>
          <a:solidFill>
            <a:srgbClr val="6B4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251960"/>
            <a:ext cx="9875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300" b="0" i="0">
                <a:solidFill>
                  <a:srgbClr val="E7EEF5"/>
                </a:solidFill>
                <a:latin typeface="Calibri"/>
              </a:rPr>
              <a:t>The synthesisable subset — measured, not asserted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764024"/>
            <a:ext cx="91440" cy="182880"/>
          </a:xfrm>
          <a:prstGeom prst="rect">
            <a:avLst/>
          </a:prstGeom>
          <a:solidFill>
            <a:srgbClr val="6B4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663440"/>
            <a:ext cx="9875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300" b="0" i="0">
                <a:solidFill>
                  <a:srgbClr val="E7EEF5"/>
                </a:solidFill>
                <a:latin typeface="Calibri"/>
              </a:rPr>
              <a:t>The bug that makes simulation and silicon disagree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5175504"/>
            <a:ext cx="91440" cy="182880"/>
          </a:xfrm>
          <a:prstGeom prst="rect">
            <a:avLst/>
          </a:prstGeom>
          <a:solidFill>
            <a:srgbClr val="6B4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074920"/>
            <a:ext cx="9875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300" b="0" i="0">
                <a:solidFill>
                  <a:srgbClr val="E7EEF5"/>
                </a:solidFill>
                <a:latin typeface="Calibri"/>
              </a:rPr>
              <a:t>Seven coding rules, and a tool that checks them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5586984"/>
            <a:ext cx="91440" cy="182880"/>
          </a:xfrm>
          <a:prstGeom prst="rect">
            <a:avLst/>
          </a:prstGeom>
          <a:solidFill>
            <a:srgbClr val="6B4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486400"/>
            <a:ext cx="9875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300" b="0" i="0">
                <a:solidFill>
                  <a:srgbClr val="E7EEF5"/>
                </a:solidFill>
                <a:latin typeface="Calibri"/>
              </a:rPr>
              <a:t>Micro-architecture: the decisions RTL cannot make for you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6547104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800" b="0" i="0">
                <a:solidFill>
                  <a:srgbClr val="7C8EA2"/>
                </a:solidFill>
                <a:latin typeface="Calibri"/>
              </a:rPr>
              <a:t>Chip Design Associate · Module 2 · Verilog RTL Coding for Synthesis · Topic 2: RTL Design Methodology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6547104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3000"/>
              </a:lnSpc>
            </a:pPr>
            <a:r>
              <a:rPr sz="800" b="0" i="0">
                <a:solidFill>
                  <a:srgbClr val="7C8EA2"/>
                </a:solidFill>
                <a:latin typeface="Calibri"/>
              </a:rPr>
              <a:t>M2-T2 ·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292608"/>
            <a:ext cx="530352" cy="530352"/>
          </a:xfrm>
          <a:prstGeom prst="ellipse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402336"/>
            <a:ext cx="155448" cy="310896"/>
          </a:xfrm>
          <a:prstGeom prst="rect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292608"/>
            <a:ext cx="106070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 spc="200">
                <a:solidFill>
                  <a:srgbClr val="1B9AAA"/>
                </a:solidFill>
                <a:latin typeface="Calibri"/>
              </a:rPr>
              <a:t>2.1 · THE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0292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2100" b="1" i="0">
                <a:solidFill>
                  <a:srgbClr val="0E2A47"/>
                </a:solidFill>
                <a:latin typeface="Cambria"/>
              </a:rPr>
              <a:t>The RTL Design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8992" y="1024128"/>
            <a:ext cx="10579608" cy="9525"/>
          </a:xfrm>
          <a:prstGeom prst="rect">
            <a:avLst/>
          </a:prstGeom>
          <a:solidFill>
            <a:srgbClr val="D8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47104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Chip Design Associate · Module 2 · Verilog RTL Coding for Synthesis · Topic 2: RTL Design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47104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M2-T2 · 19</a:t>
            </a:r>
          </a:p>
        </p:txBody>
      </p:sp>
      <p:pic>
        <p:nvPicPr>
          <p:cNvPr id="9" name="Picture 8" descr="design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5470" y="1097280"/>
            <a:ext cx="6119140" cy="5029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1480" y="6217920"/>
            <a:ext cx="11247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050" b="0" i="0">
                <a:solidFill>
                  <a:srgbClr val="33414F"/>
                </a:solidFill>
                <a:latin typeface="Calibri"/>
              </a:rPr>
              <a:t>Every arrow points both ways in practice: a timing failure sends you back to the RTL, a synthesis surprise back to the micro-architecture.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292608"/>
            <a:ext cx="530352" cy="530352"/>
          </a:xfrm>
          <a:prstGeom prst="ellipse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402336"/>
            <a:ext cx="155448" cy="310896"/>
          </a:xfrm>
          <a:prstGeom prst="rect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292608"/>
            <a:ext cx="106070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 spc="200">
                <a:solidFill>
                  <a:srgbClr val="1B9AAA"/>
                </a:solidFill>
                <a:latin typeface="Calibri"/>
              </a:rPr>
              <a:t>2.1 · THE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0292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2100" b="1" i="0">
                <a:solidFill>
                  <a:srgbClr val="0E2A47"/>
                </a:solidFill>
                <a:latin typeface="Cambria"/>
              </a:rPr>
              <a:t>Executed, Not Described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8992" y="1024128"/>
            <a:ext cx="10579608" cy="9525"/>
          </a:xfrm>
          <a:prstGeom prst="rect">
            <a:avLst/>
          </a:prstGeom>
          <a:solidFill>
            <a:srgbClr val="D8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47104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Chip Design Associate · Module 2 · Verilog RTL Coding for Synthesis · Topic 2: RTL Design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47104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M2-T2 · 20</a:t>
            </a:r>
          </a:p>
        </p:txBody>
      </p:sp>
      <p:pic>
        <p:nvPicPr>
          <p:cNvPr id="9" name="Picture 8" descr="flow_execu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2410" y="1097280"/>
            <a:ext cx="6425260" cy="4846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1480" y="6035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050" b="1" i="0">
                <a:solidFill>
                  <a:srgbClr val="0E2A47"/>
                </a:solidFill>
                <a:latin typeface="Calibri"/>
              </a:rPr>
              <a:t>make flow  stops at the first stage that fails. That is what makes it a methodology rather than a diagram.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292608"/>
            <a:ext cx="530352" cy="530352"/>
          </a:xfrm>
          <a:prstGeom prst="ellipse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402336"/>
            <a:ext cx="155448" cy="310896"/>
          </a:xfrm>
          <a:prstGeom prst="rect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292608"/>
            <a:ext cx="106070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 spc="200">
                <a:solidFill>
                  <a:srgbClr val="1B9AAA"/>
                </a:solidFill>
                <a:latin typeface="Calibri"/>
              </a:rPr>
              <a:t>2.2 · THE SUBSET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0292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2100" b="1" i="0">
                <a:solidFill>
                  <a:srgbClr val="0E2A47"/>
                </a:solidFill>
                <a:latin typeface="Cambria"/>
              </a:rPr>
              <a:t>Which Verilog Actually Synthesises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8992" y="1024128"/>
            <a:ext cx="10579608" cy="9525"/>
          </a:xfrm>
          <a:prstGeom prst="rect">
            <a:avLst/>
          </a:prstGeom>
          <a:solidFill>
            <a:srgbClr val="D8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47104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Chip Design Associate · Module 2 · Verilog RTL Coding for Synthesis · Topic 2: RTL Design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47104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M2-T2 · 21</a:t>
            </a:r>
          </a:p>
        </p:txBody>
      </p:sp>
      <p:pic>
        <p:nvPicPr>
          <p:cNvPr id="9" name="Picture 8" descr="synth_sub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7302" y="1097280"/>
            <a:ext cx="5875475" cy="5029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1480" y="6217920"/>
            <a:ext cx="11247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050" b="0" i="0">
                <a:solidFill>
                  <a:srgbClr val="33414F"/>
                </a:solidFill>
                <a:latin typeface="Calibri"/>
              </a:rPr>
              <a:t>Eleven constructs, run through a real synthesiser. The table is measured, not remembered.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292608"/>
            <a:ext cx="530352" cy="530352"/>
          </a:xfrm>
          <a:prstGeom prst="ellipse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402336"/>
            <a:ext cx="155448" cy="310896"/>
          </a:xfrm>
          <a:prstGeom prst="rect">
            <a:avLst/>
          </a:prstGeom>
          <a:solidFill>
            <a:srgbClr val="C775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292608"/>
            <a:ext cx="106070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 spc="200">
                <a:solidFill>
                  <a:srgbClr val="C77514"/>
                </a:solidFill>
                <a:latin typeface="Calibri"/>
              </a:rPr>
              <a:t>2.2 · THE SUBSET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0292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2100" b="1" i="0">
                <a:solidFill>
                  <a:srgbClr val="0E2A47"/>
                </a:solidFill>
                <a:latin typeface="Cambria"/>
              </a:rPr>
              <a:t>Three Rows Worth Discussing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8992" y="1024128"/>
            <a:ext cx="10579608" cy="9525"/>
          </a:xfrm>
          <a:prstGeom prst="rect">
            <a:avLst/>
          </a:prstGeom>
          <a:solidFill>
            <a:srgbClr val="D8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47104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Chip Design Associate · Module 2 · Verilog RTL Coding for Synthesis · Topic 2: RTL Design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47104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M2-T2 · 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43000"/>
            <a:ext cx="3627120" cy="2560320"/>
          </a:xfrm>
          <a:prstGeom prst="roundRect">
            <a:avLst>
              <a:gd name="adj" fmla="val 5714"/>
            </a:avLst>
          </a:prstGeom>
          <a:solidFill>
            <a:srgbClr val="FDECEF"/>
          </a:solidFill>
          <a:ln w="13970">
            <a:solidFill>
              <a:srgbClr val="C01F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07008"/>
            <a:ext cx="3352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150" b="1" i="0">
                <a:solidFill>
                  <a:srgbClr val="C01F43"/>
                </a:solidFill>
                <a:latin typeface="Cambria"/>
              </a:rPr>
              <a:t>371 cells against 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81328"/>
            <a:ext cx="3352800" cy="21579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1100" b="0" i="0">
                <a:solidFill>
                  <a:srgbClr val="33414F"/>
                </a:solidFill>
                <a:latin typeface="Calibri"/>
              </a:rPr>
              <a:t>a / b  where b is a signal builds a full combinational divider — 371 cells.</a:t>
            </a:r>
          </a:p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1100" b="0" i="0">
                <a:solidFill>
                  <a:srgbClr val="33414F"/>
                </a:solidFill>
                <a:latin typeface="Calibri"/>
              </a:rPr>
              <a:t>a / 4  builds nothing at all. It is a rename of wires.</a:t>
            </a:r>
          </a:p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1100" b="1" i="0">
                <a:solidFill>
                  <a:srgbClr val="0E2A47"/>
                </a:solidFill>
                <a:latin typeface="Calibri"/>
              </a:rPr>
              <a:t>Same operator. The difference is entirely what you divided BY.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21480" y="1143000"/>
            <a:ext cx="3627120" cy="2560320"/>
          </a:xfrm>
          <a:prstGeom prst="roundRect">
            <a:avLst>
              <a:gd name="adj" fmla="val 5714"/>
            </a:avLst>
          </a:prstGeom>
          <a:solidFill>
            <a:srgbClr val="FFF7EC"/>
          </a:solidFill>
          <a:ln w="13970">
            <a:solidFill>
              <a:srgbClr val="C775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58640" y="1207008"/>
            <a:ext cx="3352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150" b="1" i="0">
                <a:solidFill>
                  <a:srgbClr val="C77514"/>
                </a:solidFill>
                <a:latin typeface="Cambria"/>
              </a:rPr>
              <a:t>#5 vanished silently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58640" y="1481328"/>
            <a:ext cx="3352800" cy="21579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1100" b="0" i="0">
                <a:solidFill>
                  <a:srgbClr val="33414F"/>
                </a:solidFill>
                <a:latin typeface="Calibri"/>
              </a:rPr>
              <a:t>A delay is a simulation instruction. Silicon has no way to wait five time units.</a:t>
            </a:r>
          </a:p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1100" b="0" i="0">
                <a:solidFill>
                  <a:srgbClr val="33414F"/>
                </a:solidFill>
                <a:latin typeface="Calibri"/>
              </a:rPr>
              <a:t>Synthesis ignored it and built the gate. Your simulation and your chip now behave differently.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31480" y="1143000"/>
            <a:ext cx="3627120" cy="2560320"/>
          </a:xfrm>
          <a:prstGeom prst="roundRect">
            <a:avLst>
              <a:gd name="adj" fmla="val 5714"/>
            </a:avLst>
          </a:prstGeom>
          <a:solidFill>
            <a:srgbClr val="F4F8FB"/>
          </a:solidFill>
          <a:ln w="13970">
            <a:solidFill>
              <a:srgbClr val="6B4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68640" y="1207008"/>
            <a:ext cx="3352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150" b="1" i="0">
                <a:solidFill>
                  <a:srgbClr val="6B45A8"/>
                </a:solidFill>
                <a:latin typeface="Cambria"/>
              </a:rPr>
              <a:t>initial was accepted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68640" y="1481328"/>
            <a:ext cx="3352800" cy="21579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1100" b="0" i="0">
                <a:solidFill>
                  <a:srgbClr val="33414F"/>
                </a:solidFill>
                <a:latin typeface="Calibri"/>
              </a:rPr>
              <a:t>Yosys targets FPGAs, where the bitstream really does initialise the flops.</a:t>
            </a:r>
          </a:p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1100" b="1" i="0">
                <a:solidFill>
                  <a:srgbClr val="0E2A47"/>
                </a:solidFill>
                <a:latin typeface="Calibri"/>
              </a:rPr>
              <a:t>An ASIC flow would not. This is how code that works on an FPGA fails on an ASIC.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794760"/>
            <a:ext cx="11247120" cy="822960"/>
          </a:xfrm>
          <a:prstGeom prst="roundRect">
            <a:avLst>
              <a:gd name="adj" fmla="val 5714"/>
            </a:avLst>
          </a:prstGeom>
          <a:solidFill>
            <a:srgbClr val="EEF7F1"/>
          </a:solidFill>
          <a:ln w="13970">
            <a:solidFill>
              <a:srgbClr val="2A9D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6072" y="3858768"/>
            <a:ext cx="1091793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150" b="1" i="0">
                <a:solidFill>
                  <a:srgbClr val="2A9D5C"/>
                </a:solidFill>
                <a:latin typeface="Cambria"/>
              </a:rPr>
              <a:t>The habit this table is for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72" y="4133088"/>
            <a:ext cx="1091793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1100" b="0" i="0">
                <a:solidFill>
                  <a:srgbClr val="33414F"/>
                </a:solidFill>
                <a:latin typeface="Calibri"/>
              </a:rPr>
              <a:t>Before you write a construct you are unsure about, synthesise a ten-line module containing only that construct and read what came out. It takes two minutes and it is the only way to actually know.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292608"/>
            <a:ext cx="530352" cy="530352"/>
          </a:xfrm>
          <a:prstGeom prst="ellipse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402336"/>
            <a:ext cx="155448" cy="310896"/>
          </a:xfrm>
          <a:prstGeom prst="rect">
            <a:avLst/>
          </a:prstGeom>
          <a:solidFill>
            <a:srgbClr val="C01F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292608"/>
            <a:ext cx="106070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 spc="200">
                <a:solidFill>
                  <a:srgbClr val="C01F43"/>
                </a:solidFill>
                <a:latin typeface="Calibri"/>
              </a:rPr>
              <a:t>2.3 · THE LATCH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0292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2100" b="1" i="0">
                <a:solidFill>
                  <a:srgbClr val="0E2A47"/>
                </a:solidFill>
                <a:latin typeface="Cambria"/>
              </a:rPr>
              <a:t>The Most Common RTL Bug There Is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8992" y="1024128"/>
            <a:ext cx="10579608" cy="9525"/>
          </a:xfrm>
          <a:prstGeom prst="rect">
            <a:avLst/>
          </a:prstGeom>
          <a:solidFill>
            <a:srgbClr val="D8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47104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Chip Design Associate · Module 2 · Verilog RTL Coding for Synthesis · Topic 2: RTL Design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47104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M2-T2 · 23</a:t>
            </a:r>
          </a:p>
        </p:txBody>
      </p:sp>
      <p:pic>
        <p:nvPicPr>
          <p:cNvPr id="9" name="Picture 8" descr="latch_infer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1447" y="1097280"/>
            <a:ext cx="6627185" cy="46634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1480" y="5852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050" b="1" i="0">
                <a:solidFill>
                  <a:srgbClr val="C01F43"/>
                </a:solidFill>
                <a:latin typeface="Calibri"/>
              </a:rPr>
              <a:t>It is not an error. The tool builds it, mentions it in a log nobody reads, and hands you the design.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292608"/>
            <a:ext cx="530352" cy="530352"/>
          </a:xfrm>
          <a:prstGeom prst="ellipse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402336"/>
            <a:ext cx="155448" cy="310896"/>
          </a:xfrm>
          <a:prstGeom prst="rect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292608"/>
            <a:ext cx="106070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 spc="200">
                <a:solidFill>
                  <a:srgbClr val="1B9AAA"/>
                </a:solidFill>
                <a:latin typeface="Calibri"/>
              </a:rPr>
              <a:t>2.3 · THE LATCH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0292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2100" b="1" i="0">
                <a:solidFill>
                  <a:srgbClr val="0E2A47"/>
                </a:solidFill>
                <a:latin typeface="Cambria"/>
              </a:rPr>
              <a:t>Why a Latch In the Middle of Your Logic Hurts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8992" y="1024128"/>
            <a:ext cx="10579608" cy="9525"/>
          </a:xfrm>
          <a:prstGeom prst="rect">
            <a:avLst/>
          </a:prstGeom>
          <a:solidFill>
            <a:srgbClr val="D8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47104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Chip Design Associate · Module 2 · Verilog RTL Coding for Synthesis · Topic 2: RTL Design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47104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M2-T2 · 24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43000"/>
            <a:ext cx="2377440" cy="329184"/>
          </a:xfrm>
          <a:prstGeom prst="rect">
            <a:avLst/>
          </a:prstGeom>
          <a:solidFill>
            <a:srgbClr val="0E2A47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43000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2788920" y="1143000"/>
            <a:ext cx="4297680" cy="329184"/>
          </a:xfrm>
          <a:prstGeom prst="rect">
            <a:avLst/>
          </a:prstGeom>
          <a:solidFill>
            <a:srgbClr val="0E2A47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4640" y="1143000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A flip-flop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86600" y="1143000"/>
            <a:ext cx="4572000" cy="329184"/>
          </a:xfrm>
          <a:prstGeom prst="rect">
            <a:avLst/>
          </a:prstGeom>
          <a:solidFill>
            <a:srgbClr val="0E2A47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0" y="1143000"/>
            <a:ext cx="44805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A latch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1472184"/>
            <a:ext cx="23774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1472184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1000" b="1" i="0">
                <a:solidFill>
                  <a:srgbClr val="0E2A47"/>
                </a:solidFill>
                <a:latin typeface="Calibri"/>
              </a:rPr>
              <a:t>captures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88920" y="1472184"/>
            <a:ext cx="429768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34640" y="1472184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1000" b="0" i="0">
                <a:solidFill>
                  <a:srgbClr val="33414F"/>
                </a:solidFill>
                <a:latin typeface="Calibri"/>
              </a:rPr>
              <a:t>on the clock EDGE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86600" y="1472184"/>
            <a:ext cx="457200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32320" y="1472184"/>
            <a:ext cx="44805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1000" b="0" i="0">
                <a:solidFill>
                  <a:srgbClr val="33414F"/>
                </a:solidFill>
                <a:latin typeface="Calibri"/>
              </a:rPr>
              <a:t>while the enable is HIGH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1801368"/>
            <a:ext cx="2377440" cy="329184"/>
          </a:xfrm>
          <a:prstGeom prst="rect">
            <a:avLst/>
          </a:prstGeom>
          <a:solidFill>
            <a:srgbClr val="F4F8FB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1801368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1000" b="1" i="0">
                <a:solidFill>
                  <a:srgbClr val="0E2A47"/>
                </a:solidFill>
                <a:latin typeface="Calibri"/>
              </a:rPr>
              <a:t>is transparent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88920" y="1801368"/>
            <a:ext cx="4297680" cy="329184"/>
          </a:xfrm>
          <a:prstGeom prst="rect">
            <a:avLst/>
          </a:prstGeom>
          <a:solidFill>
            <a:srgbClr val="F4F8FB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34640" y="1801368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1000" b="0" i="0">
                <a:solidFill>
                  <a:srgbClr val="33414F"/>
                </a:solidFill>
                <a:latin typeface="Calibri"/>
              </a:rPr>
              <a:t>never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086600" y="1801368"/>
            <a:ext cx="4572000" cy="329184"/>
          </a:xfrm>
          <a:prstGeom prst="rect">
            <a:avLst/>
          </a:prstGeom>
          <a:solidFill>
            <a:srgbClr val="F4F8FB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0" y="1801368"/>
            <a:ext cx="44805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1000" b="0" i="0">
                <a:solidFill>
                  <a:srgbClr val="33414F"/>
                </a:solidFill>
                <a:latin typeface="Calibri"/>
              </a:rPr>
              <a:t>for the whole enable window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2130552"/>
            <a:ext cx="23774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213055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1000" b="1" i="0">
                <a:solidFill>
                  <a:srgbClr val="0E2A47"/>
                </a:solidFill>
                <a:latin typeface="Calibri"/>
              </a:rPr>
              <a:t>timing analysis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88920" y="2130552"/>
            <a:ext cx="429768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834640" y="2130552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1000" b="0" i="0">
                <a:solidFill>
                  <a:srgbClr val="33414F"/>
                </a:solidFill>
                <a:latin typeface="Calibri"/>
              </a:rPr>
              <a:t>one clean check per edge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086600" y="2130552"/>
            <a:ext cx="457200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32320" y="2130552"/>
            <a:ext cx="44805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1000" b="0" i="0">
                <a:solidFill>
                  <a:srgbClr val="33414F"/>
                </a:solidFill>
                <a:latin typeface="Calibri"/>
              </a:rPr>
              <a:t>time-borrowing; much harder to analyse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2459736"/>
            <a:ext cx="2377440" cy="329184"/>
          </a:xfrm>
          <a:prstGeom prst="rect">
            <a:avLst/>
          </a:prstGeom>
          <a:solidFill>
            <a:srgbClr val="F4F8FB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245973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1000" b="1" i="0">
                <a:solidFill>
                  <a:srgbClr val="0E2A47"/>
                </a:solidFill>
                <a:latin typeface="Calibri"/>
              </a:rPr>
              <a:t>in a scan chain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88920" y="2459736"/>
            <a:ext cx="4297680" cy="329184"/>
          </a:xfrm>
          <a:prstGeom prst="rect">
            <a:avLst/>
          </a:prstGeom>
          <a:solidFill>
            <a:srgbClr val="F4F8FB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834640" y="2459736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1000" b="0" i="0">
                <a:solidFill>
                  <a:srgbClr val="33414F"/>
                </a:solidFill>
                <a:latin typeface="Calibri"/>
              </a:rPr>
              <a:t>standard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086600" y="2459736"/>
            <a:ext cx="4572000" cy="329184"/>
          </a:xfrm>
          <a:prstGeom prst="rect">
            <a:avLst/>
          </a:prstGeom>
          <a:solidFill>
            <a:srgbClr val="F4F8FB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132320" y="2459736"/>
            <a:ext cx="44805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1000" b="0" i="0">
                <a:solidFill>
                  <a:srgbClr val="33414F"/>
                </a:solidFill>
                <a:latin typeface="Calibri"/>
              </a:rPr>
              <a:t>usually needs special handling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2788920"/>
            <a:ext cx="23774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2788920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1000" b="1" i="0">
                <a:solidFill>
                  <a:srgbClr val="0E2A47"/>
                </a:solidFill>
                <a:latin typeface="Calibri"/>
              </a:rPr>
              <a:t>you asked for it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88920" y="2788920"/>
            <a:ext cx="429768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834640" y="2788920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1000" b="0" i="0">
                <a:solidFill>
                  <a:srgbClr val="33414F"/>
                </a:solidFill>
                <a:latin typeface="Calibri"/>
              </a:rPr>
              <a:t>yes, by writing posedge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086600" y="2788920"/>
            <a:ext cx="457200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132320" y="2788920"/>
            <a:ext cx="44805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1000" b="0" i="0">
                <a:solidFill>
                  <a:srgbClr val="33414F"/>
                </a:solidFill>
                <a:latin typeface="Calibri"/>
              </a:rPr>
              <a:t>no — you forgot an else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3209544"/>
            <a:ext cx="11247120" cy="1005840"/>
          </a:xfrm>
          <a:prstGeom prst="roundRect">
            <a:avLst>
              <a:gd name="adj" fmla="val 5714"/>
            </a:avLst>
          </a:prstGeom>
          <a:solidFill>
            <a:srgbClr val="F4F8FB"/>
          </a:solidFill>
          <a:ln w="1397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76072" y="3273552"/>
            <a:ext cx="1091793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150" b="1" i="0">
                <a:solidFill>
                  <a:srgbClr val="0E2A47"/>
                </a:solidFill>
                <a:latin typeface="Cambria"/>
              </a:rPr>
              <a:t>So the rule is mechanical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76072" y="3547872"/>
            <a:ext cx="10917936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1100" b="0" i="0">
                <a:solidFill>
                  <a:srgbClr val="33414F"/>
                </a:solidFill>
                <a:latin typeface="Calibri"/>
              </a:rPr>
              <a:t>In a combinational block, assign every output on every path. An if needs an else; a case needs a default. If you would rather not write them out, assign a default value at the top of the block and let later assignments override it.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1480" y="4306824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050" b="0" i="0">
                <a:solidFill>
                  <a:srgbClr val="33414F"/>
                </a:solidFill>
                <a:latin typeface="Calibri"/>
              </a:rPr>
              <a:t>Rules L005 and L006 of the linter catch this, and make lintcheck confirms the linter agrees with Yosys on every file.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292608"/>
            <a:ext cx="530352" cy="530352"/>
          </a:xfrm>
          <a:prstGeom prst="ellipse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402336"/>
            <a:ext cx="155448" cy="310896"/>
          </a:xfrm>
          <a:prstGeom prst="rect">
            <a:avLst/>
          </a:prstGeom>
          <a:solidFill>
            <a:srgbClr val="C01F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292608"/>
            <a:ext cx="106070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 spc="200">
                <a:solidFill>
                  <a:srgbClr val="C01F43"/>
                </a:solidFill>
                <a:latin typeface="Calibri"/>
              </a:rPr>
              <a:t>2.4 · THE WORST BUG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0292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2100" b="1" i="0">
                <a:solidFill>
                  <a:srgbClr val="0E2A47"/>
                </a:solidFill>
                <a:latin typeface="Cambria"/>
              </a:rPr>
              <a:t>When Simulation and Silicon Disagree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8992" y="1024128"/>
            <a:ext cx="10579608" cy="9525"/>
          </a:xfrm>
          <a:prstGeom prst="rect">
            <a:avLst/>
          </a:prstGeom>
          <a:solidFill>
            <a:srgbClr val="D8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47104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Chip Design Associate · Module 2 · Verilog RTL Coding for Synthesis · Topic 2: RTL Design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47104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M2-T2 · 25</a:t>
            </a:r>
          </a:p>
        </p:txBody>
      </p:sp>
      <p:pic>
        <p:nvPicPr>
          <p:cNvPr id="9" name="Picture 8" descr="sim_synth_mism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5470" y="1097280"/>
            <a:ext cx="6119140" cy="5029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1480" y="6217920"/>
            <a:ext cx="11247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100" b="1" i="0">
                <a:solidFill>
                  <a:srgbClr val="C01F43"/>
                </a:solidFill>
                <a:latin typeface="Calibri"/>
              </a:rPr>
              <a:t>One disagreement in six — and nothing anywhere reported an error.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292608"/>
            <a:ext cx="530352" cy="530352"/>
          </a:xfrm>
          <a:prstGeom prst="ellipse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402336"/>
            <a:ext cx="155448" cy="310896"/>
          </a:xfrm>
          <a:prstGeom prst="rect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292608"/>
            <a:ext cx="106070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 spc="200">
                <a:solidFill>
                  <a:srgbClr val="1B9AAA"/>
                </a:solidFill>
                <a:latin typeface="Calibri"/>
              </a:rPr>
              <a:t>2.4 · THE WORST BUG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0292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2100" b="1" i="0">
                <a:solidFill>
                  <a:srgbClr val="0E2A47"/>
                </a:solidFill>
                <a:latin typeface="Cambria"/>
              </a:rPr>
              <a:t>Why This Class of Bug Is Special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8992" y="1024128"/>
            <a:ext cx="10579608" cy="9525"/>
          </a:xfrm>
          <a:prstGeom prst="rect">
            <a:avLst/>
          </a:prstGeom>
          <a:solidFill>
            <a:srgbClr val="D8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47104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Chip Design Associate · Module 2 · Verilog RTL Coding for Synthesis · Topic 2: RTL Design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47104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M2-T2 ·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4300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200" b="0" i="0">
                <a:solidFill>
                  <a:srgbClr val="33414F"/>
                </a:solidFill>
                <a:latin typeface="Calibri"/>
              </a:rPr>
              <a:t>Most bugs are found by testing. This one cannot be, because </a:t>
            </a:r>
            <a:r>
              <a:rPr sz="1200" b="1" i="0">
                <a:solidFill>
                  <a:srgbClr val="C01F43"/>
                </a:solidFill>
                <a:latin typeface="Calibri"/>
              </a:rPr>
              <a:t>the thing you are testing is not the thing that will be built</a:t>
            </a:r>
            <a:r>
              <a:rPr sz="1200" b="0" i="0">
                <a:solidFill>
                  <a:srgbClr val="33414F"/>
                </a:solidFill>
                <a:latin typeface="Calibri"/>
              </a:rPr>
              <a:t>. Every test you write passes, and the chip still fails.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828800"/>
            <a:ext cx="3383280" cy="329184"/>
          </a:xfrm>
          <a:prstGeom prst="rect">
            <a:avLst/>
          </a:prstGeom>
          <a:solidFill>
            <a:srgbClr val="0E2A47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828800"/>
            <a:ext cx="3291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Cause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94760" y="1828800"/>
            <a:ext cx="3931920" cy="329184"/>
          </a:xfrm>
          <a:prstGeom prst="rect">
            <a:avLst/>
          </a:prstGeom>
          <a:solidFill>
            <a:srgbClr val="0E2A47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0" y="1828800"/>
            <a:ext cx="3840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What simulation does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26680" y="1828800"/>
            <a:ext cx="3931920" cy="329184"/>
          </a:xfrm>
          <a:prstGeom prst="rect">
            <a:avLst/>
          </a:prstGeom>
          <a:solidFill>
            <a:srgbClr val="0E2A47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0" y="1828800"/>
            <a:ext cx="3840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What synthesis does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2157984"/>
            <a:ext cx="338328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157984"/>
            <a:ext cx="3291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1000" b="1" i="0">
                <a:solidFill>
                  <a:srgbClr val="0E2A47"/>
                </a:solidFill>
                <a:latin typeface="Calibri"/>
              </a:rPr>
              <a:t>incomplete sensitivity list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94760" y="2157984"/>
            <a:ext cx="393192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40480" y="2157984"/>
            <a:ext cx="3840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1000" b="0" i="0">
                <a:solidFill>
                  <a:srgbClr val="33414F"/>
                </a:solidFill>
                <a:latin typeface="Calibri"/>
              </a:rPr>
              <a:t>the block sleeps; the output goes stale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26680" y="2157984"/>
            <a:ext cx="393192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0" y="2157984"/>
            <a:ext cx="3840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1000" b="0" i="0">
                <a:solidFill>
                  <a:srgbClr val="33414F"/>
                </a:solidFill>
                <a:latin typeface="Calibri"/>
              </a:rPr>
              <a:t>ignores the list; builds the logic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2487168"/>
            <a:ext cx="3383280" cy="329184"/>
          </a:xfrm>
          <a:prstGeom prst="rect">
            <a:avLst/>
          </a:prstGeom>
          <a:solidFill>
            <a:srgbClr val="F4F8FB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2487168"/>
            <a:ext cx="3291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1000" b="1" i="0">
                <a:solidFill>
                  <a:srgbClr val="0E2A47"/>
                </a:solidFill>
                <a:latin typeface="Calibri"/>
              </a:rPr>
              <a:t># delays in RTL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94760" y="2487168"/>
            <a:ext cx="3931920" cy="329184"/>
          </a:xfrm>
          <a:prstGeom prst="rect">
            <a:avLst/>
          </a:prstGeom>
          <a:solidFill>
            <a:srgbClr val="F4F8FB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40480" y="2487168"/>
            <a:ext cx="3840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1000" b="0" i="0">
                <a:solidFill>
                  <a:srgbClr val="33414F"/>
                </a:solidFill>
                <a:latin typeface="Calibri"/>
              </a:rPr>
              <a:t>waits the specified time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26680" y="2487168"/>
            <a:ext cx="3931920" cy="329184"/>
          </a:xfrm>
          <a:prstGeom prst="rect">
            <a:avLst/>
          </a:prstGeom>
          <a:solidFill>
            <a:srgbClr val="F4F8FB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0" y="2487168"/>
            <a:ext cx="3840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1000" b="0" i="0">
                <a:solidFill>
                  <a:srgbClr val="33414F"/>
                </a:solidFill>
                <a:latin typeface="Calibri"/>
              </a:rPr>
              <a:t>ignores them entirely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2816352"/>
            <a:ext cx="338328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2816352"/>
            <a:ext cx="3291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1000" b="1" i="0">
                <a:solidFill>
                  <a:srgbClr val="0E2A47"/>
                </a:solidFill>
                <a:latin typeface="Calibri"/>
              </a:rPr>
              <a:t>initial block (ASIC)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794760" y="2816352"/>
            <a:ext cx="393192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0" y="2816352"/>
            <a:ext cx="3840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1000" b="0" i="0">
                <a:solidFill>
                  <a:srgbClr val="33414F"/>
                </a:solidFill>
                <a:latin typeface="Calibri"/>
              </a:rPr>
              <a:t>sets the value at time zero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26680" y="2816352"/>
            <a:ext cx="393192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0" y="2816352"/>
            <a:ext cx="3840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1000" b="0" i="0">
                <a:solidFill>
                  <a:srgbClr val="33414F"/>
                </a:solidFill>
                <a:latin typeface="Calibri"/>
              </a:rPr>
              <a:t>ignores it; the flop powers up unknown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" y="3145536"/>
            <a:ext cx="3383280" cy="329184"/>
          </a:xfrm>
          <a:prstGeom prst="rect">
            <a:avLst/>
          </a:prstGeom>
          <a:solidFill>
            <a:srgbClr val="F4F8FB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3145536"/>
            <a:ext cx="3291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1000" b="1" i="0">
                <a:solidFill>
                  <a:srgbClr val="0E2A47"/>
                </a:solidFill>
                <a:latin typeface="Calibri"/>
              </a:rPr>
              <a:t>blocking in a clocked block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94760" y="3145536"/>
            <a:ext cx="3931920" cy="329184"/>
          </a:xfrm>
          <a:prstGeom prst="rect">
            <a:avLst/>
          </a:prstGeom>
          <a:solidFill>
            <a:srgbClr val="F4F8FB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40480" y="3145536"/>
            <a:ext cx="3840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1000" b="0" i="0">
                <a:solidFill>
                  <a:srgbClr val="33414F"/>
                </a:solidFill>
                <a:latin typeface="Calibri"/>
              </a:rPr>
              <a:t>result depends on evaluation order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26680" y="3145536"/>
            <a:ext cx="3931920" cy="329184"/>
          </a:xfrm>
          <a:prstGeom prst="rect">
            <a:avLst/>
          </a:prstGeom>
          <a:solidFill>
            <a:srgbClr val="F4F8FB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0" y="3145536"/>
            <a:ext cx="3840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1000" b="0" i="0">
                <a:solidFill>
                  <a:srgbClr val="33414F"/>
                </a:solidFill>
                <a:latin typeface="Calibri"/>
              </a:rPr>
              <a:t>builds one specific circuit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11480" y="3566160"/>
            <a:ext cx="11247120" cy="822960"/>
          </a:xfrm>
          <a:prstGeom prst="roundRect">
            <a:avLst>
              <a:gd name="adj" fmla="val 5714"/>
            </a:avLst>
          </a:prstGeom>
          <a:solidFill>
            <a:srgbClr val="EEF7F1"/>
          </a:solidFill>
          <a:ln w="13970">
            <a:solidFill>
              <a:srgbClr val="2A9D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76072" y="3630168"/>
            <a:ext cx="1091793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150" b="1" i="0">
                <a:solidFill>
                  <a:srgbClr val="2A9D5C"/>
                </a:solidFill>
                <a:latin typeface="Cambria"/>
              </a:rPr>
              <a:t>All four have the same cure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76072" y="3904488"/>
            <a:ext cx="1091793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1100" b="1" i="0">
                <a:solidFill>
                  <a:srgbClr val="2A9D5C"/>
                </a:solidFill>
                <a:latin typeface="Calibri"/>
              </a:rPr>
              <a:t>Use always @* and never a hand-written sensitivity list. No delays in RTL. A real reset instead of an initial block. Non-blocking in clocked blocks. Then lint for all four, so that nobody has to remember.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292608"/>
            <a:ext cx="530352" cy="530352"/>
          </a:xfrm>
          <a:prstGeom prst="ellipse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402336"/>
            <a:ext cx="155448" cy="310896"/>
          </a:xfrm>
          <a:prstGeom prst="rect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292608"/>
            <a:ext cx="106070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 spc="200">
                <a:solidFill>
                  <a:srgbClr val="1B9AAA"/>
                </a:solidFill>
                <a:latin typeface="Calibri"/>
              </a:rPr>
              <a:t>2.5 · THE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0292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2100" b="1" i="0">
                <a:solidFill>
                  <a:srgbClr val="0E2A47"/>
                </a:solidFill>
                <a:latin typeface="Cambria"/>
              </a:rPr>
              <a:t>Seven Rules, Checked By a Tool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8992" y="1024128"/>
            <a:ext cx="10579608" cy="9525"/>
          </a:xfrm>
          <a:prstGeom prst="rect">
            <a:avLst/>
          </a:prstGeom>
          <a:solidFill>
            <a:srgbClr val="D8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47104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Chip Design Associate · Module 2 · Verilog RTL Coding for Synthesis · Topic 2: RTL Design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47104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M2-T2 · 27</a:t>
            </a:r>
          </a:p>
        </p:txBody>
      </p:sp>
      <p:pic>
        <p:nvPicPr>
          <p:cNvPr id="9" name="Picture 8" descr="lint_r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7490" y="1097280"/>
            <a:ext cx="6135099" cy="4937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1480" y="6126480"/>
            <a:ext cx="11247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050" b="1" i="0">
                <a:solidFill>
                  <a:srgbClr val="0E2A47"/>
                </a:solidFill>
                <a:latin typeface="Calibri"/>
              </a:rPr>
              <a:t>A linter that cries wolf gets switched off. One that stays quiet is worse than none at all.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292608"/>
            <a:ext cx="530352" cy="530352"/>
          </a:xfrm>
          <a:prstGeom prst="ellipse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402336"/>
            <a:ext cx="155448" cy="310896"/>
          </a:xfrm>
          <a:prstGeom prst="rect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292608"/>
            <a:ext cx="106070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 spc="200">
                <a:solidFill>
                  <a:srgbClr val="1B9AAA"/>
                </a:solidFill>
                <a:latin typeface="Calibri"/>
              </a:rPr>
              <a:t>2.5 · THE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0292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2100" b="1" i="0">
                <a:solidFill>
                  <a:srgbClr val="0E2A47"/>
                </a:solidFill>
                <a:latin typeface="Cambria"/>
              </a:rPr>
              <a:t>The Coding Standard, In One Place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8992" y="1024128"/>
            <a:ext cx="10579608" cy="9525"/>
          </a:xfrm>
          <a:prstGeom prst="rect">
            <a:avLst/>
          </a:prstGeom>
          <a:solidFill>
            <a:srgbClr val="D8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47104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Chip Design Associate · Module 2 · Verilog RTL Coding for Synthesis · Topic 2: RTL Design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47104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M2-T2 · 28</a:t>
            </a:r>
          </a:p>
        </p:txBody>
      </p:sp>
      <p:pic>
        <p:nvPicPr>
          <p:cNvPr id="9" name="Picture 8" descr="coding_r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3395" y="1097280"/>
            <a:ext cx="6283290" cy="4846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1480" y="6035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050" b="0" i="0">
                <a:solidFill>
                  <a:srgbClr val="33414F"/>
                </a:solidFill>
                <a:latin typeface="Calibri"/>
              </a:rPr>
              <a:t>None of these are style preferences. Every one exists because breaking it produces a design that simulates differently from the way it is built.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292608"/>
            <a:ext cx="530352" cy="530352"/>
          </a:xfrm>
          <a:prstGeom prst="ellipse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402336"/>
            <a:ext cx="155448" cy="310896"/>
          </a:xfrm>
          <a:prstGeom prst="rect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292608"/>
            <a:ext cx="106070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 spc="200">
                <a:solidFill>
                  <a:srgbClr val="1B9AAA"/>
                </a:solidFill>
                <a:latin typeface="Calibri"/>
              </a:rPr>
              <a:t>2.6 · MICRO-ARCHITECTURE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0292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2100" b="1" i="0">
                <a:solidFill>
                  <a:srgbClr val="0E2A47"/>
                </a:solidFill>
                <a:latin typeface="Cambria"/>
              </a:rPr>
              <a:t>The Decisions RTL Cannot Make For You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8992" y="1024128"/>
            <a:ext cx="10579608" cy="9525"/>
          </a:xfrm>
          <a:prstGeom prst="rect">
            <a:avLst/>
          </a:prstGeom>
          <a:solidFill>
            <a:srgbClr val="D8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47104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Chip Design Associate · Module 2 · Verilog RTL Coding for Synthesis · Topic 2: RTL Design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47104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M2-T2 · 29</a:t>
            </a:r>
          </a:p>
        </p:txBody>
      </p:sp>
      <p:pic>
        <p:nvPicPr>
          <p:cNvPr id="9" name="Picture 8" descr="partitio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6878" y="1097280"/>
            <a:ext cx="6856325" cy="4937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1480" y="6126480"/>
            <a:ext cx="11247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050" b="1" i="0">
                <a:solidFill>
                  <a:srgbClr val="C77514"/>
                </a:solidFill>
                <a:latin typeface="Calibri"/>
              </a:rPr>
              <a:t>Make these on paper, before the first line of RTL. A synthesiser will faithfully build whatever you chose.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292608"/>
            <a:ext cx="530352" cy="530352"/>
          </a:xfrm>
          <a:prstGeom prst="ellipse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402336"/>
            <a:ext cx="155448" cy="310896"/>
          </a:xfrm>
          <a:prstGeom prst="rect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292608"/>
            <a:ext cx="106070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 spc="200">
                <a:solidFill>
                  <a:srgbClr val="1B9AAA"/>
                </a:solidFill>
                <a:latin typeface="Calibri"/>
              </a:rPr>
              <a:t>2.7 · REUSE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0292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2100" b="1" i="0">
                <a:solidFill>
                  <a:srgbClr val="0E2A47"/>
                </a:solidFill>
                <a:latin typeface="Cambria"/>
              </a:rPr>
              <a:t>Writing RTL That Someone Else Can Use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8992" y="1024128"/>
            <a:ext cx="10579608" cy="9525"/>
          </a:xfrm>
          <a:prstGeom prst="rect">
            <a:avLst/>
          </a:prstGeom>
          <a:solidFill>
            <a:srgbClr val="D8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47104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Chip Design Associate · Module 2 · Verilog RTL Coding for Synthesis · Topic 2: RTL Design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47104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M2-T2 · 30</a:t>
            </a:r>
          </a:p>
        </p:txBody>
      </p:sp>
      <p:pic>
        <p:nvPicPr>
          <p:cNvPr id="9" name="Picture 8" descr="reu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2453" y="1097280"/>
            <a:ext cx="6145173" cy="41148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11480" y="5303520"/>
            <a:ext cx="11247120" cy="822960"/>
          </a:xfrm>
          <a:prstGeom prst="roundRect">
            <a:avLst>
              <a:gd name="adj" fmla="val 5714"/>
            </a:avLst>
          </a:prstGeom>
          <a:solidFill>
            <a:srgbClr val="F4F8FB"/>
          </a:solidFill>
          <a:ln w="1397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" y="5367528"/>
            <a:ext cx="1091793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150" b="1" i="0">
                <a:solidFill>
                  <a:srgbClr val="0E2A47"/>
                </a:solidFill>
                <a:latin typeface="Cambria"/>
              </a:rPr>
              <a:t>Module 2's fourth terminal outcome asks for this by name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5641848"/>
            <a:ext cx="1091793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1050" b="0" i="0">
                <a:solidFill>
                  <a:srgbClr val="33414F"/>
                </a:solidFill>
                <a:latin typeface="Calibri"/>
              </a:rPr>
              <a:t>"Emulate, debug and characterise reusable IPs." Reuse is not something you add to a design afterwards — it is a set of decisions you take while writing it, and every one of them is listed above.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292608"/>
            <a:ext cx="530352" cy="530352"/>
          </a:xfrm>
          <a:prstGeom prst="ellipse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402336"/>
            <a:ext cx="155448" cy="310896"/>
          </a:xfrm>
          <a:prstGeom prst="rect">
            <a:avLst/>
          </a:prstGeom>
          <a:solidFill>
            <a:srgbClr val="2A9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292608"/>
            <a:ext cx="106070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 spc="200">
                <a:solidFill>
                  <a:srgbClr val="2A9D5C"/>
                </a:solidFill>
                <a:latin typeface="Calibri"/>
              </a:rPr>
              <a:t>THEORY 2 · CHECKPOINT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0292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2100" b="1" i="0">
                <a:solidFill>
                  <a:srgbClr val="0E2A47"/>
                </a:solidFill>
                <a:latin typeface="Cambria"/>
              </a:rPr>
              <a:t>Seven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8992" y="1024128"/>
            <a:ext cx="10579608" cy="9525"/>
          </a:xfrm>
          <a:prstGeom prst="rect">
            <a:avLst/>
          </a:prstGeom>
          <a:solidFill>
            <a:srgbClr val="D8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47104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Chip Design Associate · Module 2 · Verilog RTL Coding for Synthesis · Topic 2: RTL Design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47104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M2-T2 · 31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43000"/>
            <a:ext cx="548640" cy="283464"/>
          </a:xfrm>
          <a:prstGeom prst="rect">
            <a:avLst/>
          </a:prstGeom>
          <a:solidFill>
            <a:srgbClr val="0E2A47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43000"/>
            <a:ext cx="45720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0120" y="1143000"/>
            <a:ext cx="5029200" cy="283464"/>
          </a:xfrm>
          <a:prstGeom prst="rect">
            <a:avLst/>
          </a:prstGeom>
          <a:solidFill>
            <a:srgbClr val="0E2A47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143000"/>
            <a:ext cx="493776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Question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89320" y="1143000"/>
            <a:ext cx="5669280" cy="283464"/>
          </a:xfrm>
          <a:prstGeom prst="rect">
            <a:avLst/>
          </a:prstGeom>
          <a:solidFill>
            <a:srgbClr val="0E2A47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0" y="1143000"/>
            <a:ext cx="557784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The answer in one line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1426464"/>
            <a:ext cx="54864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1426464"/>
            <a:ext cx="45720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950" b="1" i="0">
                <a:solidFill>
                  <a:srgbClr val="0E2A47"/>
                </a:solidFill>
                <a:latin typeface="Calibri"/>
              </a:rPr>
              <a:t>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0120" y="1426464"/>
            <a:ext cx="502920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1426464"/>
            <a:ext cx="493776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950" b="0" i="0">
                <a:solidFill>
                  <a:srgbClr val="33414F"/>
                </a:solidFill>
                <a:latin typeface="Calibri"/>
              </a:rPr>
              <a:t>Name the first four stages of the flow.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89320" y="1426464"/>
            <a:ext cx="566928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5040" y="1426464"/>
            <a:ext cx="557784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950" b="0" i="0">
                <a:solidFill>
                  <a:srgbClr val="33414F"/>
                </a:solidFill>
                <a:latin typeface="Calibri"/>
              </a:rPr>
              <a:t>spec, micro-architecture, RTL coding, lint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1709928"/>
            <a:ext cx="548640" cy="283464"/>
          </a:xfrm>
          <a:prstGeom prst="rect">
            <a:avLst/>
          </a:prstGeom>
          <a:solidFill>
            <a:srgbClr val="F4F8FB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1709928"/>
            <a:ext cx="45720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950" b="1" i="0">
                <a:solidFill>
                  <a:srgbClr val="0E2A47"/>
                </a:solidFill>
                <a:latin typeface="Calibri"/>
              </a:rPr>
              <a:t>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0120" y="1709928"/>
            <a:ext cx="5029200" cy="283464"/>
          </a:xfrm>
          <a:prstGeom prst="rect">
            <a:avLst/>
          </a:prstGeom>
          <a:solidFill>
            <a:srgbClr val="F4F8FB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1709928"/>
            <a:ext cx="493776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950" b="0" i="0">
                <a:solidFill>
                  <a:srgbClr val="33414F"/>
                </a:solidFill>
                <a:latin typeface="Calibri"/>
              </a:rPr>
              <a:t>Why lint before simulating?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89320" y="1709928"/>
            <a:ext cx="5669280" cy="283464"/>
          </a:xfrm>
          <a:prstGeom prst="rect">
            <a:avLst/>
          </a:prstGeom>
          <a:solidFill>
            <a:srgbClr val="F4F8FB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5040" y="1709928"/>
            <a:ext cx="557784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950" b="0" i="0">
                <a:solidFill>
                  <a:srgbClr val="33414F"/>
                </a:solidFill>
                <a:latin typeface="Calibri"/>
              </a:rPr>
              <a:t>it costs seconds and catches what tests cannot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1993392"/>
            <a:ext cx="54864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1993392"/>
            <a:ext cx="45720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950" b="1" i="0">
                <a:solidFill>
                  <a:srgbClr val="0E2A47"/>
                </a:solidFill>
                <a:latin typeface="Calibri"/>
              </a:rPr>
              <a:t>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0120" y="1993392"/>
            <a:ext cx="502920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5840" y="1993392"/>
            <a:ext cx="493776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950" b="0" i="0">
                <a:solidFill>
                  <a:srgbClr val="33414F"/>
                </a:solidFill>
                <a:latin typeface="Calibri"/>
              </a:rPr>
              <a:t>What builds a latch?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89320" y="1993392"/>
            <a:ext cx="566928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35040" y="1993392"/>
            <a:ext cx="557784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950" b="0" i="0">
                <a:solidFill>
                  <a:srgbClr val="33414F"/>
                </a:solidFill>
                <a:latin typeface="Calibri"/>
              </a:rPr>
              <a:t>a combinational block that does not assign on every path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2276856"/>
            <a:ext cx="548640" cy="283464"/>
          </a:xfrm>
          <a:prstGeom prst="rect">
            <a:avLst/>
          </a:prstGeom>
          <a:solidFill>
            <a:srgbClr val="F4F8FB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2276856"/>
            <a:ext cx="45720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950" b="1" i="0">
                <a:solidFill>
                  <a:srgbClr val="0E2A47"/>
                </a:solidFill>
                <a:latin typeface="Calibri"/>
              </a:rPr>
              <a:t>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0120" y="2276856"/>
            <a:ext cx="5029200" cy="283464"/>
          </a:xfrm>
          <a:prstGeom prst="rect">
            <a:avLst/>
          </a:prstGeom>
          <a:solidFill>
            <a:srgbClr val="F4F8FB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5840" y="2276856"/>
            <a:ext cx="493776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950" b="0" i="0">
                <a:solidFill>
                  <a:srgbClr val="33414F"/>
                </a:solidFill>
                <a:latin typeface="Calibri"/>
              </a:rPr>
              <a:t>a / b against a / 4 — what did they cost?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89320" y="2276856"/>
            <a:ext cx="5669280" cy="283464"/>
          </a:xfrm>
          <a:prstGeom prst="rect">
            <a:avLst/>
          </a:prstGeom>
          <a:solidFill>
            <a:srgbClr val="F4F8FB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35040" y="2276856"/>
            <a:ext cx="557784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950" b="0" i="0">
                <a:solidFill>
                  <a:srgbClr val="33414F"/>
                </a:solidFill>
                <a:latin typeface="Calibri"/>
              </a:rPr>
              <a:t>371 cells against 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2560320"/>
            <a:ext cx="54864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2560320"/>
            <a:ext cx="45720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950" b="1" i="0">
                <a:solidFill>
                  <a:srgbClr val="0E2A47"/>
                </a:solidFill>
                <a:latin typeface="Calibri"/>
              </a:rPr>
              <a:t>5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0120" y="2560320"/>
            <a:ext cx="502920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5840" y="2560320"/>
            <a:ext cx="493776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950" b="0" i="0">
                <a:solidFill>
                  <a:srgbClr val="33414F"/>
                </a:solidFill>
                <a:latin typeface="Calibri"/>
              </a:rPr>
              <a:t>Why is an incomplete sensitivity list so dangerous?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989320" y="2560320"/>
            <a:ext cx="566928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35040" y="2560320"/>
            <a:ext cx="557784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950" b="0" i="0">
                <a:solidFill>
                  <a:srgbClr val="33414F"/>
                </a:solidFill>
                <a:latin typeface="Calibri"/>
              </a:rPr>
              <a:t>simulation and synthesis then build different circuits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1480" y="2843784"/>
            <a:ext cx="548640" cy="283464"/>
          </a:xfrm>
          <a:prstGeom prst="rect">
            <a:avLst/>
          </a:prstGeom>
          <a:solidFill>
            <a:srgbClr val="F4F8FB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7200" y="2843784"/>
            <a:ext cx="45720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950" b="1" i="0">
                <a:solidFill>
                  <a:srgbClr val="0E2A47"/>
                </a:solidFill>
                <a:latin typeface="Calibri"/>
              </a:rPr>
              <a:t>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0120" y="2843784"/>
            <a:ext cx="5029200" cy="283464"/>
          </a:xfrm>
          <a:prstGeom prst="rect">
            <a:avLst/>
          </a:prstGeom>
          <a:solidFill>
            <a:srgbClr val="F4F8FB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05840" y="2843784"/>
            <a:ext cx="493776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950" b="0" i="0">
                <a:solidFill>
                  <a:srgbClr val="33414F"/>
                </a:solidFill>
                <a:latin typeface="Calibri"/>
              </a:rPr>
              <a:t>What does # do in synthesisable RTL?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989320" y="2843784"/>
            <a:ext cx="5669280" cy="283464"/>
          </a:xfrm>
          <a:prstGeom prst="rect">
            <a:avLst/>
          </a:prstGeom>
          <a:solidFill>
            <a:srgbClr val="F4F8FB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035040" y="2843784"/>
            <a:ext cx="557784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950" b="0" i="0">
                <a:solidFill>
                  <a:srgbClr val="33414F"/>
                </a:solidFill>
                <a:latin typeface="Calibri"/>
              </a:rPr>
              <a:t>nothing at all — it is silently ignored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11480" y="3127248"/>
            <a:ext cx="54864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57200" y="3127248"/>
            <a:ext cx="45720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950" b="1" i="0">
                <a:solidFill>
                  <a:srgbClr val="0E2A47"/>
                </a:solidFill>
                <a:latin typeface="Calibri"/>
              </a:rPr>
              <a:t>7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60120" y="3127248"/>
            <a:ext cx="502920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05840" y="3127248"/>
            <a:ext cx="493776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950" b="0" i="0">
                <a:solidFill>
                  <a:srgbClr val="33414F"/>
                </a:solidFill>
                <a:latin typeface="Calibri"/>
              </a:rPr>
              <a:t>Name three decisions synthesis will not make for you.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989320" y="3127248"/>
            <a:ext cx="566928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035040" y="3127248"/>
            <a:ext cx="557784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950" b="0" i="0">
                <a:solidFill>
                  <a:srgbClr val="33414F"/>
                </a:solidFill>
                <a:latin typeface="Calibri"/>
              </a:rPr>
              <a:t>cycle count, register placement, sharing, interface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11480" y="35021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100" b="1" i="0">
                <a:solidFill>
                  <a:srgbClr val="2A9D5C"/>
                </a:solidFill>
                <a:latin typeface="Calibri"/>
              </a:rPr>
              <a:t>Theory 3 is about the notation — which turns out to be the least important part.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A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144000" y="-1828800"/>
            <a:ext cx="6400800" cy="6400800"/>
          </a:xfrm>
          <a:prstGeom prst="ellipse">
            <a:avLst/>
          </a:prstGeom>
          <a:solidFill>
            <a:srgbClr val="163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6002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400" b="1" i="0" spc="300">
                <a:solidFill>
                  <a:srgbClr val="0E2A47"/>
                </a:solidFill>
                <a:latin typeface="Calibri"/>
              </a:rPr>
              <a:t>THEORY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011680"/>
            <a:ext cx="96012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3000" b="1" i="0">
                <a:solidFill>
                  <a:srgbClr val="FFFFFF"/>
                </a:solidFill>
                <a:latin typeface="Cambria"/>
              </a:rPr>
              <a:t>Introduction to Hardware Description Languages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971800"/>
            <a:ext cx="86868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350" b="0" i="0">
                <a:solidFill>
                  <a:srgbClr val="C9D6E3"/>
                </a:solidFill>
                <a:latin typeface="Calibri"/>
              </a:rPr>
              <a:t>The syllabus says "HDLs such as Verilog or VHDL". The word doing the work is OR.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941064"/>
            <a:ext cx="91440" cy="18288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840480"/>
            <a:ext cx="9875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300" b="0" i="0">
                <a:solidFill>
                  <a:srgbClr val="E7EEF5"/>
                </a:solidFill>
                <a:latin typeface="Calibri"/>
              </a:rPr>
              <a:t>Why an HDL is not a programming language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352544"/>
            <a:ext cx="91440" cy="18288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251960"/>
            <a:ext cx="9875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300" b="0" i="0">
                <a:solidFill>
                  <a:srgbClr val="E7EEF5"/>
                </a:solidFill>
                <a:latin typeface="Calibri"/>
              </a:rPr>
              <a:t>Everything happens at once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764024"/>
            <a:ext cx="91440" cy="18288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663440"/>
            <a:ext cx="9875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300" b="0" i="0">
                <a:solidFill>
                  <a:srgbClr val="E7EEF5"/>
                </a:solidFill>
                <a:latin typeface="Calibri"/>
              </a:rPr>
              <a:t>The parts of a module, and the word reg that confuses everyone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5175504"/>
            <a:ext cx="91440" cy="18288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074920"/>
            <a:ext cx="9875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300" b="0" i="0">
                <a:solidFill>
                  <a:srgbClr val="E7EEF5"/>
                </a:solidFill>
                <a:latin typeface="Calibri"/>
              </a:rPr>
              <a:t>Verilog and VHDL, side by side and both actually run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547104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800" b="0" i="0">
                <a:solidFill>
                  <a:srgbClr val="7C8EA2"/>
                </a:solidFill>
                <a:latin typeface="Calibri"/>
              </a:rPr>
              <a:t>Chip Design Associate · Module 2 · Verilog RTL Coding for Synthesis · Topic 2: RTL Design Methodology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6547104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3000"/>
              </a:lnSpc>
            </a:pPr>
            <a:r>
              <a:rPr sz="800" b="0" i="0">
                <a:solidFill>
                  <a:srgbClr val="7C8EA2"/>
                </a:solidFill>
                <a:latin typeface="Calibri"/>
              </a:rPr>
              <a:t>M2-T2 ·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292608"/>
            <a:ext cx="530352" cy="530352"/>
          </a:xfrm>
          <a:prstGeom prst="ellipse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402336"/>
            <a:ext cx="155448" cy="310896"/>
          </a:xfrm>
          <a:prstGeom prst="rect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292608"/>
            <a:ext cx="106070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 spc="200">
                <a:solidFill>
                  <a:srgbClr val="1B9AAA"/>
                </a:solidFill>
                <a:latin typeface="Calibri"/>
              </a:rPr>
              <a:t>3.1 · NOT A PROGRAM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0292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2100" b="1" i="0">
                <a:solidFill>
                  <a:srgbClr val="0E2A47"/>
                </a:solidFill>
                <a:latin typeface="Cambria"/>
              </a:rPr>
              <a:t>An HDL Is Not a Programming Language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8992" y="1024128"/>
            <a:ext cx="10579608" cy="9525"/>
          </a:xfrm>
          <a:prstGeom prst="rect">
            <a:avLst/>
          </a:prstGeom>
          <a:solidFill>
            <a:srgbClr val="D8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47104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Chip Design Associate · Module 2 · Verilog RTL Coding for Synthesis · Topic 2: RTL Design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47104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M2-T2 · 33</a:t>
            </a:r>
          </a:p>
        </p:txBody>
      </p:sp>
      <p:pic>
        <p:nvPicPr>
          <p:cNvPr id="9" name="Picture 8" descr="what_is_hd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1706" y="1097280"/>
            <a:ext cx="7426669" cy="4846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1480" y="6035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100" b="1" i="0">
                <a:solidFill>
                  <a:srgbClr val="0E2A47"/>
                </a:solidFill>
                <a:latin typeface="Calibri"/>
              </a:rPr>
              <a:t>You are not writing instructions for a machine to follow. You are writing a description of a machine.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292608"/>
            <a:ext cx="530352" cy="530352"/>
          </a:xfrm>
          <a:prstGeom prst="ellipse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402336"/>
            <a:ext cx="155448" cy="310896"/>
          </a:xfrm>
          <a:prstGeom prst="rect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292608"/>
            <a:ext cx="106070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 spc="200">
                <a:solidFill>
                  <a:srgbClr val="1B9AAA"/>
                </a:solidFill>
                <a:latin typeface="Calibri"/>
              </a:rPr>
              <a:t>3.2 · CONCURRENCY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0292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2100" b="1" i="0">
                <a:solidFill>
                  <a:srgbClr val="0E2A47"/>
                </a:solidFill>
                <a:latin typeface="Cambria"/>
              </a:rPr>
              <a:t>Everything Happens At Once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8992" y="1024128"/>
            <a:ext cx="10579608" cy="9525"/>
          </a:xfrm>
          <a:prstGeom prst="rect">
            <a:avLst/>
          </a:prstGeom>
          <a:solidFill>
            <a:srgbClr val="D8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47104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Chip Design Associate · Module 2 · Verilog RTL Coding for Synthesis · Topic 2: RTL Design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47104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M2-T2 · 34</a:t>
            </a:r>
          </a:p>
        </p:txBody>
      </p:sp>
      <p:pic>
        <p:nvPicPr>
          <p:cNvPr id="9" name="Picture 8" descr="concurr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1502" y="1097280"/>
            <a:ext cx="6887075" cy="4846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1480" y="6035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050" b="0" i="0">
                <a:solidFill>
                  <a:srgbClr val="33414F"/>
                </a:solidFill>
                <a:latin typeface="Calibri"/>
              </a:rPr>
              <a:t>Write those three assign lines in any order you like — the circuit is identical.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292608"/>
            <a:ext cx="530352" cy="530352"/>
          </a:xfrm>
          <a:prstGeom prst="ellipse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402336"/>
            <a:ext cx="155448" cy="310896"/>
          </a:xfrm>
          <a:prstGeom prst="rect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292608"/>
            <a:ext cx="106070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 spc="200">
                <a:solidFill>
                  <a:srgbClr val="1B9AAA"/>
                </a:solidFill>
                <a:latin typeface="Calibri"/>
              </a:rPr>
              <a:t>3.3 · ANATOMY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0292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2100" b="1" i="0">
                <a:solidFill>
                  <a:srgbClr val="0E2A47"/>
                </a:solidFill>
                <a:latin typeface="Cambria"/>
              </a:rPr>
              <a:t>The Parts of a Verilog Module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8992" y="1024128"/>
            <a:ext cx="10579608" cy="9525"/>
          </a:xfrm>
          <a:prstGeom prst="rect">
            <a:avLst/>
          </a:prstGeom>
          <a:solidFill>
            <a:srgbClr val="D8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47104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Chip Design Associate · Module 2 · Verilog RTL Coding for Synthesis · Topic 2: RTL Design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47104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M2-T2 · 35</a:t>
            </a:r>
          </a:p>
        </p:txBody>
      </p:sp>
      <p:pic>
        <p:nvPicPr>
          <p:cNvPr id="9" name="Picture 8" descr="module_anato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1795" y="1097280"/>
            <a:ext cx="6546491" cy="4937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1480" y="6126480"/>
            <a:ext cx="11247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050" b="1" i="0">
                <a:solidFill>
                  <a:srgbClr val="C77514"/>
                </a:solidFill>
                <a:latin typeface="Calibri"/>
              </a:rPr>
              <a:t>reg does not mean register. What creates a flip-flop is assigning inside always @(posedge clk) — nothing else.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292608"/>
            <a:ext cx="530352" cy="530352"/>
          </a:xfrm>
          <a:prstGeom prst="ellipse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402336"/>
            <a:ext cx="155448" cy="310896"/>
          </a:xfrm>
          <a:prstGeom prst="rect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292608"/>
            <a:ext cx="106070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 spc="200">
                <a:solidFill>
                  <a:srgbClr val="1B9AAA"/>
                </a:solidFill>
                <a:latin typeface="Calibri"/>
              </a:rPr>
              <a:t>3.4 · SIMULATION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0292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2100" b="1" i="0">
                <a:solidFill>
                  <a:srgbClr val="0E2A47"/>
                </a:solidFill>
                <a:latin typeface="Cambria"/>
              </a:rPr>
              <a:t>How a Simulator Runs an HDL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8992" y="1024128"/>
            <a:ext cx="10579608" cy="9525"/>
          </a:xfrm>
          <a:prstGeom prst="rect">
            <a:avLst/>
          </a:prstGeom>
          <a:solidFill>
            <a:srgbClr val="D8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47104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Chip Design Associate · Module 2 · Verilog RTL Coding for Synthesis · Topic 2: RTL Design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47104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M2-T2 · 36</a:t>
            </a:r>
          </a:p>
        </p:txBody>
      </p:sp>
      <p:pic>
        <p:nvPicPr>
          <p:cNvPr id="9" name="Picture 8" descr="event_simu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6127" y="1097280"/>
            <a:ext cx="6697827" cy="4937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1480" y="6126480"/>
            <a:ext cx="11247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050" b="0" i="0">
                <a:solidFill>
                  <a:srgbClr val="33414F"/>
                </a:solidFill>
                <a:latin typeface="Calibri"/>
              </a:rPr>
              <a:t>The order blocks are evaluated in is genuinely unspecified. That is why non-blocking assignment exists.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292608"/>
            <a:ext cx="530352" cy="530352"/>
          </a:xfrm>
          <a:prstGeom prst="ellipse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402336"/>
            <a:ext cx="155448" cy="310896"/>
          </a:xfrm>
          <a:prstGeom prst="rect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292608"/>
            <a:ext cx="106070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 spc="200">
                <a:solidFill>
                  <a:srgbClr val="1B9AAA"/>
                </a:solidFill>
                <a:latin typeface="Calibri"/>
              </a:rPr>
              <a:t>3.5 · TWO LANGUAGES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0292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2100" b="1" i="0">
                <a:solidFill>
                  <a:srgbClr val="0E2A47"/>
                </a:solidFill>
                <a:latin typeface="Cambria"/>
              </a:rPr>
              <a:t>Verilog and VHDL, Side By Side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8992" y="1024128"/>
            <a:ext cx="10579608" cy="9525"/>
          </a:xfrm>
          <a:prstGeom prst="rect">
            <a:avLst/>
          </a:prstGeom>
          <a:solidFill>
            <a:srgbClr val="D8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47104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Chip Design Associate · Module 2 · Verilog RTL Coding for Synthesis · Topic 2: RTL Design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47104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M2-T2 · 37</a:t>
            </a:r>
          </a:p>
        </p:txBody>
      </p:sp>
      <p:pic>
        <p:nvPicPr>
          <p:cNvPr id="9" name="Picture 8" descr="verilog_vhd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5470" y="1097280"/>
            <a:ext cx="6119140" cy="5029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1480" y="6217920"/>
            <a:ext cx="11247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050" b="0" i="0">
                <a:solidFill>
                  <a:srgbClr val="33414F"/>
                </a:solidFill>
                <a:latin typeface="Calibri"/>
              </a:rPr>
              <a:t>None of those differences are about hardware. Both describe registers, logic and hierarchy; both synthesise to the same gates.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292608"/>
            <a:ext cx="530352" cy="530352"/>
          </a:xfrm>
          <a:prstGeom prst="ellipse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402336"/>
            <a:ext cx="155448" cy="310896"/>
          </a:xfrm>
          <a:prstGeom prst="rect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292608"/>
            <a:ext cx="106070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 spc="200">
                <a:solidFill>
                  <a:srgbClr val="1B9AAA"/>
                </a:solidFill>
                <a:latin typeface="Calibri"/>
              </a:rPr>
              <a:t>3.5 · TWO LANGUAGES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0292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2100" b="1" i="0">
                <a:solidFill>
                  <a:srgbClr val="0E2A47"/>
                </a:solidFill>
                <a:latin typeface="Cambria"/>
              </a:rPr>
              <a:t>The Same Counter, In Both, Actually Run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8992" y="1024128"/>
            <a:ext cx="10579608" cy="9525"/>
          </a:xfrm>
          <a:prstGeom prst="rect">
            <a:avLst/>
          </a:prstGeom>
          <a:solidFill>
            <a:srgbClr val="D8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47104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Chip Design Associate · Module 2 · Verilog RTL Coding for Synthesis · Topic 2: RTL Design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47104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M2-T2 · 38</a:t>
            </a:r>
          </a:p>
        </p:txBody>
      </p:sp>
      <p:pic>
        <p:nvPicPr>
          <p:cNvPr id="9" name="Picture 8" descr="two_languages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1337" y="1097280"/>
            <a:ext cx="6107406" cy="42976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11480" y="5486400"/>
            <a:ext cx="11247120" cy="685800"/>
          </a:xfrm>
          <a:prstGeom prst="roundRect">
            <a:avLst>
              <a:gd name="adj" fmla="val 5714"/>
            </a:avLst>
          </a:prstGeom>
          <a:solidFill>
            <a:srgbClr val="EEF7F1"/>
          </a:solidFill>
          <a:ln w="13970">
            <a:solidFill>
              <a:srgbClr val="2A9D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" y="5550408"/>
            <a:ext cx="1091793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150" b="1" i="0">
                <a:solidFill>
                  <a:srgbClr val="2A9D5C"/>
                </a:solidFill>
                <a:latin typeface="Cambria"/>
              </a:rPr>
              <a:t>Not "they look similar"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5824728"/>
            <a:ext cx="10917936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1050" b="0" i="0">
                <a:solidFill>
                  <a:srgbClr val="33414F"/>
                </a:solidFill>
                <a:latin typeface="Calibri"/>
              </a:rPr>
              <a:t>The two transcripts were compared line by line by diff, and there was nothing to report — 18 cycles, two languages, two different simulators, one design.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292608"/>
            <a:ext cx="530352" cy="530352"/>
          </a:xfrm>
          <a:prstGeom prst="ellipse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402336"/>
            <a:ext cx="155448" cy="310896"/>
          </a:xfrm>
          <a:prstGeom prst="rect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292608"/>
            <a:ext cx="106070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 spc="200">
                <a:solidFill>
                  <a:srgbClr val="1B9AAA"/>
                </a:solidFill>
                <a:latin typeface="Calibri"/>
              </a:rPr>
              <a:t>3.6 · WHICH 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0292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2100" b="1" i="0">
                <a:solidFill>
                  <a:srgbClr val="0E2A47"/>
                </a:solidFill>
                <a:latin typeface="Cambria"/>
              </a:rPr>
              <a:t>Which HDL Should You Learn?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8992" y="1024128"/>
            <a:ext cx="10579608" cy="9525"/>
          </a:xfrm>
          <a:prstGeom prst="rect">
            <a:avLst/>
          </a:prstGeom>
          <a:solidFill>
            <a:srgbClr val="D8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47104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Chip Design Associate · Module 2 · Verilog RTL Coding for Synthesis · Topic 2: RTL Design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47104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M2-T2 · 39</a:t>
            </a:r>
          </a:p>
        </p:txBody>
      </p:sp>
      <p:pic>
        <p:nvPicPr>
          <p:cNvPr id="9" name="Picture 8" descr="hdl_cho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6878" y="1097280"/>
            <a:ext cx="6856325" cy="4937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1480" y="6126480"/>
            <a:ext cx="11247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100" b="1" i="0">
                <a:solidFill>
                  <a:srgbClr val="2A9D5C"/>
                </a:solidFill>
                <a:latin typeface="Calibri"/>
              </a:rPr>
              <a:t>Learn the concepts. The notation follows in an afternoon.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292608"/>
            <a:ext cx="530352" cy="530352"/>
          </a:xfrm>
          <a:prstGeom prst="ellipse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402336"/>
            <a:ext cx="155448" cy="310896"/>
          </a:xfrm>
          <a:prstGeom prst="rect">
            <a:avLst/>
          </a:prstGeom>
          <a:solidFill>
            <a:srgbClr val="2A9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292608"/>
            <a:ext cx="106070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 spc="200">
                <a:solidFill>
                  <a:srgbClr val="2A9D5C"/>
                </a:solidFill>
                <a:latin typeface="Calibri"/>
              </a:rPr>
              <a:t>THEORY 3 · CHECKPOINT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0292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2100" b="1" i="0">
                <a:solidFill>
                  <a:srgbClr val="0E2A47"/>
                </a:solidFill>
                <a:latin typeface="Cambria"/>
              </a:rPr>
              <a:t>Five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8992" y="1024128"/>
            <a:ext cx="10579608" cy="9525"/>
          </a:xfrm>
          <a:prstGeom prst="rect">
            <a:avLst/>
          </a:prstGeom>
          <a:solidFill>
            <a:srgbClr val="D8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47104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Chip Design Associate · Module 2 · Verilog RTL Coding for Synthesis · Topic 2: RTL Design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47104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M2-T2 · 40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43000"/>
            <a:ext cx="548640" cy="283464"/>
          </a:xfrm>
          <a:prstGeom prst="rect">
            <a:avLst/>
          </a:prstGeom>
          <a:solidFill>
            <a:srgbClr val="0E2A47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43000"/>
            <a:ext cx="45720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0120" y="1143000"/>
            <a:ext cx="5029200" cy="283464"/>
          </a:xfrm>
          <a:prstGeom prst="rect">
            <a:avLst/>
          </a:prstGeom>
          <a:solidFill>
            <a:srgbClr val="0E2A47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143000"/>
            <a:ext cx="493776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Question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89320" y="1143000"/>
            <a:ext cx="5669280" cy="283464"/>
          </a:xfrm>
          <a:prstGeom prst="rect">
            <a:avLst/>
          </a:prstGeom>
          <a:solidFill>
            <a:srgbClr val="0E2A47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0" y="1143000"/>
            <a:ext cx="557784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The answer in one line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1426464"/>
            <a:ext cx="54864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1426464"/>
            <a:ext cx="45720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950" b="1" i="0">
                <a:solidFill>
                  <a:srgbClr val="0E2A47"/>
                </a:solidFill>
                <a:latin typeface="Calibri"/>
              </a:rPr>
              <a:t>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0120" y="1426464"/>
            <a:ext cx="502920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1426464"/>
            <a:ext cx="493776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950" b="0" i="0">
                <a:solidFill>
                  <a:srgbClr val="33414F"/>
                </a:solidFill>
                <a:latin typeface="Calibri"/>
              </a:rPr>
              <a:t>Name the biggest difference between an HDL and a program.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89320" y="1426464"/>
            <a:ext cx="566928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5040" y="1426464"/>
            <a:ext cx="557784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950" b="0" i="0">
                <a:solidFill>
                  <a:srgbClr val="33414F"/>
                </a:solidFill>
                <a:latin typeface="Calibri"/>
              </a:rPr>
              <a:t>everything in an HDL runs all the time, concurrently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1709928"/>
            <a:ext cx="548640" cy="283464"/>
          </a:xfrm>
          <a:prstGeom prst="rect">
            <a:avLst/>
          </a:prstGeom>
          <a:solidFill>
            <a:srgbClr val="F4F8FB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1709928"/>
            <a:ext cx="45720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950" b="1" i="0">
                <a:solidFill>
                  <a:srgbClr val="0E2A47"/>
                </a:solidFill>
                <a:latin typeface="Calibri"/>
              </a:rPr>
              <a:t>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0120" y="1709928"/>
            <a:ext cx="5029200" cy="283464"/>
          </a:xfrm>
          <a:prstGeom prst="rect">
            <a:avLst/>
          </a:prstGeom>
          <a:solidFill>
            <a:srgbClr val="F4F8FB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1709928"/>
            <a:ext cx="493776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950" b="0" i="0">
                <a:solidFill>
                  <a:srgbClr val="33414F"/>
                </a:solidFill>
                <a:latin typeface="Calibri"/>
              </a:rPr>
              <a:t>Does the order of assign statements matter?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89320" y="1709928"/>
            <a:ext cx="5669280" cy="283464"/>
          </a:xfrm>
          <a:prstGeom prst="rect">
            <a:avLst/>
          </a:prstGeom>
          <a:solidFill>
            <a:srgbClr val="F4F8FB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5040" y="1709928"/>
            <a:ext cx="557784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950" b="0" i="0">
                <a:solidFill>
                  <a:srgbClr val="33414F"/>
                </a:solidFill>
                <a:latin typeface="Calibri"/>
              </a:rPr>
              <a:t>no — they describe hardware that exists together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1993392"/>
            <a:ext cx="54864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1993392"/>
            <a:ext cx="45720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950" b="1" i="0">
                <a:solidFill>
                  <a:srgbClr val="0E2A47"/>
                </a:solidFill>
                <a:latin typeface="Calibri"/>
              </a:rPr>
              <a:t>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0120" y="1993392"/>
            <a:ext cx="502920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5840" y="1993392"/>
            <a:ext cx="493776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950" b="0" i="0">
                <a:solidFill>
                  <a:srgbClr val="33414F"/>
                </a:solidFill>
                <a:latin typeface="Calibri"/>
              </a:rPr>
              <a:t>What does reg actually mean?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89320" y="1993392"/>
            <a:ext cx="566928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35040" y="1993392"/>
            <a:ext cx="557784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950" b="0" i="0">
                <a:solidFill>
                  <a:srgbClr val="33414F"/>
                </a:solidFill>
                <a:latin typeface="Calibri"/>
              </a:rPr>
              <a:t>assigned in a procedural block; NOT a flip-flop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2276856"/>
            <a:ext cx="548640" cy="283464"/>
          </a:xfrm>
          <a:prstGeom prst="rect">
            <a:avLst/>
          </a:prstGeom>
          <a:solidFill>
            <a:srgbClr val="F4F8FB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2276856"/>
            <a:ext cx="45720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950" b="1" i="0">
                <a:solidFill>
                  <a:srgbClr val="0E2A47"/>
                </a:solidFill>
                <a:latin typeface="Calibri"/>
              </a:rPr>
              <a:t>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0120" y="2276856"/>
            <a:ext cx="5029200" cy="283464"/>
          </a:xfrm>
          <a:prstGeom prst="rect">
            <a:avLst/>
          </a:prstGeom>
          <a:solidFill>
            <a:srgbClr val="F4F8FB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5840" y="2276856"/>
            <a:ext cx="493776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950" b="0" i="0">
                <a:solidFill>
                  <a:srgbClr val="33414F"/>
                </a:solidFill>
                <a:latin typeface="Calibri"/>
              </a:rPr>
              <a:t>Why is the evaluation order unspecified?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89320" y="2276856"/>
            <a:ext cx="5669280" cy="283464"/>
          </a:xfrm>
          <a:prstGeom prst="rect">
            <a:avLst/>
          </a:prstGeom>
          <a:solidFill>
            <a:srgbClr val="F4F8FB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35040" y="2276856"/>
            <a:ext cx="557784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950" b="0" i="0">
                <a:solidFill>
                  <a:srgbClr val="33414F"/>
                </a:solidFill>
                <a:latin typeface="Calibri"/>
              </a:rPr>
              <a:t>the standard leaves it free; &lt;= makes it not matter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2560320"/>
            <a:ext cx="54864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2560320"/>
            <a:ext cx="45720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950" b="1" i="0">
                <a:solidFill>
                  <a:srgbClr val="0E2A47"/>
                </a:solidFill>
                <a:latin typeface="Calibri"/>
              </a:rPr>
              <a:t>5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0120" y="2560320"/>
            <a:ext cx="502920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5840" y="2560320"/>
            <a:ext cx="493776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950" b="0" i="0">
                <a:solidFill>
                  <a:srgbClr val="33414F"/>
                </a:solidFill>
                <a:latin typeface="Calibri"/>
              </a:rPr>
              <a:t>Verilog or VHDL?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989320" y="2560320"/>
            <a:ext cx="566928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35040" y="2560320"/>
            <a:ext cx="557784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950" b="0" i="0">
                <a:solidFill>
                  <a:srgbClr val="33414F"/>
                </a:solidFill>
                <a:latin typeface="Calibri"/>
              </a:rPr>
              <a:t>either — the concepts are identical, and the lab proves it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A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144000" y="-1828800"/>
            <a:ext cx="6400800" cy="6400800"/>
          </a:xfrm>
          <a:prstGeom prst="ellipse">
            <a:avLst/>
          </a:prstGeom>
          <a:solidFill>
            <a:srgbClr val="163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6002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400" b="1" i="0" spc="300">
                <a:solidFill>
                  <a:srgbClr val="2A9D5C"/>
                </a:solidFill>
                <a:latin typeface="Calibri"/>
              </a:rPr>
              <a:t>PRACTICAL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011680"/>
            <a:ext cx="96012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3000" b="1" i="0">
                <a:solidFill>
                  <a:srgbClr val="FFFFFF"/>
                </a:solidFill>
                <a:latin typeface="Cambria"/>
              </a:rPr>
              <a:t>Labs A–I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971800"/>
            <a:ext cx="86868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350" b="0" i="0">
                <a:solidFill>
                  <a:srgbClr val="C9D6E3"/>
                </a:solidFill>
                <a:latin typeface="Calibri"/>
              </a:rPr>
              <a:t>14 hours, 60 graded exercises, and not one number in this deck that you cannot reproduce yourself.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941064"/>
            <a:ext cx="91440" cy="182880"/>
          </a:xfrm>
          <a:prstGeom prst="rect">
            <a:avLst/>
          </a:prstGeom>
          <a:solidFill>
            <a:srgbClr val="2A9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840480"/>
            <a:ext cx="9875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300" b="0" i="0">
                <a:solidFill>
                  <a:srgbClr val="E7EEF5"/>
                </a:solidFill>
                <a:latin typeface="Calibri"/>
              </a:rPr>
              <a:t>Which tool answers which question, and how to install them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352544"/>
            <a:ext cx="91440" cy="182880"/>
          </a:xfrm>
          <a:prstGeom prst="rect">
            <a:avLst/>
          </a:prstGeom>
          <a:solidFill>
            <a:srgbClr val="2A9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251960"/>
            <a:ext cx="9875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300" b="0" i="0">
                <a:solidFill>
                  <a:srgbClr val="E7EEF5"/>
                </a:solidFill>
                <a:latin typeface="Calibri"/>
              </a:rPr>
              <a:t>Labs A–C: what RTL means, the ladder, and proof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764024"/>
            <a:ext cx="91440" cy="182880"/>
          </a:xfrm>
          <a:prstGeom prst="rect">
            <a:avLst/>
          </a:prstGeom>
          <a:solidFill>
            <a:srgbClr val="2A9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663440"/>
            <a:ext cx="9875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300" b="0" i="0">
                <a:solidFill>
                  <a:srgbClr val="E7EEF5"/>
                </a:solidFill>
                <a:latin typeface="Calibri"/>
              </a:rPr>
              <a:t>Labs D–F: the subset, the mismatch, and the coding rules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5175504"/>
            <a:ext cx="91440" cy="182880"/>
          </a:xfrm>
          <a:prstGeom prst="rect">
            <a:avLst/>
          </a:prstGeom>
          <a:solidFill>
            <a:srgbClr val="2A9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074920"/>
            <a:ext cx="9875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300" b="0" i="0">
                <a:solidFill>
                  <a:srgbClr val="E7EEF5"/>
                </a:solidFill>
                <a:latin typeface="Calibri"/>
              </a:rPr>
              <a:t>Labs G–I: two languages, the whole flow, and the vendor tools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547104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800" b="0" i="0">
                <a:solidFill>
                  <a:srgbClr val="7C8EA2"/>
                </a:solidFill>
                <a:latin typeface="Calibri"/>
              </a:rPr>
              <a:t>Chip Design Associate · Module 2 · Verilog RTL Coding for Synthesis · Topic 2: RTL Design Methodology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6547104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3000"/>
              </a:lnSpc>
            </a:pPr>
            <a:r>
              <a:rPr sz="800" b="0" i="0">
                <a:solidFill>
                  <a:srgbClr val="7C8EA2"/>
                </a:solidFill>
                <a:latin typeface="Calibri"/>
              </a:rPr>
              <a:t>M2-T2 ·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292608"/>
            <a:ext cx="530352" cy="530352"/>
          </a:xfrm>
          <a:prstGeom prst="ellipse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402336"/>
            <a:ext cx="155448" cy="310896"/>
          </a:xfrm>
          <a:prstGeom prst="rect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292608"/>
            <a:ext cx="106070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 spc="200">
                <a:solidFill>
                  <a:srgbClr val="1B9AAA"/>
                </a:solidFill>
                <a:latin typeface="Calibri"/>
              </a:rPr>
              <a:t>PRACTICAL ·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0292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2100" b="1" i="0">
                <a:solidFill>
                  <a:srgbClr val="0E2A47"/>
                </a:solidFill>
                <a:latin typeface="Cambria"/>
              </a:rPr>
              <a:t>The Tools, and What Each One Is For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8992" y="1024128"/>
            <a:ext cx="10579608" cy="9525"/>
          </a:xfrm>
          <a:prstGeom prst="rect">
            <a:avLst/>
          </a:prstGeom>
          <a:solidFill>
            <a:srgbClr val="D8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47104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Chip Design Associate · Module 2 · Verilog RTL Coding for Synthesis · Topic 2: RTL Design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47104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M2-T2 · 42</a:t>
            </a:r>
          </a:p>
        </p:txBody>
      </p:sp>
      <p:pic>
        <p:nvPicPr>
          <p:cNvPr id="9" name="Picture 8" descr="tool_landsca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5470" y="1097280"/>
            <a:ext cx="6119140" cy="5029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1480" y="6217920"/>
            <a:ext cx="11247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050" b="0" i="0">
                <a:solidFill>
                  <a:srgbClr val="33414F"/>
                </a:solidFill>
                <a:latin typeface="Calibri"/>
              </a:rPr>
              <a:t>Yosys is the interesting one: the only free tool here that both synthesises your RTL and PROVES the netlist matches it.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292608"/>
            <a:ext cx="530352" cy="530352"/>
          </a:xfrm>
          <a:prstGeom prst="ellipse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402336"/>
            <a:ext cx="155448" cy="310896"/>
          </a:xfrm>
          <a:prstGeom prst="rect">
            <a:avLst/>
          </a:prstGeom>
          <a:solidFill>
            <a:srgbClr val="2A9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292608"/>
            <a:ext cx="106070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 spc="200">
                <a:solidFill>
                  <a:srgbClr val="2A9D5C"/>
                </a:solidFill>
                <a:latin typeface="Calibri"/>
              </a:rPr>
              <a:t>PRACTICAL · INSTALL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0292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2100" b="1" i="0">
                <a:solidFill>
                  <a:srgbClr val="0E2A47"/>
                </a:solidFill>
                <a:latin typeface="Cambria"/>
              </a:rPr>
              <a:t>Two apt Lines, and the Whole Lab Runs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8992" y="1024128"/>
            <a:ext cx="10579608" cy="9525"/>
          </a:xfrm>
          <a:prstGeom prst="rect">
            <a:avLst/>
          </a:prstGeom>
          <a:solidFill>
            <a:srgbClr val="D8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47104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Chip Design Associate · Module 2 · Verilog RTL Coding for Synthesis · Topic 2: RTL Design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47104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M2-T2 · 43</a:t>
            </a:r>
          </a:p>
        </p:txBody>
      </p:sp>
      <p:pic>
        <p:nvPicPr>
          <p:cNvPr id="9" name="Picture 8" descr="install_requi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2629" y="1097280"/>
            <a:ext cx="4824821" cy="3474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11480" y="4663440"/>
            <a:ext cx="11247120" cy="1066800"/>
          </a:xfrm>
          <a:prstGeom prst="roundRect">
            <a:avLst>
              <a:gd name="adj" fmla="val 3000"/>
            </a:avLst>
          </a:prstGeom>
          <a:solidFill>
            <a:srgbClr val="112233"/>
          </a:solidFill>
          <a:ln w="13970">
            <a:solidFill>
              <a:srgbClr val="1B9A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4777740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050" b="1" i="0">
                <a:solidFill>
                  <a:srgbClr val="1B9AAA"/>
                </a:solidFill>
                <a:latin typeface="Calibri"/>
              </a:rPr>
              <a:t>Debian / Ubuntu / WSL2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5052060"/>
            <a:ext cx="10881360" cy="563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D8E4F0"/>
                </a:solidFill>
                <a:latin typeface="Consolas"/>
              </a:rPr>
              <a:t>sudo apt install yosys iverilog gtkwave python3</a:t>
            </a:r>
          </a:p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D8E4F0"/>
                </a:solidFill>
                <a:latin typeface="Consolas"/>
              </a:rPr>
              <a:t>sudo apt install ghdl                    # only for the VHDL comparison</a:t>
            </a:r>
          </a:p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D8E4F0"/>
                </a:solidFill>
                <a:latin typeface="Consolas"/>
              </a:rPr>
              <a:t>yosys -V &amp;&amp; iverilog -V &amp;&amp; ghdl --version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5821680"/>
            <a:ext cx="11247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050" b="0" i="0">
                <a:solidFill>
                  <a:srgbClr val="33414F"/>
                </a:solidFill>
                <a:latin typeface="Calibri"/>
              </a:rPr>
              <a:t>Without ghdl everything except  make langs  still runs.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292608"/>
            <a:ext cx="530352" cy="530352"/>
          </a:xfrm>
          <a:prstGeom prst="ellipse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402336"/>
            <a:ext cx="155448" cy="310896"/>
          </a:xfrm>
          <a:prstGeom prst="rect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292608"/>
            <a:ext cx="106070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 spc="200">
                <a:solidFill>
                  <a:srgbClr val="1B9AAA"/>
                </a:solidFill>
                <a:latin typeface="Calibri"/>
              </a:rPr>
              <a:t>PRACTICAL · INSTALL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0292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2100" b="1" i="0">
                <a:solidFill>
                  <a:srgbClr val="0E2A47"/>
                </a:solidFill>
                <a:latin typeface="Cambria"/>
              </a:rPr>
              <a:t>The Vendor Tools the Syllabus Names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8992" y="1024128"/>
            <a:ext cx="10579608" cy="9525"/>
          </a:xfrm>
          <a:prstGeom prst="rect">
            <a:avLst/>
          </a:prstGeom>
          <a:solidFill>
            <a:srgbClr val="D8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47104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Chip Design Associate · Module 2 · Verilog RTL Coding for Synthesis · Topic 2: RTL Design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47104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M2-T2 · 44</a:t>
            </a:r>
          </a:p>
        </p:txBody>
      </p:sp>
      <p:pic>
        <p:nvPicPr>
          <p:cNvPr id="9" name="Picture 8" descr="install_vend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6216" y="1097280"/>
            <a:ext cx="7237649" cy="4846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1480" y="6035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050" b="0" i="0">
                <a:solidFill>
                  <a:srgbClr val="33414F"/>
                </a:solidFill>
                <a:latin typeface="Calibri"/>
              </a:rPr>
              <a:t>They add a real device library and a flow you will meet at work. They add nothing to the concepts.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292608"/>
            <a:ext cx="530352" cy="530352"/>
          </a:xfrm>
          <a:prstGeom prst="ellipse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402336"/>
            <a:ext cx="155448" cy="310896"/>
          </a:xfrm>
          <a:prstGeom prst="rect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292608"/>
            <a:ext cx="106070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 spc="200">
                <a:solidFill>
                  <a:srgbClr val="1B9AAA"/>
                </a:solidFill>
                <a:latin typeface="Calibri"/>
              </a:rPr>
              <a:t>PRACTICAL · THE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0292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2100" b="1" i="0">
                <a:solidFill>
                  <a:srgbClr val="0E2A47"/>
                </a:solidFill>
                <a:latin typeface="Cambria"/>
              </a:rPr>
              <a:t>Four Questions About One Piece of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8992" y="1024128"/>
            <a:ext cx="10579608" cy="9525"/>
          </a:xfrm>
          <a:prstGeom prst="rect">
            <a:avLst/>
          </a:prstGeom>
          <a:solidFill>
            <a:srgbClr val="D8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47104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Chip Design Associate · Module 2 · Verilog RTL Coding for Synthesis · Topic 2: RTL Design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47104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M2-T2 · 45</a:t>
            </a:r>
          </a:p>
        </p:txBody>
      </p:sp>
      <p:pic>
        <p:nvPicPr>
          <p:cNvPr id="9" name="Picture 8" descr="lab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6216" y="1097280"/>
            <a:ext cx="7237649" cy="4846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1480" y="6035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050" b="0" i="0">
                <a:solidFill>
                  <a:srgbClr val="33414F"/>
                </a:solidFill>
                <a:latin typeface="Calibri"/>
              </a:rPr>
              <a:t>Does it follow the rules? Does it do what the spec says? What will be built? Is that still your design?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292608"/>
            <a:ext cx="530352" cy="530352"/>
          </a:xfrm>
          <a:prstGeom prst="ellipse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402336"/>
            <a:ext cx="155448" cy="310896"/>
          </a:xfrm>
          <a:prstGeom prst="rect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292608"/>
            <a:ext cx="106070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 spc="200">
                <a:solidFill>
                  <a:srgbClr val="1B9AAA"/>
                </a:solidFill>
                <a:latin typeface="Calibri"/>
              </a:rPr>
              <a:t>PRACTICAL ·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0292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2100" b="1" i="0">
                <a:solidFill>
                  <a:srgbClr val="0E2A47"/>
                </a:solidFill>
                <a:latin typeface="Cambria"/>
              </a:rPr>
              <a:t>Nine Parts, Fourteen Hours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8992" y="1024128"/>
            <a:ext cx="10579608" cy="9525"/>
          </a:xfrm>
          <a:prstGeom prst="rect">
            <a:avLst/>
          </a:prstGeom>
          <a:solidFill>
            <a:srgbClr val="D8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47104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Chip Design Associate · Module 2 · Verilog RTL Coding for Synthesis · Topic 2: RTL Design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47104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M2-T2 · 46</a:t>
            </a:r>
          </a:p>
        </p:txBody>
      </p:sp>
      <p:pic>
        <p:nvPicPr>
          <p:cNvPr id="9" name="Picture 8" descr="lab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6658" y="1097280"/>
            <a:ext cx="5756764" cy="51206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1480" y="6309360"/>
            <a:ext cx="11247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050" b="0" i="0">
                <a:solidFill>
                  <a:srgbClr val="33414F"/>
                </a:solidFill>
                <a:latin typeface="Calibri"/>
              </a:rPr>
              <a:t>Parts A–C build the mental model, D–F the methodology, G–I the connection to other languages and real tools.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292608"/>
            <a:ext cx="530352" cy="530352"/>
          </a:xfrm>
          <a:prstGeom prst="ellipse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402336"/>
            <a:ext cx="155448" cy="310896"/>
          </a:xfrm>
          <a:prstGeom prst="rect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292608"/>
            <a:ext cx="106070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 spc="200">
                <a:solidFill>
                  <a:srgbClr val="1B9AAA"/>
                </a:solidFill>
                <a:latin typeface="Calibri"/>
              </a:rPr>
              <a:t>LABS A–C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0292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2100" b="1" i="0">
                <a:solidFill>
                  <a:srgbClr val="0E2A47"/>
                </a:solidFill>
                <a:latin typeface="Cambria"/>
              </a:rPr>
              <a:t>What RTL Means, the Ladder, and Proof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8992" y="1024128"/>
            <a:ext cx="10579608" cy="9525"/>
          </a:xfrm>
          <a:prstGeom prst="rect">
            <a:avLst/>
          </a:prstGeom>
          <a:solidFill>
            <a:srgbClr val="D8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47104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Chip Design Associate · Module 2 · Verilog RTL Coding for Synthesis · Topic 2: RTL Design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47104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M2-T2 · 47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43000"/>
            <a:ext cx="3627120" cy="3017520"/>
          </a:xfrm>
          <a:prstGeom prst="roundRect">
            <a:avLst>
              <a:gd name="adj" fmla="val 5714"/>
            </a:avLst>
          </a:prstGeom>
          <a:solidFill>
            <a:srgbClr val="F4F8FB"/>
          </a:solidFill>
          <a:ln w="13970">
            <a:solidFill>
              <a:srgbClr val="1B9A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07008"/>
            <a:ext cx="3352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150" b="1" i="0">
                <a:solidFill>
                  <a:srgbClr val="1B9AAA"/>
                </a:solidFill>
                <a:latin typeface="Cambria"/>
              </a:rPr>
              <a:t>A · what RTL means (1 h)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81328"/>
            <a:ext cx="3352800" cy="2615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1100" b="0" i="0">
                <a:solidFill>
                  <a:srgbClr val="33414F"/>
                </a:solidFill>
                <a:latin typeface="Calibri"/>
              </a:rPr>
              <a:t>Run make transfer. Follow a single 5 through four registers.</a:t>
            </a:r>
          </a:p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1100" b="0" i="0">
                <a:solidFill>
                  <a:srgbClr val="33414F"/>
                </a:solidFill>
                <a:latin typeface="Calibri"/>
              </a:rPr>
              <a:t>Predict the value in each register on each cycle BEFORE running it.</a:t>
            </a:r>
          </a:p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1100" b="0" i="0">
                <a:solidFill>
                  <a:srgbClr val="33414F"/>
                </a:solidFill>
                <a:latin typeface="Calibri"/>
              </a:rPr>
              <a:t>Deliverable: the table, and why y is 1 on cycle 0.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21480" y="1143000"/>
            <a:ext cx="3627120" cy="3017520"/>
          </a:xfrm>
          <a:prstGeom prst="roundRect">
            <a:avLst>
              <a:gd name="adj" fmla="val 5714"/>
            </a:avLst>
          </a:prstGeom>
          <a:solidFill>
            <a:srgbClr val="F4F8FB"/>
          </a:solidFill>
          <a:ln w="1397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58640" y="1207008"/>
            <a:ext cx="3352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150" b="1" i="0">
                <a:solidFill>
                  <a:srgbClr val="0E2A47"/>
                </a:solidFill>
                <a:latin typeface="Cambria"/>
              </a:rPr>
              <a:t>B · the ladder (2 h)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58640" y="1481328"/>
            <a:ext cx="3352800" cy="2615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1100" b="0" i="0">
                <a:solidFill>
                  <a:srgbClr val="33414F"/>
                </a:solidFill>
                <a:latin typeface="Calibri"/>
              </a:rPr>
              <a:t>Write the same full adder at all four levels.</a:t>
            </a:r>
          </a:p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1100" b="0" i="0">
                <a:solidFill>
                  <a:srgbClr val="33414F"/>
                </a:solidFill>
                <a:latin typeface="Calibri"/>
              </a:rPr>
              <a:t>Run make ladder — all four together, exhaustively.</a:t>
            </a:r>
          </a:p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1100" b="0" i="0">
                <a:solidFill>
                  <a:srgbClr val="33414F"/>
                </a:solidFill>
                <a:latin typeface="Calibri"/>
              </a:rPr>
              <a:t>Then synthesise each and compare cell counts.</a:t>
            </a:r>
          </a:p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1100" b="0" i="0">
                <a:solidFill>
                  <a:srgbClr val="33414F"/>
                </a:solidFill>
                <a:latin typeface="Calibri"/>
              </a:rPr>
              <a:t>Deliverable: why behavioural won.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31480" y="1143000"/>
            <a:ext cx="3627120" cy="3017520"/>
          </a:xfrm>
          <a:prstGeom prst="roundRect">
            <a:avLst>
              <a:gd name="adj" fmla="val 5714"/>
            </a:avLst>
          </a:prstGeom>
          <a:solidFill>
            <a:srgbClr val="F4F8FB"/>
          </a:solidFill>
          <a:ln w="13970">
            <a:solidFill>
              <a:srgbClr val="6B4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68640" y="1207008"/>
            <a:ext cx="3352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150" b="1" i="0">
                <a:solidFill>
                  <a:srgbClr val="6B45A8"/>
                </a:solidFill>
                <a:latin typeface="Cambria"/>
              </a:rPr>
              <a:t>C · proof (2 h)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68640" y="1481328"/>
            <a:ext cx="3352800" cy="2615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1100" b="0" i="0">
                <a:solidFill>
                  <a:srgbClr val="33414F"/>
                </a:solidFill>
                <a:latin typeface="Calibri"/>
              </a:rPr>
              <a:t>Run make prove. Three pairs proved equivalent.</a:t>
            </a:r>
          </a:p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1100" b="0" i="0">
                <a:solidFill>
                  <a:srgbClr val="33414F"/>
                </a:solidFill>
                <a:latin typeface="Calibri"/>
              </a:rPr>
              <a:t>Then break the adder yourself and watch the checker catch it.</a:t>
            </a:r>
          </a:p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1100" b="0" i="0">
                <a:solidFill>
                  <a:srgbClr val="33414F"/>
                </a:solidFill>
                <a:latin typeface="Calibri"/>
              </a:rPr>
              <a:t>Deliverable: why 8 patterns was enough here and will not be next time.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4251960"/>
            <a:ext cx="11247120" cy="822960"/>
          </a:xfrm>
          <a:prstGeom prst="roundRect">
            <a:avLst>
              <a:gd name="adj" fmla="val 5714"/>
            </a:avLst>
          </a:prstGeom>
          <a:solidFill>
            <a:srgbClr val="EEF7F1"/>
          </a:solidFill>
          <a:ln w="13970">
            <a:solidFill>
              <a:srgbClr val="2A9D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6072" y="4315968"/>
            <a:ext cx="1091793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150" b="1" i="0">
                <a:solidFill>
                  <a:srgbClr val="2A9D5C"/>
                </a:solidFill>
                <a:latin typeface="Cambria"/>
              </a:rPr>
              <a:t>The exercise that teaches the most is 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72" y="4590288"/>
            <a:ext cx="1091793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1100" b="0" i="0">
                <a:solidFill>
                  <a:srgbClr val="33414F"/>
                </a:solidFill>
                <a:latin typeface="Calibri"/>
              </a:rPr>
              <a:t>Delete a different term from fa_broken.v and predict which input pattern the solver will find. Getting that prediction right means you understand both the circuit and the tool.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292608"/>
            <a:ext cx="530352" cy="530352"/>
          </a:xfrm>
          <a:prstGeom prst="ellipse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402336"/>
            <a:ext cx="155448" cy="310896"/>
          </a:xfrm>
          <a:prstGeom prst="rect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292608"/>
            <a:ext cx="106070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 spc="200">
                <a:solidFill>
                  <a:srgbClr val="1B9AAA"/>
                </a:solidFill>
                <a:latin typeface="Calibri"/>
              </a:rPr>
              <a:t>LABS D–F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0292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2100" b="1" i="0">
                <a:solidFill>
                  <a:srgbClr val="0E2A47"/>
                </a:solidFill>
                <a:latin typeface="Cambria"/>
              </a:rPr>
              <a:t>The Subset, the Mismatch, and the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8992" y="1024128"/>
            <a:ext cx="10579608" cy="9525"/>
          </a:xfrm>
          <a:prstGeom prst="rect">
            <a:avLst/>
          </a:prstGeom>
          <a:solidFill>
            <a:srgbClr val="D8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47104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Chip Design Associate · Module 2 · Verilog RTL Coding for Synthesis · Topic 2: RTL Design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47104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M2-T2 · 48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43000"/>
            <a:ext cx="11247120" cy="2130753"/>
          </a:xfrm>
          <a:prstGeom prst="roundRect">
            <a:avLst>
              <a:gd name="adj" fmla="val 3000"/>
            </a:avLst>
          </a:prstGeom>
          <a:solidFill>
            <a:srgbClr val="112233"/>
          </a:solidFill>
          <a:ln w="13970">
            <a:solidFill>
              <a:srgbClr val="1B9A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257300"/>
            <a:ext cx="10881360" cy="19021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19" b="0" i="0">
                <a:solidFill>
                  <a:srgbClr val="D8E4F0"/>
                </a:solidFill>
                <a:latin typeface="Consolas"/>
              </a:rPr>
              <a:t>$ make subset</a:t>
            </a:r>
          </a:p>
          <a:p>
            <a:pPr algn="l">
              <a:lnSpc>
                <a:spcPct val="112000"/>
              </a:lnSpc>
            </a:pPr>
            <a:r>
              <a:rPr sz="919" b="0" i="0">
                <a:solidFill>
                  <a:srgbClr val="D8E4F0"/>
                </a:solidFill>
                <a:latin typeface="Consolas"/>
              </a:rPr>
              <a:t>  s03_latch            OK       1     YES     inferred a LATCH: $_DLATCH_P_</a:t>
            </a:r>
          </a:p>
          <a:p>
            <a:pPr algn="l">
              <a:lnSpc>
                <a:spcPct val="112000"/>
              </a:lnSpc>
            </a:pPr>
            <a:r>
              <a:rPr sz="919" b="0" i="0">
                <a:solidFill>
                  <a:srgbClr val="D8E4F0"/>
                </a:solidFill>
                <a:latin typeface="Consolas"/>
              </a:rPr>
              <a:t>  s08_whileloop        REFUSED  -     -       "only allowed in constant functions"</a:t>
            </a:r>
          </a:p>
          <a:p>
            <a:pPr algn="l">
              <a:lnSpc>
                <a:spcPct val="112000"/>
              </a:lnSpc>
            </a:pPr>
            <a:r>
              <a:rPr sz="919" b="0" i="0">
                <a:solidFill>
                  <a:srgbClr val="D8E4F0"/>
                </a:solidFill>
                <a:latin typeface="Consolas"/>
              </a:rPr>
              <a:t>  s10_divide           OK       371   no      a full combinational divider</a:t>
            </a:r>
          </a:p>
          <a:p>
            <a:pPr algn="l">
              <a:lnSpc>
                <a:spcPct val="112000"/>
              </a:lnSpc>
            </a:pPr>
            <a:r>
              <a:rPr sz="919" b="0" i="0">
                <a:solidFill>
                  <a:srgbClr val="D8E4F0"/>
                </a:solidFill>
                <a:latin typeface="Consolas"/>
              </a:rPr>
              <a:t>  s11_shift            OK       0     no      no logic at all - just wires</a:t>
            </a:r>
          </a:p>
          <a:p>
            <a:pPr algn="l">
              <a:lnSpc>
                <a:spcPct val="112000"/>
              </a:lnSpc>
            </a:pPr>
            <a:r>
              <a:rPr sz="919" b="0" i="0">
                <a:solidFill>
                  <a:srgbClr val="D8E4F0"/>
                </a:solidFill>
                <a:latin typeface="Consolas"/>
              </a:rPr>
              <a:t> </a:t>
            </a:r>
          </a:p>
          <a:p>
            <a:pPr algn="l">
              <a:lnSpc>
                <a:spcPct val="112000"/>
              </a:lnSpc>
            </a:pPr>
            <a:r>
              <a:rPr sz="919" b="0" i="0">
                <a:solidFill>
                  <a:srgbClr val="D8E4F0"/>
                </a:solidFill>
                <a:latin typeface="Consolas"/>
              </a:rPr>
              <a:t>$ make mismatch</a:t>
            </a:r>
          </a:p>
          <a:p>
            <a:pPr algn="l">
              <a:lnSpc>
                <a:spcPct val="112000"/>
              </a:lnSpc>
            </a:pPr>
            <a:r>
              <a:rPr sz="919" b="0" i="0">
                <a:solidFill>
                  <a:srgbClr val="D8E4F0"/>
                </a:solidFill>
                <a:latin typeface="Consolas"/>
              </a:rPr>
              <a:t>  change b (list ASLEEP)   a=1 b=1   RTL y=0   NETLIST y=1  &lt;-- THEY DISAGREE</a:t>
            </a:r>
          </a:p>
          <a:p>
            <a:pPr algn="l">
              <a:lnSpc>
                <a:spcPct val="112000"/>
              </a:lnSpc>
            </a:pPr>
            <a:r>
              <a:rPr sz="919" b="0" i="0">
                <a:solidFill>
                  <a:srgbClr val="D8E4F0"/>
                </a:solidFill>
                <a:latin typeface="Consolas"/>
              </a:rPr>
              <a:t> </a:t>
            </a:r>
          </a:p>
          <a:p>
            <a:pPr algn="l">
              <a:lnSpc>
                <a:spcPct val="112000"/>
              </a:lnSpc>
            </a:pPr>
            <a:r>
              <a:rPr sz="919" b="0" i="0">
                <a:solidFill>
                  <a:srgbClr val="D8E4F0"/>
                </a:solidFill>
                <a:latin typeface="Consolas"/>
              </a:rPr>
              <a:t>$ make lintcheck</a:t>
            </a:r>
          </a:p>
          <a:p>
            <a:pPr algn="l">
              <a:lnSpc>
                <a:spcPct val="112000"/>
              </a:lnSpc>
            </a:pPr>
            <a:r>
              <a:rPr sz="919" b="0" i="0">
                <a:solidFill>
                  <a:srgbClr val="D8E4F0"/>
                </a:solidFill>
                <a:latin typeface="Consolas"/>
              </a:rPr>
              <a:t>  10 files  ·  linter and Yosys agree on every one  ·  0 disagreements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3365193"/>
            <a:ext cx="1188720" cy="283464"/>
          </a:xfrm>
          <a:prstGeom prst="rect">
            <a:avLst/>
          </a:prstGeom>
          <a:solidFill>
            <a:srgbClr val="0E2A47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3365193"/>
            <a:ext cx="109728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Exercise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00200" y="3365193"/>
            <a:ext cx="10058400" cy="283464"/>
          </a:xfrm>
          <a:prstGeom prst="rect">
            <a:avLst/>
          </a:prstGeom>
          <a:solidFill>
            <a:srgbClr val="0E2A47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45920" y="3365193"/>
            <a:ext cx="996696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Task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3648657"/>
            <a:ext cx="118872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648657"/>
            <a:ext cx="109728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1000" b="1" i="0">
                <a:solidFill>
                  <a:srgbClr val="0E2A47"/>
                </a:solidFill>
                <a:latin typeface="Calibri"/>
              </a:rPr>
              <a:t>D.1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00200" y="3648657"/>
            <a:ext cx="1005840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20" y="3648657"/>
            <a:ext cx="996696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1000" b="0" i="0">
                <a:solidFill>
                  <a:srgbClr val="33414F"/>
                </a:solidFill>
                <a:latin typeface="Calibri"/>
              </a:rPr>
              <a:t>Predict the cell count for each construct before running make subset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932121"/>
            <a:ext cx="1188720" cy="283464"/>
          </a:xfrm>
          <a:prstGeom prst="rect">
            <a:avLst/>
          </a:prstGeom>
          <a:solidFill>
            <a:srgbClr val="F4F8FB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932121"/>
            <a:ext cx="109728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1000" b="1" i="0">
                <a:solidFill>
                  <a:srgbClr val="0E2A47"/>
                </a:solidFill>
                <a:latin typeface="Calibri"/>
              </a:rPr>
              <a:t>D.2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600200" y="3932121"/>
            <a:ext cx="10058400" cy="283464"/>
          </a:xfrm>
          <a:prstGeom prst="rect">
            <a:avLst/>
          </a:prstGeom>
          <a:solidFill>
            <a:srgbClr val="F4F8FB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45920" y="3932121"/>
            <a:ext cx="996696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1000" b="0" i="0">
                <a:solidFill>
                  <a:srgbClr val="33414F"/>
                </a:solidFill>
                <a:latin typeface="Calibri"/>
              </a:rPr>
              <a:t>Add a twelfth construct of your own and predict the result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215585"/>
            <a:ext cx="118872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4215585"/>
            <a:ext cx="109728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1000" b="1" i="0">
                <a:solidFill>
                  <a:srgbClr val="0E2A47"/>
                </a:solidFill>
                <a:latin typeface="Calibri"/>
              </a:rPr>
              <a:t>E.1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600200" y="4215585"/>
            <a:ext cx="1005840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45920" y="4215585"/>
            <a:ext cx="996696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1000" b="0" i="0">
                <a:solidFill>
                  <a:srgbClr val="33414F"/>
                </a:solidFill>
                <a:latin typeface="Calibri"/>
              </a:rPr>
              <a:t>Explain the mismatch to someone who has not seen it, in three sentences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4499049"/>
            <a:ext cx="1188720" cy="283464"/>
          </a:xfrm>
          <a:prstGeom prst="rect">
            <a:avLst/>
          </a:prstGeom>
          <a:solidFill>
            <a:srgbClr val="F4F8FB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4499049"/>
            <a:ext cx="109728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1000" b="1" i="0">
                <a:solidFill>
                  <a:srgbClr val="0E2A47"/>
                </a:solidFill>
                <a:latin typeface="Calibri"/>
              </a:rPr>
              <a:t>F.1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600200" y="4499049"/>
            <a:ext cx="10058400" cy="283464"/>
          </a:xfrm>
          <a:prstGeom prst="rect">
            <a:avLst/>
          </a:prstGeom>
          <a:solidFill>
            <a:srgbClr val="F4F8FB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645920" y="4499049"/>
            <a:ext cx="996696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1000" b="0" i="0">
                <a:solidFill>
                  <a:srgbClr val="33414F"/>
                </a:solidFill>
                <a:latin typeface="Calibri"/>
              </a:rPr>
              <a:t>Add rule L008 to the linter — your choice — and justify it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4782513"/>
            <a:ext cx="118872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4782513"/>
            <a:ext cx="109728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1000" b="1" i="0">
                <a:solidFill>
                  <a:srgbClr val="0E2A47"/>
                </a:solidFill>
                <a:latin typeface="Calibri"/>
              </a:rPr>
              <a:t>F.2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600200" y="4782513"/>
            <a:ext cx="1005840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645920" y="4782513"/>
            <a:ext cx="996696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3000"/>
              </a:lnSpc>
            </a:pPr>
            <a:r>
              <a:rPr sz="1000" b="0" i="0">
                <a:solidFill>
                  <a:srgbClr val="33414F"/>
                </a:solidFill>
                <a:latin typeface="Calibri"/>
              </a:rPr>
              <a:t>Find a file the linter gets wrong, and say why regexes cannot fix it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292608"/>
            <a:ext cx="530352" cy="530352"/>
          </a:xfrm>
          <a:prstGeom prst="ellipse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402336"/>
            <a:ext cx="155448" cy="310896"/>
          </a:xfrm>
          <a:prstGeom prst="rect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292608"/>
            <a:ext cx="106070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 spc="200">
                <a:solidFill>
                  <a:srgbClr val="1B9AAA"/>
                </a:solidFill>
                <a:latin typeface="Calibri"/>
              </a:rPr>
              <a:t>LABS G–I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0292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2100" b="1" i="0">
                <a:solidFill>
                  <a:srgbClr val="0E2A47"/>
                </a:solidFill>
                <a:latin typeface="Cambria"/>
              </a:rPr>
              <a:t>Two Languages, the Whole Flow, and the Vendor Tools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8992" y="1024128"/>
            <a:ext cx="10579608" cy="9525"/>
          </a:xfrm>
          <a:prstGeom prst="rect">
            <a:avLst/>
          </a:prstGeom>
          <a:solidFill>
            <a:srgbClr val="D8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47104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Chip Design Associate · Module 2 · Verilog RTL Coding for Synthesis · Topic 2: RTL Design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47104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M2-T2 · 49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43000"/>
            <a:ext cx="11247120" cy="2192782"/>
          </a:xfrm>
          <a:prstGeom prst="roundRect">
            <a:avLst>
              <a:gd name="adj" fmla="val 3000"/>
            </a:avLst>
          </a:prstGeom>
          <a:solidFill>
            <a:srgbClr val="112233"/>
          </a:solidFill>
          <a:ln w="13970">
            <a:solidFill>
              <a:srgbClr val="1B9A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257300"/>
            <a:ext cx="10881360" cy="19641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D8E4F0"/>
                </a:solidFill>
                <a:latin typeface="Consolas"/>
              </a:rPr>
              <a:t>$ make langs</a:t>
            </a:r>
          </a:p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D8E4F0"/>
                </a:solidFill>
                <a:latin typeface="Consolas"/>
              </a:rPr>
              <a:t>  === Verilog: iverilog ===        === VHDL: ghdl ===</a:t>
            </a:r>
          </a:p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D8E4F0"/>
                </a:solidFill>
                <a:latin typeface="Consolas"/>
              </a:rPr>
              <a:t>  IDENTICAL over all 18 cycles - including the wrap and the terminal count.</a:t>
            </a:r>
          </a:p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D8E4F0"/>
                </a:solidFill>
                <a:latin typeface="Consolas"/>
              </a:rPr>
              <a:t> </a:t>
            </a:r>
          </a:p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D8E4F0"/>
                </a:solidFill>
                <a:latin typeface="Consolas"/>
              </a:rPr>
              <a:t>$ make flow</a:t>
            </a:r>
          </a:p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D8E4F0"/>
                </a:solidFill>
                <a:latin typeface="Consolas"/>
              </a:rPr>
              <a:t>  STAGE 2  LINT              0 issues</a:t>
            </a:r>
          </a:p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D8E4F0"/>
                </a:solidFill>
                <a:latin typeface="Consolas"/>
              </a:rPr>
              <a:t>  STAGE 4  SYNTHESIS         12 cells</a:t>
            </a:r>
          </a:p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D8E4F0"/>
                </a:solidFill>
                <a:latin typeface="Consolas"/>
              </a:rPr>
              <a:t>  STAGE 6  COMPARE           IDENTICAL on all 18 cycles</a:t>
            </a:r>
          </a:p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D8E4F0"/>
                </a:solidFill>
                <a:latin typeface="Consolas"/>
              </a:rPr>
              <a:t>  STAGE 7  PROVE             Equivalence PROVEN by induction</a:t>
            </a:r>
          </a:p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D8E4F0"/>
                </a:solidFill>
                <a:latin typeface="Consolas"/>
              </a:rPr>
              <a:t> </a:t>
            </a:r>
          </a:p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D8E4F0"/>
                </a:solidFill>
                <a:latin typeface="Consolas"/>
              </a:rPr>
              <a:t>  All seven stages passed.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3427222"/>
            <a:ext cx="11247120" cy="1005840"/>
          </a:xfrm>
          <a:prstGeom prst="roundRect">
            <a:avLst>
              <a:gd name="adj" fmla="val 5714"/>
            </a:avLst>
          </a:prstGeom>
          <a:solidFill>
            <a:srgbClr val="FFF7EC"/>
          </a:solidFill>
          <a:ln w="13970">
            <a:solidFill>
              <a:srgbClr val="C775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" y="3491230"/>
            <a:ext cx="1091793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150" b="1" i="0">
                <a:solidFill>
                  <a:srgbClr val="C77514"/>
                </a:solidFill>
                <a:latin typeface="Cambria"/>
              </a:rPr>
              <a:t>Lab I: the same design in Vivado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3765550"/>
            <a:ext cx="10917936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1050" b="0" i="0">
                <a:solidFill>
                  <a:srgbClr val="33414F"/>
                </a:solidFill>
                <a:latin typeface="Calibri"/>
              </a:rPr>
              <a:t>Read the design, synthesise for a real part, report utilisation, write the netlist for gate-level simulation. Vivado is not installed in the environment these materials were built in, so lab I is the one whose output is not reproduced here — run it and record what you get.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292608"/>
            <a:ext cx="530352" cy="530352"/>
          </a:xfrm>
          <a:prstGeom prst="ellipse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402336"/>
            <a:ext cx="155448" cy="310896"/>
          </a:xfrm>
          <a:prstGeom prst="rect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292608"/>
            <a:ext cx="106070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 spc="200">
                <a:solidFill>
                  <a:srgbClr val="1B9AAA"/>
                </a:solidFill>
                <a:latin typeface="Calibri"/>
              </a:rPr>
              <a:t>PRACTICAL · VENDOR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0292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2100" b="1" i="0">
                <a:solidFill>
                  <a:srgbClr val="0E2A47"/>
                </a:solidFill>
                <a:latin typeface="Cambria"/>
              </a:rPr>
              <a:t>The Same Flow in Vivado and ModelSim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8992" y="1024128"/>
            <a:ext cx="10579608" cy="9525"/>
          </a:xfrm>
          <a:prstGeom prst="rect">
            <a:avLst/>
          </a:prstGeom>
          <a:solidFill>
            <a:srgbClr val="D8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47104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Chip Design Associate · Module 2 · Verilog RTL Coding for Synthesis · Topic 2: RTL Design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47104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M2-T2 · 50</a:t>
            </a:r>
          </a:p>
        </p:txBody>
      </p:sp>
      <p:pic>
        <p:nvPicPr>
          <p:cNvPr id="9" name="Picture 8" descr="vivado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119" y="1097280"/>
            <a:ext cx="6401843" cy="4937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1480" y="6126480"/>
            <a:ext cx="11247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050" b="1" i="0">
                <a:solidFill>
                  <a:srgbClr val="C77514"/>
                </a:solidFill>
                <a:latin typeface="Calibri"/>
              </a:rPr>
              <a:t>Stated plainly on the slide: these commands were not run here. Every number in this deck came from the free toolchain.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292608"/>
            <a:ext cx="530352" cy="530352"/>
          </a:xfrm>
          <a:prstGeom prst="ellipse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402336"/>
            <a:ext cx="155448" cy="310896"/>
          </a:xfrm>
          <a:prstGeom prst="rect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292608"/>
            <a:ext cx="106070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 spc="200">
                <a:solidFill>
                  <a:srgbClr val="1B9AAA"/>
                </a:solidFill>
                <a:latin typeface="Calibri"/>
              </a:rPr>
              <a:t>LABS ·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0292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2100" b="1" i="0">
                <a:solidFill>
                  <a:srgbClr val="0E2A47"/>
                </a:solidFill>
                <a:latin typeface="Cambria"/>
              </a:rPr>
              <a:t>How the 60 Exercises Are Weighted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8992" y="1024128"/>
            <a:ext cx="10579608" cy="9525"/>
          </a:xfrm>
          <a:prstGeom prst="rect">
            <a:avLst/>
          </a:prstGeom>
          <a:solidFill>
            <a:srgbClr val="D8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47104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Chip Design Associate · Module 2 · Verilog RTL Coding for Synthesis · Topic 2: RTL Design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47104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M2-T2 · 51</a:t>
            </a:r>
          </a:p>
        </p:txBody>
      </p:sp>
      <p:pic>
        <p:nvPicPr>
          <p:cNvPr id="9" name="Picture 8" descr="assess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9449" y="1097280"/>
            <a:ext cx="7191181" cy="4937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1480" y="6126480"/>
            <a:ext cx="11247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050" b="1" i="0">
                <a:solidFill>
                  <a:srgbClr val="C01F43"/>
                </a:solidFill>
                <a:latin typeface="Calibri"/>
              </a:rPr>
              <a:t>Predict, then measure. Being wrong and knowing why is the whole point of a lab.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292608"/>
            <a:ext cx="530352" cy="530352"/>
          </a:xfrm>
          <a:prstGeom prst="ellipse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402336"/>
            <a:ext cx="155448" cy="310896"/>
          </a:xfrm>
          <a:prstGeom prst="rect">
            <a:avLst/>
          </a:prstGeom>
          <a:solidFill>
            <a:srgbClr val="C775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292608"/>
            <a:ext cx="106070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 spc="200">
                <a:solidFill>
                  <a:srgbClr val="C77514"/>
                </a:solidFill>
                <a:latin typeface="Calibri"/>
              </a:rPr>
              <a:t>PRACTICAL · LIMITS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0292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2100" b="1" i="0">
                <a:solidFill>
                  <a:srgbClr val="0E2A47"/>
                </a:solidFill>
                <a:latin typeface="Cambria"/>
              </a:rPr>
              <a:t>What This Lab Does Not Show You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8992" y="1024128"/>
            <a:ext cx="10579608" cy="9525"/>
          </a:xfrm>
          <a:prstGeom prst="rect">
            <a:avLst/>
          </a:prstGeom>
          <a:solidFill>
            <a:srgbClr val="D8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47104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Chip Design Associate · Module 2 · Verilog RTL Coding for Synthesis · Topic 2: RTL Design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47104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M2-T2 · 52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43000"/>
            <a:ext cx="182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880" b="1" i="0">
                <a:solidFill>
                  <a:srgbClr val="C77514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143000"/>
            <a:ext cx="110185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0" i="0">
                <a:solidFill>
                  <a:srgbClr val="33414F"/>
                </a:solidFill>
                <a:latin typeface="Calibri"/>
              </a:rPr>
              <a:t>rtl_lint.py is regular expressions, not a Verilog parser. It reads code the way a careful reviewer skims it and can be fooled by unusual formatting.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600200"/>
            <a:ext cx="182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880" b="1" i="0">
                <a:solidFill>
                  <a:srgbClr val="C77514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600200"/>
            <a:ext cx="110185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0" i="0">
                <a:solidFill>
                  <a:srgbClr val="33414F"/>
                </a:solidFill>
                <a:latin typeface="Calibri"/>
              </a:rPr>
              <a:t>The cell counts come from Yosys' generic library, not a foundry library. They compare designs against each other; they are not area figures.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2057400"/>
            <a:ext cx="182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880" b="1" i="0">
                <a:solidFill>
                  <a:srgbClr val="C77514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057400"/>
            <a:ext cx="110185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0" i="0">
                <a:solidFill>
                  <a:srgbClr val="33414F"/>
                </a:solidFill>
                <a:latin typeface="Calibri"/>
              </a:rPr>
              <a:t>fa_switch.v is a functional transistor model. There are no threshold voltages and no capacitances — SPICE is the tool for that.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2514600"/>
            <a:ext cx="182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880" b="1" i="0">
                <a:solidFill>
                  <a:srgbClr val="C77514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514600"/>
            <a:ext cx="110185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0" i="0">
                <a:solidFill>
                  <a:srgbClr val="33414F"/>
                </a:solidFill>
                <a:latin typeface="Calibri"/>
              </a:rPr>
              <a:t>Yosys accepts initial blocks because it targets FPGAs. An ASIC flow would not, and that difference is a genuine trap.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971800"/>
            <a:ext cx="182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880" b="1" i="0">
                <a:solidFill>
                  <a:srgbClr val="C77514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971800"/>
            <a:ext cx="110185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0" i="0">
                <a:solidFill>
                  <a:srgbClr val="33414F"/>
                </a:solidFill>
                <a:latin typeface="Calibri"/>
              </a:rPr>
              <a:t>Vivado and ModelSim were not run. Every measured number here came from iverilog, ghdl and yosys, and is reproducible with make.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3429000"/>
            <a:ext cx="182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880" b="1" i="0">
                <a:solidFill>
                  <a:srgbClr val="C77514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429000"/>
            <a:ext cx="110185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0" i="0">
                <a:solidFill>
                  <a:srgbClr val="33414F"/>
                </a:solidFill>
                <a:latin typeface="Calibri"/>
              </a:rPr>
              <a:t>Nothing here covers verification methodology beyond a directed testbench — that is Topic 5, and it is a large subject on its own.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292608"/>
            <a:ext cx="530352" cy="530352"/>
          </a:xfrm>
          <a:prstGeom prst="ellipse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402336"/>
            <a:ext cx="155448" cy="310896"/>
          </a:xfrm>
          <a:prstGeom prst="rect">
            <a:avLst/>
          </a:prstGeom>
          <a:solidFill>
            <a:srgbClr val="2A9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292608"/>
            <a:ext cx="106070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 spc="200">
                <a:solidFill>
                  <a:srgbClr val="2A9D5C"/>
                </a:solidFill>
                <a:latin typeface="Calibri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0292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2100" b="1" i="0">
                <a:solidFill>
                  <a:srgbClr val="0E2A47"/>
                </a:solidFill>
                <a:latin typeface="Cambria"/>
              </a:rPr>
              <a:t>Topic 2 In Ten Lines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8992" y="1024128"/>
            <a:ext cx="10579608" cy="9525"/>
          </a:xfrm>
          <a:prstGeom prst="rect">
            <a:avLst/>
          </a:prstGeom>
          <a:solidFill>
            <a:srgbClr val="D8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47104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Chip Design Associate · Module 2 · Verilog RTL Coding for Synthesis · Topic 2: RTL Design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47104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M2-T2 · 53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43000"/>
            <a:ext cx="1828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960" b="1" i="0">
                <a:solidFill>
                  <a:srgbClr val="2A9D5C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143000"/>
            <a:ext cx="11018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200" b="0" i="0">
                <a:solidFill>
                  <a:srgbClr val="33414F"/>
                </a:solidFill>
                <a:latin typeface="Calibri"/>
              </a:rPr>
              <a:t>RTL says which registers exist and what transfers into them. Nothing else.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527048"/>
            <a:ext cx="1828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960" b="1" i="0">
                <a:solidFill>
                  <a:srgbClr val="2A9D5C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527048"/>
            <a:ext cx="11018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200" b="0" i="0">
                <a:solidFill>
                  <a:srgbClr val="33414F"/>
                </a:solidFill>
                <a:latin typeface="Calibri"/>
              </a:rPr>
              <a:t>&lt;= reads every right-hand side first, then updates together. = does not.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911096"/>
            <a:ext cx="1828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960" b="1" i="0">
                <a:solidFill>
                  <a:srgbClr val="2A9D5C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1911096"/>
            <a:ext cx="11018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200" b="0" i="0">
                <a:solidFill>
                  <a:srgbClr val="33414F"/>
                </a:solidFill>
                <a:latin typeface="Calibri"/>
              </a:rPr>
              <a:t>Four levels of abstraction describe the same circuit — proved, not assumed.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2295144"/>
            <a:ext cx="1828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960" b="1" i="0">
                <a:solidFill>
                  <a:srgbClr val="2A9D5C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295144"/>
            <a:ext cx="11018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200" b="0" i="0">
                <a:solidFill>
                  <a:srgbClr val="33414F"/>
                </a:solidFill>
                <a:latin typeface="Calibri"/>
              </a:rPr>
              <a:t>The behavioural description produced the smallest netlist: 5 cells against 6.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679192"/>
            <a:ext cx="1828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960" b="1" i="0">
                <a:solidFill>
                  <a:srgbClr val="2A9D5C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679192"/>
            <a:ext cx="11018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200" b="0" i="0">
                <a:solidFill>
                  <a:srgbClr val="33414F"/>
                </a:solidFill>
                <a:latin typeface="Calibri"/>
              </a:rPr>
              <a:t>Write at the highest level that says what you mean.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3063240"/>
            <a:ext cx="1828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960" b="1" i="0">
                <a:solidFill>
                  <a:srgbClr val="2A9D5C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063240"/>
            <a:ext cx="11018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200" b="0" i="0">
                <a:solidFill>
                  <a:srgbClr val="33414F"/>
                </a:solidFill>
                <a:latin typeface="Calibri"/>
              </a:rPr>
              <a:t>Not all legal Verilog is synthesisable, and a / b cost 371 cells against 0.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3447288"/>
            <a:ext cx="1828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960" b="1" i="0">
                <a:solidFill>
                  <a:srgbClr val="2A9D5C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447288"/>
            <a:ext cx="11018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200" b="0" i="0">
                <a:solidFill>
                  <a:srgbClr val="33414F"/>
                </a:solidFill>
                <a:latin typeface="Calibri"/>
              </a:rPr>
              <a:t>A combinational block that does not assign on every path builds a latch.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3831336"/>
            <a:ext cx="1828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960" b="1" i="0">
                <a:solidFill>
                  <a:srgbClr val="2A9D5C"/>
                </a:solidFill>
                <a:latin typeface="Calibri"/>
              </a:rPr>
              <a:t>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3831336"/>
            <a:ext cx="11018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200" b="0" i="0">
                <a:solidFill>
                  <a:srgbClr val="33414F"/>
                </a:solidFill>
                <a:latin typeface="Calibri"/>
              </a:rPr>
              <a:t>An incomplete sensitivity list makes simulation and silicon disagree silently.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4215384"/>
            <a:ext cx="1828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960" b="1" i="0">
                <a:solidFill>
                  <a:srgbClr val="2A9D5C"/>
                </a:solidFill>
                <a:latin typeface="Calibri"/>
              </a:rPr>
              <a:t>▪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215384"/>
            <a:ext cx="11018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200" b="0" i="0">
                <a:solidFill>
                  <a:srgbClr val="33414F"/>
                </a:solidFill>
                <a:latin typeface="Calibri"/>
              </a:rPr>
              <a:t>Seven coding rules, checked by a tool, and cross-checked against Yosys.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4599432"/>
            <a:ext cx="1828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960" b="1" i="0">
                <a:solidFill>
                  <a:srgbClr val="2A9D5C"/>
                </a:solidFill>
                <a:latin typeface="Calibri"/>
              </a:rPr>
              <a:t>▪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599432"/>
            <a:ext cx="11018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200" b="0" i="0">
                <a:solidFill>
                  <a:srgbClr val="33414F"/>
                </a:solidFill>
                <a:latin typeface="Calibri"/>
              </a:rPr>
              <a:t>Verilog and VHDL produced identical transcripts over 18 cycles.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292608"/>
            <a:ext cx="530352" cy="530352"/>
          </a:xfrm>
          <a:prstGeom prst="ellipse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402336"/>
            <a:ext cx="155448" cy="310896"/>
          </a:xfrm>
          <a:prstGeom prst="rect">
            <a:avLst/>
          </a:prstGeom>
          <a:solidFill>
            <a:srgbClr val="1B9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292608"/>
            <a:ext cx="106070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 spc="200">
                <a:solidFill>
                  <a:srgbClr val="1B9AAA"/>
                </a:solidFill>
                <a:latin typeface="Calibri"/>
              </a:rPr>
              <a:t>CLOSE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0292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2100" b="1" i="0">
                <a:solidFill>
                  <a:srgbClr val="0E2A47"/>
                </a:solidFill>
                <a:latin typeface="Cambria"/>
              </a:rPr>
              <a:t>What To Do Next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8992" y="1024128"/>
            <a:ext cx="10579608" cy="9525"/>
          </a:xfrm>
          <a:prstGeom prst="rect">
            <a:avLst/>
          </a:prstGeom>
          <a:solidFill>
            <a:srgbClr val="D8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47104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Chip Design Associate · Module 2 · Verilog RTL Coding for Synthesis · Topic 2: RTL Design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47104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3000"/>
              </a:lnSpc>
            </a:pPr>
            <a:r>
              <a:rPr sz="800" b="0" i="0">
                <a:solidFill>
                  <a:srgbClr val="5A6B7B"/>
                </a:solidFill>
                <a:latin typeface="Calibri"/>
              </a:rPr>
              <a:t>M2-T2 · 54</a:t>
            </a:r>
          </a:p>
        </p:txBody>
      </p:sp>
      <p:pic>
        <p:nvPicPr>
          <p:cNvPr id="9" name="Picture 8" descr="what_you_can_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2453" y="1097280"/>
            <a:ext cx="6145173" cy="41148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11480" y="5303520"/>
            <a:ext cx="11247120" cy="822960"/>
          </a:xfrm>
          <a:prstGeom prst="roundRect">
            <a:avLst>
              <a:gd name="adj" fmla="val 5714"/>
            </a:avLst>
          </a:prstGeom>
          <a:solidFill>
            <a:srgbClr val="F4F8FB"/>
          </a:solidFill>
          <a:ln w="1397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" y="5367528"/>
            <a:ext cx="1091793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3000"/>
              </a:lnSpc>
            </a:pPr>
            <a:r>
              <a:rPr sz="1150" b="1" i="0">
                <a:solidFill>
                  <a:srgbClr val="0E2A47"/>
                </a:solidFill>
                <a:latin typeface="Cambria"/>
              </a:rPr>
              <a:t>Coming next in Module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5641848"/>
            <a:ext cx="1091793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1050" b="0" i="0">
                <a:solidFill>
                  <a:srgbClr val="33414F"/>
                </a:solidFill>
                <a:latin typeface="Calibri"/>
              </a:rPr>
              <a:t>Topic 3 covers the digital logic this all rests on. Topic 4 writes much more RTL. Topic 5 is verification — how you know it works. Topic 6 is timing — whether it is fast enough.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