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8595360" y="-2103120"/>
            <a:ext cx="7315200" cy="73152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822960"/>
            <a:ext cx="4572000" cy="4572000"/>
          </a:xfrm>
          <a:prstGeom prst="ellipse">
            <a:avLst/>
          </a:prstGeom>
          <a:solidFill>
            <a:srgbClr val="0E2A47"/>
          </a:solidFill>
          <a:ln w="1270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417320"/>
            <a:ext cx="7315200" cy="365760"/>
          </a:xfrm>
          <a:prstGeom prst="rect">
            <a:avLst/>
          </a:prstGeom>
          <a:noFill/>
        </p:spPr>
        <p:txBody>
          <a:bodyPr wrap="square" lIns="0" rIns="0" tIns="0" bIns="0" anchor="ctr">
            <a:spAutoFit/>
          </a:bodyPr>
          <a:lstStyle/>
          <a:p>
            <a:pPr algn="l">
              <a:lnSpc>
                <a:spcPct val="103000"/>
              </a:lnSpc>
            </a:pPr>
            <a:r>
              <a:rPr sz="1500" b="1" i="0" spc="300">
                <a:solidFill>
                  <a:srgbClr val="1B9AAA"/>
                </a:solidFill>
                <a:latin typeface="Calibri"/>
              </a:rPr>
              <a:t>TOPIC 4</a:t>
            </a:r>
          </a:p>
        </p:txBody>
      </p:sp>
      <p:sp>
        <p:nvSpPr>
          <p:cNvPr id="5" name="TextBox 4"/>
          <p:cNvSpPr txBox="1"/>
          <p:nvPr/>
        </p:nvSpPr>
        <p:spPr>
          <a:xfrm>
            <a:off x="566928" y="1874520"/>
            <a:ext cx="10424160" cy="1005840"/>
          </a:xfrm>
          <a:prstGeom prst="rect">
            <a:avLst/>
          </a:prstGeom>
          <a:noFill/>
        </p:spPr>
        <p:txBody>
          <a:bodyPr wrap="square" lIns="0" rIns="0" tIns="0" bIns="0" anchor="ctr">
            <a:spAutoFit/>
          </a:bodyPr>
          <a:lstStyle/>
          <a:p>
            <a:pPr algn="l">
              <a:lnSpc>
                <a:spcPct val="103000"/>
              </a:lnSpc>
            </a:pPr>
            <a:r>
              <a:rPr sz="3500" b="1" i="0">
                <a:solidFill>
                  <a:srgbClr val="FFFFFF"/>
                </a:solidFill>
                <a:latin typeface="Cambria"/>
              </a:rPr>
              <a:t>RTL Design Using HDL</a:t>
            </a:r>
          </a:p>
        </p:txBody>
      </p:sp>
      <p:sp>
        <p:nvSpPr>
          <p:cNvPr id="6" name="TextBox 5"/>
          <p:cNvSpPr txBox="1"/>
          <p:nvPr/>
        </p:nvSpPr>
        <p:spPr>
          <a:xfrm>
            <a:off x="640080" y="2926080"/>
            <a:ext cx="9418320" cy="640080"/>
          </a:xfrm>
          <a:prstGeom prst="rect">
            <a:avLst/>
          </a:prstGeom>
          <a:noFill/>
        </p:spPr>
        <p:txBody>
          <a:bodyPr wrap="square" lIns="0" rIns="0" tIns="0" bIns="0" anchor="ctr">
            <a:spAutoFit/>
          </a:bodyPr>
          <a:lstStyle/>
          <a:p>
            <a:pPr algn="l">
              <a:lnSpc>
                <a:spcPct val="103000"/>
              </a:lnSpc>
            </a:pPr>
            <a:r>
              <a:rPr sz="1400" b="0" i="0">
                <a:solidFill>
                  <a:srgbClr val="C9D6E3"/>
                </a:solidFill>
                <a:latin typeface="Calibri"/>
              </a:rPr>
              <a:t>Subtopic 4a: Verilog syntax and constructs  ·  4b: Designing combinational and sequential logic using HDL  ·  4c: Writing RTL code for basic digital circuits</a:t>
            </a:r>
          </a:p>
        </p:txBody>
      </p:sp>
      <p:sp>
        <p:nvSpPr>
          <p:cNvPr id="7" name="Oval 6"/>
          <p:cNvSpPr/>
          <p:nvPr/>
        </p:nvSpPr>
        <p:spPr>
          <a:xfrm>
            <a:off x="713232" y="40142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39319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4a · The language — modules, types, literals, operators, and the synthesisable subset</a:t>
            </a:r>
          </a:p>
        </p:txBody>
      </p:sp>
      <p:sp>
        <p:nvSpPr>
          <p:cNvPr id="9" name="Oval 8"/>
          <p:cNvSpPr/>
          <p:nvPr/>
        </p:nvSpPr>
        <p:spPr>
          <a:xfrm>
            <a:off x="713232" y="44714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43891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4b · Modelling logic — assign, always @(*), always @(posedge clk), and what each infers</a:t>
            </a:r>
          </a:p>
        </p:txBody>
      </p:sp>
      <p:sp>
        <p:nvSpPr>
          <p:cNvPr id="11" name="Oval 10"/>
          <p:cNvSpPr/>
          <p:nvPr/>
        </p:nvSpPr>
        <p:spPr>
          <a:xfrm>
            <a:off x="713232" y="49286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48463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4c · Real circuits — MUXes, ALUs, counters, FSMs, memories, FIFOs and a working UART</a:t>
            </a:r>
          </a:p>
        </p:txBody>
      </p:sp>
      <p:sp>
        <p:nvSpPr>
          <p:cNvPr id="13" name="Oval 12"/>
          <p:cNvSpPr/>
          <p:nvPr/>
        </p:nvSpPr>
        <p:spPr>
          <a:xfrm>
            <a:off x="713232" y="53858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97280" y="53035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Tools · Vivado · ModelSim · Icarus + GTKWave + Verilator + Yosys  ·  Labs L1–L5</a:t>
            </a:r>
          </a:p>
        </p:txBody>
      </p:sp>
      <p:sp>
        <p:nvSpPr>
          <p:cNvPr id="15" name="TextBox 14"/>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6" name="TextBox 15"/>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ROADMAP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This Topic Covers, and How Much Time It Really Needs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Topic 3 gave you the hardware vocabulary. </a:t>
            </a:r>
            <a:r>
              <a:rPr sz="1250" b="0" i="0">
                <a:solidFill>
                  <a:srgbClr val="33414F"/>
                </a:solidFill>
                <a:latin typeface="Calibri"/>
              </a:rPr>
              <a:t>Topic 4 is where you stop drawing gates and start writing them — and where the majority of this module's practical hours are spent. The syllabus lists 6 theory hours for this subtopic and </a:t>
            </a:r>
            <a:r>
              <a:rPr sz="1250" b="1" i="0">
                <a:solidFill>
                  <a:srgbClr val="C77514"/>
                </a:solidFill>
                <a:latin typeface="Calibri"/>
              </a:rPr>
              <a:t>40 hours of RTL Design and Implementation Labs</a:t>
            </a:r>
            <a:r>
              <a:rPr sz="1250" b="0" i="0">
                <a:solidFill>
                  <a:srgbClr val="33414F"/>
                </a:solidFill>
                <a:latin typeface="Calibri"/>
              </a:rPr>
              <a:t> in the practical component. This deck is sized for that reality.</a:t>
            </a:r>
          </a:p>
        </p:txBody>
      </p:sp>
      <p:sp>
        <p:nvSpPr>
          <p:cNvPr id="10" name="Rectangle 9"/>
          <p:cNvSpPr/>
          <p:nvPr/>
        </p:nvSpPr>
        <p:spPr>
          <a:xfrm>
            <a:off x="411480" y="1920240"/>
            <a:ext cx="6217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920240"/>
            <a:ext cx="6126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Syllabus bullet — Topic 4</a:t>
            </a:r>
          </a:p>
        </p:txBody>
      </p:sp>
      <p:sp>
        <p:nvSpPr>
          <p:cNvPr id="12" name="Rectangle 11"/>
          <p:cNvSpPr/>
          <p:nvPr/>
        </p:nvSpPr>
        <p:spPr>
          <a:xfrm>
            <a:off x="6629400" y="1920240"/>
            <a:ext cx="33832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675120" y="1920240"/>
            <a:ext cx="32918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Covered by</a:t>
            </a:r>
          </a:p>
        </p:txBody>
      </p:sp>
      <p:sp>
        <p:nvSpPr>
          <p:cNvPr id="14" name="Rectangle 13"/>
          <p:cNvSpPr/>
          <p:nvPr/>
        </p:nvSpPr>
        <p:spPr>
          <a:xfrm>
            <a:off x="10012680" y="1920240"/>
            <a:ext cx="1645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0" y="1920240"/>
            <a:ext cx="1554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Slides</a:t>
            </a:r>
          </a:p>
        </p:txBody>
      </p:sp>
      <p:sp>
        <p:nvSpPr>
          <p:cNvPr id="16" name="Rectangle 15"/>
          <p:cNvSpPr/>
          <p:nvPr/>
        </p:nvSpPr>
        <p:spPr>
          <a:xfrm>
            <a:off x="411480" y="2249424"/>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249424"/>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Introduction to Verilog syntax and constructs</a:t>
            </a:r>
          </a:p>
        </p:txBody>
      </p:sp>
      <p:sp>
        <p:nvSpPr>
          <p:cNvPr id="18" name="Rectangle 17"/>
          <p:cNvSpPr/>
          <p:nvPr/>
        </p:nvSpPr>
        <p:spPr>
          <a:xfrm>
            <a:off x="6629400" y="2249424"/>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75120" y="2249424"/>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a:t>
            </a:r>
          </a:p>
        </p:txBody>
      </p:sp>
      <p:sp>
        <p:nvSpPr>
          <p:cNvPr id="20" name="Rectangle 19"/>
          <p:cNvSpPr/>
          <p:nvPr/>
        </p:nvSpPr>
        <p:spPr>
          <a:xfrm>
            <a:off x="10012680" y="2249424"/>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0" y="2249424"/>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4–27</a:t>
            </a:r>
          </a:p>
        </p:txBody>
      </p:sp>
      <p:sp>
        <p:nvSpPr>
          <p:cNvPr id="22" name="Rectangle 21"/>
          <p:cNvSpPr/>
          <p:nvPr/>
        </p:nvSpPr>
        <p:spPr>
          <a:xfrm>
            <a:off x="411480" y="2578608"/>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578608"/>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Designing combinational and sequential logic using HDL</a:t>
            </a:r>
          </a:p>
        </p:txBody>
      </p:sp>
      <p:sp>
        <p:nvSpPr>
          <p:cNvPr id="24" name="Rectangle 23"/>
          <p:cNvSpPr/>
          <p:nvPr/>
        </p:nvSpPr>
        <p:spPr>
          <a:xfrm>
            <a:off x="6629400" y="2578608"/>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75120" y="2578608"/>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4b</a:t>
            </a:r>
          </a:p>
        </p:txBody>
      </p:sp>
      <p:sp>
        <p:nvSpPr>
          <p:cNvPr id="26" name="Rectangle 25"/>
          <p:cNvSpPr/>
          <p:nvPr/>
        </p:nvSpPr>
        <p:spPr>
          <a:xfrm>
            <a:off x="10012680" y="2578608"/>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58400" y="2578608"/>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28–49</a:t>
            </a:r>
          </a:p>
        </p:txBody>
      </p:sp>
      <p:sp>
        <p:nvSpPr>
          <p:cNvPr id="28" name="Rectangle 27"/>
          <p:cNvSpPr/>
          <p:nvPr/>
        </p:nvSpPr>
        <p:spPr>
          <a:xfrm>
            <a:off x="411480" y="2907792"/>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907792"/>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Writing RTL code for basic digital circuits</a:t>
            </a:r>
          </a:p>
        </p:txBody>
      </p:sp>
      <p:sp>
        <p:nvSpPr>
          <p:cNvPr id="30" name="Rectangle 29"/>
          <p:cNvSpPr/>
          <p:nvPr/>
        </p:nvSpPr>
        <p:spPr>
          <a:xfrm>
            <a:off x="6629400" y="2907792"/>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75120" y="2907792"/>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4c</a:t>
            </a:r>
          </a:p>
        </p:txBody>
      </p:sp>
      <p:sp>
        <p:nvSpPr>
          <p:cNvPr id="32" name="Rectangle 31"/>
          <p:cNvSpPr/>
          <p:nvPr/>
        </p:nvSpPr>
        <p:spPr>
          <a:xfrm>
            <a:off x="10012680" y="2907792"/>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058400" y="2907792"/>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50–65</a:t>
            </a:r>
          </a:p>
        </p:txBody>
      </p:sp>
      <p:sp>
        <p:nvSpPr>
          <p:cNvPr id="34" name="Rectangle 33"/>
          <p:cNvSpPr/>
          <p:nvPr/>
        </p:nvSpPr>
        <p:spPr>
          <a:xfrm>
            <a:off x="411480" y="3236976"/>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236976"/>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simulating and verifying the functionality of RTL designs</a:t>
            </a:r>
          </a:p>
        </p:txBody>
      </p:sp>
      <p:sp>
        <p:nvSpPr>
          <p:cNvPr id="36" name="Rectangle 35"/>
          <p:cNvSpPr/>
          <p:nvPr/>
        </p:nvSpPr>
        <p:spPr>
          <a:xfrm>
            <a:off x="6629400" y="3236976"/>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75120" y="3236976"/>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Verification + Labs</a:t>
            </a:r>
          </a:p>
        </p:txBody>
      </p:sp>
      <p:sp>
        <p:nvSpPr>
          <p:cNvPr id="38" name="Rectangle 37"/>
          <p:cNvSpPr/>
          <p:nvPr/>
        </p:nvSpPr>
        <p:spPr>
          <a:xfrm>
            <a:off x="10012680" y="3236976"/>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0058400" y="3236976"/>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55–65, 75–79</a:t>
            </a:r>
          </a:p>
        </p:txBody>
      </p:sp>
      <p:sp>
        <p:nvSpPr>
          <p:cNvPr id="40" name="Rectangle 39"/>
          <p:cNvSpPr/>
          <p:nvPr/>
        </p:nvSpPr>
        <p:spPr>
          <a:xfrm>
            <a:off x="411480" y="3566160"/>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566160"/>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designing and implementing digital circuits using HDL</a:t>
            </a:r>
          </a:p>
        </p:txBody>
      </p:sp>
      <p:sp>
        <p:nvSpPr>
          <p:cNvPr id="42" name="Rectangle 41"/>
          <p:cNvSpPr/>
          <p:nvPr/>
        </p:nvSpPr>
        <p:spPr>
          <a:xfrm>
            <a:off x="6629400" y="3566160"/>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675120" y="3566160"/>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Tools + Labs L1–L5</a:t>
            </a:r>
          </a:p>
        </p:txBody>
      </p:sp>
      <p:sp>
        <p:nvSpPr>
          <p:cNvPr id="44" name="Rectangle 43"/>
          <p:cNvSpPr/>
          <p:nvPr/>
        </p:nvSpPr>
        <p:spPr>
          <a:xfrm>
            <a:off x="10012680" y="3566160"/>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10058400" y="3566160"/>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66–79</a:t>
            </a:r>
          </a:p>
        </p:txBody>
      </p:sp>
      <p:sp>
        <p:nvSpPr>
          <p:cNvPr id="46" name="Rounded Rectangle 45"/>
          <p:cNvSpPr/>
          <p:nvPr/>
        </p:nvSpPr>
        <p:spPr>
          <a:xfrm>
            <a:off x="411480" y="3986784"/>
            <a:ext cx="11247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76072" y="4050792"/>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Learning outcomes — by the end of this topic you can</a:t>
            </a:r>
          </a:p>
        </p:txBody>
      </p:sp>
      <p:sp>
        <p:nvSpPr>
          <p:cNvPr id="48" name="TextBox 47"/>
          <p:cNvSpPr txBox="1"/>
          <p:nvPr/>
        </p:nvSpPr>
        <p:spPr>
          <a:xfrm>
            <a:off x="576072" y="4325112"/>
            <a:ext cx="10917936" cy="10149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 Read and write the synthesisable Verilog subset fluently, and say exactly what hardware each construct becomes.</a:t>
            </a:r>
          </a:p>
          <a:p>
            <a:pPr algn="l">
              <a:lnSpc>
                <a:spcPct val="103000"/>
              </a:lnSpc>
              <a:spcAft>
                <a:spcPts val="400"/>
              </a:spcAft>
            </a:pPr>
            <a:r>
              <a:rPr sz="1100" b="0" i="0">
                <a:solidFill>
                  <a:srgbClr val="33414F"/>
                </a:solidFill>
                <a:latin typeface="Calibri"/>
              </a:rPr>
              <a:t>· Model combinational and sequential logic correctly — no accidental latches, no blocking/non-blocking races.</a:t>
            </a:r>
          </a:p>
          <a:p>
            <a:pPr algn="l">
              <a:lnSpc>
                <a:spcPct val="103000"/>
              </a:lnSpc>
              <a:spcAft>
                <a:spcPts val="400"/>
              </a:spcAft>
            </a:pPr>
            <a:r>
              <a:rPr sz="1100" b="0" i="0">
                <a:solidFill>
                  <a:srgbClr val="33414F"/>
                </a:solidFill>
                <a:latin typeface="Calibri"/>
              </a:rPr>
              <a:t>· Write a self-checking testbench with a reference model, a scoreboard and randomised stimulus.</a:t>
            </a:r>
          </a:p>
          <a:p>
            <a:pPr algn="l">
              <a:lnSpc>
                <a:spcPct val="103000"/>
              </a:lnSpc>
              <a:spcAft>
                <a:spcPts val="400"/>
              </a:spcAft>
            </a:pPr>
            <a:r>
              <a:rPr sz="1100" b="0" i="0">
                <a:solidFill>
                  <a:srgbClr val="33414F"/>
                </a:solidFill>
                <a:latin typeface="Calibri"/>
              </a:rPr>
              <a:t>· Take a real block — a UART, a FIFO, an FSM — from specification to verified, synthesised netlist.</a:t>
            </a:r>
          </a:p>
        </p:txBody>
      </p:sp>
      <p:sp>
        <p:nvSpPr>
          <p:cNvPr id="49" name="Rounded Rectangle 48"/>
          <p:cNvSpPr/>
          <p:nvPr/>
        </p:nvSpPr>
        <p:spPr>
          <a:xfrm>
            <a:off x="411480" y="5486400"/>
            <a:ext cx="11247120" cy="8229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How to run the session</a:t>
            </a:r>
          </a:p>
        </p:txBody>
      </p:sp>
      <p:sp>
        <p:nvSpPr>
          <p:cNvPr id="51" name="TextBox 50"/>
          <p:cNvSpPr txBox="1"/>
          <p:nvPr/>
        </p:nvSpPr>
        <p:spPr>
          <a:xfrm>
            <a:off x="576072" y="582472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Deliver 4a in one sitting — it is reference material and the room will not retain it all; the workbook carries the detail. Spend the real time on 4b and 4c, at the keyboard. Every design in this deck exists as verified, runnable code in Topic4_Lab/.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MOTIVATION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Is Not a Programming Language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single most important idea in the topic, and the one that costs beginners the most time. </a:t>
            </a:r>
            <a:r>
              <a:rPr sz="1100" b="0" i="0">
                <a:solidFill>
                  <a:srgbClr val="33414F"/>
                </a:solidFill>
                <a:latin typeface="Calibri"/>
              </a:rPr>
              <a:t>Verilog looks like C. It is not C. It DESCRIBES hardware that already exists and runs continuously and in parallel — it does not instruct a processor to do things in order.</a:t>
            </a:r>
          </a:p>
        </p:txBody>
      </p:sp>
      <p:pic>
        <p:nvPicPr>
          <p:cNvPr id="10" name="Picture 9" descr="hdl_vs_software.png"/>
          <p:cNvPicPr>
            <a:picLocks noChangeAspect="1"/>
          </p:cNvPicPr>
          <p:nvPr/>
        </p:nvPicPr>
        <p:blipFill>
          <a:blip r:embed="rId2"/>
          <a:stretch>
            <a:fillRect/>
          </a:stretch>
        </p:blipFill>
        <p:spPr>
          <a:xfrm>
            <a:off x="1795600" y="1783080"/>
            <a:ext cx="8478880" cy="3383280"/>
          </a:xfrm>
          <a:prstGeom prst="rect">
            <a:avLst/>
          </a:prstGeom>
        </p:spPr>
      </p:pic>
      <p:sp>
        <p:nvSpPr>
          <p:cNvPr id="11" name="Rounded Rectangle 10"/>
          <p:cNvSpPr/>
          <p:nvPr/>
        </p:nvSpPr>
        <p:spPr>
          <a:xfrm>
            <a:off x="411480" y="525780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habit that fixes almost everything</a:t>
            </a:r>
          </a:p>
        </p:txBody>
      </p:sp>
      <p:sp>
        <p:nvSpPr>
          <p:cNvPr id="13" name="TextBox 12"/>
          <p:cNvSpPr txBox="1"/>
          <p:nvPr/>
        </p:nvSpPr>
        <p:spPr>
          <a:xfrm>
            <a:off x="576072" y="559612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Before you write a line of Verilog, </a:t>
            </a:r>
            <a:r>
              <a:rPr sz="1100" b="1" i="0">
                <a:solidFill>
                  <a:srgbClr val="1B9AAA"/>
                </a:solidFill>
                <a:latin typeface="Calibri"/>
              </a:rPr>
              <a:t>sketch the hardware you want</a:t>
            </a:r>
            <a:r>
              <a:rPr sz="1100" b="0" i="0">
                <a:solidFill>
                  <a:srgbClr val="33414F"/>
                </a:solidFill>
                <a:latin typeface="Calibri"/>
              </a:rPr>
              <a:t> — the registers, the gates between them, what feeds what. Then write the code that describes that sketch. Designers who do this produce clean RTL from the start; designers who type first and hope produce latches, races and timing failures.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SUBTOPIC 4A</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Verilog Syntax and Constructs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language itself — and the narrow subset of it that becomes hardware.</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Modules, ports, and the four levels of abstraction</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Values, nets and variables, literals, vectors</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Operators, and the width rules that cause silent bugs</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Procedural blocks, control flow, tasks, functions and generate</a:t>
            </a:r>
          </a:p>
        </p:txBody>
      </p:sp>
      <p:sp>
        <p:nvSpPr>
          <p:cNvPr id="14" name="Rectangle 13"/>
          <p:cNvSpPr/>
          <p:nvPr/>
        </p:nvSpPr>
        <p:spPr>
          <a:xfrm>
            <a:off x="640080" y="558698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synthesisable subset — and what is simulation-only</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ABSTRACTION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Levels of Description — Only Some Synthesise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Verilog can describe hardware at four levels of detail. </a:t>
            </a:r>
            <a:r>
              <a:rPr sz="1100" b="0" i="0">
                <a:solidFill>
                  <a:srgbClr val="33414F"/>
                </a:solidFill>
                <a:latin typeface="Calibri"/>
              </a:rPr>
              <a:t>All four are legal Verilog and all four simulate. Only the middle two are what you will write, and the synthesisable subset is a real, narrow boundary you must learn.</a:t>
            </a:r>
          </a:p>
        </p:txBody>
      </p:sp>
      <p:pic>
        <p:nvPicPr>
          <p:cNvPr id="10" name="Picture 9" descr="abstraction_levels.png"/>
          <p:cNvPicPr>
            <a:picLocks noChangeAspect="1"/>
          </p:cNvPicPr>
          <p:nvPr/>
        </p:nvPicPr>
        <p:blipFill>
          <a:blip r:embed="rId2"/>
          <a:stretch>
            <a:fillRect/>
          </a:stretch>
        </p:blipFill>
        <p:spPr>
          <a:xfrm>
            <a:off x="2303060" y="1737360"/>
            <a:ext cx="7463959" cy="3200400"/>
          </a:xfrm>
          <a:prstGeom prst="rect">
            <a:avLst/>
          </a:prstGeom>
        </p:spPr>
      </p:pic>
      <p:sp>
        <p:nvSpPr>
          <p:cNvPr id="11" name="Rounded Rectangle 10"/>
          <p:cNvSpPr/>
          <p:nvPr/>
        </p:nvSpPr>
        <p:spPr>
          <a:xfrm>
            <a:off x="411480" y="5029200"/>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0932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Why RTL is the level we work at</a:t>
            </a:r>
          </a:p>
        </p:txBody>
      </p:sp>
      <p:sp>
        <p:nvSpPr>
          <p:cNvPr id="13" name="TextBox 12"/>
          <p:cNvSpPr txBox="1"/>
          <p:nvPr/>
        </p:nvSpPr>
        <p:spPr>
          <a:xfrm>
            <a:off x="576072" y="536752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Register-transfer level describes WHAT happens to the data between clock edges, without saying which gates do it. That is abstract enough to be readable and portable between technologies, and concrete enough that the resulting hardware is predictable. Gate-level is what synthesis OUTPUTS; you should be able to read it, not write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THE MODULE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Anatomy of a Verilog Module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module is the only unit of design in Verilog. </a:t>
            </a:r>
            <a:r>
              <a:rPr sz="1100" b="0" i="0">
                <a:solidFill>
                  <a:srgbClr val="33414F"/>
                </a:solidFill>
                <a:latin typeface="Calibri"/>
              </a:rPr>
              <a:t>It is a box with a name, a set of ports, and a body. Everything you build in this topic is a box, or a box made of boxes.</a:t>
            </a:r>
          </a:p>
        </p:txBody>
      </p:sp>
      <p:pic>
        <p:nvPicPr>
          <p:cNvPr id="10" name="Picture 9" descr="module_anatomy.png"/>
          <p:cNvPicPr>
            <a:picLocks noChangeAspect="1"/>
          </p:cNvPicPr>
          <p:nvPr/>
        </p:nvPicPr>
        <p:blipFill>
          <a:blip r:embed="rId2"/>
          <a:stretch>
            <a:fillRect/>
          </a:stretch>
        </p:blipFill>
        <p:spPr>
          <a:xfrm>
            <a:off x="2069709" y="1691640"/>
            <a:ext cx="7930662" cy="3520440"/>
          </a:xfrm>
          <a:prstGeom prst="rect">
            <a:avLst/>
          </a:prstGeom>
        </p:spPr>
      </p:pic>
      <p:sp>
        <p:nvSpPr>
          <p:cNvPr id="11" name="Rounded Rectangle 10"/>
          <p:cNvSpPr/>
          <p:nvPr/>
        </p:nvSpPr>
        <p:spPr>
          <a:xfrm>
            <a:off x="411480" y="5303520"/>
            <a:ext cx="5532120" cy="10515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36752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Port directions</a:t>
            </a:r>
          </a:p>
        </p:txBody>
      </p:sp>
      <p:sp>
        <p:nvSpPr>
          <p:cNvPr id="13" name="TextBox 12"/>
          <p:cNvSpPr txBox="1"/>
          <p:nvPr/>
        </p:nvSpPr>
        <p:spPr>
          <a:xfrm>
            <a:off x="548640" y="5641848"/>
            <a:ext cx="5257800" cy="649224"/>
          </a:xfrm>
          <a:prstGeom prst="rect">
            <a:avLst/>
          </a:prstGeom>
          <a:noFill/>
        </p:spPr>
        <p:txBody>
          <a:bodyPr wrap="square" lIns="0" rIns="0" tIns="0" bIns="0" anchor="t">
            <a:spAutoFit/>
          </a:bodyPr>
          <a:lstStyle/>
          <a:p>
            <a:pPr algn="l">
              <a:lnSpc>
                <a:spcPct val="103000"/>
              </a:lnSpc>
              <a:spcAft>
                <a:spcPts val="400"/>
              </a:spcAft>
            </a:pPr>
            <a:r>
              <a:rPr sz="1050" b="1" i="0">
                <a:solidFill>
                  <a:srgbClr val="0E2A47"/>
                </a:solidFill>
                <a:latin typeface="Calibri"/>
              </a:rPr>
              <a:t>input</a:t>
            </a:r>
            <a:r>
              <a:rPr sz="1050" b="0" i="0">
                <a:solidFill>
                  <a:srgbClr val="33414F"/>
                </a:solidFill>
                <a:latin typeface="Calibri"/>
              </a:rPr>
              <a:t>  — read only inside the module.</a:t>
            </a:r>
          </a:p>
          <a:p>
            <a:pPr algn="l">
              <a:lnSpc>
                <a:spcPct val="103000"/>
              </a:lnSpc>
              <a:spcAft>
                <a:spcPts val="400"/>
              </a:spcAft>
            </a:pPr>
            <a:r>
              <a:rPr sz="1050" b="1" i="0">
                <a:solidFill>
                  <a:srgbClr val="2A9D5C"/>
                </a:solidFill>
                <a:latin typeface="Calibri"/>
              </a:rPr>
              <a:t>output</a:t>
            </a:r>
            <a:r>
              <a:rPr sz="1050" b="0" i="0">
                <a:solidFill>
                  <a:srgbClr val="33414F"/>
                </a:solidFill>
                <a:latin typeface="Calibri"/>
              </a:rPr>
              <a:t>  — driven by exactly ONE source.</a:t>
            </a:r>
          </a:p>
          <a:p>
            <a:pPr algn="l">
              <a:lnSpc>
                <a:spcPct val="103000"/>
              </a:lnSpc>
              <a:spcAft>
                <a:spcPts val="400"/>
              </a:spcAft>
            </a:pPr>
            <a:r>
              <a:rPr sz="1050" b="1" i="0">
                <a:solidFill>
                  <a:srgbClr val="C77514"/>
                </a:solidFill>
                <a:latin typeface="Calibri"/>
              </a:rPr>
              <a:t>inout</a:t>
            </a:r>
            <a:r>
              <a:rPr sz="1050" b="0" i="0">
                <a:solidFill>
                  <a:srgbClr val="33414F"/>
                </a:solidFill>
                <a:latin typeface="Calibri"/>
              </a:rPr>
              <a:t>  — bidirectional; only on real chip pins.</a:t>
            </a:r>
          </a:p>
        </p:txBody>
      </p:sp>
      <p:sp>
        <p:nvSpPr>
          <p:cNvPr id="14" name="Rounded Rectangle 13"/>
          <p:cNvSpPr/>
          <p:nvPr/>
        </p:nvSpPr>
        <p:spPr>
          <a:xfrm>
            <a:off x="6126480" y="5303520"/>
            <a:ext cx="5532120" cy="1051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36752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Two port styles</a:t>
            </a:r>
          </a:p>
        </p:txBody>
      </p:sp>
      <p:sp>
        <p:nvSpPr>
          <p:cNvPr id="16" name="TextBox 15"/>
          <p:cNvSpPr txBox="1"/>
          <p:nvPr/>
        </p:nvSpPr>
        <p:spPr>
          <a:xfrm>
            <a:off x="6263640" y="5641848"/>
            <a:ext cx="5257800" cy="6492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ANSI (shown): direction, type and width all in the header. Use this.</a:t>
            </a:r>
          </a:p>
          <a:p>
            <a:pPr algn="l">
              <a:lnSpc>
                <a:spcPct val="103000"/>
              </a:lnSpc>
              <a:spcAft>
                <a:spcPts val="400"/>
              </a:spcAft>
            </a:pPr>
            <a:r>
              <a:rPr sz="1050" b="0" i="0">
                <a:solidFill>
                  <a:srgbClr val="33414F"/>
                </a:solidFill>
                <a:latin typeface="Calibri"/>
              </a:rPr>
              <a:t>Non-ANSI: bare names in the header, declared again in the body. You will meet it in older code; do not write new code that 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4A · VALUES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Signals Have Four Values, Not Two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Verilog's logic type has four states. </a:t>
            </a:r>
            <a:r>
              <a:rPr sz="1100" b="0" i="0">
                <a:solidFill>
                  <a:srgbClr val="33414F"/>
                </a:solidFill>
                <a:latin typeface="Calibri"/>
              </a:rPr>
              <a:t>Two of them are hardware; two of them are things the SIMULATOR needs to say. Confusing the two categories is the root of a great deal of wasted debugging time.</a:t>
            </a:r>
          </a:p>
        </p:txBody>
      </p:sp>
      <p:pic>
        <p:nvPicPr>
          <p:cNvPr id="10" name="Picture 9" descr="four_value_logic.png"/>
          <p:cNvPicPr>
            <a:picLocks noChangeAspect="1"/>
          </p:cNvPicPr>
          <p:nvPr/>
        </p:nvPicPr>
        <p:blipFill>
          <a:blip r:embed="rId2"/>
          <a:stretch>
            <a:fillRect/>
          </a:stretch>
        </p:blipFill>
        <p:spPr>
          <a:xfrm>
            <a:off x="1570186" y="1691640"/>
            <a:ext cx="8929708" cy="3383280"/>
          </a:xfrm>
          <a:prstGeom prst="rect">
            <a:avLst/>
          </a:prstGeom>
        </p:spPr>
      </p:pic>
      <p:sp>
        <p:nvSpPr>
          <p:cNvPr id="11" name="Rounded Rectangle 10"/>
          <p:cNvSpPr/>
          <p:nvPr/>
        </p:nvSpPr>
        <p:spPr>
          <a:xfrm>
            <a:off x="411480" y="5166360"/>
            <a:ext cx="11247120" cy="9601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303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Where an x comes from — the five usual suspects</a:t>
            </a:r>
          </a:p>
        </p:txBody>
      </p:sp>
      <p:sp>
        <p:nvSpPr>
          <p:cNvPr id="13" name="TextBox 12"/>
          <p:cNvSpPr txBox="1"/>
          <p:nvPr/>
        </p:nvSpPr>
        <p:spPr>
          <a:xfrm>
            <a:off x="576072" y="550468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A register that was never reset.   2. A wire nothing drives.   3. A wire TWO things drive (a multi-driver).</a:t>
            </a:r>
          </a:p>
          <a:p>
            <a:pPr algn="l">
              <a:lnSpc>
                <a:spcPct val="103000"/>
              </a:lnSpc>
              <a:spcAft>
                <a:spcPts val="400"/>
              </a:spcAft>
            </a:pPr>
            <a:r>
              <a:rPr sz="1100" b="0" i="0">
                <a:solidFill>
                  <a:srgbClr val="33414F"/>
                </a:solidFill>
                <a:latin typeface="Calibri"/>
              </a:rPr>
              <a:t>4. Reading past the end of a vector or an array.   5. Arithmetic on a value that is already x — x is contagious, which is why you must chase it back to the FIRST signal that turned x, not the one you noticed.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TYPES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wire or reg? The Rule Is About How You Assign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8</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a naming accident that has confused students since 1985. </a:t>
            </a:r>
            <a:r>
              <a:rPr sz="1100" b="0" i="0">
                <a:solidFill>
                  <a:srgbClr val="33414F"/>
                </a:solidFill>
                <a:latin typeface="Calibri"/>
              </a:rPr>
              <a:t>A </a:t>
            </a:r>
            <a:r>
              <a:rPr sz="1100" b="1" i="0">
                <a:solidFill>
                  <a:srgbClr val="C77514"/>
                </a:solidFill>
                <a:latin typeface="Consolas"/>
              </a:rPr>
              <a:t>reg</a:t>
            </a:r>
            <a:r>
              <a:rPr sz="1100" b="0" i="0">
                <a:solidFill>
                  <a:srgbClr val="33414F"/>
                </a:solidFill>
                <a:latin typeface="Calibri"/>
              </a:rPr>
              <a:t> is NOT a register. It is a variable in the simulator. Whether it becomes a flip-flop depends entirely on HOW you assign it, and not at all on what you called it.</a:t>
            </a:r>
          </a:p>
        </p:txBody>
      </p:sp>
      <p:pic>
        <p:nvPicPr>
          <p:cNvPr id="10" name="Picture 9" descr="nets_vs_variables.png"/>
          <p:cNvPicPr>
            <a:picLocks noChangeAspect="1"/>
          </p:cNvPicPr>
          <p:nvPr/>
        </p:nvPicPr>
        <p:blipFill>
          <a:blip r:embed="rId2"/>
          <a:stretch>
            <a:fillRect/>
          </a:stretch>
        </p:blipFill>
        <p:spPr>
          <a:xfrm>
            <a:off x="2166632" y="1783080"/>
            <a:ext cx="7736816" cy="3200400"/>
          </a:xfrm>
          <a:prstGeom prst="rect">
            <a:avLst/>
          </a:prstGeom>
        </p:spPr>
      </p:pic>
      <p:sp>
        <p:nvSpPr>
          <p:cNvPr id="11" name="Rectangle 10"/>
          <p:cNvSpPr/>
          <p:nvPr/>
        </p:nvSpPr>
        <p:spPr>
          <a:xfrm>
            <a:off x="411480" y="5074920"/>
            <a:ext cx="36576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074920"/>
            <a:ext cx="35661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You want</a:t>
            </a:r>
          </a:p>
        </p:txBody>
      </p:sp>
      <p:sp>
        <p:nvSpPr>
          <p:cNvPr id="13" name="Rectangle 12"/>
          <p:cNvSpPr/>
          <p:nvPr/>
        </p:nvSpPr>
        <p:spPr>
          <a:xfrm>
            <a:off x="4069080" y="507492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114800" y="507492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Declare it</a:t>
            </a:r>
          </a:p>
        </p:txBody>
      </p:sp>
      <p:sp>
        <p:nvSpPr>
          <p:cNvPr id="15" name="Rectangle 14"/>
          <p:cNvSpPr/>
          <p:nvPr/>
        </p:nvSpPr>
        <p:spPr>
          <a:xfrm>
            <a:off x="7269480" y="5074920"/>
            <a:ext cx="43891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315200" y="5074920"/>
            <a:ext cx="42976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Assign it with</a:t>
            </a:r>
          </a:p>
        </p:txBody>
      </p:sp>
      <p:sp>
        <p:nvSpPr>
          <p:cNvPr id="17" name="Rectangle 16"/>
          <p:cNvSpPr/>
          <p:nvPr/>
        </p:nvSpPr>
        <p:spPr>
          <a:xfrm>
            <a:off x="411480" y="5358384"/>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5358384"/>
            <a:ext cx="3566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wire between two things</a:t>
            </a:r>
          </a:p>
        </p:txBody>
      </p:sp>
      <p:sp>
        <p:nvSpPr>
          <p:cNvPr id="19" name="Rectangle 18"/>
          <p:cNvSpPr/>
          <p:nvPr/>
        </p:nvSpPr>
        <p:spPr>
          <a:xfrm>
            <a:off x="4069080" y="535838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0" y="5358384"/>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wire</a:t>
            </a:r>
          </a:p>
        </p:txBody>
      </p:sp>
      <p:sp>
        <p:nvSpPr>
          <p:cNvPr id="21" name="Rectangle 20"/>
          <p:cNvSpPr/>
          <p:nvPr/>
        </p:nvSpPr>
        <p:spPr>
          <a:xfrm>
            <a:off x="7269480" y="5358384"/>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0" y="5358384"/>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assign, or a port connection</a:t>
            </a:r>
          </a:p>
        </p:txBody>
      </p:sp>
      <p:sp>
        <p:nvSpPr>
          <p:cNvPr id="23" name="Rectangle 22"/>
          <p:cNvSpPr/>
          <p:nvPr/>
        </p:nvSpPr>
        <p:spPr>
          <a:xfrm>
            <a:off x="411480" y="5641848"/>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5641848"/>
            <a:ext cx="3566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Combinational logic in a block</a:t>
            </a:r>
          </a:p>
        </p:txBody>
      </p:sp>
      <p:sp>
        <p:nvSpPr>
          <p:cNvPr id="25" name="Rectangle 24"/>
          <p:cNvSpPr/>
          <p:nvPr/>
        </p:nvSpPr>
        <p:spPr>
          <a:xfrm>
            <a:off x="4069080" y="564184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4800" y="5641848"/>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reg</a:t>
            </a:r>
          </a:p>
        </p:txBody>
      </p:sp>
      <p:sp>
        <p:nvSpPr>
          <p:cNvPr id="27" name="Rectangle 26"/>
          <p:cNvSpPr/>
          <p:nvPr/>
        </p:nvSpPr>
        <p:spPr>
          <a:xfrm>
            <a:off x="7269480" y="5641848"/>
            <a:ext cx="43891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315200" y="5641848"/>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 inside always @(*)</a:t>
            </a:r>
          </a:p>
        </p:txBody>
      </p:sp>
      <p:sp>
        <p:nvSpPr>
          <p:cNvPr id="29" name="Rectangle 28"/>
          <p:cNvSpPr/>
          <p:nvPr/>
        </p:nvSpPr>
        <p:spPr>
          <a:xfrm>
            <a:off x="411480" y="5925312"/>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5925312"/>
            <a:ext cx="3566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flip-flop</a:t>
            </a:r>
          </a:p>
        </p:txBody>
      </p:sp>
      <p:sp>
        <p:nvSpPr>
          <p:cNvPr id="31" name="Rectangle 30"/>
          <p:cNvSpPr/>
          <p:nvPr/>
        </p:nvSpPr>
        <p:spPr>
          <a:xfrm>
            <a:off x="4069080" y="592531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114800" y="5925312"/>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reg</a:t>
            </a:r>
          </a:p>
        </p:txBody>
      </p:sp>
      <p:sp>
        <p:nvSpPr>
          <p:cNvPr id="33" name="Rectangle 32"/>
          <p:cNvSpPr/>
          <p:nvPr/>
        </p:nvSpPr>
        <p:spPr>
          <a:xfrm>
            <a:off x="7269480" y="5925312"/>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315200" y="5925312"/>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&lt;= inside always @(posedge clk)</a:t>
            </a:r>
          </a:p>
        </p:txBody>
      </p:sp>
      <p:sp>
        <p:nvSpPr>
          <p:cNvPr id="35" name="Rectangle 34"/>
          <p:cNvSpPr/>
          <p:nvPr/>
        </p:nvSpPr>
        <p:spPr>
          <a:xfrm>
            <a:off x="411480" y="6208776"/>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208776"/>
            <a:ext cx="3566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module output driven by assign</a:t>
            </a:r>
          </a:p>
        </p:txBody>
      </p:sp>
      <p:sp>
        <p:nvSpPr>
          <p:cNvPr id="37" name="Rectangle 36"/>
          <p:cNvSpPr/>
          <p:nvPr/>
        </p:nvSpPr>
        <p:spPr>
          <a:xfrm>
            <a:off x="4069080" y="620877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114800" y="6208776"/>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wire (the default)</a:t>
            </a:r>
          </a:p>
        </p:txBody>
      </p:sp>
      <p:sp>
        <p:nvSpPr>
          <p:cNvPr id="39" name="Rectangle 38"/>
          <p:cNvSpPr/>
          <p:nvPr/>
        </p:nvSpPr>
        <p:spPr>
          <a:xfrm>
            <a:off x="7269480" y="6208776"/>
            <a:ext cx="43891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315200" y="6208776"/>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assign</a:t>
            </a:r>
          </a:p>
        </p:txBody>
      </p:sp>
      <p:sp>
        <p:nvSpPr>
          <p:cNvPr id="41" name="Rectangle 40"/>
          <p:cNvSpPr/>
          <p:nvPr/>
        </p:nvSpPr>
        <p:spPr>
          <a:xfrm>
            <a:off x="411480" y="6492240"/>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6492240"/>
            <a:ext cx="3566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module output driven by a block</a:t>
            </a:r>
          </a:p>
        </p:txBody>
      </p:sp>
      <p:sp>
        <p:nvSpPr>
          <p:cNvPr id="43" name="Rectangle 42"/>
          <p:cNvSpPr/>
          <p:nvPr/>
        </p:nvSpPr>
        <p:spPr>
          <a:xfrm>
            <a:off x="4069080" y="649224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114800" y="6492240"/>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reg</a:t>
            </a:r>
          </a:p>
        </p:txBody>
      </p:sp>
      <p:sp>
        <p:nvSpPr>
          <p:cNvPr id="45" name="Rectangle 44"/>
          <p:cNvSpPr/>
          <p:nvPr/>
        </p:nvSpPr>
        <p:spPr>
          <a:xfrm>
            <a:off x="7269480" y="6492240"/>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315200" y="6492240"/>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inside the always block</a:t>
            </a:r>
          </a:p>
        </p:txBody>
      </p:sp>
      <p:sp>
        <p:nvSpPr>
          <p:cNvPr id="47" name="TextBox 46"/>
          <p:cNvSpPr txBox="1"/>
          <p:nvPr/>
        </p:nvSpPr>
        <p:spPr>
          <a:xfrm>
            <a:off x="411480" y="6821424"/>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SystemVerilog fixes this with </a:t>
            </a:r>
            <a:r>
              <a:rPr sz="1050" b="1" i="0">
                <a:solidFill>
                  <a:srgbClr val="2A9D5C"/>
                </a:solidFill>
                <a:latin typeface="Consolas"/>
              </a:rPr>
              <a:t>logic</a:t>
            </a:r>
            <a:r>
              <a:rPr sz="1050" b="0" i="0">
                <a:solidFill>
                  <a:srgbClr val="33414F"/>
                </a:solidFill>
                <a:latin typeface="Calibri"/>
              </a:rPr>
              <a:t>, which can be assigned either way. If your tools allow SystemVerilog, use it — but you must still be able to read Verilog-2001, because most existing IP is written in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LITERALS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Reading and Writing Number Literals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9</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constant in Verilog has a WIDTH as well as a value. </a:t>
            </a:r>
            <a:r>
              <a:rPr sz="1100" b="0" i="0">
                <a:solidFill>
                  <a:srgbClr val="33414F"/>
                </a:solidFill>
                <a:latin typeface="Calibri"/>
              </a:rPr>
              <a:t>Leaving the width off does not mean 'whatever fits' — it means 32 bits, signed. That default is responsible for a whole family of silent bugs.</a:t>
            </a:r>
          </a:p>
        </p:txBody>
      </p:sp>
      <p:pic>
        <p:nvPicPr>
          <p:cNvPr id="10" name="Picture 9" descr="literals.png"/>
          <p:cNvPicPr>
            <a:picLocks noChangeAspect="1"/>
          </p:cNvPicPr>
          <p:nvPr/>
        </p:nvPicPr>
        <p:blipFill>
          <a:blip r:embed="rId2"/>
          <a:stretch>
            <a:fillRect/>
          </a:stretch>
        </p:blipFill>
        <p:spPr>
          <a:xfrm>
            <a:off x="1876549" y="1691640"/>
            <a:ext cx="8316983" cy="3566160"/>
          </a:xfrm>
          <a:prstGeom prst="rect">
            <a:avLst/>
          </a:prstGeom>
        </p:spPr>
      </p:pic>
      <p:sp>
        <p:nvSpPr>
          <p:cNvPr id="11" name="Rounded Rectangle 10"/>
          <p:cNvSpPr/>
          <p:nvPr/>
        </p:nvSpPr>
        <p:spPr>
          <a:xfrm>
            <a:off x="411480" y="5349240"/>
            <a:ext cx="11247120" cy="776224"/>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41324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house rule</a:t>
            </a:r>
          </a:p>
        </p:txBody>
      </p:sp>
      <p:sp>
        <p:nvSpPr>
          <p:cNvPr id="13" name="TextBox 12"/>
          <p:cNvSpPr txBox="1"/>
          <p:nvPr/>
        </p:nvSpPr>
        <p:spPr>
          <a:xfrm>
            <a:off x="576072" y="5687568"/>
            <a:ext cx="10917936" cy="373888"/>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Size every literal. </a:t>
            </a:r>
            <a:r>
              <a:rPr sz="1100" b="0" i="0">
                <a:solidFill>
                  <a:srgbClr val="33414F"/>
                </a:solidFill>
                <a:latin typeface="Calibri"/>
              </a:rPr>
              <a:t>Write </a:t>
            </a:r>
            <a:r>
              <a:rPr sz="1100" b="1" i="0">
                <a:solidFill>
                  <a:srgbClr val="0E2A47"/>
                </a:solidFill>
                <a:latin typeface="Consolas"/>
              </a:rPr>
              <a:t>8'd0</a:t>
            </a:r>
            <a:r>
              <a:rPr sz="1100" b="0" i="0">
                <a:solidFill>
                  <a:srgbClr val="33414F"/>
                </a:solidFill>
                <a:latin typeface="Calibri"/>
              </a:rPr>
              <a:t> not </a:t>
            </a:r>
            <a:r>
              <a:rPr sz="1100" b="1" i="0">
                <a:solidFill>
                  <a:srgbClr val="0E2A47"/>
                </a:solidFill>
                <a:latin typeface="Consolas"/>
              </a:rPr>
              <a:t>0</a:t>
            </a:r>
            <a:r>
              <a:rPr sz="1100" b="0" i="0">
                <a:solidFill>
                  <a:srgbClr val="33414F"/>
                </a:solidFill>
                <a:latin typeface="Calibri"/>
              </a:rPr>
              <a:t>;  </a:t>
            </a:r>
            <a:r>
              <a:rPr sz="1100" b="1" i="0">
                <a:solidFill>
                  <a:srgbClr val="0E2A47"/>
                </a:solidFill>
                <a:latin typeface="Consolas"/>
              </a:rPr>
              <a:t>4'b0000</a:t>
            </a:r>
            <a:r>
              <a:rPr sz="1100" b="0" i="0">
                <a:solidFill>
                  <a:srgbClr val="33414F"/>
                </a:solidFill>
                <a:latin typeface="Calibri"/>
              </a:rPr>
              <a:t> or </a:t>
            </a:r>
            <a:r>
              <a:rPr sz="1100" b="1" i="0">
                <a:solidFill>
                  <a:srgbClr val="0E2A47"/>
                </a:solidFill>
                <a:latin typeface="Consolas"/>
              </a:rPr>
              <a:t>{W{1'b0}}</a:t>
            </a:r>
            <a:r>
              <a:rPr sz="1100" b="0" i="0">
                <a:solidFill>
                  <a:srgbClr val="33414F"/>
                </a:solidFill>
                <a:latin typeface="Calibri"/>
              </a:rPr>
              <a:t> not a bare zero. It costs three keystrokes and removes an entire class of bug.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VECTORS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Slicing, Concatenating and Replicating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10</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Almost every signal in real RTL is a vector — a bus. </a:t>
            </a:r>
            <a:r>
              <a:rPr sz="1100" b="0" i="0">
                <a:solidFill>
                  <a:srgbClr val="33414F"/>
                </a:solidFill>
                <a:latin typeface="Calibri"/>
              </a:rPr>
              <a:t>These four operations are how you take buses apart and put them back together, and you will use them constantly.</a:t>
            </a:r>
          </a:p>
        </p:txBody>
      </p:sp>
      <p:pic>
        <p:nvPicPr>
          <p:cNvPr id="10" name="Picture 9" descr="vector_ops.png"/>
          <p:cNvPicPr>
            <a:picLocks noChangeAspect="1"/>
          </p:cNvPicPr>
          <p:nvPr/>
        </p:nvPicPr>
        <p:blipFill>
          <a:blip r:embed="rId2"/>
          <a:stretch>
            <a:fillRect/>
          </a:stretch>
        </p:blipFill>
        <p:spPr>
          <a:xfrm>
            <a:off x="2608736" y="1691640"/>
            <a:ext cx="6852608" cy="2834640"/>
          </a:xfrm>
          <a:prstGeom prst="rect">
            <a:avLst/>
          </a:prstGeom>
        </p:spPr>
      </p:pic>
      <p:sp>
        <p:nvSpPr>
          <p:cNvPr id="11" name="Rounded Rectangle 10"/>
          <p:cNvSpPr/>
          <p:nvPr/>
        </p:nvSpPr>
        <p:spPr>
          <a:xfrm>
            <a:off x="411480" y="4617720"/>
            <a:ext cx="5532120" cy="13716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68172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Arrays are NOT vectors</a:t>
            </a:r>
          </a:p>
        </p:txBody>
      </p:sp>
      <p:sp>
        <p:nvSpPr>
          <p:cNvPr id="13" name="TextBox 12"/>
          <p:cNvSpPr txBox="1"/>
          <p:nvPr/>
        </p:nvSpPr>
        <p:spPr>
          <a:xfrm>
            <a:off x="548640" y="4956048"/>
            <a:ext cx="5257800" cy="96926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reg [7:0] v;</a:t>
            </a:r>
            <a:r>
              <a:rPr sz="1000" b="0" i="0">
                <a:solidFill>
                  <a:srgbClr val="33414F"/>
                </a:solidFill>
                <a:latin typeface="Calibri"/>
              </a:rPr>
              <a:t>  one 8-bit vector</a:t>
            </a:r>
          </a:p>
          <a:p>
            <a:pPr algn="l">
              <a:lnSpc>
                <a:spcPct val="103000"/>
              </a:lnSpc>
              <a:spcAft>
                <a:spcPts val="400"/>
              </a:spcAft>
            </a:pPr>
            <a:r>
              <a:rPr sz="1000" b="0" i="0">
                <a:solidFill>
                  <a:srgbClr val="33414F"/>
                </a:solidFill>
                <a:latin typeface="Consolas"/>
              </a:rPr>
              <a:t>reg v [0:7];</a:t>
            </a:r>
            <a:r>
              <a:rPr sz="1000" b="0" i="0">
                <a:solidFill>
                  <a:srgbClr val="33414F"/>
                </a:solidFill>
                <a:latin typeface="Calibri"/>
              </a:rPr>
              <a:t>  eight 1-bit elements</a:t>
            </a:r>
          </a:p>
          <a:p>
            <a:pPr algn="l">
              <a:lnSpc>
                <a:spcPct val="103000"/>
              </a:lnSpc>
              <a:spcAft>
                <a:spcPts val="400"/>
              </a:spcAft>
            </a:pPr>
            <a:r>
              <a:rPr sz="1000" b="0" i="0">
                <a:solidFill>
                  <a:srgbClr val="33414F"/>
                </a:solidFill>
                <a:latin typeface="Consolas"/>
              </a:rPr>
              <a:t>reg [7:0] m [0:255];</a:t>
            </a:r>
            <a:r>
              <a:rPr sz="1000" b="0" i="0">
                <a:solidFill>
                  <a:srgbClr val="33414F"/>
                </a:solidFill>
                <a:latin typeface="Calibri"/>
              </a:rPr>
              <a:t>  256 bytes — a memory</a:t>
            </a:r>
          </a:p>
          <a:p>
            <a:pPr algn="l">
              <a:lnSpc>
                <a:spcPct val="103000"/>
              </a:lnSpc>
              <a:spcAft>
                <a:spcPts val="400"/>
              </a:spcAft>
            </a:pPr>
            <a:r>
              <a:rPr sz="1000" b="1" i="0">
                <a:solidFill>
                  <a:srgbClr val="0E2A47"/>
                </a:solidFill>
                <a:latin typeface="Calibri"/>
              </a:rPr>
              <a:t>You can slice a vector; you index an array.</a:t>
            </a:r>
          </a:p>
        </p:txBody>
      </p:sp>
      <p:sp>
        <p:nvSpPr>
          <p:cNvPr id="14" name="Rounded Rectangle 13"/>
          <p:cNvSpPr/>
          <p:nvPr/>
        </p:nvSpPr>
        <p:spPr>
          <a:xfrm>
            <a:off x="6126480" y="4617720"/>
            <a:ext cx="5532120" cy="13716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46817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Indexed part-select</a:t>
            </a:r>
          </a:p>
        </p:txBody>
      </p:sp>
      <p:sp>
        <p:nvSpPr>
          <p:cNvPr id="16" name="TextBox 15"/>
          <p:cNvSpPr txBox="1"/>
          <p:nvPr/>
        </p:nvSpPr>
        <p:spPr>
          <a:xfrm>
            <a:off x="6263640" y="4956048"/>
            <a:ext cx="5257800" cy="9692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plain slice needs constant bounds:  </a:t>
            </a:r>
            <a:r>
              <a:rPr sz="1050" b="1" i="0">
                <a:solidFill>
                  <a:srgbClr val="C01F43"/>
                </a:solidFill>
                <a:latin typeface="Consolas"/>
              </a:rPr>
              <a:t>d[i:j]</a:t>
            </a:r>
            <a:r>
              <a:rPr sz="1050" b="0" i="0">
                <a:solidFill>
                  <a:srgbClr val="33414F"/>
                </a:solidFill>
                <a:latin typeface="Calibri"/>
              </a:rPr>
              <a:t>  is illegal for variable i.</a:t>
            </a:r>
          </a:p>
          <a:p>
            <a:pPr algn="l">
              <a:lnSpc>
                <a:spcPct val="103000"/>
              </a:lnSpc>
              <a:spcAft>
                <a:spcPts val="400"/>
              </a:spcAft>
            </a:pPr>
            <a:r>
              <a:rPr sz="1050" b="0" i="0">
                <a:solidFill>
                  <a:srgbClr val="33414F"/>
                </a:solidFill>
                <a:latin typeface="Calibri"/>
              </a:rPr>
              <a:t>Use </a:t>
            </a:r>
            <a:r>
              <a:rPr sz="1050" b="1" i="0">
                <a:solidFill>
                  <a:srgbClr val="2A9D5C"/>
                </a:solidFill>
                <a:latin typeface="Consolas"/>
              </a:rPr>
              <a:t>d[i +: 4]</a:t>
            </a:r>
            <a:r>
              <a:rPr sz="1050" b="0" i="0">
                <a:solidFill>
                  <a:srgbClr val="33414F"/>
                </a:solidFill>
                <a:latin typeface="Calibri"/>
              </a:rPr>
              <a:t>  (4 bits UP from i) or </a:t>
            </a:r>
            <a:r>
              <a:rPr sz="1050" b="1" i="0">
                <a:solidFill>
                  <a:srgbClr val="2A9D5C"/>
                </a:solidFill>
                <a:latin typeface="Consolas"/>
              </a:rPr>
              <a:t>d[i -: 4]</a:t>
            </a:r>
            <a:r>
              <a:rPr sz="1050" b="0" i="0">
                <a:solidFill>
                  <a:srgbClr val="33414F"/>
                </a:solidFill>
                <a:latin typeface="Calibri"/>
              </a:rPr>
              <a:t> (4 bits DOWN). The WIDTH is constant; only the position varies — which is exactly what a multiplexer can 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OPERATORS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Operators You Will Actually Use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11</a:t>
            </a:r>
          </a:p>
        </p:txBody>
      </p:sp>
      <p:pic>
        <p:nvPicPr>
          <p:cNvPr id="9" name="Picture 8" descr="operator_map.png"/>
          <p:cNvPicPr>
            <a:picLocks noChangeAspect="1"/>
          </p:cNvPicPr>
          <p:nvPr/>
        </p:nvPicPr>
        <p:blipFill>
          <a:blip r:embed="rId2"/>
          <a:stretch>
            <a:fillRect/>
          </a:stretch>
        </p:blipFill>
        <p:spPr>
          <a:xfrm>
            <a:off x="1222703" y="1143000"/>
            <a:ext cx="9624675" cy="3840480"/>
          </a:xfrm>
          <a:prstGeom prst="rect">
            <a:avLst/>
          </a:prstGeom>
        </p:spPr>
      </p:pic>
      <p:sp>
        <p:nvSpPr>
          <p:cNvPr id="10" name="Rounded Rectangle 9"/>
          <p:cNvSpPr/>
          <p:nvPr/>
        </p:nvSpPr>
        <p:spPr>
          <a:xfrm>
            <a:off x="411480" y="5074920"/>
            <a:ext cx="5532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Logical vs bitwise — a classic slip</a:t>
            </a:r>
          </a:p>
        </p:txBody>
      </p:sp>
      <p:sp>
        <p:nvSpPr>
          <p:cNvPr id="12" name="TextBox 11"/>
          <p:cNvSpPr txBox="1"/>
          <p:nvPr/>
        </p:nvSpPr>
        <p:spPr>
          <a:xfrm>
            <a:off x="548640" y="54132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0E2A47"/>
                </a:solidFill>
                <a:latin typeface="Consolas"/>
              </a:rPr>
              <a:t>a &amp;&amp; b</a:t>
            </a:r>
            <a:r>
              <a:rPr sz="1050" b="0" i="0">
                <a:solidFill>
                  <a:srgbClr val="33414F"/>
                </a:solidFill>
                <a:latin typeface="Calibri"/>
              </a:rPr>
              <a:t>  treats each side as true/false and gives ONE bit.</a:t>
            </a:r>
          </a:p>
          <a:p>
            <a:pPr algn="l">
              <a:lnSpc>
                <a:spcPct val="103000"/>
              </a:lnSpc>
              <a:spcAft>
                <a:spcPts val="400"/>
              </a:spcAft>
            </a:pPr>
            <a:r>
              <a:rPr sz="1050" b="1" i="0">
                <a:solidFill>
                  <a:srgbClr val="0E2A47"/>
                </a:solidFill>
                <a:latin typeface="Consolas"/>
              </a:rPr>
              <a:t>a &amp; b</a:t>
            </a:r>
            <a:r>
              <a:rPr sz="1050" b="0" i="0">
                <a:solidFill>
                  <a:srgbClr val="33414F"/>
                </a:solidFill>
                <a:latin typeface="Calibri"/>
              </a:rPr>
              <a:t>  operates bit by bit and gives a VECTOR.</a:t>
            </a:r>
          </a:p>
          <a:p>
            <a:pPr algn="l">
              <a:lnSpc>
                <a:spcPct val="103000"/>
              </a:lnSpc>
              <a:spcAft>
                <a:spcPts val="400"/>
              </a:spcAft>
            </a:pPr>
            <a:r>
              <a:rPr sz="1050" b="0" i="1">
                <a:solidFill>
                  <a:srgbClr val="5A6B7B"/>
                </a:solidFill>
                <a:latin typeface="Calibri"/>
              </a:rPr>
              <a:t>For 4'b0011 and 4'b1100: &amp;&amp; gives 1, &amp; gives 0000.</a:t>
            </a:r>
          </a:p>
        </p:txBody>
      </p:sp>
      <p:sp>
        <p:nvSpPr>
          <p:cNvPr id="13" name="Rounded Rectangle 12"/>
          <p:cNvSpPr/>
          <p:nvPr/>
        </p:nvSpPr>
        <p:spPr>
          <a:xfrm>
            <a:off x="6126480" y="507492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Reduction operators are underused</a:t>
            </a:r>
          </a:p>
        </p:txBody>
      </p:sp>
      <p:sp>
        <p:nvSpPr>
          <p:cNvPr id="15" name="TextBox 14"/>
          <p:cNvSpPr txBox="1"/>
          <p:nvPr/>
        </p:nvSpPr>
        <p:spPr>
          <a:xfrm>
            <a:off x="6263640" y="54132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|req</a:t>
            </a:r>
            <a:r>
              <a:rPr sz="1050" b="0" i="0">
                <a:solidFill>
                  <a:srgbClr val="33414F"/>
                </a:solidFill>
                <a:latin typeface="Calibri"/>
              </a:rPr>
              <a:t>  — is ANY bit set? (a valid flag)</a:t>
            </a:r>
          </a:p>
          <a:p>
            <a:pPr algn="l">
              <a:lnSpc>
                <a:spcPct val="103000"/>
              </a:lnSpc>
              <a:spcAft>
                <a:spcPts val="400"/>
              </a:spcAft>
            </a:pPr>
            <a:r>
              <a:rPr sz="1050" b="1" i="0">
                <a:solidFill>
                  <a:srgbClr val="2A9D5C"/>
                </a:solidFill>
                <a:latin typeface="Consolas"/>
              </a:rPr>
              <a:t>&amp;full</a:t>
            </a:r>
            <a:r>
              <a:rPr sz="1050" b="0" i="0">
                <a:solidFill>
                  <a:srgbClr val="33414F"/>
                </a:solidFill>
                <a:latin typeface="Calibri"/>
              </a:rPr>
              <a:t>  — are ALL bits set?</a:t>
            </a:r>
          </a:p>
          <a:p>
            <a:pPr algn="l">
              <a:lnSpc>
                <a:spcPct val="103000"/>
              </a:lnSpc>
              <a:spcAft>
                <a:spcPts val="400"/>
              </a:spcAft>
            </a:pPr>
            <a:r>
              <a:rPr sz="1050" b="1" i="0">
                <a:solidFill>
                  <a:srgbClr val="2A9D5C"/>
                </a:solidFill>
                <a:latin typeface="Consolas"/>
              </a:rPr>
              <a:t>^data</a:t>
            </a:r>
            <a:r>
              <a:rPr sz="1050" b="0" i="0">
                <a:solidFill>
                  <a:srgbClr val="33414F"/>
                </a:solidFill>
                <a:latin typeface="Calibri"/>
              </a:rPr>
              <a:t>  — parity, in one character.</a:t>
            </a:r>
          </a:p>
          <a:p>
            <a:pPr algn="l">
              <a:lnSpc>
                <a:spcPct val="103000"/>
              </a:lnSpc>
              <a:spcAft>
                <a:spcPts val="400"/>
              </a:spcAft>
            </a:pPr>
            <a:r>
              <a:rPr sz="1050" b="1" i="0">
                <a:solidFill>
                  <a:srgbClr val="2A9D5C"/>
                </a:solidFill>
                <a:latin typeface="Consolas"/>
              </a:rPr>
              <a:t>~|result</a:t>
            </a:r>
            <a:r>
              <a:rPr sz="1050" b="0" i="0">
                <a:solidFill>
                  <a:srgbClr val="33414F"/>
                </a:solidFill>
                <a:latin typeface="Calibri"/>
              </a:rPr>
              <a:t>  — is the result zero? That is the ALU's Z flag.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4A · WIDTH RULES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Silent Bugs Come From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12</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Verilog will not warn you when a value does not fit. </a:t>
            </a:r>
            <a:r>
              <a:rPr sz="1100" b="0" i="0">
                <a:solidFill>
                  <a:srgbClr val="33414F"/>
                </a:solidFill>
                <a:latin typeface="Calibri"/>
              </a:rPr>
              <a:t>It truncates, silently, and the simulation and the hardware agree with each other — and both are wrong. This is the most common cause of 'it worked yesterday'.</a:t>
            </a:r>
          </a:p>
        </p:txBody>
      </p:sp>
      <p:pic>
        <p:nvPicPr>
          <p:cNvPr id="10" name="Picture 9" descr="width_rules.png"/>
          <p:cNvPicPr>
            <a:picLocks noChangeAspect="1"/>
          </p:cNvPicPr>
          <p:nvPr/>
        </p:nvPicPr>
        <p:blipFill>
          <a:blip r:embed="rId2"/>
          <a:stretch>
            <a:fillRect/>
          </a:stretch>
        </p:blipFill>
        <p:spPr>
          <a:xfrm>
            <a:off x="2253918" y="1737360"/>
            <a:ext cx="7562244" cy="3017520"/>
          </a:xfrm>
          <a:prstGeom prst="rect">
            <a:avLst/>
          </a:prstGeom>
        </p:spPr>
      </p:pic>
      <p:sp>
        <p:nvSpPr>
          <p:cNvPr id="11" name="Rounded Rectangle 10"/>
          <p:cNvSpPr/>
          <p:nvPr/>
        </p:nvSpPr>
        <p:spPr>
          <a:xfrm>
            <a:off x="411480" y="4846320"/>
            <a:ext cx="11247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9103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This is not hypothetical — it happened while writing this lab</a:t>
            </a:r>
          </a:p>
        </p:txBody>
      </p:sp>
      <p:sp>
        <p:nvSpPr>
          <p:cNvPr id="13" name="TextBox 12"/>
          <p:cNvSpPr txBox="1"/>
          <p:nvPr/>
        </p:nvSpPr>
        <p:spPr>
          <a:xfrm>
            <a:off x="576072" y="5184648"/>
            <a:ext cx="10917936"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UART in Topic4_Lab originally wrote its bit-timing limit as </a:t>
            </a:r>
            <a:r>
              <a:rPr sz="1100" b="1" i="0">
                <a:solidFill>
                  <a:srgbClr val="C01F43"/>
                </a:solidFill>
                <a:latin typeface="Consolas"/>
              </a:rPr>
              <a:t>CLKS_PER_BIT[CW-1:0]</a:t>
            </a:r>
            <a:r>
              <a:rPr sz="1100" b="0" i="0">
                <a:solidFill>
                  <a:srgbClr val="33414F"/>
                </a:solidFill>
                <a:latin typeface="Calibri"/>
              </a:rPr>
              <a:t>. With CLKS_PER_BIT = 16, CW is 4 — and 16 does not fit in 4 bits, so it truncated to ZERO.</a:t>
            </a:r>
          </a:p>
          <a:p>
            <a:pPr algn="l">
              <a:lnSpc>
                <a:spcPct val="103000"/>
              </a:lnSpc>
              <a:spcAft>
                <a:spcPts val="400"/>
              </a:spcAft>
            </a:pPr>
            <a:r>
              <a:rPr sz="1100" b="0" i="0">
                <a:solidFill>
                  <a:srgbClr val="33414F"/>
                </a:solidFill>
                <a:latin typeface="Calibri"/>
              </a:rPr>
              <a:t>The receiver stopped waiting half a bit before sampling, began sampling on bit boundaries instead of bit centres, and corrupted </a:t>
            </a:r>
            <a:r>
              <a:rPr sz="1100" b="0" i="1">
                <a:solidFill>
                  <a:srgbClr val="33414F"/>
                </a:solidFill>
                <a:latin typeface="Calibri"/>
              </a:rPr>
              <a:t>some</a:t>
            </a:r>
            <a:r>
              <a:rPr sz="1100" b="0" i="0">
                <a:solidFill>
                  <a:srgbClr val="33414F"/>
                </a:solidFill>
                <a:latin typeface="Calibri"/>
              </a:rPr>
              <a:t> byte patterns but not others. 0x00 passed; 0xFF came back as 0xF7. See the UART lab for the full story.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CONSTRUCTS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Three Ways to Describe Logic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Everything synthesisable in Verilog is written with one of three constructs. </a:t>
            </a:r>
            <a:r>
              <a:rPr sz="1100" b="0" i="0">
                <a:solidFill>
                  <a:srgbClr val="33414F"/>
                </a:solidFill>
                <a:latin typeface="Calibri"/>
              </a:rPr>
              <a:t>Learn what each one BECOMES and you can already read most RTL. The rest of subtopic 4b is simply the detail of using them correctly.</a:t>
            </a:r>
          </a:p>
        </p:txBody>
      </p:sp>
      <p:pic>
        <p:nvPicPr>
          <p:cNvPr id="10" name="Picture 9" descr="three_constructs.png"/>
          <p:cNvPicPr>
            <a:picLocks noChangeAspect="1"/>
          </p:cNvPicPr>
          <p:nvPr/>
        </p:nvPicPr>
        <p:blipFill>
          <a:blip r:embed="rId2"/>
          <a:stretch>
            <a:fillRect/>
          </a:stretch>
        </p:blipFill>
        <p:spPr>
          <a:xfrm>
            <a:off x="1795600" y="1737360"/>
            <a:ext cx="8478880" cy="3383280"/>
          </a:xfrm>
          <a:prstGeom prst="rect">
            <a:avLst/>
          </a:prstGeom>
        </p:spPr>
      </p:pic>
      <p:sp>
        <p:nvSpPr>
          <p:cNvPr id="11" name="Rectangle 10"/>
          <p:cNvSpPr/>
          <p:nvPr/>
        </p:nvSpPr>
        <p:spPr>
          <a:xfrm>
            <a:off x="411480" y="5212080"/>
            <a:ext cx="25603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212080"/>
            <a:ext cx="24688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Construct</a:t>
            </a:r>
          </a:p>
        </p:txBody>
      </p:sp>
      <p:sp>
        <p:nvSpPr>
          <p:cNvPr id="13" name="Rectangle 12"/>
          <p:cNvSpPr/>
          <p:nvPr/>
        </p:nvSpPr>
        <p:spPr>
          <a:xfrm>
            <a:off x="2971800" y="521208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17520" y="521208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Written as</a:t>
            </a:r>
          </a:p>
        </p:txBody>
      </p:sp>
      <p:sp>
        <p:nvSpPr>
          <p:cNvPr id="15" name="Rectangle 14"/>
          <p:cNvSpPr/>
          <p:nvPr/>
        </p:nvSpPr>
        <p:spPr>
          <a:xfrm>
            <a:off x="6172200" y="5212080"/>
            <a:ext cx="2011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0" y="5212080"/>
            <a:ext cx="1920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Becomes</a:t>
            </a:r>
          </a:p>
        </p:txBody>
      </p:sp>
      <p:sp>
        <p:nvSpPr>
          <p:cNvPr id="17" name="Rectangle 16"/>
          <p:cNvSpPr/>
          <p:nvPr/>
        </p:nvSpPr>
        <p:spPr>
          <a:xfrm>
            <a:off x="8183880" y="5212080"/>
            <a:ext cx="3474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0" y="5212080"/>
            <a:ext cx="3383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Use it for</a:t>
            </a:r>
          </a:p>
        </p:txBody>
      </p:sp>
      <p:sp>
        <p:nvSpPr>
          <p:cNvPr id="19" name="Rectangle 18"/>
          <p:cNvSpPr/>
          <p:nvPr/>
        </p:nvSpPr>
        <p:spPr>
          <a:xfrm>
            <a:off x="411480" y="5495544"/>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5495544"/>
            <a:ext cx="24688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Continuous assignment</a:t>
            </a:r>
          </a:p>
        </p:txBody>
      </p:sp>
      <p:sp>
        <p:nvSpPr>
          <p:cNvPr id="21" name="Rectangle 20"/>
          <p:cNvSpPr/>
          <p:nvPr/>
        </p:nvSpPr>
        <p:spPr>
          <a:xfrm>
            <a:off x="2971800" y="549554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017520" y="5495544"/>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assign y = ...;</a:t>
            </a:r>
          </a:p>
        </p:txBody>
      </p:sp>
      <p:sp>
        <p:nvSpPr>
          <p:cNvPr id="23" name="Rectangle 22"/>
          <p:cNvSpPr/>
          <p:nvPr/>
        </p:nvSpPr>
        <p:spPr>
          <a:xfrm>
            <a:off x="6172200" y="5495544"/>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17920" y="5495544"/>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cloud of gates</a:t>
            </a:r>
          </a:p>
        </p:txBody>
      </p:sp>
      <p:sp>
        <p:nvSpPr>
          <p:cNvPr id="25" name="Rectangle 24"/>
          <p:cNvSpPr/>
          <p:nvPr/>
        </p:nvSpPr>
        <p:spPr>
          <a:xfrm>
            <a:off x="8183880" y="5495544"/>
            <a:ext cx="3474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29600" y="5495544"/>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Short combinational expressions</a:t>
            </a:r>
          </a:p>
        </p:txBody>
      </p:sp>
      <p:sp>
        <p:nvSpPr>
          <p:cNvPr id="27" name="Rectangle 26"/>
          <p:cNvSpPr/>
          <p:nvPr/>
        </p:nvSpPr>
        <p:spPr>
          <a:xfrm>
            <a:off x="411480" y="5779008"/>
            <a:ext cx="2560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5779008"/>
            <a:ext cx="24688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Combinational block</a:t>
            </a:r>
          </a:p>
        </p:txBody>
      </p:sp>
      <p:sp>
        <p:nvSpPr>
          <p:cNvPr id="29" name="Rectangle 28"/>
          <p:cNvSpPr/>
          <p:nvPr/>
        </p:nvSpPr>
        <p:spPr>
          <a:xfrm>
            <a:off x="2971800" y="577900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017520" y="5779008"/>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always @(*) ... = ...</a:t>
            </a:r>
          </a:p>
        </p:txBody>
      </p:sp>
      <p:sp>
        <p:nvSpPr>
          <p:cNvPr id="31" name="Rectangle 30"/>
          <p:cNvSpPr/>
          <p:nvPr/>
        </p:nvSpPr>
        <p:spPr>
          <a:xfrm>
            <a:off x="6172200" y="5779008"/>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17920" y="5779008"/>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cloud of gates</a:t>
            </a:r>
          </a:p>
        </p:txBody>
      </p:sp>
      <p:sp>
        <p:nvSpPr>
          <p:cNvPr id="33" name="Rectangle 32"/>
          <p:cNvSpPr/>
          <p:nvPr/>
        </p:nvSpPr>
        <p:spPr>
          <a:xfrm>
            <a:off x="8183880" y="5779008"/>
            <a:ext cx="3474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29600" y="5779008"/>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Longer logic: case, if/else chains</a:t>
            </a:r>
          </a:p>
        </p:txBody>
      </p:sp>
      <p:sp>
        <p:nvSpPr>
          <p:cNvPr id="35" name="Rectangle 34"/>
          <p:cNvSpPr/>
          <p:nvPr/>
        </p:nvSpPr>
        <p:spPr>
          <a:xfrm>
            <a:off x="411480" y="6062472"/>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062472"/>
            <a:ext cx="24688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Clocked block</a:t>
            </a:r>
          </a:p>
        </p:txBody>
      </p:sp>
      <p:sp>
        <p:nvSpPr>
          <p:cNvPr id="37" name="Rectangle 36"/>
          <p:cNvSpPr/>
          <p:nvPr/>
        </p:nvSpPr>
        <p:spPr>
          <a:xfrm>
            <a:off x="2971800" y="606247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017520" y="6062472"/>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always @(posedge clk) ... &lt;= ...</a:t>
            </a:r>
          </a:p>
        </p:txBody>
      </p:sp>
      <p:sp>
        <p:nvSpPr>
          <p:cNvPr id="39" name="Rectangle 38"/>
          <p:cNvSpPr/>
          <p:nvPr/>
        </p:nvSpPr>
        <p:spPr>
          <a:xfrm>
            <a:off x="6172200" y="6062472"/>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217920" y="6062472"/>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Flip-flops + gates</a:t>
            </a:r>
          </a:p>
        </p:txBody>
      </p:sp>
      <p:sp>
        <p:nvSpPr>
          <p:cNvPr id="41" name="Rectangle 40"/>
          <p:cNvSpPr/>
          <p:nvPr/>
        </p:nvSpPr>
        <p:spPr>
          <a:xfrm>
            <a:off x="8183880" y="6062472"/>
            <a:ext cx="3474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229600" y="6062472"/>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Anything that must remember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CONTINUOUS ASSIGN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assign — Wiring, Not Instruction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An assign statement is a permanent connection. </a:t>
            </a:r>
            <a:r>
              <a:rPr sz="1100" b="0" i="0">
                <a:solidFill>
                  <a:srgbClr val="33414F"/>
                </a:solidFill>
                <a:latin typeface="Calibri"/>
              </a:rPr>
              <a:t>It is not executed once — it is ALWAYS true. Whenever anything on the right-hand side changes, the left-hand side follows, in zero simulation time. Think of it as solder, not as a line of a program.</a:t>
            </a:r>
          </a:p>
        </p:txBody>
      </p:sp>
      <p:sp>
        <p:nvSpPr>
          <p:cNvPr id="10" name="Rounded Rectangle 9"/>
          <p:cNvSpPr/>
          <p:nvPr/>
        </p:nvSpPr>
        <p:spPr>
          <a:xfrm>
            <a:off x="411480" y="1783080"/>
            <a:ext cx="11247120" cy="28712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Continuous assignments — order-independent, always live</a:t>
            </a:r>
          </a:p>
        </p:txBody>
      </p:sp>
      <p:sp>
        <p:nvSpPr>
          <p:cNvPr id="12" name="TextBox 11"/>
          <p:cNvSpPr txBox="1"/>
          <p:nvPr/>
        </p:nvSpPr>
        <p:spPr>
          <a:xfrm>
            <a:off x="594360" y="2171700"/>
            <a:ext cx="10881360" cy="2368296"/>
          </a:xfrm>
          <a:prstGeom prst="rect">
            <a:avLst/>
          </a:prstGeom>
          <a:noFill/>
        </p:spPr>
        <p:txBody>
          <a:bodyPr wrap="square" lIns="0" rIns="0" tIns="0" bIns="0" anchor="t">
            <a:spAutoFit/>
          </a:bodyPr>
          <a:lstStyle/>
          <a:p>
            <a:pPr algn="l">
              <a:lnSpc>
                <a:spcPct val="112000"/>
              </a:lnSpc>
            </a:pPr>
            <a:r>
              <a:rPr sz="1050" b="0" i="0">
                <a:solidFill>
                  <a:srgbClr val="7F9CB5"/>
                </a:solidFill>
                <a:latin typeface="Consolas"/>
              </a:rPr>
              <a:t>// The right-hand side is re-evaluated whenever ANY of a, b, sel, cin changes.</a:t>
            </a:r>
          </a:p>
          <a:p>
            <a:pPr algn="l">
              <a:lnSpc>
                <a:spcPct val="112000"/>
              </a:lnSpc>
            </a:pPr>
            <a:r>
              <a:rPr sz="1050" b="0" i="0">
                <a:solidFill>
                  <a:srgbClr val="D8E4F0"/>
                </a:solidFill>
                <a:latin typeface="Consolas"/>
              </a:rPr>
              <a:t>assign y     = a &amp; b;                 // one AND gate</a:t>
            </a:r>
          </a:p>
          <a:p>
            <a:pPr algn="l">
              <a:lnSpc>
                <a:spcPct val="112000"/>
              </a:lnSpc>
            </a:pPr>
            <a:r>
              <a:rPr sz="1050" b="0" i="0">
                <a:solidFill>
                  <a:srgbClr val="D8E4F0"/>
                </a:solidFill>
                <a:latin typeface="Consolas"/>
              </a:rPr>
              <a:t>assign z     = sel ? p : q;           // a 2:1 multiplexer</a:t>
            </a:r>
          </a:p>
          <a:p>
            <a:pPr algn="l">
              <a:lnSpc>
                <a:spcPct val="112000"/>
              </a:lnSpc>
            </a:pPr>
            <a:r>
              <a:rPr sz="1050" b="0" i="0">
                <a:solidFill>
                  <a:srgbClr val="D8E4F0"/>
                </a:solidFill>
                <a:latin typeface="Consolas"/>
              </a:rPr>
              <a:t>assign {co, sum} = a + b + cin;       // a 9-bit result split into carry and sum</a:t>
            </a:r>
          </a:p>
          <a:p>
            <a:pPr algn="l">
              <a:lnSpc>
                <a:spcPct val="112000"/>
              </a:lnSpc>
            </a:pPr>
            <a:r>
              <a:rPr sz="1050" b="0" i="0">
                <a:solidFill>
                  <a:srgbClr val="D8E4F0"/>
                </a:solidFill>
                <a:latin typeface="Consolas"/>
              </a:rPr>
              <a:t>assign parity    = ^data;             // an XOR tree</a:t>
            </a:r>
          </a:p>
          <a:p>
            <a:pPr algn="l">
              <a:lnSpc>
                <a:spcPct val="112000"/>
              </a:lnSpc>
            </a:pPr>
            <a:r>
              <a:rPr sz="1050" b="0" i="0">
                <a:solidFill>
                  <a:srgbClr val="D8E4F0"/>
                </a:solidFill>
                <a:latin typeface="Consolas"/>
              </a:rPr>
              <a:t>assign any_req   = |req;              // an OR tree</a:t>
            </a:r>
          </a:p>
          <a:p>
            <a:pPr algn="l">
              <a:lnSpc>
                <a:spcPct val="112000"/>
              </a:lnSpc>
            </a:pPr>
            <a:r>
              <a:rPr sz="1050" b="0" i="0">
                <a:solidFill>
                  <a:srgbClr val="D8E4F0"/>
                </a:solidFill>
                <a:latin typeface="Consolas"/>
              </a:rPr>
              <a:t> </a:t>
            </a:r>
          </a:p>
          <a:p>
            <a:pPr algn="l">
              <a:lnSpc>
                <a:spcPct val="112000"/>
              </a:lnSpc>
            </a:pPr>
            <a:r>
              <a:rPr sz="1050" b="0" i="0">
                <a:solidFill>
                  <a:srgbClr val="7F9CB5"/>
                </a:solidFill>
                <a:latin typeface="Consolas"/>
              </a:rPr>
              <a:t>// Order does not matter. These three lines describe the same circuit</a:t>
            </a:r>
          </a:p>
          <a:p>
            <a:pPr algn="l">
              <a:lnSpc>
                <a:spcPct val="112000"/>
              </a:lnSpc>
            </a:pPr>
            <a:r>
              <a:rPr sz="1050" b="0" i="0">
                <a:solidFill>
                  <a:srgbClr val="7F9CB5"/>
                </a:solidFill>
                <a:latin typeface="Consolas"/>
              </a:rPr>
              <a:t>// no matter which order you type them in — because they are wires.</a:t>
            </a:r>
          </a:p>
          <a:p>
            <a:pPr algn="l">
              <a:lnSpc>
                <a:spcPct val="112000"/>
              </a:lnSpc>
            </a:pPr>
            <a:r>
              <a:rPr sz="1050" b="0" i="0">
                <a:solidFill>
                  <a:srgbClr val="D8E4F0"/>
                </a:solidFill>
                <a:latin typeface="Consolas"/>
              </a:rPr>
              <a:t>assign c = a ^ b;</a:t>
            </a:r>
          </a:p>
          <a:p>
            <a:pPr algn="l">
              <a:lnSpc>
                <a:spcPct val="112000"/>
              </a:lnSpc>
            </a:pPr>
            <a:r>
              <a:rPr sz="1050" b="0" i="0">
                <a:solidFill>
                  <a:srgbClr val="D8E4F0"/>
                </a:solidFill>
                <a:latin typeface="Consolas"/>
              </a:rPr>
              <a:t>assign e = c &amp; d;</a:t>
            </a:r>
          </a:p>
          <a:p>
            <a:pPr algn="l">
              <a:lnSpc>
                <a:spcPct val="112000"/>
              </a:lnSpc>
            </a:pPr>
            <a:r>
              <a:rPr sz="1050" b="0" i="0">
                <a:solidFill>
                  <a:srgbClr val="D8E4F0"/>
                </a:solidFill>
                <a:latin typeface="Consolas"/>
              </a:rPr>
              <a:t>assign d = ~a;</a:t>
            </a:r>
          </a:p>
        </p:txBody>
      </p:sp>
      <p:sp>
        <p:nvSpPr>
          <p:cNvPr id="13" name="Rounded Rectangle 12"/>
          <p:cNvSpPr/>
          <p:nvPr/>
        </p:nvSpPr>
        <p:spPr>
          <a:xfrm>
            <a:off x="411480" y="4745736"/>
            <a:ext cx="5532120" cy="13258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809744"/>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Rules</a:t>
            </a:r>
          </a:p>
        </p:txBody>
      </p:sp>
      <p:sp>
        <p:nvSpPr>
          <p:cNvPr id="15" name="TextBox 14"/>
          <p:cNvSpPr txBox="1"/>
          <p:nvPr/>
        </p:nvSpPr>
        <p:spPr>
          <a:xfrm>
            <a:off x="548640" y="5084064"/>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The left side must be a </a:t>
            </a:r>
            <a:r>
              <a:rPr sz="1050" b="1" i="0">
                <a:solidFill>
                  <a:srgbClr val="0E2A47"/>
                </a:solidFill>
                <a:latin typeface="Consolas"/>
              </a:rPr>
              <a:t>wire</a:t>
            </a:r>
            <a:r>
              <a:rPr sz="1050" b="0" i="0">
                <a:solidFill>
                  <a:srgbClr val="33414F"/>
                </a:solidFill>
                <a:latin typeface="Calibri"/>
              </a:rPr>
              <a:t> (net), never a reg.</a:t>
            </a:r>
          </a:p>
          <a:p>
            <a:pPr algn="l">
              <a:lnSpc>
                <a:spcPct val="103000"/>
              </a:lnSpc>
              <a:spcAft>
                <a:spcPts val="400"/>
              </a:spcAft>
            </a:pPr>
            <a:r>
              <a:rPr sz="1050" b="0" i="0">
                <a:solidFill>
                  <a:srgbClr val="33414F"/>
                </a:solidFill>
                <a:latin typeface="Calibri"/>
              </a:rPr>
              <a:t>· A wire may be driven by only ONE assign. Two drivers give x.</a:t>
            </a:r>
          </a:p>
          <a:p>
            <a:pPr algn="l">
              <a:lnSpc>
                <a:spcPct val="103000"/>
              </a:lnSpc>
              <a:spcAft>
                <a:spcPts val="400"/>
              </a:spcAft>
            </a:pPr>
            <a:r>
              <a:rPr sz="1050" b="0" i="0">
                <a:solidFill>
                  <a:srgbClr val="33414F"/>
                </a:solidFill>
                <a:latin typeface="Calibri"/>
              </a:rPr>
              <a:t>· No if/case/for — expressions only. Use ?: for choices.</a:t>
            </a:r>
          </a:p>
        </p:txBody>
      </p:sp>
      <p:sp>
        <p:nvSpPr>
          <p:cNvPr id="16" name="Rounded Rectangle 15"/>
          <p:cNvSpPr/>
          <p:nvPr/>
        </p:nvSpPr>
        <p:spPr>
          <a:xfrm>
            <a:off x="6126480" y="4745736"/>
            <a:ext cx="5532120" cy="13258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4809744"/>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When to reach for it</a:t>
            </a:r>
          </a:p>
        </p:txBody>
      </p:sp>
      <p:sp>
        <p:nvSpPr>
          <p:cNvPr id="18" name="TextBox 17"/>
          <p:cNvSpPr txBox="1"/>
          <p:nvPr/>
        </p:nvSpPr>
        <p:spPr>
          <a:xfrm>
            <a:off x="6263640" y="5084064"/>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Use assign for anything that fits comfortably on one line and has no choice structure. The moment you find yourself nesting three conditional operators, stop and rewrite it as an </a:t>
            </a:r>
            <a:r>
              <a:rPr sz="1050" b="1" i="0">
                <a:solidFill>
                  <a:srgbClr val="2A9D5C"/>
                </a:solidFill>
                <a:latin typeface="Consolas"/>
              </a:rPr>
              <a:t>always @(*)</a:t>
            </a:r>
            <a:r>
              <a:rPr sz="1050" b="0" i="0">
                <a:solidFill>
                  <a:srgbClr val="33414F"/>
                </a:solidFill>
                <a:latin typeface="Calibri"/>
              </a:rPr>
              <a:t> block with a case statement — it will be far easier to read and reviews better.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PROCEDURAL BLOCKS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initial and always — and What a Sensitivity List Means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procedural block contains statements that run in order, inside the block. </a:t>
            </a:r>
            <a:r>
              <a:rPr sz="1100" b="0" i="0">
                <a:solidFill>
                  <a:srgbClr val="33414F"/>
                </a:solidFill>
                <a:latin typeface="Calibri"/>
              </a:rPr>
              <a:t>The block itself is triggered by its sensitivity list. Blocks run CONCURRENTLY with each other; statements run SEQUENTIALLY within one block.</a:t>
            </a:r>
          </a:p>
        </p:txBody>
      </p:sp>
      <p:sp>
        <p:nvSpPr>
          <p:cNvPr id="10" name="Rounded Rectangle 9"/>
          <p:cNvSpPr/>
          <p:nvPr/>
        </p:nvSpPr>
        <p:spPr>
          <a:xfrm>
            <a:off x="411480" y="1737360"/>
            <a:ext cx="11247120" cy="168706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forms you will meet</a:t>
            </a:r>
          </a:p>
        </p:txBody>
      </p:sp>
      <p:sp>
        <p:nvSpPr>
          <p:cNvPr id="12" name="TextBox 11"/>
          <p:cNvSpPr txBox="1"/>
          <p:nvPr/>
        </p:nvSpPr>
        <p:spPr>
          <a:xfrm>
            <a:off x="594360" y="2125980"/>
            <a:ext cx="10881360" cy="1184148"/>
          </a:xfrm>
          <a:prstGeom prst="rect">
            <a:avLst/>
          </a:prstGeom>
          <a:noFill/>
        </p:spPr>
        <p:txBody>
          <a:bodyPr wrap="square" lIns="0" rIns="0" tIns="0" bIns="0" anchor="t">
            <a:spAutoFit/>
          </a:bodyPr>
          <a:lstStyle/>
          <a:p>
            <a:pPr algn="l">
              <a:lnSpc>
                <a:spcPct val="112000"/>
              </a:lnSpc>
            </a:pPr>
            <a:r>
              <a:rPr sz="1050" b="0" i="0">
                <a:solidFill>
                  <a:srgbClr val="D8E4F0"/>
                </a:solidFill>
                <a:latin typeface="Consolas"/>
              </a:rPr>
              <a:t>always @(*)          begin ... end   // re-runs whenever any input changes  -&gt; combinational</a:t>
            </a:r>
          </a:p>
          <a:p>
            <a:pPr algn="l">
              <a:lnSpc>
                <a:spcPct val="112000"/>
              </a:lnSpc>
            </a:pPr>
            <a:r>
              <a:rPr sz="1050" b="0" i="0">
                <a:solidFill>
                  <a:srgbClr val="D8E4F0"/>
                </a:solidFill>
                <a:latin typeface="Consolas"/>
              </a:rPr>
              <a:t>always @(posedge clk) begin ... end   // runs once per rising clock edge      -&gt; flip-flops</a:t>
            </a:r>
          </a:p>
          <a:p>
            <a:pPr algn="l">
              <a:lnSpc>
                <a:spcPct val="112000"/>
              </a:lnSpc>
            </a:pPr>
            <a:r>
              <a:rPr sz="1050" b="0" i="0">
                <a:solidFill>
                  <a:srgbClr val="D8E4F0"/>
                </a:solidFill>
                <a:latin typeface="Consolas"/>
              </a:rPr>
              <a:t>always @(posedge clk or negedge rst_n) // adds an ASYNCHRONOUS reset</a:t>
            </a:r>
          </a:p>
          <a:p>
            <a:pPr algn="l">
              <a:lnSpc>
                <a:spcPct val="112000"/>
              </a:lnSpc>
            </a:pPr>
            <a:r>
              <a:rPr sz="1050" b="0" i="0">
                <a:solidFill>
                  <a:srgbClr val="D8E4F0"/>
                </a:solidFill>
                <a:latin typeface="Consolas"/>
              </a:rPr>
              <a:t> </a:t>
            </a:r>
          </a:p>
          <a:p>
            <a:pPr algn="l">
              <a:lnSpc>
                <a:spcPct val="112000"/>
              </a:lnSpc>
            </a:pPr>
            <a:r>
              <a:rPr sz="1050" b="0" i="0">
                <a:solidFill>
                  <a:srgbClr val="D8E4F0"/>
                </a:solidFill>
                <a:latin typeface="Consolas"/>
              </a:rPr>
              <a:t>initial              begin ... end   // runs ONCE at time 0 -- SIMULATION ONLY</a:t>
            </a:r>
          </a:p>
          <a:p>
            <a:pPr algn="l">
              <a:lnSpc>
                <a:spcPct val="112000"/>
              </a:lnSpc>
            </a:pPr>
            <a:r>
              <a:rPr sz="1050" b="0" i="0">
                <a:solidFill>
                  <a:srgbClr val="D8E4F0"/>
                </a:solidFill>
                <a:latin typeface="Consolas"/>
              </a:rPr>
              <a:t>always               begin ... end   // runs forever -- used for clock generation in a TB</a:t>
            </a:r>
          </a:p>
        </p:txBody>
      </p:sp>
      <p:sp>
        <p:nvSpPr>
          <p:cNvPr id="13" name="Rounded Rectangle 12"/>
          <p:cNvSpPr/>
          <p:nvPr/>
        </p:nvSpPr>
        <p:spPr>
          <a:xfrm>
            <a:off x="411480" y="3515868"/>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11480" y="3515868"/>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 y="3515868"/>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a:t>
            </a:r>
          </a:p>
        </p:txBody>
      </p:sp>
      <p:sp>
        <p:nvSpPr>
          <p:cNvPr id="16" name="TextBox 15"/>
          <p:cNvSpPr txBox="1"/>
          <p:nvPr/>
        </p:nvSpPr>
        <p:spPr>
          <a:xfrm>
            <a:off x="2331720" y="3561588"/>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Automatic sensitivity: the tool works out every signal READ inside the block and triggers on all of them. Always use this form for combinational logic — a hand-written list such as @(a or b) is a bug waiting to happen the day someone adds a signal to the expression and forgets the list.</a:t>
            </a:r>
          </a:p>
        </p:txBody>
      </p:sp>
      <p:sp>
        <p:nvSpPr>
          <p:cNvPr id="17" name="Rounded Rectangle 16"/>
          <p:cNvSpPr/>
          <p:nvPr/>
        </p:nvSpPr>
        <p:spPr>
          <a:xfrm>
            <a:off x="411480" y="4384548"/>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11480" y="4384548"/>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1480" y="4384548"/>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@(posedge clk)</a:t>
            </a:r>
          </a:p>
        </p:txBody>
      </p:sp>
      <p:sp>
        <p:nvSpPr>
          <p:cNvPr id="20" name="TextBox 19"/>
          <p:cNvSpPr txBox="1"/>
          <p:nvPr/>
        </p:nvSpPr>
        <p:spPr>
          <a:xfrm>
            <a:off x="2331720" y="4430268"/>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Edge sensitivity: the block runs at the instant the clock rises, and at no other time. Everything assigned with &lt;= inside becomes a flip-flop clocked by clk.</a:t>
            </a:r>
          </a:p>
        </p:txBody>
      </p:sp>
      <p:sp>
        <p:nvSpPr>
          <p:cNvPr id="21" name="Rounded Rectangle 20"/>
          <p:cNvSpPr/>
          <p:nvPr/>
        </p:nvSpPr>
        <p:spPr>
          <a:xfrm>
            <a:off x="411480" y="5253228"/>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1480" y="5253228"/>
            <a:ext cx="1737360" cy="82296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1480" y="5253228"/>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initial</a:t>
            </a:r>
          </a:p>
        </p:txBody>
      </p:sp>
      <p:sp>
        <p:nvSpPr>
          <p:cNvPr id="24" name="TextBox 23"/>
          <p:cNvSpPr txBox="1"/>
          <p:nvPr/>
        </p:nvSpPr>
        <p:spPr>
          <a:xfrm>
            <a:off x="2331720" y="5298948"/>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Runs once at time zero. There is no hardware equivalent of 'do this once at time zero' in ASIC logic, so initial is for testbenches. (FPGA tools DO honour initial for register power-up values; ASIC tools do not — never rely on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CONTROL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if / else — a Priority Structure in Hardware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An if/else chain does not 'test conditions one after another'. </a:t>
            </a:r>
            <a:r>
              <a:rPr sz="1100" b="0" i="0">
                <a:solidFill>
                  <a:srgbClr val="33414F"/>
                </a:solidFill>
                <a:latin typeface="Calibri"/>
              </a:rPr>
              <a:t>It synthesises to a chain of multiplexers in which the FIRST condition has the highest priority. That chain has depth — and depth is delay.</a:t>
            </a:r>
          </a:p>
        </p:txBody>
      </p:sp>
      <p:sp>
        <p:nvSpPr>
          <p:cNvPr id="10" name="Rounded Rectangle 9"/>
          <p:cNvSpPr/>
          <p:nvPr/>
        </p:nvSpPr>
        <p:spPr>
          <a:xfrm>
            <a:off x="411480" y="1737360"/>
            <a:ext cx="5532120" cy="16459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0136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Priority — deep, slow, sometimes required</a:t>
            </a:r>
          </a:p>
        </p:txBody>
      </p:sp>
      <p:sp>
        <p:nvSpPr>
          <p:cNvPr id="12" name="TextBox 11"/>
          <p:cNvSpPr txBox="1"/>
          <p:nvPr/>
        </p:nvSpPr>
        <p:spPr>
          <a:xfrm>
            <a:off x="548640" y="2075688"/>
            <a:ext cx="5257800" cy="124358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if (a) y = 0;</a:t>
            </a:r>
          </a:p>
          <a:p>
            <a:pPr algn="l">
              <a:lnSpc>
                <a:spcPct val="103000"/>
              </a:lnSpc>
              <a:spcAft>
                <a:spcPts val="400"/>
              </a:spcAft>
            </a:pPr>
            <a:r>
              <a:rPr sz="1000" b="0" i="0">
                <a:solidFill>
                  <a:srgbClr val="33414F"/>
                </a:solidFill>
                <a:latin typeface="Consolas"/>
              </a:rPr>
              <a:t>else if (b) y = 1;</a:t>
            </a:r>
          </a:p>
          <a:p>
            <a:pPr algn="l">
              <a:lnSpc>
                <a:spcPct val="103000"/>
              </a:lnSpc>
              <a:spcAft>
                <a:spcPts val="400"/>
              </a:spcAft>
            </a:pPr>
            <a:r>
              <a:rPr sz="1000" b="0" i="0">
                <a:solidFill>
                  <a:srgbClr val="33414F"/>
                </a:solidFill>
                <a:latin typeface="Consolas"/>
              </a:rPr>
              <a:t>else if (c) y = 2;</a:t>
            </a:r>
          </a:p>
          <a:p>
            <a:pPr algn="l">
              <a:lnSpc>
                <a:spcPct val="103000"/>
              </a:lnSpc>
              <a:spcAft>
                <a:spcPts val="400"/>
              </a:spcAft>
            </a:pPr>
            <a:r>
              <a:rPr sz="1000" b="0" i="0">
                <a:solidFill>
                  <a:srgbClr val="33414F"/>
                </a:solidFill>
                <a:latin typeface="Consolas"/>
              </a:rPr>
              <a:t>else        y = 3;</a:t>
            </a:r>
          </a:p>
          <a:p>
            <a:pPr algn="l">
              <a:lnSpc>
                <a:spcPct val="103000"/>
              </a:lnSpc>
              <a:spcAft>
                <a:spcPts val="400"/>
              </a:spcAft>
            </a:pPr>
            <a:r>
              <a:rPr sz="1000" b="0" i="0">
                <a:solidFill>
                  <a:srgbClr val="5A6B7B"/>
                </a:solidFill>
                <a:latin typeface="Calibri"/>
              </a:rPr>
              <a:t>Three multiplexers in series. Use it when the conditions really do overlap and one must win — an interrupt controller, a bus arbiter.</a:t>
            </a:r>
          </a:p>
        </p:txBody>
      </p:sp>
      <p:sp>
        <p:nvSpPr>
          <p:cNvPr id="13" name="Rounded Rectangle 12"/>
          <p:cNvSpPr/>
          <p:nvPr/>
        </p:nvSpPr>
        <p:spPr>
          <a:xfrm>
            <a:off x="6126480" y="1737360"/>
            <a:ext cx="5532120" cy="16459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8013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Parallel — shallow, fast</a:t>
            </a:r>
          </a:p>
        </p:txBody>
      </p:sp>
      <p:sp>
        <p:nvSpPr>
          <p:cNvPr id="15" name="TextBox 14"/>
          <p:cNvSpPr txBox="1"/>
          <p:nvPr/>
        </p:nvSpPr>
        <p:spPr>
          <a:xfrm>
            <a:off x="6263640" y="2075688"/>
            <a:ext cx="5257800" cy="124358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case (sel)</a:t>
            </a:r>
          </a:p>
          <a:p>
            <a:pPr algn="l">
              <a:lnSpc>
                <a:spcPct val="103000"/>
              </a:lnSpc>
              <a:spcAft>
                <a:spcPts val="400"/>
              </a:spcAft>
            </a:pPr>
            <a:r>
              <a:rPr sz="1000" b="0" i="0">
                <a:solidFill>
                  <a:srgbClr val="33414F"/>
                </a:solidFill>
                <a:latin typeface="Consolas"/>
              </a:rPr>
              <a:t>  2'd0: y = 0;   2'd1: y = 1;</a:t>
            </a:r>
          </a:p>
          <a:p>
            <a:pPr algn="l">
              <a:lnSpc>
                <a:spcPct val="103000"/>
              </a:lnSpc>
              <a:spcAft>
                <a:spcPts val="400"/>
              </a:spcAft>
            </a:pPr>
            <a:r>
              <a:rPr sz="1000" b="0" i="0">
                <a:solidFill>
                  <a:srgbClr val="33414F"/>
                </a:solidFill>
                <a:latin typeface="Consolas"/>
              </a:rPr>
              <a:t>  2'd2: y = 2;   2'd3: y = 3;</a:t>
            </a:r>
          </a:p>
          <a:p>
            <a:pPr algn="l">
              <a:lnSpc>
                <a:spcPct val="103000"/>
              </a:lnSpc>
              <a:spcAft>
                <a:spcPts val="400"/>
              </a:spcAft>
            </a:pPr>
            <a:r>
              <a:rPr sz="1000" b="0" i="0">
                <a:solidFill>
                  <a:srgbClr val="33414F"/>
                </a:solidFill>
                <a:latin typeface="Consolas"/>
              </a:rPr>
              <a:t>endcase</a:t>
            </a:r>
          </a:p>
          <a:p>
            <a:pPr algn="l">
              <a:lnSpc>
                <a:spcPct val="103000"/>
              </a:lnSpc>
              <a:spcAft>
                <a:spcPts val="400"/>
              </a:spcAft>
            </a:pPr>
            <a:r>
              <a:rPr sz="1000" b="0" i="0">
                <a:solidFill>
                  <a:srgbClr val="5A6B7B"/>
                </a:solidFill>
                <a:latin typeface="Calibri"/>
              </a:rPr>
              <a:t>One multiplexer. Use it when the conditions are mutually exclusive — which they usually are.</a:t>
            </a:r>
          </a:p>
        </p:txBody>
      </p:sp>
      <p:sp>
        <p:nvSpPr>
          <p:cNvPr id="16" name="Rounded Rectangle 15"/>
          <p:cNvSpPr/>
          <p:nvPr/>
        </p:nvSpPr>
        <p:spPr>
          <a:xfrm>
            <a:off x="411480" y="3474720"/>
            <a:ext cx="11247120" cy="10058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5387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rule that prevents accidental latches</a:t>
            </a:r>
          </a:p>
        </p:txBody>
      </p:sp>
      <p:sp>
        <p:nvSpPr>
          <p:cNvPr id="18" name="TextBox 17"/>
          <p:cNvSpPr txBox="1"/>
          <p:nvPr/>
        </p:nvSpPr>
        <p:spPr>
          <a:xfrm>
            <a:off x="576072" y="3813048"/>
            <a:ext cx="10917936" cy="60350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Inside always @(*), every branch must assign every output. </a:t>
            </a:r>
            <a:r>
              <a:rPr sz="1100" b="0" i="0">
                <a:solidFill>
                  <a:srgbClr val="33414F"/>
                </a:solidFill>
                <a:latin typeface="Calibri"/>
              </a:rPr>
              <a:t>If a path through the code leaves a variable unassigned, the synthesiser must build something that REMEMBERS the old value — a latch. Two ways to guarantee you never do this: (1) write a </a:t>
            </a:r>
            <a:r>
              <a:rPr sz="1100" b="1" i="0">
                <a:solidFill>
                  <a:srgbClr val="2A9D5C"/>
                </a:solidFill>
                <a:latin typeface="Calibri"/>
              </a:rPr>
              <a:t>default assignment</a:t>
            </a:r>
            <a:r>
              <a:rPr sz="1100" b="0" i="0">
                <a:solidFill>
                  <a:srgbClr val="33414F"/>
                </a:solidFill>
                <a:latin typeface="Calibri"/>
              </a:rPr>
              <a:t> at the top of the block, or (2) always write a final </a:t>
            </a:r>
            <a:r>
              <a:rPr sz="1100" b="1" i="0">
                <a:solidFill>
                  <a:srgbClr val="2A9D5C"/>
                </a:solidFill>
                <a:latin typeface="Consolas"/>
              </a:rPr>
              <a:t>else</a:t>
            </a:r>
            <a:r>
              <a:rPr sz="1100" b="0" i="0">
                <a:solidFill>
                  <a:srgbClr val="33414F"/>
                </a:solidFill>
                <a:latin typeface="Calibri"/>
              </a:rPr>
              <a:t> / </a:t>
            </a:r>
            <a:r>
              <a:rPr sz="1100" b="1" i="0">
                <a:solidFill>
                  <a:srgbClr val="2A9D5C"/>
                </a:solidFill>
                <a:latin typeface="Consolas"/>
              </a:rPr>
              <a:t>default:</a:t>
            </a:r>
            <a:r>
              <a:rPr sz="1100" b="0" i="0">
                <a:solidFill>
                  <a:srgbClr val="33414F"/>
                </a:solidFill>
                <a:latin typeface="Calibri"/>
              </a:rPr>
              <a:t>. We come back to this in detail in 4b.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CASE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case, casez, casex — and Why casex Is Banned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17</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case compares the selector against each label using 4-state equality. </a:t>
            </a:r>
            <a:r>
              <a:rPr sz="1100" b="0" i="0">
                <a:solidFill>
                  <a:srgbClr val="33414F"/>
                </a:solidFill>
                <a:latin typeface="Calibri"/>
              </a:rPr>
              <a:t>Its two wildcard variants let labels contain don't-cares — one of them safely, one of them not.</a:t>
            </a:r>
          </a:p>
        </p:txBody>
      </p:sp>
      <p:sp>
        <p:nvSpPr>
          <p:cNvPr id="10" name="Rounded Rectangle 9"/>
          <p:cNvSpPr/>
          <p:nvPr/>
        </p:nvSpPr>
        <p:spPr>
          <a:xfrm>
            <a:off x="411480" y="1691640"/>
            <a:ext cx="11247120" cy="313436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0594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case and casez</a:t>
            </a:r>
          </a:p>
        </p:txBody>
      </p:sp>
      <p:sp>
        <p:nvSpPr>
          <p:cNvPr id="12" name="TextBox 11"/>
          <p:cNvSpPr txBox="1"/>
          <p:nvPr/>
        </p:nvSpPr>
        <p:spPr>
          <a:xfrm>
            <a:off x="594360" y="2080260"/>
            <a:ext cx="10881360" cy="2631440"/>
          </a:xfrm>
          <a:prstGeom prst="rect">
            <a:avLst/>
          </a:prstGeom>
          <a:noFill/>
        </p:spPr>
        <p:txBody>
          <a:bodyPr wrap="square" lIns="0" rIns="0" tIns="0" bIns="0" anchor="t">
            <a:spAutoFit/>
          </a:bodyPr>
          <a:lstStyle/>
          <a:p>
            <a:pPr algn="l">
              <a:lnSpc>
                <a:spcPct val="112000"/>
              </a:lnSpc>
            </a:pPr>
            <a:r>
              <a:rPr sz="1000" b="0" i="0">
                <a:solidFill>
                  <a:srgbClr val="7F9CB5"/>
                </a:solidFill>
                <a:latin typeface="Consolas"/>
              </a:rPr>
              <a:t>// case  -- exact match, including x and z. The workhorse.</a:t>
            </a:r>
          </a:p>
          <a:p>
            <a:pPr algn="l">
              <a:lnSpc>
                <a:spcPct val="112000"/>
              </a:lnSpc>
            </a:pPr>
            <a:r>
              <a:rPr sz="1000" b="0" i="0">
                <a:solidFill>
                  <a:srgbClr val="D8E4F0"/>
                </a:solidFill>
                <a:latin typeface="Consolas"/>
              </a:rPr>
              <a:t>case (opcode)</a:t>
            </a:r>
          </a:p>
          <a:p>
            <a:pPr algn="l">
              <a:lnSpc>
                <a:spcPct val="112000"/>
              </a:lnSpc>
            </a:pPr>
            <a:r>
              <a:rPr sz="1000" b="0" i="0">
                <a:solidFill>
                  <a:srgbClr val="D8E4F0"/>
                </a:solidFill>
                <a:latin typeface="Consolas"/>
              </a:rPr>
              <a:t>  4'b0000: y = a + b;</a:t>
            </a:r>
          </a:p>
          <a:p>
            <a:pPr algn="l">
              <a:lnSpc>
                <a:spcPct val="112000"/>
              </a:lnSpc>
            </a:pPr>
            <a:r>
              <a:rPr sz="1000" b="0" i="0">
                <a:solidFill>
                  <a:srgbClr val="D8E4F0"/>
                </a:solidFill>
                <a:latin typeface="Consolas"/>
              </a:rPr>
              <a:t>  4'b0001: y = a - b;</a:t>
            </a:r>
          </a:p>
          <a:p>
            <a:pPr algn="l">
              <a:lnSpc>
                <a:spcPct val="112000"/>
              </a:lnSpc>
            </a:pPr>
            <a:r>
              <a:rPr sz="1000" b="0" i="0">
                <a:solidFill>
                  <a:srgbClr val="D8E4F0"/>
                </a:solidFill>
                <a:latin typeface="Consolas"/>
              </a:rPr>
              <a:t>  default: y = 8'd0;        // ALWAYS write a default</a:t>
            </a:r>
          </a:p>
          <a:p>
            <a:pPr algn="l">
              <a:lnSpc>
                <a:spcPct val="112000"/>
              </a:lnSpc>
            </a:pPr>
            <a:r>
              <a:rPr sz="1000" b="0" i="0">
                <a:solidFill>
                  <a:srgbClr val="D8E4F0"/>
                </a:solidFill>
                <a:latin typeface="Consolas"/>
              </a:rPr>
              <a:t>endcase</a:t>
            </a:r>
          </a:p>
          <a:p>
            <a:pPr algn="l">
              <a:lnSpc>
                <a:spcPct val="112000"/>
              </a:lnSpc>
            </a:pPr>
            <a:r>
              <a:rPr sz="1000" b="0" i="0">
                <a:solidFill>
                  <a:srgbClr val="D8E4F0"/>
                </a:solidFill>
                <a:latin typeface="Consolas"/>
              </a:rPr>
              <a:t> </a:t>
            </a:r>
          </a:p>
          <a:p>
            <a:pPr algn="l">
              <a:lnSpc>
                <a:spcPct val="112000"/>
              </a:lnSpc>
            </a:pPr>
            <a:r>
              <a:rPr sz="1000" b="0" i="0">
                <a:solidFill>
                  <a:srgbClr val="7F9CB5"/>
                </a:solidFill>
                <a:latin typeface="Consolas"/>
              </a:rPr>
              <a:t>// casez -- ? and z in the LABEL are don't-care. Correct for priority encoders.</a:t>
            </a:r>
          </a:p>
          <a:p>
            <a:pPr algn="l">
              <a:lnSpc>
                <a:spcPct val="112000"/>
              </a:lnSpc>
            </a:pPr>
            <a:r>
              <a:rPr sz="1000" b="0" i="0">
                <a:solidFill>
                  <a:srgbClr val="D8E4F0"/>
                </a:solidFill>
                <a:latin typeface="Consolas"/>
              </a:rPr>
              <a:t>casez (req)</a:t>
            </a:r>
          </a:p>
          <a:p>
            <a:pPr algn="l">
              <a:lnSpc>
                <a:spcPct val="112000"/>
              </a:lnSpc>
            </a:pPr>
            <a:r>
              <a:rPr sz="1000" b="0" i="0">
                <a:solidFill>
                  <a:srgbClr val="D8E4F0"/>
                </a:solidFill>
                <a:latin typeface="Consolas"/>
              </a:rPr>
              <a:t>  4'b1???: grant = 2'd3;    // bit 3 set -- lower bits irrelevant</a:t>
            </a:r>
          </a:p>
          <a:p>
            <a:pPr algn="l">
              <a:lnSpc>
                <a:spcPct val="112000"/>
              </a:lnSpc>
            </a:pPr>
            <a:r>
              <a:rPr sz="1000" b="0" i="0">
                <a:solidFill>
                  <a:srgbClr val="D8E4F0"/>
                </a:solidFill>
                <a:latin typeface="Consolas"/>
              </a:rPr>
              <a:t>  4'b01??: grant = 2'd2;</a:t>
            </a:r>
          </a:p>
          <a:p>
            <a:pPr algn="l">
              <a:lnSpc>
                <a:spcPct val="112000"/>
              </a:lnSpc>
            </a:pPr>
            <a:r>
              <a:rPr sz="1000" b="0" i="0">
                <a:solidFill>
                  <a:srgbClr val="D8E4F0"/>
                </a:solidFill>
                <a:latin typeface="Consolas"/>
              </a:rPr>
              <a:t>  4'b001?: grant = 2'd1;</a:t>
            </a:r>
          </a:p>
          <a:p>
            <a:pPr algn="l">
              <a:lnSpc>
                <a:spcPct val="112000"/>
              </a:lnSpc>
            </a:pPr>
            <a:r>
              <a:rPr sz="1000" b="0" i="0">
                <a:solidFill>
                  <a:srgbClr val="D8E4F0"/>
                </a:solidFill>
                <a:latin typeface="Consolas"/>
              </a:rPr>
              <a:t>  default: grant = 2'd0;</a:t>
            </a:r>
          </a:p>
          <a:p>
            <a:pPr algn="l">
              <a:lnSpc>
                <a:spcPct val="112000"/>
              </a:lnSpc>
            </a:pPr>
            <a:r>
              <a:rPr sz="1000" b="0" i="0">
                <a:solidFill>
                  <a:srgbClr val="D8E4F0"/>
                </a:solidFill>
                <a:latin typeface="Consolas"/>
              </a:rPr>
              <a:t>endcase</a:t>
            </a:r>
          </a:p>
        </p:txBody>
      </p:sp>
      <p:sp>
        <p:nvSpPr>
          <p:cNvPr id="13" name="Rounded Rectangle 12"/>
          <p:cNvSpPr/>
          <p:nvPr/>
        </p:nvSpPr>
        <p:spPr>
          <a:xfrm>
            <a:off x="411480" y="491744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98144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casex — do not use it</a:t>
            </a:r>
          </a:p>
        </p:txBody>
      </p:sp>
      <p:sp>
        <p:nvSpPr>
          <p:cNvPr id="15" name="TextBox 14"/>
          <p:cNvSpPr txBox="1"/>
          <p:nvPr/>
        </p:nvSpPr>
        <p:spPr>
          <a:xfrm>
            <a:off x="548640" y="525576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casex also treats an </a:t>
            </a:r>
            <a:r>
              <a:rPr sz="1050" b="1" i="0">
                <a:solidFill>
                  <a:srgbClr val="C01F43"/>
                </a:solidFill>
                <a:latin typeface="Calibri"/>
              </a:rPr>
              <a:t>x in the SELECTOR</a:t>
            </a:r>
            <a:r>
              <a:rPr sz="1050" b="0" i="0">
                <a:solidFill>
                  <a:srgbClr val="33414F"/>
                </a:solidFill>
                <a:latin typeface="Calibri"/>
              </a:rPr>
              <a:t> as a wildcard. During simulation an uninitialised signal will then match the FIRST label and appear to work, while the synthesised hardware behaves differently. It hides exactly the bug you most need to see. Most coding standards ban it outright.</a:t>
            </a:r>
          </a:p>
        </p:txBody>
      </p:sp>
      <p:sp>
        <p:nvSpPr>
          <p:cNvPr id="16" name="Rounded Rectangle 15"/>
          <p:cNvSpPr/>
          <p:nvPr/>
        </p:nvSpPr>
        <p:spPr>
          <a:xfrm>
            <a:off x="6126480" y="4917440"/>
            <a:ext cx="5532120" cy="11887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498144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full_case / parallel_case</a:t>
            </a:r>
          </a:p>
        </p:txBody>
      </p:sp>
      <p:sp>
        <p:nvSpPr>
          <p:cNvPr id="18" name="TextBox 17"/>
          <p:cNvSpPr txBox="1"/>
          <p:nvPr/>
        </p:nvSpPr>
        <p:spPr>
          <a:xfrm>
            <a:off x="6263640" y="525576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These synthesis pragmas promise the tool that all cases are covered / mutually exclusive. If the promise is false, </a:t>
            </a:r>
            <a:r>
              <a:rPr sz="1050" b="1" i="0">
                <a:solidFill>
                  <a:srgbClr val="C01F43"/>
                </a:solidFill>
                <a:latin typeface="Calibri"/>
              </a:rPr>
              <a:t>simulation and synthesis silently disagree</a:t>
            </a:r>
            <a:r>
              <a:rPr sz="1050" b="0" i="0">
                <a:solidFill>
                  <a:srgbClr val="33414F"/>
                </a:solidFill>
                <a:latin typeface="Calibri"/>
              </a:rPr>
              <a:t> — the hardest class of bug there is. Write a real default instead; it costs nothing and cannot lie.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LOOPS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for, while, repeat — Loops Are Unrolled, Not Executed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18</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for loop in synthesisable Verilog is a copy-paste instruction to the tool. </a:t>
            </a:r>
            <a:r>
              <a:rPr sz="1100" b="0" i="0">
                <a:solidFill>
                  <a:srgbClr val="33414F"/>
                </a:solidFill>
                <a:latin typeface="Calibri"/>
              </a:rPr>
              <a:t>It does not create a counter or take time. The tool duplicates the loop body once per iteration — so the bounds must be constants, and eight iterations means eight copies of the hardware.</a:t>
            </a:r>
          </a:p>
        </p:txBody>
      </p:sp>
      <p:sp>
        <p:nvSpPr>
          <p:cNvPr id="10" name="Rounded Rectangle 9"/>
          <p:cNvSpPr/>
          <p:nvPr/>
        </p:nvSpPr>
        <p:spPr>
          <a:xfrm>
            <a:off x="411480" y="1783080"/>
            <a:ext cx="11247120" cy="247650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Synthesisable loop — constant bounds</a:t>
            </a:r>
          </a:p>
        </p:txBody>
      </p:sp>
      <p:sp>
        <p:nvSpPr>
          <p:cNvPr id="12" name="TextBox 11"/>
          <p:cNvSpPr txBox="1"/>
          <p:nvPr/>
        </p:nvSpPr>
        <p:spPr>
          <a:xfrm>
            <a:off x="594360" y="2171700"/>
            <a:ext cx="10881360" cy="1973580"/>
          </a:xfrm>
          <a:prstGeom prst="rect">
            <a:avLst/>
          </a:prstGeom>
          <a:noFill/>
        </p:spPr>
        <p:txBody>
          <a:bodyPr wrap="square" lIns="0" rIns="0" tIns="0" bIns="0" anchor="t">
            <a:spAutoFit/>
          </a:bodyPr>
          <a:lstStyle/>
          <a:p>
            <a:pPr algn="l">
              <a:lnSpc>
                <a:spcPct val="112000"/>
              </a:lnSpc>
            </a:pPr>
            <a:r>
              <a:rPr sz="1050" b="0" i="0">
                <a:solidFill>
                  <a:srgbClr val="D8E4F0"/>
                </a:solidFill>
                <a:latin typeface="Consolas"/>
              </a:rPr>
              <a:t>integer i;</a:t>
            </a:r>
          </a:p>
          <a:p>
            <a:pPr algn="l">
              <a:lnSpc>
                <a:spcPct val="112000"/>
              </a:lnSpc>
            </a:pPr>
            <a:r>
              <a:rPr sz="1050" b="0" i="0">
                <a:solidFill>
                  <a:srgbClr val="D8E4F0"/>
                </a:solidFill>
                <a:latin typeface="Consolas"/>
              </a:rPr>
              <a:t>always @(*) begin</a:t>
            </a:r>
          </a:p>
          <a:p>
            <a:pPr algn="l">
              <a:lnSpc>
                <a:spcPct val="112000"/>
              </a:lnSpc>
            </a:pPr>
            <a:r>
              <a:rPr sz="1050" b="0" i="0">
                <a:solidFill>
                  <a:srgbClr val="D8E4F0"/>
                </a:solidFill>
                <a:latin typeface="Consolas"/>
              </a:rPr>
              <a:t>  cnt = 4'd0;</a:t>
            </a:r>
          </a:p>
          <a:p>
            <a:pPr algn="l">
              <a:lnSpc>
                <a:spcPct val="112000"/>
              </a:lnSpc>
            </a:pPr>
            <a:r>
              <a:rPr sz="1050" b="0" i="0">
                <a:solidFill>
                  <a:srgbClr val="D8E4F0"/>
                </a:solidFill>
                <a:latin typeface="Consolas"/>
              </a:rPr>
              <a:t>  for (i = 0; i &lt; 8; i = i + 1)</a:t>
            </a:r>
          </a:p>
          <a:p>
            <a:pPr algn="l">
              <a:lnSpc>
                <a:spcPct val="112000"/>
              </a:lnSpc>
            </a:pPr>
            <a:r>
              <a:rPr sz="1050" b="0" i="0">
                <a:solidFill>
                  <a:srgbClr val="D8E4F0"/>
                </a:solidFill>
                <a:latin typeface="Consolas"/>
              </a:rPr>
              <a:t>    cnt = cnt + data[i];        // becomes 8 adders in a tree -- NOT a loop in hardware</a:t>
            </a:r>
          </a:p>
          <a:p>
            <a:pPr algn="l">
              <a:lnSpc>
                <a:spcPct val="112000"/>
              </a:lnSpc>
            </a:pPr>
            <a:r>
              <a:rPr sz="1050" b="0" i="0">
                <a:solidFill>
                  <a:srgbClr val="D8E4F0"/>
                </a:solidFill>
                <a:latin typeface="Consolas"/>
              </a:rPr>
              <a:t>end</a:t>
            </a:r>
          </a:p>
          <a:p>
            <a:pPr algn="l">
              <a:lnSpc>
                <a:spcPct val="112000"/>
              </a:lnSpc>
            </a:pPr>
            <a:r>
              <a:rPr sz="1050" b="0" i="0">
                <a:solidFill>
                  <a:srgbClr val="D8E4F0"/>
                </a:solidFill>
                <a:latin typeface="Consolas"/>
              </a:rPr>
              <a:t> </a:t>
            </a:r>
          </a:p>
          <a:p>
            <a:pPr algn="l">
              <a:lnSpc>
                <a:spcPct val="112000"/>
              </a:lnSpc>
            </a:pPr>
            <a:r>
              <a:rPr sz="1050" b="0" i="0">
                <a:solidFill>
                  <a:srgbClr val="7F9CB5"/>
                </a:solidFill>
                <a:latin typeface="Consolas"/>
              </a:rPr>
              <a:t>// Reversing a bus -- 8 wires crossed over, zero gates, zero delay.</a:t>
            </a:r>
          </a:p>
          <a:p>
            <a:pPr algn="l">
              <a:lnSpc>
                <a:spcPct val="112000"/>
              </a:lnSpc>
            </a:pPr>
            <a:r>
              <a:rPr sz="1050" b="0" i="0">
                <a:solidFill>
                  <a:srgbClr val="D8E4F0"/>
                </a:solidFill>
                <a:latin typeface="Consolas"/>
              </a:rPr>
              <a:t>always @(*)</a:t>
            </a:r>
          </a:p>
          <a:p>
            <a:pPr algn="l">
              <a:lnSpc>
                <a:spcPct val="112000"/>
              </a:lnSpc>
            </a:pPr>
            <a:r>
              <a:rPr sz="1050" b="0" i="0">
                <a:solidFill>
                  <a:srgbClr val="D8E4F0"/>
                </a:solidFill>
                <a:latin typeface="Consolas"/>
              </a:rPr>
              <a:t>  for (i = 0; i &lt; 8; i = i + 1) rev[i] = fwd[7-i];</a:t>
            </a:r>
          </a:p>
        </p:txBody>
      </p:sp>
      <p:sp>
        <p:nvSpPr>
          <p:cNvPr id="13" name="Rounded Rectangle 12"/>
          <p:cNvSpPr/>
          <p:nvPr/>
        </p:nvSpPr>
        <p:spPr>
          <a:xfrm>
            <a:off x="411480" y="435102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44150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Synthesisable</a:t>
            </a:r>
          </a:p>
        </p:txBody>
      </p:sp>
      <p:sp>
        <p:nvSpPr>
          <p:cNvPr id="15" name="TextBox 14"/>
          <p:cNvSpPr txBox="1"/>
          <p:nvPr/>
        </p:nvSpPr>
        <p:spPr>
          <a:xfrm>
            <a:off x="548640" y="46893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for</a:t>
            </a:r>
            <a:r>
              <a:rPr sz="1050" b="0" i="0">
                <a:solidFill>
                  <a:srgbClr val="33414F"/>
                </a:solidFill>
                <a:latin typeface="Calibri"/>
              </a:rPr>
              <a:t>  with constant start, limit and step.</a:t>
            </a:r>
          </a:p>
          <a:p>
            <a:pPr algn="l">
              <a:lnSpc>
                <a:spcPct val="103000"/>
              </a:lnSpc>
              <a:spcAft>
                <a:spcPts val="400"/>
              </a:spcAft>
            </a:pPr>
            <a:r>
              <a:rPr sz="1050" b="1" i="0">
                <a:solidFill>
                  <a:srgbClr val="2A9D5C"/>
                </a:solidFill>
                <a:latin typeface="Consolas"/>
              </a:rPr>
              <a:t>repeat (N)</a:t>
            </a:r>
            <a:r>
              <a:rPr sz="1050" b="0" i="0">
                <a:solidFill>
                  <a:srgbClr val="33414F"/>
                </a:solidFill>
                <a:latin typeface="Calibri"/>
              </a:rPr>
              <a:t>  with constant N — also unrolled.</a:t>
            </a:r>
          </a:p>
          <a:p>
            <a:pPr algn="l">
              <a:lnSpc>
                <a:spcPct val="103000"/>
              </a:lnSpc>
              <a:spcAft>
                <a:spcPts val="400"/>
              </a:spcAft>
            </a:pPr>
            <a:r>
              <a:rPr sz="1050" b="0" i="0">
                <a:solidFill>
                  <a:srgbClr val="33414F"/>
                </a:solidFill>
                <a:latin typeface="Calibri"/>
              </a:rPr>
              <a:t>Loop variable is </a:t>
            </a:r>
            <a:r>
              <a:rPr sz="1050" b="0" i="0">
                <a:solidFill>
                  <a:srgbClr val="33414F"/>
                </a:solidFill>
                <a:latin typeface="Consolas"/>
              </a:rPr>
              <a:t>integer</a:t>
            </a:r>
            <a:r>
              <a:rPr sz="1050" b="0" i="0">
                <a:solidFill>
                  <a:srgbClr val="33414F"/>
                </a:solidFill>
                <a:latin typeface="Calibri"/>
              </a:rPr>
              <a:t> or </a:t>
            </a:r>
            <a:r>
              <a:rPr sz="1050" b="0" i="0">
                <a:solidFill>
                  <a:srgbClr val="33414F"/>
                </a:solidFill>
                <a:latin typeface="Consolas"/>
              </a:rPr>
              <a:t>genvar</a:t>
            </a:r>
            <a:r>
              <a:rPr sz="1050" b="0" i="0">
                <a:solidFill>
                  <a:srgbClr val="33414F"/>
                </a:solidFill>
                <a:latin typeface="Calibri"/>
              </a:rPr>
              <a:t> — it does not exist in the hardware.</a:t>
            </a:r>
          </a:p>
        </p:txBody>
      </p:sp>
      <p:sp>
        <p:nvSpPr>
          <p:cNvPr id="16" name="Rounded Rectangle 15"/>
          <p:cNvSpPr/>
          <p:nvPr/>
        </p:nvSpPr>
        <p:spPr>
          <a:xfrm>
            <a:off x="6126480" y="435102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44150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Simulation only</a:t>
            </a:r>
          </a:p>
        </p:txBody>
      </p:sp>
      <p:sp>
        <p:nvSpPr>
          <p:cNvPr id="18" name="TextBox 17"/>
          <p:cNvSpPr txBox="1"/>
          <p:nvPr/>
        </p:nvSpPr>
        <p:spPr>
          <a:xfrm>
            <a:off x="6263640" y="46893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onsolas"/>
              </a:rPr>
              <a:t>while</a:t>
            </a:r>
            <a:r>
              <a:rPr sz="1050" b="0" i="0">
                <a:solidFill>
                  <a:srgbClr val="33414F"/>
                </a:solidFill>
                <a:latin typeface="Calibri"/>
              </a:rPr>
              <a:t>, </a:t>
            </a:r>
            <a:r>
              <a:rPr sz="1050" b="1" i="0">
                <a:solidFill>
                  <a:srgbClr val="C01F43"/>
                </a:solidFill>
                <a:latin typeface="Consolas"/>
              </a:rPr>
              <a:t>forever</a:t>
            </a:r>
            <a:r>
              <a:rPr sz="1050" b="0" i="0">
                <a:solidFill>
                  <a:srgbClr val="33414F"/>
                </a:solidFill>
                <a:latin typeface="Calibri"/>
              </a:rPr>
              <a:t>, and any loop whose bound depends on a signal. The tool cannot know how many copies to make, so it refuses.</a:t>
            </a:r>
          </a:p>
          <a:p>
            <a:pPr algn="l">
              <a:lnSpc>
                <a:spcPct val="103000"/>
              </a:lnSpc>
              <a:spcAft>
                <a:spcPts val="400"/>
              </a:spcAft>
            </a:pPr>
            <a:r>
              <a:rPr sz="1050" b="0" i="1">
                <a:solidFill>
                  <a:srgbClr val="5A6B7B"/>
                </a:solidFill>
                <a:latin typeface="Calibri"/>
              </a:rPr>
              <a:t>If you need 'repeat until a signal changes', that is a state machine or a counter — build it explicitly.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REUSE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Functions and Tasks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19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function is a named expression; a task is a named block of statements. </a:t>
            </a:r>
            <a:r>
              <a:rPr sz="1100" b="0" i="0">
                <a:solidFill>
                  <a:srgbClr val="33414F"/>
                </a:solidFill>
                <a:latin typeface="Calibri"/>
              </a:rPr>
              <a:t>A function that obeys the rules synthesises — into a duplicate copy of its logic at every call site. Tasks are, in practice, a testbench tool.</a:t>
            </a:r>
          </a:p>
        </p:txBody>
      </p:sp>
      <p:sp>
        <p:nvSpPr>
          <p:cNvPr id="10" name="Rounded Rectangle 9"/>
          <p:cNvSpPr/>
          <p:nvPr/>
        </p:nvSpPr>
        <p:spPr>
          <a:xfrm>
            <a:off x="411480" y="1737360"/>
            <a:ext cx="11247120" cy="335991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Function vs task</a:t>
            </a:r>
          </a:p>
        </p:txBody>
      </p:sp>
      <p:sp>
        <p:nvSpPr>
          <p:cNvPr id="12" name="TextBox 11"/>
          <p:cNvSpPr txBox="1"/>
          <p:nvPr/>
        </p:nvSpPr>
        <p:spPr>
          <a:xfrm>
            <a:off x="594360" y="2125980"/>
            <a:ext cx="10881360" cy="2856992"/>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FUNCTION -- synthesisable. No time control, at least one input, returns one value.</a:t>
            </a:r>
          </a:p>
          <a:p>
            <a:pPr algn="l">
              <a:lnSpc>
                <a:spcPct val="112000"/>
              </a:lnSpc>
            </a:pPr>
            <a:r>
              <a:rPr sz="950" b="0" i="0">
                <a:solidFill>
                  <a:srgbClr val="D8E4F0"/>
                </a:solidFill>
                <a:latin typeface="Consolas"/>
              </a:rPr>
              <a:t>function [3:0] bcd_digit;</a:t>
            </a:r>
          </a:p>
          <a:p>
            <a:pPr algn="l">
              <a:lnSpc>
                <a:spcPct val="112000"/>
              </a:lnSpc>
            </a:pPr>
            <a:r>
              <a:rPr sz="950" b="0" i="0">
                <a:solidFill>
                  <a:srgbClr val="D8E4F0"/>
                </a:solidFill>
                <a:latin typeface="Consolas"/>
              </a:rPr>
              <a:t>  input [7:0] v;</a:t>
            </a:r>
          </a:p>
          <a:p>
            <a:pPr algn="l">
              <a:lnSpc>
                <a:spcPct val="112000"/>
              </a:lnSpc>
            </a:pPr>
            <a:r>
              <a:rPr sz="950" b="0" i="0">
                <a:solidFill>
                  <a:srgbClr val="D8E4F0"/>
                </a:solidFill>
                <a:latin typeface="Consolas"/>
              </a:rPr>
              <a:t>  begin</a:t>
            </a:r>
          </a:p>
          <a:p>
            <a:pPr algn="l">
              <a:lnSpc>
                <a:spcPct val="112000"/>
              </a:lnSpc>
            </a:pPr>
            <a:r>
              <a:rPr sz="950" b="0" i="0">
                <a:solidFill>
                  <a:srgbClr val="D8E4F0"/>
                </a:solidFill>
                <a:latin typeface="Consolas"/>
              </a:rPr>
              <a:t>    bcd_digit = v % 10;        // the function name IS the return variable</a:t>
            </a:r>
          </a:p>
          <a:p>
            <a:pPr algn="l">
              <a:lnSpc>
                <a:spcPct val="112000"/>
              </a:lnSpc>
            </a:pPr>
            <a:r>
              <a:rPr sz="950" b="0" i="0">
                <a:solidFill>
                  <a:srgbClr val="D8E4F0"/>
                </a:solidFill>
                <a:latin typeface="Consolas"/>
              </a:rPr>
              <a:t>  end</a:t>
            </a:r>
          </a:p>
          <a:p>
            <a:pPr algn="l">
              <a:lnSpc>
                <a:spcPct val="112000"/>
              </a:lnSpc>
            </a:pPr>
            <a:r>
              <a:rPr sz="950" b="0" i="0">
                <a:solidFill>
                  <a:srgbClr val="D8E4F0"/>
                </a:solidFill>
                <a:latin typeface="Consolas"/>
              </a:rPr>
              <a:t>endfunction</a:t>
            </a:r>
          </a:p>
          <a:p>
            <a:pPr algn="l">
              <a:lnSpc>
                <a:spcPct val="112000"/>
              </a:lnSpc>
            </a:pPr>
            <a:r>
              <a:rPr sz="950" b="0" i="0">
                <a:solidFill>
                  <a:srgbClr val="D8E4F0"/>
                </a:solidFill>
                <a:latin typeface="Consolas"/>
              </a:rPr>
              <a:t>assign d0 = bcd_digit(count);  // one copy of the logic here ...</a:t>
            </a:r>
          </a:p>
          <a:p>
            <a:pPr algn="l">
              <a:lnSpc>
                <a:spcPct val="112000"/>
              </a:lnSpc>
            </a:pPr>
            <a:r>
              <a:rPr sz="950" b="0" i="0">
                <a:solidFill>
                  <a:srgbClr val="D8E4F0"/>
                </a:solidFill>
                <a:latin typeface="Consolas"/>
              </a:rPr>
              <a:t>assign d1 = bcd_digit(other);  // ... and a SECOND, independent copy here</a:t>
            </a:r>
          </a:p>
          <a:p>
            <a:pPr algn="l">
              <a:lnSpc>
                <a:spcPct val="112000"/>
              </a:lnSpc>
            </a:pPr>
            <a:r>
              <a:rPr sz="950" b="0" i="0">
                <a:solidFill>
                  <a:srgbClr val="7F9CB5"/>
                </a:solidFill>
                <a:latin typeface="Consolas"/>
              </a:rPr>
              <a:t>// TASK -- may consume time, may have multiple outputs. Testbench use.</a:t>
            </a:r>
          </a:p>
          <a:p>
            <a:pPr algn="l">
              <a:lnSpc>
                <a:spcPct val="112000"/>
              </a:lnSpc>
            </a:pPr>
            <a:r>
              <a:rPr sz="950" b="0" i="0">
                <a:solidFill>
                  <a:srgbClr val="D8E4F0"/>
                </a:solidFill>
                <a:latin typeface="Consolas"/>
              </a:rPr>
              <a:t>task send_byte(input [7:0] b);</a:t>
            </a:r>
          </a:p>
          <a:p>
            <a:pPr algn="l">
              <a:lnSpc>
                <a:spcPct val="112000"/>
              </a:lnSpc>
            </a:pPr>
            <a:r>
              <a:rPr sz="950" b="0" i="0">
                <a:solidFill>
                  <a:srgbClr val="D8E4F0"/>
                </a:solidFill>
                <a:latin typeface="Consolas"/>
              </a:rPr>
              <a:t>  begin</a:t>
            </a:r>
          </a:p>
          <a:p>
            <a:pPr algn="l">
              <a:lnSpc>
                <a:spcPct val="112000"/>
              </a:lnSpc>
            </a:pPr>
            <a:r>
              <a:rPr sz="950" b="0" i="0">
                <a:solidFill>
                  <a:srgbClr val="D8E4F0"/>
                </a:solidFill>
                <a:latin typeface="Consolas"/>
              </a:rPr>
              <a:t>    tx_data = b; tx_start = 1'b1; @(posedge clk); tx_start = 1'b0;</a:t>
            </a:r>
          </a:p>
          <a:p>
            <a:pPr algn="l">
              <a:lnSpc>
                <a:spcPct val="112000"/>
              </a:lnSpc>
            </a:pPr>
            <a:r>
              <a:rPr sz="950" b="0" i="0">
                <a:solidFill>
                  <a:srgbClr val="D8E4F0"/>
                </a:solidFill>
                <a:latin typeface="Consolas"/>
              </a:rPr>
              <a:t>    wait (tx_busy == 1'b0);</a:t>
            </a:r>
          </a:p>
          <a:p>
            <a:pPr algn="l">
              <a:lnSpc>
                <a:spcPct val="112000"/>
              </a:lnSpc>
            </a:pPr>
            <a:r>
              <a:rPr sz="950" b="0" i="0">
                <a:solidFill>
                  <a:srgbClr val="D8E4F0"/>
                </a:solidFill>
                <a:latin typeface="Consolas"/>
              </a:rPr>
              <a:t>  end</a:t>
            </a:r>
          </a:p>
          <a:p>
            <a:pPr algn="l">
              <a:lnSpc>
                <a:spcPct val="112000"/>
              </a:lnSpc>
            </a:pPr>
            <a:r>
              <a:rPr sz="950" b="0" i="0">
                <a:solidFill>
                  <a:srgbClr val="D8E4F0"/>
                </a:solidFill>
                <a:latin typeface="Consolas"/>
              </a:rPr>
              <a:t>endtask</a:t>
            </a:r>
          </a:p>
        </p:txBody>
      </p:sp>
      <p:sp>
        <p:nvSpPr>
          <p:cNvPr id="13" name="Rounded Rectangle 12"/>
          <p:cNvSpPr/>
          <p:nvPr/>
        </p:nvSpPr>
        <p:spPr>
          <a:xfrm>
            <a:off x="411480" y="5188712"/>
            <a:ext cx="11247120" cy="9601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5252720"/>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cost you must remember</a:t>
            </a:r>
          </a:p>
        </p:txBody>
      </p:sp>
      <p:sp>
        <p:nvSpPr>
          <p:cNvPr id="15" name="TextBox 14"/>
          <p:cNvSpPr txBox="1"/>
          <p:nvPr/>
        </p:nvSpPr>
        <p:spPr>
          <a:xfrm>
            <a:off x="576072" y="5527040"/>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A function call is not a subroutine call — there is no 'calling' at run time. Each call site gets its own physical copy of the logic. </a:t>
            </a:r>
            <a:r>
              <a:rPr sz="1100" b="0" i="0">
                <a:solidFill>
                  <a:srgbClr val="33414F"/>
                </a:solidFill>
                <a:latin typeface="Calibri"/>
              </a:rPr>
              <a:t>Four calls to a 16-bit multiplier function means four multipliers on the die. If you want ONE shared unit used at different times, that is a datapath with a multiplexer in front of it and a controller — a design decision, not a syntax choice.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PARAMETERS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Writing One Module That Fits Every Size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20</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parameter is a constant that the instantiating module can override. </a:t>
            </a:r>
            <a:r>
              <a:rPr sz="1100" b="0" i="0">
                <a:solidFill>
                  <a:srgbClr val="33414F"/>
                </a:solidFill>
                <a:latin typeface="Calibri"/>
              </a:rPr>
              <a:t>Parameterising is the difference between an 8-bit counter and a counter — between code you write once and code you copy and edit five times, introducing a bug in the fourth copy.</a:t>
            </a:r>
          </a:p>
        </p:txBody>
      </p:sp>
      <p:pic>
        <p:nvPicPr>
          <p:cNvPr id="10" name="Picture 9" descr="parameters.png"/>
          <p:cNvPicPr>
            <a:picLocks noChangeAspect="1"/>
          </p:cNvPicPr>
          <p:nvPr/>
        </p:nvPicPr>
        <p:blipFill>
          <a:blip r:embed="rId2"/>
          <a:stretch>
            <a:fillRect/>
          </a:stretch>
        </p:blipFill>
        <p:spPr>
          <a:xfrm>
            <a:off x="2811659" y="1783080"/>
            <a:ext cx="6446762" cy="2377440"/>
          </a:xfrm>
          <a:prstGeom prst="rect">
            <a:avLst/>
          </a:prstGeom>
        </p:spPr>
      </p:pic>
      <p:sp>
        <p:nvSpPr>
          <p:cNvPr id="11" name="Rounded Rectangle 10"/>
          <p:cNvSpPr/>
          <p:nvPr/>
        </p:nvSpPr>
        <p:spPr>
          <a:xfrm>
            <a:off x="411480" y="4251960"/>
            <a:ext cx="11247120" cy="19314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3662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Parameterised module and an override</a:t>
            </a:r>
          </a:p>
        </p:txBody>
      </p:sp>
      <p:sp>
        <p:nvSpPr>
          <p:cNvPr id="13" name="TextBox 12"/>
          <p:cNvSpPr txBox="1"/>
          <p:nvPr/>
        </p:nvSpPr>
        <p:spPr>
          <a:xfrm>
            <a:off x="594360" y="4640580"/>
            <a:ext cx="10881360" cy="142849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module counter #(parameter integer W = 8, parameter [W-1:0] MAX = {W{1'b1}})</a:t>
            </a:r>
          </a:p>
          <a:p>
            <a:pPr algn="l">
              <a:lnSpc>
                <a:spcPct val="112000"/>
              </a:lnSpc>
            </a:pPr>
            <a:r>
              <a:rPr sz="950" b="0" i="0">
                <a:solidFill>
                  <a:srgbClr val="D8E4F0"/>
                </a:solidFill>
                <a:latin typeface="Consolas"/>
              </a:rPr>
              <a:t>  (input clk, rst_n, en, output reg [W-1:0] q, output wire tc);</a:t>
            </a:r>
          </a:p>
          <a:p>
            <a:pPr algn="l">
              <a:lnSpc>
                <a:spcPct val="112000"/>
              </a:lnSpc>
            </a:pPr>
            <a:r>
              <a:rPr sz="950" b="0" i="0">
                <a:solidFill>
                  <a:srgbClr val="D8E4F0"/>
                </a:solidFill>
                <a:latin typeface="Consolas"/>
              </a:rPr>
              <a:t>  localparam [W-1:0] ZERO = {W{1'b0}};   // localparam CANNOT be overridden</a:t>
            </a:r>
          </a:p>
          <a:p>
            <a:pPr algn="l">
              <a:lnSpc>
                <a:spcPct val="112000"/>
              </a:lnSpc>
            </a:pPr>
            <a:r>
              <a:rPr sz="950" b="0" i="0">
                <a:solidFill>
                  <a:srgbClr val="D8E4F0"/>
                </a:solidFill>
                <a:latin typeface="Consolas"/>
              </a:rPr>
              <a:t>  assign tc = en &amp; (q == MAX);</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endmodule</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counter #(.W(4), .MAX(4'd9)) u_dig0 (.clk(clk), .rst_n(rst_n), ...);  // a decade counter</a:t>
            </a:r>
          </a:p>
        </p:txBody>
      </p:sp>
      <p:sp>
        <p:nvSpPr>
          <p:cNvPr id="14" name="TextBox 13"/>
          <p:cNvSpPr txBox="1"/>
          <p:nvPr/>
        </p:nvSpPr>
        <p:spPr>
          <a:xfrm>
            <a:off x="411480" y="6229096"/>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Use </a:t>
            </a:r>
            <a:r>
              <a:rPr sz="1050" b="1" i="0">
                <a:solidFill>
                  <a:srgbClr val="2A9D5C"/>
                </a:solidFill>
                <a:latin typeface="Consolas"/>
              </a:rPr>
              <a:t>localparam</a:t>
            </a:r>
            <a:r>
              <a:rPr sz="1050" b="0" i="0">
                <a:solidFill>
                  <a:srgbClr val="33414F"/>
                </a:solidFill>
                <a:latin typeface="Calibri"/>
              </a:rPr>
              <a:t> for anything derived or internal — state encodings, computed widths — so that a careless override cannot break the module's internal consistency. Use </a:t>
            </a:r>
            <a:r>
              <a:rPr sz="1050" b="1" i="0">
                <a:solidFill>
                  <a:srgbClr val="0E2A47"/>
                </a:solidFill>
                <a:latin typeface="Consolas"/>
              </a:rPr>
              <a:t>$clog2(N)</a:t>
            </a:r>
            <a:r>
              <a:rPr sz="1050" b="0" i="0">
                <a:solidFill>
                  <a:srgbClr val="33414F"/>
                </a:solidFill>
                <a:latin typeface="Calibri"/>
              </a:rPr>
              <a:t> to compute the number of bits needed to count to 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GENERATE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generate — Building Structure Out of a Loop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21</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generate lets a loop or an if create INSTANCES and blocks, not just logic. </a:t>
            </a:r>
            <a:r>
              <a:rPr sz="1100" b="0" i="0">
                <a:solidFill>
                  <a:srgbClr val="33414F"/>
                </a:solidFill>
                <a:latin typeface="Calibri"/>
              </a:rPr>
              <a:t>It runs at elaboration time — before simulation starts — and its result is a fixed structure. This is how you build an N-bit ripple adder from one full-adder module.</a:t>
            </a:r>
          </a:p>
        </p:txBody>
      </p:sp>
      <p:pic>
        <p:nvPicPr>
          <p:cNvPr id="10" name="Picture 9" descr="generate_block.png"/>
          <p:cNvPicPr>
            <a:picLocks noChangeAspect="1"/>
          </p:cNvPicPr>
          <p:nvPr/>
        </p:nvPicPr>
        <p:blipFill>
          <a:blip r:embed="rId2"/>
          <a:stretch>
            <a:fillRect/>
          </a:stretch>
        </p:blipFill>
        <p:spPr>
          <a:xfrm>
            <a:off x="2156723" y="1783080"/>
            <a:ext cx="7756634" cy="2743200"/>
          </a:xfrm>
          <a:prstGeom prst="rect">
            <a:avLst/>
          </a:prstGeom>
        </p:spPr>
      </p:pic>
      <p:sp>
        <p:nvSpPr>
          <p:cNvPr id="11" name="Rounded Rectangle 10"/>
          <p:cNvSpPr/>
          <p:nvPr/>
        </p:nvSpPr>
        <p:spPr>
          <a:xfrm>
            <a:off x="411480" y="4617720"/>
            <a:ext cx="11247120" cy="18186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7320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generate for — Topic4_Lab/rtl/adder_gen.v</a:t>
            </a:r>
          </a:p>
        </p:txBody>
      </p:sp>
      <p:sp>
        <p:nvSpPr>
          <p:cNvPr id="13" name="TextBox 12"/>
          <p:cNvSpPr txBox="1"/>
          <p:nvPr/>
        </p:nvSpPr>
        <p:spPr>
          <a:xfrm>
            <a:off x="594360" y="5006340"/>
            <a:ext cx="10881360" cy="131572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genvar i;</a:t>
            </a:r>
          </a:p>
          <a:p>
            <a:pPr algn="l">
              <a:lnSpc>
                <a:spcPct val="112000"/>
              </a:lnSpc>
            </a:pPr>
            <a:r>
              <a:rPr sz="1000" b="0" i="0">
                <a:solidFill>
                  <a:srgbClr val="D8E4F0"/>
                </a:solidFill>
                <a:latin typeface="Consolas"/>
              </a:rPr>
              <a:t>generate</a:t>
            </a:r>
          </a:p>
          <a:p>
            <a:pPr algn="l">
              <a:lnSpc>
                <a:spcPct val="112000"/>
              </a:lnSpc>
            </a:pPr>
            <a:r>
              <a:rPr sz="1000" b="0" i="0">
                <a:solidFill>
                  <a:srgbClr val="D8E4F0"/>
                </a:solidFill>
                <a:latin typeface="Consolas"/>
              </a:rPr>
              <a:t>  for (i = 0; i &lt; W; i = i + 1) begin : bit_slice     // the label is REQUIRED</a:t>
            </a:r>
          </a:p>
          <a:p>
            <a:pPr algn="l">
              <a:lnSpc>
                <a:spcPct val="112000"/>
              </a:lnSpc>
            </a:pPr>
            <a:r>
              <a:rPr sz="1000" b="0" i="0">
                <a:solidFill>
                  <a:srgbClr val="D8E4F0"/>
                </a:solidFill>
                <a:latin typeface="Consolas"/>
              </a:rPr>
              <a:t>    full_adder u_fa (.a(a[i]), .b(b[i]), .cin(c[i]), .sum(sum[i]), .cout(c[i+1]));</a:t>
            </a:r>
          </a:p>
          <a:p>
            <a:pPr algn="l">
              <a:lnSpc>
                <a:spcPct val="112000"/>
              </a:lnSpc>
            </a:pPr>
            <a:r>
              <a:rPr sz="1000" b="0" i="0">
                <a:solidFill>
                  <a:srgbClr val="D8E4F0"/>
                </a:solidFill>
                <a:latin typeface="Consolas"/>
              </a:rPr>
              <a:t>  end</a:t>
            </a:r>
          </a:p>
          <a:p>
            <a:pPr algn="l">
              <a:lnSpc>
                <a:spcPct val="112000"/>
              </a:lnSpc>
            </a:pPr>
            <a:r>
              <a:rPr sz="1000" b="0" i="0">
                <a:solidFill>
                  <a:srgbClr val="D8E4F0"/>
                </a:solidFill>
                <a:latin typeface="Consolas"/>
              </a:rPr>
              <a:t>endgenerate</a:t>
            </a:r>
          </a:p>
          <a:p>
            <a:pPr algn="l">
              <a:lnSpc>
                <a:spcPct val="112000"/>
              </a:lnSpc>
            </a:pPr>
            <a:r>
              <a:rPr sz="1000" b="0" i="0">
                <a:solidFill>
                  <a:srgbClr val="7F9CB5"/>
                </a:solidFill>
                <a:latin typeface="Consolas"/>
              </a:rPr>
              <a:t>// Instances are named bit_slice[0].u_fa, bit_slice[1].u_fa, ... -- use these in $dumpvars</a:t>
            </a:r>
          </a:p>
        </p:txBody>
      </p:sp>
      <p:sp>
        <p:nvSpPr>
          <p:cNvPr id="14" name="TextBox 13"/>
          <p:cNvSpPr txBox="1"/>
          <p:nvPr/>
        </p:nvSpPr>
        <p:spPr>
          <a:xfrm>
            <a:off x="411480" y="6482080"/>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onsolas"/>
              </a:rPr>
              <a:t>generate if</a:t>
            </a:r>
            <a:r>
              <a:rPr sz="1050" b="0" i="0">
                <a:solidFill>
                  <a:srgbClr val="33414F"/>
                </a:solidFill>
                <a:latin typeface="Calibri"/>
              </a:rPr>
              <a:t> selects between whole implementations at elaboration — for example a fast carry-lookahead adder when W is large and a small ripple adder when it is not. The unselected branch is not elaborated at all, so it need not even be legal for the chosen parameters.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HIERARCHY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Instantiating Modules — Always By Name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22</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Real designs are trees of modules. </a:t>
            </a:r>
            <a:r>
              <a:rPr sz="1100" b="0" i="0">
                <a:solidFill>
                  <a:srgbClr val="33414F"/>
                </a:solidFill>
                <a:latin typeface="Calibri"/>
              </a:rPr>
              <a:t>A module is a TYPE; an instance is a physical copy. Two instances of the same module are two separate pieces of hardware that share nothing.</a:t>
            </a:r>
          </a:p>
        </p:txBody>
      </p:sp>
      <p:pic>
        <p:nvPicPr>
          <p:cNvPr id="10" name="Picture 9" descr="hierarchy.png"/>
          <p:cNvPicPr>
            <a:picLocks noChangeAspect="1"/>
          </p:cNvPicPr>
          <p:nvPr/>
        </p:nvPicPr>
        <p:blipFill>
          <a:blip r:embed="rId2"/>
          <a:stretch>
            <a:fillRect/>
          </a:stretch>
        </p:blipFill>
        <p:spPr>
          <a:xfrm>
            <a:off x="2700443" y="1737360"/>
            <a:ext cx="6669194" cy="2560320"/>
          </a:xfrm>
          <a:prstGeom prst="rect">
            <a:avLst/>
          </a:prstGeom>
        </p:spPr>
      </p:pic>
      <p:sp>
        <p:nvSpPr>
          <p:cNvPr id="11" name="Rounded Rectangle 10"/>
          <p:cNvSpPr/>
          <p:nvPr/>
        </p:nvSpPr>
        <p:spPr>
          <a:xfrm>
            <a:off x="411480" y="4389120"/>
            <a:ext cx="5532120" cy="14630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4531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By name — do this</a:t>
            </a:r>
          </a:p>
        </p:txBody>
      </p:sp>
      <p:sp>
        <p:nvSpPr>
          <p:cNvPr id="13" name="TextBox 12"/>
          <p:cNvSpPr txBox="1"/>
          <p:nvPr/>
        </p:nvSpPr>
        <p:spPr>
          <a:xfrm>
            <a:off x="548640" y="4727448"/>
            <a:ext cx="5257800" cy="10607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uart_tx u_tx (</a:t>
            </a:r>
          </a:p>
          <a:p>
            <a:pPr algn="l">
              <a:lnSpc>
                <a:spcPct val="103000"/>
              </a:lnSpc>
              <a:spcAft>
                <a:spcPts val="400"/>
              </a:spcAft>
            </a:pPr>
            <a:r>
              <a:rPr sz="1000" b="0" i="0">
                <a:solidFill>
                  <a:srgbClr val="33414F"/>
                </a:solidFill>
                <a:latin typeface="Consolas"/>
              </a:rPr>
              <a:t>  .clk    (clk),</a:t>
            </a:r>
          </a:p>
          <a:p>
            <a:pPr algn="l">
              <a:lnSpc>
                <a:spcPct val="103000"/>
              </a:lnSpc>
              <a:spcAft>
                <a:spcPts val="400"/>
              </a:spcAft>
            </a:pPr>
            <a:r>
              <a:rPr sz="1000" b="0" i="0">
                <a:solidFill>
                  <a:srgbClr val="33414F"/>
                </a:solidFill>
                <a:latin typeface="Consolas"/>
              </a:rPr>
              <a:t>  .rst_n  (rst_n),</a:t>
            </a:r>
          </a:p>
          <a:p>
            <a:pPr algn="l">
              <a:lnSpc>
                <a:spcPct val="103000"/>
              </a:lnSpc>
              <a:spcAft>
                <a:spcPts val="400"/>
              </a:spcAft>
            </a:pPr>
            <a:r>
              <a:rPr sz="1000" b="0" i="0">
                <a:solidFill>
                  <a:srgbClr val="33414F"/>
                </a:solidFill>
                <a:latin typeface="Consolas"/>
              </a:rPr>
              <a:t>  .data   (tx_data),</a:t>
            </a:r>
          </a:p>
          <a:p>
            <a:pPr algn="l">
              <a:lnSpc>
                <a:spcPct val="103000"/>
              </a:lnSpc>
              <a:spcAft>
                <a:spcPts val="400"/>
              </a:spcAft>
            </a:pPr>
            <a:r>
              <a:rPr sz="1000" b="0" i="0">
                <a:solidFill>
                  <a:srgbClr val="33414F"/>
                </a:solidFill>
                <a:latin typeface="Consolas"/>
              </a:rPr>
              <a:t>  .tx     (serial_out));</a:t>
            </a:r>
          </a:p>
          <a:p>
            <a:pPr algn="l">
              <a:lnSpc>
                <a:spcPct val="103000"/>
              </a:lnSpc>
              <a:spcAft>
                <a:spcPts val="400"/>
              </a:spcAft>
            </a:pPr>
            <a:r>
              <a:rPr sz="1000" b="0" i="0">
                <a:solidFill>
                  <a:srgbClr val="5A6B7B"/>
                </a:solidFill>
                <a:latin typeface="Calibri"/>
              </a:rPr>
              <a:t>Order-independent, self-documenting, and a typo is a compile error.</a:t>
            </a:r>
          </a:p>
        </p:txBody>
      </p:sp>
      <p:sp>
        <p:nvSpPr>
          <p:cNvPr id="14" name="Rounded Rectangle 13"/>
          <p:cNvSpPr/>
          <p:nvPr/>
        </p:nvSpPr>
        <p:spPr>
          <a:xfrm>
            <a:off x="6126480" y="4389120"/>
            <a:ext cx="5532120" cy="14630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44531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By position — do not</a:t>
            </a:r>
          </a:p>
        </p:txBody>
      </p:sp>
      <p:sp>
        <p:nvSpPr>
          <p:cNvPr id="16" name="TextBox 15"/>
          <p:cNvSpPr txBox="1"/>
          <p:nvPr/>
        </p:nvSpPr>
        <p:spPr>
          <a:xfrm>
            <a:off x="6263640" y="4727448"/>
            <a:ext cx="5257800" cy="10607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uart_tx u_tx (clk, rst_n,</a:t>
            </a:r>
          </a:p>
          <a:p>
            <a:pPr algn="l">
              <a:lnSpc>
                <a:spcPct val="103000"/>
              </a:lnSpc>
              <a:spcAft>
                <a:spcPts val="400"/>
              </a:spcAft>
            </a:pPr>
            <a:r>
              <a:rPr sz="1000" b="0" i="0">
                <a:solidFill>
                  <a:srgbClr val="33414F"/>
                </a:solidFill>
                <a:latin typeface="Consolas"/>
              </a:rPr>
              <a:t>              tx_data, serial_out);</a:t>
            </a:r>
          </a:p>
          <a:p>
            <a:pPr algn="l">
              <a:lnSpc>
                <a:spcPct val="103000"/>
              </a:lnSpc>
              <a:spcAft>
                <a:spcPts val="400"/>
              </a:spcAft>
            </a:pPr>
            <a:r>
              <a:rPr sz="1000" b="0" i="0">
                <a:solidFill>
                  <a:srgbClr val="33414F"/>
                </a:solidFill>
                <a:latin typeface="Calibri"/>
              </a:rPr>
              <a:t/>
            </a:r>
          </a:p>
          <a:p>
            <a:pPr algn="l">
              <a:lnSpc>
                <a:spcPct val="103000"/>
              </a:lnSpc>
              <a:spcAft>
                <a:spcPts val="400"/>
              </a:spcAft>
            </a:pPr>
            <a:r>
              <a:rPr sz="1000" b="0" i="0">
                <a:solidFill>
                  <a:srgbClr val="5A6B7B"/>
                </a:solidFill>
                <a:latin typeface="Calibri"/>
              </a:rPr>
              <a:t>Add a port to the module and every instance silently connects the wrong wires. Legal, common in old code, and a permanent source of accidents.</a:t>
            </a:r>
          </a:p>
        </p:txBody>
      </p:sp>
      <p:sp>
        <p:nvSpPr>
          <p:cNvPr id="17" name="TextBox 16"/>
          <p:cNvSpPr txBox="1"/>
          <p:nvPr/>
        </p:nvSpPr>
        <p:spPr>
          <a:xfrm>
            <a:off x="411480" y="589788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Naming convention used throughout this course: instances are prefixed </a:t>
            </a:r>
            <a:r>
              <a:rPr sz="1050" b="1" i="0">
                <a:solidFill>
                  <a:srgbClr val="0E2A47"/>
                </a:solidFill>
                <a:latin typeface="Consolas"/>
              </a:rPr>
              <a:t>u_</a:t>
            </a:r>
            <a:r>
              <a:rPr sz="1050" b="0" i="0">
                <a:solidFill>
                  <a:srgbClr val="33414F"/>
                </a:solidFill>
                <a:latin typeface="Calibri"/>
              </a:rPr>
              <a:t>; an unconnected output is written </a:t>
            </a:r>
            <a:r>
              <a:rPr sz="1050" b="1" i="0">
                <a:solidFill>
                  <a:srgbClr val="0E2A47"/>
                </a:solidFill>
                <a:latin typeface="Consolas"/>
              </a:rPr>
              <a:t>.name()</a:t>
            </a:r>
            <a:r>
              <a:rPr sz="1050" b="0" i="0">
                <a:solidFill>
                  <a:srgbClr val="33414F"/>
                </a:solidFill>
                <a:latin typeface="Calibri"/>
              </a:rPr>
              <a:t> explicitly so a reader can see it was deliberate.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DIRECTIVES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Compiler Directives — the Backtick Family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23</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Directives are processed before compilation, like C's preprocessor. </a:t>
            </a:r>
            <a:r>
              <a:rPr sz="1100" b="0" i="0">
                <a:solidFill>
                  <a:srgbClr val="33414F"/>
                </a:solidFill>
                <a:latin typeface="Calibri"/>
              </a:rPr>
              <a:t>They begin with a backtick, not a hash, and they are NOT terminated with a semicolon.</a:t>
            </a:r>
          </a:p>
        </p:txBody>
      </p:sp>
      <p:sp>
        <p:nvSpPr>
          <p:cNvPr id="10" name="Rectangle 9"/>
          <p:cNvSpPr/>
          <p:nvPr/>
        </p:nvSpPr>
        <p:spPr>
          <a:xfrm>
            <a:off x="411480" y="1691640"/>
            <a:ext cx="29260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691640"/>
            <a:ext cx="28346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Directive</a:t>
            </a:r>
          </a:p>
        </p:txBody>
      </p:sp>
      <p:sp>
        <p:nvSpPr>
          <p:cNvPr id="12" name="Rectangle 11"/>
          <p:cNvSpPr/>
          <p:nvPr/>
        </p:nvSpPr>
        <p:spPr>
          <a:xfrm>
            <a:off x="3337560" y="1691640"/>
            <a:ext cx="47548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3280" y="1691640"/>
            <a:ext cx="46634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does</a:t>
            </a:r>
          </a:p>
        </p:txBody>
      </p:sp>
      <p:sp>
        <p:nvSpPr>
          <p:cNvPr id="14" name="Rectangle 13"/>
          <p:cNvSpPr/>
          <p:nvPr/>
        </p:nvSpPr>
        <p:spPr>
          <a:xfrm>
            <a:off x="8092440" y="1691640"/>
            <a:ext cx="35661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138160" y="1691640"/>
            <a:ext cx="34747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Note</a:t>
            </a:r>
          </a:p>
        </p:txBody>
      </p:sp>
      <p:sp>
        <p:nvSpPr>
          <p:cNvPr id="16" name="Rectangle 15"/>
          <p:cNvSpPr/>
          <p:nvPr/>
        </p:nvSpPr>
        <p:spPr>
          <a:xfrm>
            <a:off x="411480" y="1975104"/>
            <a:ext cx="2926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975104"/>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`timescale 1ns/1ps</a:t>
            </a:r>
          </a:p>
        </p:txBody>
      </p:sp>
      <p:sp>
        <p:nvSpPr>
          <p:cNvPr id="18" name="Rectangle 17"/>
          <p:cNvSpPr/>
          <p:nvPr/>
        </p:nvSpPr>
        <p:spPr>
          <a:xfrm>
            <a:off x="3337560" y="1975104"/>
            <a:ext cx="47548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383280" y="1975104"/>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Sets the unit and precision of delays</a:t>
            </a:r>
          </a:p>
        </p:txBody>
      </p:sp>
      <p:sp>
        <p:nvSpPr>
          <p:cNvPr id="20" name="Rectangle 19"/>
          <p:cNvSpPr/>
          <p:nvPr/>
        </p:nvSpPr>
        <p:spPr>
          <a:xfrm>
            <a:off x="8092440" y="1975104"/>
            <a:ext cx="3566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38160" y="1975104"/>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First line of every file; unit / precision</a:t>
            </a:r>
          </a:p>
        </p:txBody>
      </p:sp>
      <p:sp>
        <p:nvSpPr>
          <p:cNvPr id="22" name="Rectangle 21"/>
          <p:cNvSpPr/>
          <p:nvPr/>
        </p:nvSpPr>
        <p:spPr>
          <a:xfrm>
            <a:off x="411480" y="2258568"/>
            <a:ext cx="2926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258568"/>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`define NAME value</a:t>
            </a:r>
          </a:p>
        </p:txBody>
      </p:sp>
      <p:sp>
        <p:nvSpPr>
          <p:cNvPr id="24" name="Rectangle 23"/>
          <p:cNvSpPr/>
          <p:nvPr/>
        </p:nvSpPr>
        <p:spPr>
          <a:xfrm>
            <a:off x="3337560" y="2258568"/>
            <a:ext cx="47548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83280" y="2258568"/>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Text macro, referenced as `NAME</a:t>
            </a:r>
          </a:p>
        </p:txBody>
      </p:sp>
      <p:sp>
        <p:nvSpPr>
          <p:cNvPr id="26" name="Rectangle 25"/>
          <p:cNvSpPr/>
          <p:nvPr/>
        </p:nvSpPr>
        <p:spPr>
          <a:xfrm>
            <a:off x="8092440" y="2258568"/>
            <a:ext cx="3566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138160" y="2258568"/>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GLOBAL — prefix to avoid clashes</a:t>
            </a:r>
          </a:p>
        </p:txBody>
      </p:sp>
      <p:sp>
        <p:nvSpPr>
          <p:cNvPr id="28" name="Rectangle 27"/>
          <p:cNvSpPr/>
          <p:nvPr/>
        </p:nvSpPr>
        <p:spPr>
          <a:xfrm>
            <a:off x="411480" y="2542032"/>
            <a:ext cx="2926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542032"/>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`include "file.vh"</a:t>
            </a:r>
          </a:p>
        </p:txBody>
      </p:sp>
      <p:sp>
        <p:nvSpPr>
          <p:cNvPr id="30" name="Rectangle 29"/>
          <p:cNvSpPr/>
          <p:nvPr/>
        </p:nvSpPr>
        <p:spPr>
          <a:xfrm>
            <a:off x="3337560" y="2542032"/>
            <a:ext cx="47548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83280" y="2542032"/>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Textual inclusion</a:t>
            </a:r>
          </a:p>
        </p:txBody>
      </p:sp>
      <p:sp>
        <p:nvSpPr>
          <p:cNvPr id="32" name="Rectangle 31"/>
          <p:cNvSpPr/>
          <p:nvPr/>
        </p:nvSpPr>
        <p:spPr>
          <a:xfrm>
            <a:off x="8092440" y="2542032"/>
            <a:ext cx="3566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138160" y="2542032"/>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Use for shared parameter headers</a:t>
            </a:r>
          </a:p>
        </p:txBody>
      </p:sp>
      <p:sp>
        <p:nvSpPr>
          <p:cNvPr id="34" name="Rectangle 33"/>
          <p:cNvSpPr/>
          <p:nvPr/>
        </p:nvSpPr>
        <p:spPr>
          <a:xfrm>
            <a:off x="411480" y="2825496"/>
            <a:ext cx="2926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825496"/>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`ifdef / `ifndef / `endif</a:t>
            </a:r>
          </a:p>
        </p:txBody>
      </p:sp>
      <p:sp>
        <p:nvSpPr>
          <p:cNvPr id="36" name="Rectangle 35"/>
          <p:cNvSpPr/>
          <p:nvPr/>
        </p:nvSpPr>
        <p:spPr>
          <a:xfrm>
            <a:off x="3337560" y="2825496"/>
            <a:ext cx="47548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383280" y="2825496"/>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Conditional compilation</a:t>
            </a:r>
          </a:p>
        </p:txBody>
      </p:sp>
      <p:sp>
        <p:nvSpPr>
          <p:cNvPr id="38" name="Rectangle 37"/>
          <p:cNvSpPr/>
          <p:nvPr/>
        </p:nvSpPr>
        <p:spPr>
          <a:xfrm>
            <a:off x="8092440" y="2825496"/>
            <a:ext cx="3566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38160" y="2825496"/>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Simulation-only code, ASIC vs FPGA</a:t>
            </a:r>
          </a:p>
        </p:txBody>
      </p:sp>
      <p:sp>
        <p:nvSpPr>
          <p:cNvPr id="40" name="Rectangle 39"/>
          <p:cNvSpPr/>
          <p:nvPr/>
        </p:nvSpPr>
        <p:spPr>
          <a:xfrm>
            <a:off x="411480" y="3108960"/>
            <a:ext cx="29260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108960"/>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`default_nettype none</a:t>
            </a:r>
          </a:p>
        </p:txBody>
      </p:sp>
      <p:sp>
        <p:nvSpPr>
          <p:cNvPr id="42" name="Rectangle 41"/>
          <p:cNvSpPr/>
          <p:nvPr/>
        </p:nvSpPr>
        <p:spPr>
          <a:xfrm>
            <a:off x="3337560" y="3108960"/>
            <a:ext cx="47548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383280" y="3108960"/>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Turns off implicit wire creation</a:t>
            </a:r>
          </a:p>
        </p:txBody>
      </p:sp>
      <p:sp>
        <p:nvSpPr>
          <p:cNvPr id="44" name="Rectangle 43"/>
          <p:cNvSpPr/>
          <p:nvPr/>
        </p:nvSpPr>
        <p:spPr>
          <a:xfrm>
            <a:off x="8092440" y="3108960"/>
            <a:ext cx="3566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138160" y="3108960"/>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Put it in EVERY file. See below.</a:t>
            </a:r>
          </a:p>
        </p:txBody>
      </p:sp>
      <p:sp>
        <p:nvSpPr>
          <p:cNvPr id="46" name="Rectangle 45"/>
          <p:cNvSpPr/>
          <p:nvPr/>
        </p:nvSpPr>
        <p:spPr>
          <a:xfrm>
            <a:off x="411480" y="3392424"/>
            <a:ext cx="29260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392424"/>
            <a:ext cx="283464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`resetall</a:t>
            </a:r>
          </a:p>
        </p:txBody>
      </p:sp>
      <p:sp>
        <p:nvSpPr>
          <p:cNvPr id="48" name="Rectangle 47"/>
          <p:cNvSpPr/>
          <p:nvPr/>
        </p:nvSpPr>
        <p:spPr>
          <a:xfrm>
            <a:off x="3337560" y="3392424"/>
            <a:ext cx="47548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383280" y="3392424"/>
            <a:ext cx="46634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Restores defaults</a:t>
            </a:r>
          </a:p>
        </p:txBody>
      </p:sp>
      <p:sp>
        <p:nvSpPr>
          <p:cNvPr id="50" name="Rectangle 49"/>
          <p:cNvSpPr/>
          <p:nvPr/>
        </p:nvSpPr>
        <p:spPr>
          <a:xfrm>
            <a:off x="8092440" y="3392424"/>
            <a:ext cx="3566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138160" y="3392424"/>
            <a:ext cx="3474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Pair with the line above at end of file</a:t>
            </a:r>
          </a:p>
        </p:txBody>
      </p:sp>
      <p:sp>
        <p:nvSpPr>
          <p:cNvPr id="52" name="Rounded Rectangle 51"/>
          <p:cNvSpPr/>
          <p:nvPr/>
        </p:nvSpPr>
        <p:spPr>
          <a:xfrm>
            <a:off x="411480" y="3767328"/>
            <a:ext cx="11247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576072" y="3831336"/>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`default_nettype none — the single most valuable line in the file</a:t>
            </a:r>
          </a:p>
        </p:txBody>
      </p:sp>
      <p:sp>
        <p:nvSpPr>
          <p:cNvPr id="54" name="TextBox 53"/>
          <p:cNvSpPr txBox="1"/>
          <p:nvPr/>
        </p:nvSpPr>
        <p:spPr>
          <a:xfrm>
            <a:off x="576072" y="4105656"/>
            <a:ext cx="10917936"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By default, a name you never declared becomes a 1-bit wire, silently. Misspell </a:t>
            </a:r>
            <a:r>
              <a:rPr sz="1100" b="1" i="0">
                <a:solidFill>
                  <a:srgbClr val="C01F43"/>
                </a:solidFill>
                <a:latin typeface="Consolas"/>
              </a:rPr>
              <a:t>data_valid</a:t>
            </a:r>
            <a:r>
              <a:rPr sz="1100" b="0" i="0">
                <a:solidFill>
                  <a:srgbClr val="33414F"/>
                </a:solidFill>
                <a:latin typeface="Calibri"/>
              </a:rPr>
              <a:t> as </a:t>
            </a:r>
            <a:r>
              <a:rPr sz="1100" b="1" i="0">
                <a:solidFill>
                  <a:srgbClr val="C01F43"/>
                </a:solidFill>
                <a:latin typeface="Consolas"/>
              </a:rPr>
              <a:t>data_vaild</a:t>
            </a:r>
            <a:r>
              <a:rPr sz="1100" b="0" i="0">
                <a:solidFill>
                  <a:srgbClr val="33414F"/>
                </a:solidFill>
                <a:latin typeface="Calibri"/>
              </a:rPr>
              <a:t> in a port connection and Verilog creates a new, undriven 1-bit wire and says nothing; your design gets an x and you spend an afternoon on it.</a:t>
            </a:r>
          </a:p>
          <a:p>
            <a:pPr algn="l">
              <a:lnSpc>
                <a:spcPct val="103000"/>
              </a:lnSpc>
              <a:spcAft>
                <a:spcPts val="400"/>
              </a:spcAft>
            </a:pPr>
            <a:r>
              <a:rPr sz="1100" b="0" i="0">
                <a:solidFill>
                  <a:srgbClr val="33414F"/>
                </a:solidFill>
                <a:latin typeface="Calibri"/>
              </a:rPr>
              <a:t>Put </a:t>
            </a:r>
            <a:r>
              <a:rPr sz="1100" b="1" i="0">
                <a:solidFill>
                  <a:srgbClr val="2A9D5C"/>
                </a:solidFill>
                <a:latin typeface="Consolas"/>
              </a:rPr>
              <a:t>`default_nettype none</a:t>
            </a:r>
            <a:r>
              <a:rPr sz="1100" b="0" i="0">
                <a:solidFill>
                  <a:srgbClr val="33414F"/>
                </a:solidFill>
                <a:latin typeface="Calibri"/>
              </a:rPr>
              <a:t> at the top of every file and that typo becomes a compile error on the exact line. Every file in Topic4_Lab does this.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SYSTEM TASKS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Dollar Family — Your Simulation Instruments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System tasks are built-in routines the SIMULATOR provides. </a:t>
            </a:r>
            <a:r>
              <a:rPr sz="1100" b="0" i="0">
                <a:solidFill>
                  <a:srgbClr val="33414F"/>
                </a:solidFill>
                <a:latin typeface="Calibri"/>
              </a:rPr>
              <a:t>None of them synthesise — they are how you observe and control a simulation. Two of them ($clog2 and $bits) are exceptions that are legal in synthesisable code because they are evaluated at elaboration.</a:t>
            </a:r>
          </a:p>
        </p:txBody>
      </p:sp>
      <p:sp>
        <p:nvSpPr>
          <p:cNvPr id="10" name="Rectangle 9"/>
          <p:cNvSpPr/>
          <p:nvPr/>
        </p:nvSpPr>
        <p:spPr>
          <a:xfrm>
            <a:off x="411480" y="1783080"/>
            <a:ext cx="237744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83080"/>
            <a:ext cx="228600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Task</a:t>
            </a:r>
          </a:p>
        </p:txBody>
      </p:sp>
      <p:sp>
        <p:nvSpPr>
          <p:cNvPr id="12" name="Rectangle 11"/>
          <p:cNvSpPr/>
          <p:nvPr/>
        </p:nvSpPr>
        <p:spPr>
          <a:xfrm>
            <a:off x="2788920" y="1783080"/>
            <a:ext cx="402336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34640" y="1783080"/>
            <a:ext cx="393192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Purpose</a:t>
            </a:r>
          </a:p>
        </p:txBody>
      </p:sp>
      <p:sp>
        <p:nvSpPr>
          <p:cNvPr id="14" name="Rectangle 13"/>
          <p:cNvSpPr/>
          <p:nvPr/>
        </p:nvSpPr>
        <p:spPr>
          <a:xfrm>
            <a:off x="6812280" y="1783080"/>
            <a:ext cx="48463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0" y="1783080"/>
            <a:ext cx="47548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Typical use</a:t>
            </a:r>
          </a:p>
        </p:txBody>
      </p:sp>
      <p:sp>
        <p:nvSpPr>
          <p:cNvPr id="16" name="Rectangle 15"/>
          <p:cNvSpPr/>
          <p:nvPr/>
        </p:nvSpPr>
        <p:spPr>
          <a:xfrm>
            <a:off x="411480" y="205740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05740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$display / $write</a:t>
            </a:r>
          </a:p>
        </p:txBody>
      </p:sp>
      <p:sp>
        <p:nvSpPr>
          <p:cNvPr id="18" name="Rectangle 17"/>
          <p:cNvSpPr/>
          <p:nvPr/>
        </p:nvSpPr>
        <p:spPr>
          <a:xfrm>
            <a:off x="2788920" y="2057400"/>
            <a:ext cx="40233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834640" y="205740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Print once, when reached</a:t>
            </a:r>
          </a:p>
        </p:txBody>
      </p:sp>
      <p:sp>
        <p:nvSpPr>
          <p:cNvPr id="20" name="Rectangle 19"/>
          <p:cNvSpPr/>
          <p:nvPr/>
        </p:nvSpPr>
        <p:spPr>
          <a:xfrm>
            <a:off x="6812280" y="205740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58000" y="205740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$display("%0t got %h", $time, q);</a:t>
            </a:r>
          </a:p>
        </p:txBody>
      </p:sp>
      <p:sp>
        <p:nvSpPr>
          <p:cNvPr id="22" name="Rectangle 21"/>
          <p:cNvSpPr/>
          <p:nvPr/>
        </p:nvSpPr>
        <p:spPr>
          <a:xfrm>
            <a:off x="411480" y="233172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33172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$monitor</a:t>
            </a:r>
          </a:p>
        </p:txBody>
      </p:sp>
      <p:sp>
        <p:nvSpPr>
          <p:cNvPr id="24" name="Rectangle 23"/>
          <p:cNvSpPr/>
          <p:nvPr/>
        </p:nvSpPr>
        <p:spPr>
          <a:xfrm>
            <a:off x="2788920" y="2331720"/>
            <a:ext cx="40233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834640" y="233172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Print whenever any argument changes</a:t>
            </a:r>
          </a:p>
        </p:txBody>
      </p:sp>
      <p:sp>
        <p:nvSpPr>
          <p:cNvPr id="26" name="Rectangle 25"/>
          <p:cNvSpPr/>
          <p:nvPr/>
        </p:nvSpPr>
        <p:spPr>
          <a:xfrm>
            <a:off x="6812280" y="233172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58000" y="23317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per simulation, in initial</a:t>
            </a:r>
          </a:p>
        </p:txBody>
      </p:sp>
      <p:sp>
        <p:nvSpPr>
          <p:cNvPr id="28" name="Rectangle 27"/>
          <p:cNvSpPr/>
          <p:nvPr/>
        </p:nvSpPr>
        <p:spPr>
          <a:xfrm>
            <a:off x="411480" y="260604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60604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$time / $realtime</a:t>
            </a:r>
          </a:p>
        </p:txBody>
      </p:sp>
      <p:sp>
        <p:nvSpPr>
          <p:cNvPr id="30" name="Rectangle 29"/>
          <p:cNvSpPr/>
          <p:nvPr/>
        </p:nvSpPr>
        <p:spPr>
          <a:xfrm>
            <a:off x="2788920" y="2606040"/>
            <a:ext cx="40233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834640" y="260604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Current simulation time</a:t>
            </a:r>
          </a:p>
        </p:txBody>
      </p:sp>
      <p:sp>
        <p:nvSpPr>
          <p:cNvPr id="32" name="Rectangle 31"/>
          <p:cNvSpPr/>
          <p:nvPr/>
        </p:nvSpPr>
        <p:spPr>
          <a:xfrm>
            <a:off x="6812280" y="260604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58000" y="26060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Timestamping messages</a:t>
            </a:r>
          </a:p>
        </p:txBody>
      </p:sp>
      <p:sp>
        <p:nvSpPr>
          <p:cNvPr id="34" name="Rectangle 33"/>
          <p:cNvSpPr/>
          <p:nvPr/>
        </p:nvSpPr>
        <p:spPr>
          <a:xfrm>
            <a:off x="411480" y="288036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88036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$dumpfile / $dumpvars</a:t>
            </a:r>
          </a:p>
        </p:txBody>
      </p:sp>
      <p:sp>
        <p:nvSpPr>
          <p:cNvPr id="36" name="Rectangle 35"/>
          <p:cNvSpPr/>
          <p:nvPr/>
        </p:nvSpPr>
        <p:spPr>
          <a:xfrm>
            <a:off x="2788920" y="2880360"/>
            <a:ext cx="40233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834640" y="288036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Write a VCD waveform file</a:t>
            </a:r>
          </a:p>
        </p:txBody>
      </p:sp>
      <p:sp>
        <p:nvSpPr>
          <p:cNvPr id="38" name="Rectangle 37"/>
          <p:cNvSpPr/>
          <p:nvPr/>
        </p:nvSpPr>
        <p:spPr>
          <a:xfrm>
            <a:off x="6812280" y="288036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858000" y="288036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$dumpvars(0, tb); — 0 = all levels</a:t>
            </a:r>
          </a:p>
        </p:txBody>
      </p:sp>
      <p:sp>
        <p:nvSpPr>
          <p:cNvPr id="40" name="Rectangle 39"/>
          <p:cNvSpPr/>
          <p:nvPr/>
        </p:nvSpPr>
        <p:spPr>
          <a:xfrm>
            <a:off x="411480" y="315468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15468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$finish / $stop</a:t>
            </a:r>
          </a:p>
        </p:txBody>
      </p:sp>
      <p:sp>
        <p:nvSpPr>
          <p:cNvPr id="42" name="Rectangle 41"/>
          <p:cNvSpPr/>
          <p:nvPr/>
        </p:nvSpPr>
        <p:spPr>
          <a:xfrm>
            <a:off x="2788920" y="3154680"/>
            <a:ext cx="40233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834640" y="315468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End / pause the simulation</a:t>
            </a:r>
          </a:p>
        </p:txBody>
      </p:sp>
      <p:sp>
        <p:nvSpPr>
          <p:cNvPr id="44" name="Rectangle 43"/>
          <p:cNvSpPr/>
          <p:nvPr/>
        </p:nvSpPr>
        <p:spPr>
          <a:xfrm>
            <a:off x="6812280" y="315468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858000" y="315468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$finish at the end of your stimulus</a:t>
            </a:r>
          </a:p>
        </p:txBody>
      </p:sp>
      <p:sp>
        <p:nvSpPr>
          <p:cNvPr id="46" name="Rectangle 45"/>
          <p:cNvSpPr/>
          <p:nvPr/>
        </p:nvSpPr>
        <p:spPr>
          <a:xfrm>
            <a:off x="411480" y="342900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42900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$random / $urandom</a:t>
            </a:r>
          </a:p>
        </p:txBody>
      </p:sp>
      <p:sp>
        <p:nvSpPr>
          <p:cNvPr id="48" name="Rectangle 47"/>
          <p:cNvSpPr/>
          <p:nvPr/>
        </p:nvSpPr>
        <p:spPr>
          <a:xfrm>
            <a:off x="2788920" y="3429000"/>
            <a:ext cx="40233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834640" y="342900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Pseudo-random stimulus</a:t>
            </a:r>
          </a:p>
        </p:txBody>
      </p:sp>
      <p:sp>
        <p:nvSpPr>
          <p:cNvPr id="50" name="Rectangle 49"/>
          <p:cNvSpPr/>
          <p:nvPr/>
        </p:nvSpPr>
        <p:spPr>
          <a:xfrm>
            <a:off x="6812280" y="342900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858000" y="342900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Seed it so failures reproduce</a:t>
            </a:r>
          </a:p>
        </p:txBody>
      </p:sp>
      <p:sp>
        <p:nvSpPr>
          <p:cNvPr id="52" name="Rectangle 51"/>
          <p:cNvSpPr/>
          <p:nvPr/>
        </p:nvSpPr>
        <p:spPr>
          <a:xfrm>
            <a:off x="411480" y="3703320"/>
            <a:ext cx="23774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70332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$fatal / $error</a:t>
            </a:r>
          </a:p>
        </p:txBody>
      </p:sp>
      <p:sp>
        <p:nvSpPr>
          <p:cNvPr id="54" name="Rectangle 53"/>
          <p:cNvSpPr/>
          <p:nvPr/>
        </p:nvSpPr>
        <p:spPr>
          <a:xfrm>
            <a:off x="2788920" y="3703320"/>
            <a:ext cx="40233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2834640" y="370332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Report and optionally abort</a:t>
            </a:r>
          </a:p>
        </p:txBody>
      </p:sp>
      <p:sp>
        <p:nvSpPr>
          <p:cNvPr id="56" name="Rectangle 55"/>
          <p:cNvSpPr/>
          <p:nvPr/>
        </p:nvSpPr>
        <p:spPr>
          <a:xfrm>
            <a:off x="6812280" y="370332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858000" y="37033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Self-checking testbenches</a:t>
            </a:r>
          </a:p>
        </p:txBody>
      </p:sp>
      <p:sp>
        <p:nvSpPr>
          <p:cNvPr id="58" name="Rectangle 57"/>
          <p:cNvSpPr/>
          <p:nvPr/>
        </p:nvSpPr>
        <p:spPr>
          <a:xfrm>
            <a:off x="411480" y="3977640"/>
            <a:ext cx="23774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977640"/>
            <a:ext cx="22860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$clog2(N)</a:t>
            </a:r>
          </a:p>
        </p:txBody>
      </p:sp>
      <p:sp>
        <p:nvSpPr>
          <p:cNvPr id="60" name="Rectangle 59"/>
          <p:cNvSpPr/>
          <p:nvPr/>
        </p:nvSpPr>
        <p:spPr>
          <a:xfrm>
            <a:off x="2788920" y="3977640"/>
            <a:ext cx="40233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2834640" y="3977640"/>
            <a:ext cx="39319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Ceiling log2 — SYNTHESISABLE</a:t>
            </a:r>
          </a:p>
        </p:txBody>
      </p:sp>
      <p:sp>
        <p:nvSpPr>
          <p:cNvPr id="62" name="Rectangle 61"/>
          <p:cNvSpPr/>
          <p:nvPr/>
        </p:nvSpPr>
        <p:spPr>
          <a:xfrm>
            <a:off x="6812280" y="397764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858000" y="39776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localparam CW = $clog2(DEPTH);</a:t>
            </a:r>
          </a:p>
        </p:txBody>
      </p:sp>
      <p:sp>
        <p:nvSpPr>
          <p:cNvPr id="64" name="TextBox 63"/>
          <p:cNvSpPr txBox="1"/>
          <p:nvPr/>
        </p:nvSpPr>
        <p:spPr>
          <a:xfrm>
            <a:off x="411480" y="4297680"/>
            <a:ext cx="11247120" cy="32004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Format specifiers: </a:t>
            </a:r>
            <a:r>
              <a:rPr sz="1050" b="1" i="0">
                <a:solidFill>
                  <a:srgbClr val="0E2A47"/>
                </a:solidFill>
                <a:latin typeface="Consolas"/>
              </a:rPr>
              <a:t>%b %o %d %h</a:t>
            </a:r>
            <a:r>
              <a:rPr sz="1050" b="0" i="0">
                <a:solidFill>
                  <a:srgbClr val="33414F"/>
                </a:solidFill>
                <a:latin typeface="Calibri"/>
              </a:rPr>
              <a:t> for radix, </a:t>
            </a:r>
            <a:r>
              <a:rPr sz="1050" b="1" i="0">
                <a:solidFill>
                  <a:srgbClr val="0E2A47"/>
                </a:solidFill>
                <a:latin typeface="Consolas"/>
              </a:rPr>
              <a:t>%s</a:t>
            </a:r>
            <a:r>
              <a:rPr sz="1050" b="0" i="0">
                <a:solidFill>
                  <a:srgbClr val="33414F"/>
                </a:solidFill>
                <a:latin typeface="Calibri"/>
              </a:rPr>
              <a:t> string, </a:t>
            </a:r>
            <a:r>
              <a:rPr sz="1050" b="1" i="0">
                <a:solidFill>
                  <a:srgbClr val="0E2A47"/>
                </a:solidFill>
                <a:latin typeface="Consolas"/>
              </a:rPr>
              <a:t>%t</a:t>
            </a:r>
            <a:r>
              <a:rPr sz="1050" b="0" i="0">
                <a:solidFill>
                  <a:srgbClr val="33414F"/>
                </a:solidFill>
                <a:latin typeface="Calibri"/>
              </a:rPr>
              <a:t> time. Prefix with 0 — </a:t>
            </a:r>
            <a:r>
              <a:rPr sz="1050" b="1" i="0">
                <a:solidFill>
                  <a:srgbClr val="2A9D5C"/>
                </a:solidFill>
                <a:latin typeface="Consolas"/>
              </a:rPr>
              <a:t>%0d</a:t>
            </a:r>
            <a:r>
              <a:rPr sz="1050" b="0" i="0">
                <a:solidFill>
                  <a:srgbClr val="33414F"/>
                </a:solidFill>
                <a:latin typeface="Calibri"/>
              </a:rPr>
              <a:t> — to drop the padding that otherwise makes output unreadable.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TOPIC 4A · THE SUBSET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Synthesises, and What Does Not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25</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boundary that separates a design from a testbench. </a:t>
            </a:r>
            <a:r>
              <a:rPr sz="1100" b="0" i="0">
                <a:solidFill>
                  <a:srgbClr val="33414F"/>
                </a:solidFill>
                <a:latin typeface="Calibri"/>
              </a:rPr>
              <a:t>Verilog is a simulation language that HAPPENS to have a synthesisable subset. If you write something outside it, the simulation may run perfectly and the synthesiser will either reject it or — worse — quietly ignore it.</a:t>
            </a:r>
          </a:p>
        </p:txBody>
      </p:sp>
      <p:pic>
        <p:nvPicPr>
          <p:cNvPr id="10" name="Picture 9" descr="synth_subset.png"/>
          <p:cNvPicPr>
            <a:picLocks noChangeAspect="1"/>
          </p:cNvPicPr>
          <p:nvPr/>
        </p:nvPicPr>
        <p:blipFill>
          <a:blip r:embed="rId2"/>
          <a:stretch>
            <a:fillRect/>
          </a:stretch>
        </p:blipFill>
        <p:spPr>
          <a:xfrm>
            <a:off x="2166632" y="1783080"/>
            <a:ext cx="7736816" cy="3200400"/>
          </a:xfrm>
          <a:prstGeom prst="rect">
            <a:avLst/>
          </a:prstGeom>
        </p:spPr>
      </p:pic>
      <p:sp>
        <p:nvSpPr>
          <p:cNvPr id="11" name="Rounded Rectangle 10"/>
          <p:cNvSpPr/>
          <p:nvPr/>
        </p:nvSpPr>
        <p:spPr>
          <a:xfrm>
            <a:off x="411480" y="507492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four that catch people out</a:t>
            </a:r>
          </a:p>
        </p:txBody>
      </p:sp>
      <p:sp>
        <p:nvSpPr>
          <p:cNvPr id="13" name="TextBox 12"/>
          <p:cNvSpPr txBox="1"/>
          <p:nvPr/>
        </p:nvSpPr>
        <p:spPr>
          <a:xfrm>
            <a:off x="548640" y="54132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 Delays. </a:t>
            </a:r>
            <a:r>
              <a:rPr sz="1050" b="0" i="0">
                <a:solidFill>
                  <a:srgbClr val="33414F"/>
                </a:solidFill>
                <a:latin typeface="Calibri"/>
              </a:rPr>
              <a:t>#5 is ignored by synthesis. Timing comes from the clock and the technology, never from your source.</a:t>
            </a:r>
          </a:p>
          <a:p>
            <a:pPr algn="l">
              <a:lnSpc>
                <a:spcPct val="103000"/>
              </a:lnSpc>
              <a:spcAft>
                <a:spcPts val="400"/>
              </a:spcAft>
            </a:pPr>
            <a:r>
              <a:rPr sz="1050" b="1" i="0">
                <a:solidFill>
                  <a:srgbClr val="C01F43"/>
                </a:solidFill>
                <a:latin typeface="Calibri"/>
              </a:rPr>
              <a:t>· initial blocks. </a:t>
            </a:r>
            <a:r>
              <a:rPr sz="1050" b="0" i="0">
                <a:solidFill>
                  <a:srgbClr val="33414F"/>
                </a:solidFill>
                <a:latin typeface="Calibri"/>
              </a:rPr>
              <a:t>Reset your registers with a reset signal.</a:t>
            </a:r>
          </a:p>
        </p:txBody>
      </p:sp>
      <p:sp>
        <p:nvSpPr>
          <p:cNvPr id="14" name="Rounded Rectangle 13"/>
          <p:cNvSpPr/>
          <p:nvPr/>
        </p:nvSpPr>
        <p:spPr>
          <a:xfrm>
            <a:off x="6126480" y="507492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...continued</a:t>
            </a:r>
          </a:p>
        </p:txBody>
      </p:sp>
      <p:sp>
        <p:nvSpPr>
          <p:cNvPr id="16" name="TextBox 15"/>
          <p:cNvSpPr txBox="1"/>
          <p:nvPr/>
        </p:nvSpPr>
        <p:spPr>
          <a:xfrm>
            <a:off x="6263640" y="541324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 Multiple always blocks driving one signal. </a:t>
            </a:r>
            <a:r>
              <a:rPr sz="1050" b="0" i="0">
                <a:solidFill>
                  <a:srgbClr val="33414F"/>
                </a:solidFill>
                <a:latin typeface="Calibri"/>
              </a:rPr>
              <a:t>Illegal. One signal, one driver, one block.</a:t>
            </a:r>
          </a:p>
          <a:p>
            <a:pPr algn="l">
              <a:lnSpc>
                <a:spcPct val="103000"/>
              </a:lnSpc>
              <a:spcAft>
                <a:spcPts val="400"/>
              </a:spcAft>
            </a:pPr>
            <a:r>
              <a:rPr sz="1050" b="1" i="0">
                <a:solidFill>
                  <a:srgbClr val="C01F43"/>
                </a:solidFill>
                <a:latin typeface="Calibri"/>
              </a:rPr>
              <a:t>· Mixing = and &lt;= for the same variable. </a:t>
            </a:r>
            <a:r>
              <a:rPr sz="1050" b="0" i="0">
                <a:solidFill>
                  <a:srgbClr val="33414F"/>
                </a:solidFill>
                <a:latin typeface="Calibri"/>
              </a:rPr>
              <a:t>Legal Verilog, undefined behaviour in practice, rejected by every lint tool.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STYLE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House Rules — The Checklist Used in This Course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26</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rule below exists because breaking it has cost somebody a day. </a:t>
            </a:r>
            <a:r>
              <a:rPr sz="1100" b="0" i="0">
                <a:solidFill>
                  <a:srgbClr val="33414F"/>
                </a:solidFill>
                <a:latin typeface="Calibri"/>
              </a:rPr>
              <a:t>They are the standing lint rules for all labs in Topic 4.</a:t>
            </a:r>
          </a:p>
        </p:txBody>
      </p:sp>
      <p:sp>
        <p:nvSpPr>
          <p:cNvPr id="10" name="TextBox 9"/>
          <p:cNvSpPr txBox="1"/>
          <p:nvPr/>
        </p:nvSpPr>
        <p:spPr>
          <a:xfrm>
            <a:off x="411480" y="1600200"/>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1" name="TextBox 10"/>
          <p:cNvSpPr txBox="1"/>
          <p:nvPr/>
        </p:nvSpPr>
        <p:spPr>
          <a:xfrm>
            <a:off x="640080" y="1600200"/>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One file, one module, and the file is named after the module.</a:t>
            </a:r>
          </a:p>
        </p:txBody>
      </p:sp>
      <p:sp>
        <p:nvSpPr>
          <p:cNvPr id="12" name="TextBox 11"/>
          <p:cNvSpPr txBox="1"/>
          <p:nvPr/>
        </p:nvSpPr>
        <p:spPr>
          <a:xfrm>
            <a:off x="411480" y="1883664"/>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3" name="TextBox 12"/>
          <p:cNvSpPr txBox="1"/>
          <p:nvPr/>
        </p:nvSpPr>
        <p:spPr>
          <a:xfrm>
            <a:off x="640080" y="1883664"/>
            <a:ext cx="11018520" cy="283464"/>
          </a:xfrm>
          <a:prstGeom prst="rect">
            <a:avLst/>
          </a:prstGeom>
          <a:noFill/>
        </p:spPr>
        <p:txBody>
          <a:bodyPr wrap="square" lIns="0" rIns="0" tIns="0" bIns="0" anchor="ctr">
            <a:spAutoFit/>
          </a:bodyPr>
          <a:lstStyle/>
          <a:p>
            <a:pPr algn="l">
              <a:lnSpc>
                <a:spcPct val="103000"/>
              </a:lnSpc>
            </a:pPr>
            <a:r>
              <a:rPr sz="1100" b="1" i="0">
                <a:solidFill>
                  <a:srgbClr val="0E2A47"/>
                </a:solidFill>
                <a:latin typeface="Consolas"/>
              </a:rPr>
              <a:t>`default_nettype none</a:t>
            </a:r>
            <a:r>
              <a:rPr sz="1100" b="0" i="0">
                <a:solidFill>
                  <a:srgbClr val="33414F"/>
                </a:solidFill>
                <a:latin typeface="Calibri"/>
              </a:rPr>
              <a:t> at the top; </a:t>
            </a:r>
            <a:r>
              <a:rPr sz="1100" b="1" i="0">
                <a:solidFill>
                  <a:srgbClr val="0E2A47"/>
                </a:solidFill>
                <a:latin typeface="Consolas"/>
              </a:rPr>
              <a:t>`resetall</a:t>
            </a:r>
            <a:r>
              <a:rPr sz="1100" b="0" i="0">
                <a:solidFill>
                  <a:srgbClr val="33414F"/>
                </a:solidFill>
                <a:latin typeface="Calibri"/>
              </a:rPr>
              <a:t> at the bottom.</a:t>
            </a:r>
          </a:p>
        </p:txBody>
      </p:sp>
      <p:sp>
        <p:nvSpPr>
          <p:cNvPr id="14" name="TextBox 13"/>
          <p:cNvSpPr txBox="1"/>
          <p:nvPr/>
        </p:nvSpPr>
        <p:spPr>
          <a:xfrm>
            <a:off x="411480" y="2167128"/>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5" name="TextBox 14"/>
          <p:cNvSpPr txBox="1"/>
          <p:nvPr/>
        </p:nvSpPr>
        <p:spPr>
          <a:xfrm>
            <a:off x="640080" y="2167128"/>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ANSI port headers. Instantiate by name. Prefix instances with </a:t>
            </a:r>
            <a:r>
              <a:rPr sz="1100" b="1" i="0">
                <a:solidFill>
                  <a:srgbClr val="0E2A47"/>
                </a:solidFill>
                <a:latin typeface="Consolas"/>
              </a:rPr>
              <a:t>u_</a:t>
            </a:r>
            <a:r>
              <a:rPr sz="1100" b="0" i="0">
                <a:solidFill>
                  <a:srgbClr val="33414F"/>
                </a:solidFill>
                <a:latin typeface="Calibri"/>
              </a:rPr>
              <a:t>.</a:t>
            </a:r>
          </a:p>
        </p:txBody>
      </p:sp>
      <p:sp>
        <p:nvSpPr>
          <p:cNvPr id="16" name="TextBox 15"/>
          <p:cNvSpPr txBox="1"/>
          <p:nvPr/>
        </p:nvSpPr>
        <p:spPr>
          <a:xfrm>
            <a:off x="411480" y="2450592"/>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7" name="TextBox 16"/>
          <p:cNvSpPr txBox="1"/>
          <p:nvPr/>
        </p:nvSpPr>
        <p:spPr>
          <a:xfrm>
            <a:off x="640080" y="2450592"/>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Active-low signals end in </a:t>
            </a:r>
            <a:r>
              <a:rPr sz="1100" b="1" i="0">
                <a:solidFill>
                  <a:srgbClr val="0E2A47"/>
                </a:solidFill>
                <a:latin typeface="Consolas"/>
              </a:rPr>
              <a:t>_n</a:t>
            </a:r>
            <a:r>
              <a:rPr sz="1100" b="0" i="0">
                <a:solidFill>
                  <a:srgbClr val="33414F"/>
                </a:solidFill>
                <a:latin typeface="Calibri"/>
              </a:rPr>
              <a:t>  (</a:t>
            </a:r>
            <a:r>
              <a:rPr sz="1100" b="0" i="0">
                <a:solidFill>
                  <a:srgbClr val="33414F"/>
                </a:solidFill>
                <a:latin typeface="Consolas"/>
              </a:rPr>
              <a:t>rst_n</a:t>
            </a:r>
            <a:r>
              <a:rPr sz="1100" b="0" i="0">
                <a:solidFill>
                  <a:srgbClr val="33414F"/>
                </a:solidFill>
                <a:latin typeface="Calibri"/>
              </a:rPr>
              <a:t>). Clocks are </a:t>
            </a:r>
            <a:r>
              <a:rPr sz="1100" b="0" i="0">
                <a:solidFill>
                  <a:srgbClr val="33414F"/>
                </a:solidFill>
                <a:latin typeface="Consolas"/>
              </a:rPr>
              <a:t>clk</a:t>
            </a:r>
            <a:r>
              <a:rPr sz="1100" b="0" i="0">
                <a:solidFill>
                  <a:srgbClr val="33414F"/>
                </a:solidFill>
                <a:latin typeface="Calibri"/>
              </a:rPr>
              <a:t>.</a:t>
            </a:r>
          </a:p>
        </p:txBody>
      </p:sp>
      <p:sp>
        <p:nvSpPr>
          <p:cNvPr id="18" name="TextBox 17"/>
          <p:cNvSpPr txBox="1"/>
          <p:nvPr/>
        </p:nvSpPr>
        <p:spPr>
          <a:xfrm>
            <a:off x="411480" y="2734056"/>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9" name="TextBox 18"/>
          <p:cNvSpPr txBox="1"/>
          <p:nvPr/>
        </p:nvSpPr>
        <p:spPr>
          <a:xfrm>
            <a:off x="640080" y="2734056"/>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Size every literal. Never write a bare 0 or 1 into a vector.</a:t>
            </a:r>
          </a:p>
        </p:txBody>
      </p:sp>
      <p:sp>
        <p:nvSpPr>
          <p:cNvPr id="20" name="TextBox 19"/>
          <p:cNvSpPr txBox="1"/>
          <p:nvPr/>
        </p:nvSpPr>
        <p:spPr>
          <a:xfrm>
            <a:off x="411480" y="3017520"/>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1" name="TextBox 20"/>
          <p:cNvSpPr txBox="1"/>
          <p:nvPr/>
        </p:nvSpPr>
        <p:spPr>
          <a:xfrm>
            <a:off x="640080" y="3017520"/>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Combinational: </a:t>
            </a:r>
            <a:r>
              <a:rPr sz="1100" b="1" i="0">
                <a:solidFill>
                  <a:srgbClr val="2A9D5C"/>
                </a:solidFill>
                <a:latin typeface="Consolas"/>
              </a:rPr>
              <a:t>always @(*)</a:t>
            </a:r>
            <a:r>
              <a:rPr sz="1100" b="0" i="0">
                <a:solidFill>
                  <a:srgbClr val="33414F"/>
                </a:solidFill>
                <a:latin typeface="Calibri"/>
              </a:rPr>
              <a:t> with </a:t>
            </a:r>
            <a:r>
              <a:rPr sz="1100" b="1" i="0">
                <a:solidFill>
                  <a:srgbClr val="2A9D5C"/>
                </a:solidFill>
                <a:latin typeface="Consolas"/>
              </a:rPr>
              <a:t>=</a:t>
            </a:r>
            <a:r>
              <a:rPr sz="1100" b="0" i="0">
                <a:solidFill>
                  <a:srgbClr val="33414F"/>
                </a:solidFill>
                <a:latin typeface="Calibri"/>
              </a:rPr>
              <a:t> and a default assignment.  Sequential: </a:t>
            </a:r>
            <a:r>
              <a:rPr sz="1100" b="1" i="0">
                <a:solidFill>
                  <a:srgbClr val="2A9D5C"/>
                </a:solidFill>
                <a:latin typeface="Consolas"/>
              </a:rPr>
              <a:t>always @(posedge clk)</a:t>
            </a:r>
            <a:r>
              <a:rPr sz="1100" b="0" i="0">
                <a:solidFill>
                  <a:srgbClr val="33414F"/>
                </a:solidFill>
                <a:latin typeface="Calibri"/>
              </a:rPr>
              <a:t> with </a:t>
            </a:r>
            <a:r>
              <a:rPr sz="1100" b="1" i="0">
                <a:solidFill>
                  <a:srgbClr val="2A9D5C"/>
                </a:solidFill>
                <a:latin typeface="Consolas"/>
              </a:rPr>
              <a:t>&lt;=</a:t>
            </a:r>
            <a:r>
              <a:rPr sz="1100" b="0" i="0">
                <a:solidFill>
                  <a:srgbClr val="33414F"/>
                </a:solidFill>
                <a:latin typeface="Calibri"/>
              </a:rPr>
              <a:t> only.</a:t>
            </a:r>
          </a:p>
        </p:txBody>
      </p:sp>
      <p:sp>
        <p:nvSpPr>
          <p:cNvPr id="22" name="TextBox 21"/>
          <p:cNvSpPr txBox="1"/>
          <p:nvPr/>
        </p:nvSpPr>
        <p:spPr>
          <a:xfrm>
            <a:off x="411480" y="3300984"/>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3" name="TextBox 22"/>
          <p:cNvSpPr txBox="1"/>
          <p:nvPr/>
        </p:nvSpPr>
        <p:spPr>
          <a:xfrm>
            <a:off x="640080" y="3300984"/>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Every case has a </a:t>
            </a:r>
            <a:r>
              <a:rPr sz="1100" b="1" i="0">
                <a:solidFill>
                  <a:srgbClr val="0E2A47"/>
                </a:solidFill>
                <a:latin typeface="Consolas"/>
              </a:rPr>
              <a:t>default</a:t>
            </a:r>
            <a:r>
              <a:rPr sz="1100" b="0" i="0">
                <a:solidFill>
                  <a:srgbClr val="33414F"/>
                </a:solidFill>
                <a:latin typeface="Calibri"/>
              </a:rPr>
              <a:t>. Never casex. Never full_case/parallel_case.</a:t>
            </a:r>
          </a:p>
        </p:txBody>
      </p:sp>
      <p:sp>
        <p:nvSpPr>
          <p:cNvPr id="24" name="TextBox 23"/>
          <p:cNvSpPr txBox="1"/>
          <p:nvPr/>
        </p:nvSpPr>
        <p:spPr>
          <a:xfrm>
            <a:off x="411480" y="3584448"/>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5" name="TextBox 24"/>
          <p:cNvSpPr txBox="1"/>
          <p:nvPr/>
        </p:nvSpPr>
        <p:spPr>
          <a:xfrm>
            <a:off x="640080" y="3584448"/>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One driver per signal. Reset every state-holding register.</a:t>
            </a:r>
          </a:p>
        </p:txBody>
      </p:sp>
      <p:sp>
        <p:nvSpPr>
          <p:cNvPr id="26" name="TextBox 25"/>
          <p:cNvSpPr txBox="1"/>
          <p:nvPr/>
        </p:nvSpPr>
        <p:spPr>
          <a:xfrm>
            <a:off x="411480" y="3867912"/>
            <a:ext cx="182880" cy="28346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7" name="TextBox 26"/>
          <p:cNvSpPr txBox="1"/>
          <p:nvPr/>
        </p:nvSpPr>
        <p:spPr>
          <a:xfrm>
            <a:off x="640080" y="3867912"/>
            <a:ext cx="11018520" cy="28346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Lint with Verilator before you simulate; simulate before you synthesise; check the synthesis log for inferred latches every single time.</a:t>
            </a:r>
          </a:p>
        </p:txBody>
      </p:sp>
      <p:sp>
        <p:nvSpPr>
          <p:cNvPr id="28" name="Rounded Rectangle 27"/>
          <p:cNvSpPr/>
          <p:nvPr/>
        </p:nvSpPr>
        <p:spPr>
          <a:xfrm>
            <a:off x="411480" y="4242816"/>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76072" y="4306824"/>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the log matters more than the waveform</a:t>
            </a:r>
          </a:p>
        </p:txBody>
      </p:sp>
      <p:sp>
        <p:nvSpPr>
          <p:cNvPr id="30" name="TextBox 29"/>
          <p:cNvSpPr txBox="1"/>
          <p:nvPr/>
        </p:nvSpPr>
        <p:spPr>
          <a:xfrm>
            <a:off x="576072" y="4581144"/>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latch warning in the synthesis log is telling you the hardware does not match your intent. The simulation will often pass anyway, because in simulation the latch happens to hold the value you expected. The mismatch appears on silicon. Read the log.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4A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Before We Move On — Ten Questions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27</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Ask the room. Do not move to 4b until most of these come back quickly. </a:t>
            </a:r>
            <a:r>
              <a:rPr sz="1100" b="0" i="0">
                <a:solidFill>
                  <a:srgbClr val="33414F"/>
                </a:solidFill>
                <a:latin typeface="Calibri"/>
              </a:rPr>
              <a:t>Answers are in the workbook, section T4-A.</a:t>
            </a:r>
          </a:p>
        </p:txBody>
      </p:sp>
      <p:sp>
        <p:nvSpPr>
          <p:cNvPr id="10" name="Rounded Rectangle 9"/>
          <p:cNvSpPr/>
          <p:nvPr/>
        </p:nvSpPr>
        <p:spPr>
          <a:xfrm>
            <a:off x="411480" y="1554480"/>
            <a:ext cx="5532120" cy="2011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61848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Questions 1–5</a:t>
            </a:r>
          </a:p>
        </p:txBody>
      </p:sp>
      <p:sp>
        <p:nvSpPr>
          <p:cNvPr id="12" name="TextBox 11"/>
          <p:cNvSpPr txBox="1"/>
          <p:nvPr/>
        </p:nvSpPr>
        <p:spPr>
          <a:xfrm>
            <a:off x="548640" y="1892808"/>
            <a:ext cx="5257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1. Is </a:t>
            </a:r>
            <a:r>
              <a:rPr sz="1050" b="1" i="0">
                <a:solidFill>
                  <a:srgbClr val="0E2A47"/>
                </a:solidFill>
                <a:latin typeface="Consolas"/>
              </a:rPr>
              <a:t>reg</a:t>
            </a:r>
            <a:r>
              <a:rPr sz="1050" b="0" i="0">
                <a:solidFill>
                  <a:srgbClr val="33414F"/>
                </a:solidFill>
                <a:latin typeface="Calibri"/>
              </a:rPr>
              <a:t> a register? When is it, and when is it not?</a:t>
            </a:r>
          </a:p>
          <a:p>
            <a:pPr algn="l">
              <a:lnSpc>
                <a:spcPct val="103000"/>
              </a:lnSpc>
              <a:spcAft>
                <a:spcPts val="400"/>
              </a:spcAft>
            </a:pPr>
            <a:r>
              <a:rPr sz="1050" b="0" i="0">
                <a:solidFill>
                  <a:srgbClr val="33414F"/>
                </a:solidFill>
                <a:latin typeface="Calibri"/>
              </a:rPr>
              <a:t>2. What width and sign does the literal </a:t>
            </a:r>
            <a:r>
              <a:rPr sz="1050" b="1" i="0">
                <a:solidFill>
                  <a:srgbClr val="0E2A47"/>
                </a:solidFill>
                <a:latin typeface="Consolas"/>
              </a:rPr>
              <a:t>12</a:t>
            </a:r>
            <a:r>
              <a:rPr sz="1050" b="0" i="0">
                <a:solidFill>
                  <a:srgbClr val="33414F"/>
                </a:solidFill>
                <a:latin typeface="Calibri"/>
              </a:rPr>
              <a:t> have?</a:t>
            </a:r>
          </a:p>
          <a:p>
            <a:pPr algn="l">
              <a:lnSpc>
                <a:spcPct val="103000"/>
              </a:lnSpc>
              <a:spcAft>
                <a:spcPts val="400"/>
              </a:spcAft>
            </a:pPr>
            <a:r>
              <a:rPr sz="1050" b="0" i="0">
                <a:solidFill>
                  <a:srgbClr val="33414F"/>
                </a:solidFill>
                <a:latin typeface="Calibri"/>
              </a:rPr>
              <a:t>3. What does </a:t>
            </a:r>
            <a:r>
              <a:rPr sz="1050" b="1" i="0">
                <a:solidFill>
                  <a:srgbClr val="0E2A47"/>
                </a:solidFill>
                <a:latin typeface="Consolas"/>
              </a:rPr>
              <a:t>{3{2'b10}}</a:t>
            </a:r>
            <a:r>
              <a:rPr sz="1050" b="0" i="0">
                <a:solidFill>
                  <a:srgbClr val="33414F"/>
                </a:solidFill>
                <a:latin typeface="Calibri"/>
              </a:rPr>
              <a:t> evaluate to, and how wide is it?</a:t>
            </a:r>
          </a:p>
          <a:p>
            <a:pPr algn="l">
              <a:lnSpc>
                <a:spcPct val="103000"/>
              </a:lnSpc>
              <a:spcAft>
                <a:spcPts val="400"/>
              </a:spcAft>
            </a:pPr>
            <a:r>
              <a:rPr sz="1050" b="0" i="0">
                <a:solidFill>
                  <a:srgbClr val="33414F"/>
                </a:solidFill>
                <a:latin typeface="Calibri"/>
              </a:rPr>
              <a:t>4. Give one bit of output: </a:t>
            </a:r>
            <a:r>
              <a:rPr sz="1050" b="1" i="0">
                <a:solidFill>
                  <a:srgbClr val="0E2A47"/>
                </a:solidFill>
                <a:latin typeface="Consolas"/>
              </a:rPr>
              <a:t>^8'b1101_0110</a:t>
            </a:r>
            <a:r>
              <a:rPr sz="1050" b="0" i="0">
                <a:solidFill>
                  <a:srgbClr val="33414F"/>
                </a:solidFill>
                <a:latin typeface="Calibri"/>
              </a:rPr>
              <a:t> = ?</a:t>
            </a:r>
          </a:p>
          <a:p>
            <a:pPr algn="l">
              <a:lnSpc>
                <a:spcPct val="103000"/>
              </a:lnSpc>
              <a:spcAft>
                <a:spcPts val="400"/>
              </a:spcAft>
            </a:pPr>
            <a:r>
              <a:rPr sz="1050" b="0" i="0">
                <a:solidFill>
                  <a:srgbClr val="33414F"/>
                </a:solidFill>
                <a:latin typeface="Calibri"/>
              </a:rPr>
              <a:t>5. Why is </a:t>
            </a:r>
            <a:r>
              <a:rPr sz="1050" b="1" i="0">
                <a:solidFill>
                  <a:srgbClr val="0E2A47"/>
                </a:solidFill>
                <a:latin typeface="Consolas"/>
              </a:rPr>
              <a:t>a &amp;&amp; b</a:t>
            </a:r>
            <a:r>
              <a:rPr sz="1050" b="0" i="0">
                <a:solidFill>
                  <a:srgbClr val="33414F"/>
                </a:solidFill>
                <a:latin typeface="Calibri"/>
              </a:rPr>
              <a:t> not the same as </a:t>
            </a:r>
            <a:r>
              <a:rPr sz="1050" b="1" i="0">
                <a:solidFill>
                  <a:srgbClr val="0E2A47"/>
                </a:solidFill>
                <a:latin typeface="Consolas"/>
              </a:rPr>
              <a:t>a &amp; b</a:t>
            </a:r>
            <a:r>
              <a:rPr sz="1050" b="0" i="0">
                <a:solidFill>
                  <a:srgbClr val="33414F"/>
                </a:solidFill>
                <a:latin typeface="Calibri"/>
              </a:rPr>
              <a:t>?</a:t>
            </a:r>
          </a:p>
        </p:txBody>
      </p:sp>
      <p:sp>
        <p:nvSpPr>
          <p:cNvPr id="13" name="Rounded Rectangle 12"/>
          <p:cNvSpPr/>
          <p:nvPr/>
        </p:nvSpPr>
        <p:spPr>
          <a:xfrm>
            <a:off x="6126480" y="1554480"/>
            <a:ext cx="5532120" cy="2011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6184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Questions 6–10</a:t>
            </a:r>
          </a:p>
        </p:txBody>
      </p:sp>
      <p:sp>
        <p:nvSpPr>
          <p:cNvPr id="15" name="TextBox 14"/>
          <p:cNvSpPr txBox="1"/>
          <p:nvPr/>
        </p:nvSpPr>
        <p:spPr>
          <a:xfrm>
            <a:off x="6263640" y="1892808"/>
            <a:ext cx="5257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6. How many adders does an unrolled 8-iteration for loop create?</a:t>
            </a:r>
          </a:p>
          <a:p>
            <a:pPr algn="l">
              <a:lnSpc>
                <a:spcPct val="103000"/>
              </a:lnSpc>
              <a:spcAft>
                <a:spcPts val="400"/>
              </a:spcAft>
            </a:pPr>
            <a:r>
              <a:rPr sz="1050" b="0" i="0">
                <a:solidFill>
                  <a:srgbClr val="33414F"/>
                </a:solidFill>
                <a:latin typeface="Calibri"/>
              </a:rPr>
              <a:t>7. Name two things that make code un-synthesisable.</a:t>
            </a:r>
          </a:p>
          <a:p>
            <a:pPr algn="l">
              <a:lnSpc>
                <a:spcPct val="103000"/>
              </a:lnSpc>
              <a:spcAft>
                <a:spcPts val="400"/>
              </a:spcAft>
            </a:pPr>
            <a:r>
              <a:rPr sz="1050" b="0" i="0">
                <a:solidFill>
                  <a:srgbClr val="33414F"/>
                </a:solidFill>
                <a:latin typeface="Calibri"/>
              </a:rPr>
              <a:t>8. What is the difference between </a:t>
            </a:r>
            <a:r>
              <a:rPr sz="1050" b="1" i="0">
                <a:solidFill>
                  <a:srgbClr val="0E2A47"/>
                </a:solidFill>
                <a:latin typeface="Consolas"/>
              </a:rPr>
              <a:t>parameter</a:t>
            </a:r>
            <a:r>
              <a:rPr sz="1050" b="0" i="0">
                <a:solidFill>
                  <a:srgbClr val="33414F"/>
                </a:solidFill>
                <a:latin typeface="Calibri"/>
              </a:rPr>
              <a:t> and </a:t>
            </a:r>
            <a:r>
              <a:rPr sz="1050" b="1" i="0">
                <a:solidFill>
                  <a:srgbClr val="0E2A47"/>
                </a:solidFill>
                <a:latin typeface="Consolas"/>
              </a:rPr>
              <a:t>localparam</a:t>
            </a:r>
            <a:r>
              <a:rPr sz="1050" b="0" i="0">
                <a:solidFill>
                  <a:srgbClr val="33414F"/>
                </a:solidFill>
                <a:latin typeface="Calibri"/>
              </a:rPr>
              <a:t>?</a:t>
            </a:r>
          </a:p>
          <a:p>
            <a:pPr algn="l">
              <a:lnSpc>
                <a:spcPct val="103000"/>
              </a:lnSpc>
              <a:spcAft>
                <a:spcPts val="400"/>
              </a:spcAft>
            </a:pPr>
            <a:r>
              <a:rPr sz="1050" b="0" i="0">
                <a:solidFill>
                  <a:srgbClr val="33414F"/>
                </a:solidFill>
                <a:latin typeface="Calibri"/>
              </a:rPr>
              <a:t>9. Why does every file start with </a:t>
            </a:r>
            <a:r>
              <a:rPr sz="1050" b="1" i="0">
                <a:solidFill>
                  <a:srgbClr val="0E2A47"/>
                </a:solidFill>
                <a:latin typeface="Consolas"/>
              </a:rPr>
              <a:t>`default_nettype none</a:t>
            </a:r>
            <a:r>
              <a:rPr sz="1050" b="0" i="0">
                <a:solidFill>
                  <a:srgbClr val="33414F"/>
                </a:solidFill>
                <a:latin typeface="Calibri"/>
              </a:rPr>
              <a:t>?</a:t>
            </a:r>
          </a:p>
          <a:p>
            <a:pPr algn="l">
              <a:lnSpc>
                <a:spcPct val="103000"/>
              </a:lnSpc>
              <a:spcAft>
                <a:spcPts val="400"/>
              </a:spcAft>
            </a:pPr>
            <a:r>
              <a:rPr sz="1050" b="0" i="0">
                <a:solidFill>
                  <a:srgbClr val="33414F"/>
                </a:solidFill>
                <a:latin typeface="Calibri"/>
              </a:rPr>
              <a:t>10. Why is casex banned?</a:t>
            </a:r>
          </a:p>
        </p:txBody>
      </p:sp>
      <p:sp>
        <p:nvSpPr>
          <p:cNvPr id="16" name="Rounded Rectangle 15"/>
          <p:cNvSpPr/>
          <p:nvPr/>
        </p:nvSpPr>
        <p:spPr>
          <a:xfrm>
            <a:off x="411480" y="3657600"/>
            <a:ext cx="11247120" cy="776224"/>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7216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If question 1 or 5 gave the room trouble</a:t>
            </a:r>
          </a:p>
        </p:txBody>
      </p:sp>
      <p:sp>
        <p:nvSpPr>
          <p:cNvPr id="18" name="TextBox 17"/>
          <p:cNvSpPr txBox="1"/>
          <p:nvPr/>
        </p:nvSpPr>
        <p:spPr>
          <a:xfrm>
            <a:off x="576072" y="3995928"/>
            <a:ext cx="10917936" cy="373888"/>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Go back to slides 11 and 16 now rather than pressing on. Everything in 4b is built on knowing what a reg becomes and how wide an expression is; a class that is shaky on those two will not follow the latch discussion at 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SUBTOPIC 4B</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Designing Combinational and Sequential Logic Using HDL</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From here on, every construct is judged by one question: what hardware does it produce?</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inference map — code pattern in, hardware out</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Combinational modelling, and the latch you must never infer</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Sequential modelling, blocking vs non-blocking, and the event queue</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Reset strategy, counters, shift registers, edge detection, CDC</a:t>
            </a:r>
          </a:p>
        </p:txBody>
      </p:sp>
      <p:sp>
        <p:nvSpPr>
          <p:cNvPr id="14" name="Rectangle 13"/>
          <p:cNvSpPr/>
          <p:nvPr/>
        </p:nvSpPr>
        <p:spPr>
          <a:xfrm>
            <a:off x="640080" y="558698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State machines: styles, encodings, safe defaults</a:t>
            </a:r>
          </a:p>
        </p:txBody>
      </p:sp>
      <p:sp>
        <p:nvSpPr>
          <p:cNvPr id="16" name="Rectangle 15"/>
          <p:cNvSpPr/>
          <p:nvPr/>
        </p:nvSpPr>
        <p:spPr>
          <a:xfrm>
            <a:off x="640080" y="59984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8978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Memories, and pipelining for speed</a:t>
            </a:r>
          </a:p>
        </p:txBody>
      </p:sp>
      <p:sp>
        <p:nvSpPr>
          <p:cNvPr id="18" name="TextBox 17"/>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9" name="TextBox 18"/>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INFERENCE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Inference Map — Learn This Table Cold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29</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Synthesis is pattern matching. </a:t>
            </a:r>
            <a:r>
              <a:rPr sz="1100" b="0" i="0">
                <a:solidFill>
                  <a:srgbClr val="33414F"/>
                </a:solidFill>
                <a:latin typeface="Calibri"/>
              </a:rPr>
              <a:t>The tool reads your code, recognises a pattern, and drops in the corresponding hardware. There is no intelligence in it — which is good news, because it means the mapping is completely predictable once you know the patterns.</a:t>
            </a:r>
          </a:p>
        </p:txBody>
      </p:sp>
      <p:pic>
        <p:nvPicPr>
          <p:cNvPr id="10" name="Picture 9" descr="inference_map.png"/>
          <p:cNvPicPr>
            <a:picLocks noChangeAspect="1"/>
          </p:cNvPicPr>
          <p:nvPr/>
        </p:nvPicPr>
        <p:blipFill>
          <a:blip r:embed="rId2"/>
          <a:stretch>
            <a:fillRect/>
          </a:stretch>
        </p:blipFill>
        <p:spPr>
          <a:xfrm>
            <a:off x="2349746" y="1783080"/>
            <a:ext cx="7370589" cy="3383280"/>
          </a:xfrm>
          <a:prstGeom prst="rect">
            <a:avLst/>
          </a:prstGeom>
        </p:spPr>
      </p:pic>
      <p:sp>
        <p:nvSpPr>
          <p:cNvPr id="11" name="Rounded Rectangle 10"/>
          <p:cNvSpPr/>
          <p:nvPr/>
        </p:nvSpPr>
        <p:spPr>
          <a:xfrm>
            <a:off x="411480" y="525780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single question to ask of every line you write</a:t>
            </a:r>
          </a:p>
        </p:txBody>
      </p:sp>
      <p:sp>
        <p:nvSpPr>
          <p:cNvPr id="13" name="TextBox 12"/>
          <p:cNvSpPr txBox="1"/>
          <p:nvPr/>
        </p:nvSpPr>
        <p:spPr>
          <a:xfrm>
            <a:off x="576072" y="5596128"/>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"What does this become?" </a:t>
            </a:r>
            <a:r>
              <a:rPr sz="1100" b="0" i="0">
                <a:solidFill>
                  <a:srgbClr val="33414F"/>
                </a:solidFill>
                <a:latin typeface="Calibri"/>
              </a:rPr>
              <a:t>If you cannot answer that for a line of your own RTL, you have written something you do not understand, and the tool will make its own choice. Nine times out of ten that choice is a latch, a huge multiplexer, or a critical path you did not expect.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COMBINATIONAL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Three Ways to Write the Same Multiplexer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All three of these synthesise to identical hardware. </a:t>
            </a:r>
            <a:r>
              <a:rPr sz="1100" b="0" i="0">
                <a:solidFill>
                  <a:srgbClr val="33414F"/>
                </a:solidFill>
                <a:latin typeface="Calibri"/>
              </a:rPr>
              <a:t>Choose by readability, not by any belief about efficiency — the synthesiser flattens all of them to the same boolean function before it optimises.</a:t>
            </a:r>
          </a:p>
        </p:txBody>
      </p:sp>
      <p:sp>
        <p:nvSpPr>
          <p:cNvPr id="10" name="Rounded Rectangle 9"/>
          <p:cNvSpPr/>
          <p:nvPr/>
        </p:nvSpPr>
        <p:spPr>
          <a:xfrm>
            <a:off x="411480" y="1737360"/>
            <a:ext cx="11247120" cy="35102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Topic4_Lab/rtl/mux2.v uses style 1</a:t>
            </a:r>
          </a:p>
        </p:txBody>
      </p:sp>
      <p:sp>
        <p:nvSpPr>
          <p:cNvPr id="12" name="TextBox 11"/>
          <p:cNvSpPr txBox="1"/>
          <p:nvPr/>
        </p:nvSpPr>
        <p:spPr>
          <a:xfrm>
            <a:off x="594360" y="2125980"/>
            <a:ext cx="10881360" cy="3007360"/>
          </a:xfrm>
          <a:prstGeom prst="rect">
            <a:avLst/>
          </a:prstGeom>
          <a:noFill/>
        </p:spPr>
        <p:txBody>
          <a:bodyPr wrap="square" lIns="0" rIns="0" tIns="0" bIns="0" anchor="t">
            <a:spAutoFit/>
          </a:bodyPr>
          <a:lstStyle/>
          <a:p>
            <a:pPr algn="l">
              <a:lnSpc>
                <a:spcPct val="112000"/>
              </a:lnSpc>
            </a:pPr>
            <a:r>
              <a:rPr sz="1000" b="0" i="0">
                <a:solidFill>
                  <a:srgbClr val="7F9CB5"/>
                </a:solidFill>
                <a:latin typeface="Consolas"/>
              </a:rPr>
              <a:t>// Style 1 -- continuous assignment. Best for short expressions.</a:t>
            </a:r>
          </a:p>
          <a:p>
            <a:pPr algn="l">
              <a:lnSpc>
                <a:spcPct val="112000"/>
              </a:lnSpc>
            </a:pPr>
            <a:r>
              <a:rPr sz="1000" b="0" i="0">
                <a:solidFill>
                  <a:srgbClr val="D8E4F0"/>
                </a:solidFill>
                <a:latin typeface="Consolas"/>
              </a:rPr>
              <a:t>assign y = sel ? b : a;</a:t>
            </a:r>
          </a:p>
          <a:p>
            <a:pPr algn="l">
              <a:lnSpc>
                <a:spcPct val="112000"/>
              </a:lnSpc>
            </a:pPr>
            <a:r>
              <a:rPr sz="1000" b="0" i="0">
                <a:solidFill>
                  <a:srgbClr val="D8E4F0"/>
                </a:solidFill>
                <a:latin typeface="Consolas"/>
              </a:rPr>
              <a:t> </a:t>
            </a:r>
          </a:p>
          <a:p>
            <a:pPr algn="l">
              <a:lnSpc>
                <a:spcPct val="112000"/>
              </a:lnSpc>
            </a:pPr>
            <a:r>
              <a:rPr sz="1000" b="0" i="0">
                <a:solidFill>
                  <a:srgbClr val="7F9CB5"/>
                </a:solidFill>
                <a:latin typeface="Consolas"/>
              </a:rPr>
              <a:t>// Style 2 -- combinational always block with if/else.</a:t>
            </a:r>
          </a:p>
          <a:p>
            <a:pPr algn="l">
              <a:lnSpc>
                <a:spcPct val="112000"/>
              </a:lnSpc>
            </a:pPr>
            <a:r>
              <a:rPr sz="1000" b="0" i="0">
                <a:solidFill>
                  <a:srgbClr val="D8E4F0"/>
                </a:solidFill>
                <a:latin typeface="Consolas"/>
              </a:rPr>
              <a:t>always @(*) begin</a:t>
            </a:r>
          </a:p>
          <a:p>
            <a:pPr algn="l">
              <a:lnSpc>
                <a:spcPct val="112000"/>
              </a:lnSpc>
            </a:pPr>
            <a:r>
              <a:rPr sz="1000" b="0" i="0">
                <a:solidFill>
                  <a:srgbClr val="D8E4F0"/>
                </a:solidFill>
                <a:latin typeface="Consolas"/>
              </a:rPr>
              <a:t>  if (sel) y = b;</a:t>
            </a:r>
          </a:p>
          <a:p>
            <a:pPr algn="l">
              <a:lnSpc>
                <a:spcPct val="112000"/>
              </a:lnSpc>
            </a:pPr>
            <a:r>
              <a:rPr sz="1000" b="0" i="0">
                <a:solidFill>
                  <a:srgbClr val="D8E4F0"/>
                </a:solidFill>
                <a:latin typeface="Consolas"/>
              </a:rPr>
              <a:t>  else     y = a;          // the else is what stops a latch</a:t>
            </a:r>
          </a:p>
          <a:p>
            <a:pPr algn="l">
              <a:lnSpc>
                <a:spcPct val="112000"/>
              </a:lnSpc>
            </a:pPr>
            <a:r>
              <a:rPr sz="1000" b="0" i="0">
                <a:solidFill>
                  <a:srgbClr val="D8E4F0"/>
                </a:solidFill>
                <a:latin typeface="Consolas"/>
              </a:rPr>
              <a:t>end</a:t>
            </a:r>
          </a:p>
          <a:p>
            <a:pPr algn="l">
              <a:lnSpc>
                <a:spcPct val="112000"/>
              </a:lnSpc>
            </a:pPr>
            <a:r>
              <a:rPr sz="1000" b="0" i="0">
                <a:solidFill>
                  <a:srgbClr val="D8E4F0"/>
                </a:solidFill>
                <a:latin typeface="Consolas"/>
              </a:rPr>
              <a:t> </a:t>
            </a:r>
          </a:p>
          <a:p>
            <a:pPr algn="l">
              <a:lnSpc>
                <a:spcPct val="112000"/>
              </a:lnSpc>
            </a:pPr>
            <a:r>
              <a:rPr sz="1000" b="0" i="0">
                <a:solidFill>
                  <a:srgbClr val="7F9CB5"/>
                </a:solidFill>
                <a:latin typeface="Consolas"/>
              </a:rPr>
              <a:t>// Style 3 -- combinational always block with case. Scales best.</a:t>
            </a:r>
          </a:p>
          <a:p>
            <a:pPr algn="l">
              <a:lnSpc>
                <a:spcPct val="112000"/>
              </a:lnSpc>
            </a:pPr>
            <a:r>
              <a:rPr sz="1000" b="0" i="0">
                <a:solidFill>
                  <a:srgbClr val="D8E4F0"/>
                </a:solidFill>
                <a:latin typeface="Consolas"/>
              </a:rPr>
              <a:t>always @(*) begin</a:t>
            </a:r>
          </a:p>
          <a:p>
            <a:pPr algn="l">
              <a:lnSpc>
                <a:spcPct val="112000"/>
              </a:lnSpc>
            </a:pPr>
            <a:r>
              <a:rPr sz="1000" b="0" i="0">
                <a:solidFill>
                  <a:srgbClr val="D8E4F0"/>
                </a:solidFill>
                <a:latin typeface="Consolas"/>
              </a:rPr>
              <a:t>  case (sel)</a:t>
            </a:r>
          </a:p>
          <a:p>
            <a:pPr algn="l">
              <a:lnSpc>
                <a:spcPct val="112000"/>
              </a:lnSpc>
            </a:pPr>
            <a:r>
              <a:rPr sz="1000" b="0" i="0">
                <a:solidFill>
                  <a:srgbClr val="D8E4F0"/>
                </a:solidFill>
                <a:latin typeface="Consolas"/>
              </a:rPr>
              <a:t>    1'b0:    y = a;</a:t>
            </a:r>
          </a:p>
          <a:p>
            <a:pPr algn="l">
              <a:lnSpc>
                <a:spcPct val="112000"/>
              </a:lnSpc>
            </a:pPr>
            <a:r>
              <a:rPr sz="1000" b="0" i="0">
                <a:solidFill>
                  <a:srgbClr val="D8E4F0"/>
                </a:solidFill>
                <a:latin typeface="Consolas"/>
              </a:rPr>
              <a:t>    default: y = b;        // default covers 1'b1, 1'bx and 1'bz</a:t>
            </a:r>
          </a:p>
          <a:p>
            <a:pPr algn="l">
              <a:lnSpc>
                <a:spcPct val="112000"/>
              </a:lnSpc>
            </a:pPr>
            <a:r>
              <a:rPr sz="1000" b="0" i="0">
                <a:solidFill>
                  <a:srgbClr val="D8E4F0"/>
                </a:solidFill>
                <a:latin typeface="Consolas"/>
              </a:rPr>
              <a:t>  endcase</a:t>
            </a:r>
          </a:p>
          <a:p>
            <a:pPr algn="l">
              <a:lnSpc>
                <a:spcPct val="112000"/>
              </a:lnSpc>
            </a:pPr>
            <a:r>
              <a:rPr sz="1000" b="0" i="0">
                <a:solidFill>
                  <a:srgbClr val="D8E4F0"/>
                </a:solidFill>
                <a:latin typeface="Consolas"/>
              </a:rPr>
              <a:t>end</a:t>
            </a:r>
          </a:p>
        </p:txBody>
      </p:sp>
      <p:sp>
        <p:nvSpPr>
          <p:cNvPr id="13" name="TextBox 12"/>
          <p:cNvSpPr txBox="1"/>
          <p:nvPr/>
        </p:nvSpPr>
        <p:spPr>
          <a:xfrm>
            <a:off x="411480" y="529336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Style 1 for one-liners. Style 3 the moment there are three or more choices — a 4:1 multiplexer written as nested ternaries is unreadable, and unreadable RTL is where bugs live.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4B · LATCHES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Accidental Latch — The Number One Beginner Bug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31</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If a combinational block does not assign a variable on EVERY possible path, </a:t>
            </a:r>
            <a:r>
              <a:rPr sz="1100" b="0" i="0">
                <a:solidFill>
                  <a:srgbClr val="33414F"/>
                </a:solidFill>
                <a:latin typeface="Calibri"/>
              </a:rPr>
              <a:t>the variable must keep its old value when that path is taken. Keeping an old value is memory, and the only memory the tool can build from a level-sensitive block is a transparent latch.</a:t>
            </a:r>
          </a:p>
        </p:txBody>
      </p:sp>
      <p:pic>
        <p:nvPicPr>
          <p:cNvPr id="10" name="Picture 9" descr="latch_inference.png"/>
          <p:cNvPicPr>
            <a:picLocks noChangeAspect="1"/>
          </p:cNvPicPr>
          <p:nvPr/>
        </p:nvPicPr>
        <p:blipFill>
          <a:blip r:embed="rId2"/>
          <a:stretch>
            <a:fillRect/>
          </a:stretch>
        </p:blipFill>
        <p:spPr>
          <a:xfrm>
            <a:off x="2729572" y="1783080"/>
            <a:ext cx="6610935" cy="2834640"/>
          </a:xfrm>
          <a:prstGeom prst="rect">
            <a:avLst/>
          </a:prstGeom>
        </p:spPr>
      </p:pic>
      <p:sp>
        <p:nvSpPr>
          <p:cNvPr id="11" name="Rounded Rectangle 10"/>
          <p:cNvSpPr/>
          <p:nvPr/>
        </p:nvSpPr>
        <p:spPr>
          <a:xfrm>
            <a:off x="411480" y="4709160"/>
            <a:ext cx="5532120" cy="13258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7731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Why a latch is bad news</a:t>
            </a:r>
          </a:p>
        </p:txBody>
      </p:sp>
      <p:sp>
        <p:nvSpPr>
          <p:cNvPr id="13" name="TextBox 12"/>
          <p:cNvSpPr txBox="1"/>
          <p:nvPr/>
        </p:nvSpPr>
        <p:spPr>
          <a:xfrm>
            <a:off x="548640" y="5047488"/>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It is transparent while enabled — data flows straight through, so it does not isolate one cycle from the next.</a:t>
            </a:r>
          </a:p>
          <a:p>
            <a:pPr algn="l">
              <a:lnSpc>
                <a:spcPct val="103000"/>
              </a:lnSpc>
              <a:spcAft>
                <a:spcPts val="400"/>
              </a:spcAft>
            </a:pPr>
            <a:r>
              <a:rPr sz="1050" b="0" i="0">
                <a:solidFill>
                  <a:srgbClr val="33414F"/>
                </a:solidFill>
                <a:latin typeface="Calibri"/>
              </a:rPr>
              <a:t>· Static timing analysis of latch-based paths is far harder; many flows simply cannot close timing on them.</a:t>
            </a:r>
          </a:p>
          <a:p>
            <a:pPr algn="l">
              <a:lnSpc>
                <a:spcPct val="103000"/>
              </a:lnSpc>
              <a:spcAft>
                <a:spcPts val="400"/>
              </a:spcAft>
            </a:pPr>
            <a:r>
              <a:rPr sz="1050" b="1" i="0">
                <a:solidFill>
                  <a:srgbClr val="C01F43"/>
                </a:solidFill>
                <a:latin typeface="Calibri"/>
              </a:rPr>
              <a:t>· It was almost certainly not what you meant.</a:t>
            </a:r>
          </a:p>
        </p:txBody>
      </p:sp>
      <p:sp>
        <p:nvSpPr>
          <p:cNvPr id="14" name="Rounded Rectangle 13"/>
          <p:cNvSpPr/>
          <p:nvPr/>
        </p:nvSpPr>
        <p:spPr>
          <a:xfrm>
            <a:off x="6126480" y="4709160"/>
            <a:ext cx="5532120" cy="13258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47731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two cures — use both</a:t>
            </a:r>
          </a:p>
        </p:txBody>
      </p:sp>
      <p:sp>
        <p:nvSpPr>
          <p:cNvPr id="16" name="TextBox 15"/>
          <p:cNvSpPr txBox="1"/>
          <p:nvPr/>
        </p:nvSpPr>
        <p:spPr>
          <a:xfrm>
            <a:off x="6263640" y="5047488"/>
            <a:ext cx="5257800" cy="92354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alibri"/>
              </a:rPr>
              <a:t>1. Default first. </a:t>
            </a:r>
            <a:r>
              <a:rPr sz="1050" b="0" i="0">
                <a:solidFill>
                  <a:srgbClr val="33414F"/>
                </a:solidFill>
                <a:latin typeface="Calibri"/>
              </a:rPr>
              <a:t>Assign every output at the top of the block, then override in the branches.</a:t>
            </a:r>
          </a:p>
          <a:p>
            <a:pPr algn="l">
              <a:lnSpc>
                <a:spcPct val="103000"/>
              </a:lnSpc>
              <a:spcAft>
                <a:spcPts val="400"/>
              </a:spcAft>
            </a:pPr>
            <a:r>
              <a:rPr sz="1050" b="1" i="0">
                <a:solidFill>
                  <a:srgbClr val="2A9D5C"/>
                </a:solidFill>
                <a:latin typeface="Calibri"/>
              </a:rPr>
              <a:t>2. Complete every branch. </a:t>
            </a:r>
            <a:r>
              <a:rPr sz="1050" b="0" i="0">
                <a:solidFill>
                  <a:srgbClr val="33414F"/>
                </a:solidFill>
                <a:latin typeface="Calibri"/>
              </a:rPr>
              <a:t>Every if has an else; every case has a default. Then grep the synthesis log for the word 'latch' before you go home.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LAB EVIDENCE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Seeing the Latch in a Real Tool Report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32</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Do not take this on trust — make the tool show you. </a:t>
            </a:r>
            <a:r>
              <a:rPr sz="1100" b="0" i="0">
                <a:solidFill>
                  <a:srgbClr val="33414F"/>
                </a:solidFill>
                <a:latin typeface="Calibri"/>
              </a:rPr>
              <a:t>Topic4_Lab/rtl/broken_examples.v contains deliberately wrong modules so you can watch each failure appear in a synthesis report and then watch it disappear when you fix it.</a:t>
            </a:r>
          </a:p>
        </p:txBody>
      </p:sp>
      <p:sp>
        <p:nvSpPr>
          <p:cNvPr id="10" name="Rounded Rectangle 9"/>
          <p:cNvSpPr/>
          <p:nvPr/>
        </p:nvSpPr>
        <p:spPr>
          <a:xfrm>
            <a:off x="411480" y="1783080"/>
            <a:ext cx="11247120" cy="25704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rtl/broken_examples.v</a:t>
            </a:r>
          </a:p>
        </p:txBody>
      </p:sp>
      <p:sp>
        <p:nvSpPr>
          <p:cNvPr id="12" name="TextBox 11"/>
          <p:cNvSpPr txBox="1"/>
          <p:nvPr/>
        </p:nvSpPr>
        <p:spPr>
          <a:xfrm>
            <a:off x="594360" y="2171700"/>
            <a:ext cx="10881360" cy="2067560"/>
          </a:xfrm>
          <a:prstGeom prst="rect">
            <a:avLst/>
          </a:prstGeom>
          <a:noFill/>
        </p:spPr>
        <p:txBody>
          <a:bodyPr wrap="square" lIns="0" rIns="0" tIns="0" bIns="0" anchor="t">
            <a:spAutoFit/>
          </a:bodyPr>
          <a:lstStyle/>
          <a:p>
            <a:pPr algn="l">
              <a:lnSpc>
                <a:spcPct val="112000"/>
              </a:lnSpc>
            </a:pPr>
            <a:r>
              <a:rPr sz="1000" b="0" i="0">
                <a:solidFill>
                  <a:srgbClr val="7F9CB5"/>
                </a:solidFill>
                <a:latin typeface="Consolas"/>
              </a:rPr>
              <a:t>// bad_latch -- BOTH always blocks are incomplete</a:t>
            </a:r>
          </a:p>
          <a:p>
            <a:pPr algn="l">
              <a:lnSpc>
                <a:spcPct val="112000"/>
              </a:lnSpc>
            </a:pPr>
            <a:r>
              <a:rPr sz="1000" b="0" i="0">
                <a:solidFill>
                  <a:srgbClr val="D8E4F0"/>
                </a:solidFill>
                <a:latin typeface="Consolas"/>
              </a:rPr>
              <a:t>always @(*) begin</a:t>
            </a:r>
          </a:p>
          <a:p>
            <a:pPr algn="l">
              <a:lnSpc>
                <a:spcPct val="112000"/>
              </a:lnSpc>
            </a:pPr>
            <a:r>
              <a:rPr sz="1000" b="0" i="0">
                <a:solidFill>
                  <a:srgbClr val="D8E4F0"/>
                </a:solidFill>
                <a:latin typeface="Consolas"/>
              </a:rPr>
              <a:t>  if (enable) y = d[0];              // no else            -&gt; LATCH on y</a:t>
            </a:r>
          </a:p>
          <a:p>
            <a:pPr algn="l">
              <a:lnSpc>
                <a:spcPct val="112000"/>
              </a:lnSpc>
            </a:pPr>
            <a:r>
              <a:rPr sz="1000" b="0" i="0">
                <a:solidFill>
                  <a:srgbClr val="D8E4F0"/>
                </a:solidFill>
                <a:latin typeface="Consolas"/>
              </a:rPr>
              <a:t>end</a:t>
            </a:r>
          </a:p>
          <a:p>
            <a:pPr algn="l">
              <a:lnSpc>
                <a:spcPct val="112000"/>
              </a:lnSpc>
            </a:pPr>
            <a:r>
              <a:rPr sz="1000" b="0" i="0">
                <a:solidFill>
                  <a:srgbClr val="D8E4F0"/>
                </a:solidFill>
                <a:latin typeface="Consolas"/>
              </a:rPr>
              <a:t>always @(*) begin</a:t>
            </a:r>
          </a:p>
          <a:p>
            <a:pPr algn="l">
              <a:lnSpc>
                <a:spcPct val="112000"/>
              </a:lnSpc>
            </a:pPr>
            <a:r>
              <a:rPr sz="1000" b="0" i="0">
                <a:solidFill>
                  <a:srgbClr val="D8E4F0"/>
                </a:solidFill>
                <a:latin typeface="Consolas"/>
              </a:rPr>
              <a:t>  case (sel)</a:t>
            </a:r>
          </a:p>
          <a:p>
            <a:pPr algn="l">
              <a:lnSpc>
                <a:spcPct val="112000"/>
              </a:lnSpc>
            </a:pPr>
            <a:r>
              <a:rPr sz="1000" b="0" i="0">
                <a:solidFill>
                  <a:srgbClr val="D8E4F0"/>
                </a:solidFill>
                <a:latin typeface="Consolas"/>
              </a:rPr>
              <a:t>    2'b00: w = d[0];</a:t>
            </a:r>
          </a:p>
          <a:p>
            <a:pPr algn="l">
              <a:lnSpc>
                <a:spcPct val="112000"/>
              </a:lnSpc>
            </a:pPr>
            <a:r>
              <a:rPr sz="1000" b="0" i="0">
                <a:solidFill>
                  <a:srgbClr val="D8E4F0"/>
                </a:solidFill>
                <a:latin typeface="Consolas"/>
              </a:rPr>
              <a:t>    2'b01: w = d[1];</a:t>
            </a:r>
          </a:p>
          <a:p>
            <a:pPr algn="l">
              <a:lnSpc>
                <a:spcPct val="112000"/>
              </a:lnSpc>
            </a:pPr>
            <a:r>
              <a:rPr sz="1000" b="0" i="0">
                <a:solidFill>
                  <a:srgbClr val="D8E4F0"/>
                </a:solidFill>
                <a:latin typeface="Consolas"/>
              </a:rPr>
              <a:t>    2'b10: w = d[2];                 // 2'b11 missing, no default -&gt; LATCH on w</a:t>
            </a:r>
          </a:p>
          <a:p>
            <a:pPr algn="l">
              <a:lnSpc>
                <a:spcPct val="112000"/>
              </a:lnSpc>
            </a:pPr>
            <a:r>
              <a:rPr sz="1000" b="0" i="0">
                <a:solidFill>
                  <a:srgbClr val="D8E4F0"/>
                </a:solidFill>
                <a:latin typeface="Consolas"/>
              </a:rPr>
              <a:t>  endcase</a:t>
            </a:r>
          </a:p>
          <a:p>
            <a:pPr algn="l">
              <a:lnSpc>
                <a:spcPct val="112000"/>
              </a:lnSpc>
            </a:pPr>
            <a:r>
              <a:rPr sz="1000" b="0" i="0">
                <a:solidFill>
                  <a:srgbClr val="D8E4F0"/>
                </a:solidFill>
                <a:latin typeface="Consolas"/>
              </a:rPr>
              <a:t>end</a:t>
            </a:r>
          </a:p>
        </p:txBody>
      </p:sp>
      <p:sp>
        <p:nvSpPr>
          <p:cNvPr id="13" name="Rounded Rectangle 12"/>
          <p:cNvSpPr/>
          <p:nvPr/>
        </p:nvSpPr>
        <p:spPr>
          <a:xfrm>
            <a:off x="411480" y="4445000"/>
            <a:ext cx="11247120" cy="1066800"/>
          </a:xfrm>
          <a:prstGeom prst="roundRect">
            <a:avLst>
              <a:gd name="adj" fmla="val 3000"/>
            </a:avLst>
          </a:prstGeom>
          <a:solidFill>
            <a:srgbClr val="11223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 y="4559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Verified output — run this yourself in Lab L1</a:t>
            </a:r>
          </a:p>
        </p:txBody>
      </p:sp>
      <p:sp>
        <p:nvSpPr>
          <p:cNvPr id="15" name="TextBox 14"/>
          <p:cNvSpPr txBox="1"/>
          <p:nvPr/>
        </p:nvSpPr>
        <p:spPr>
          <a:xfrm>
            <a:off x="594360" y="4833620"/>
            <a:ext cx="10881360" cy="56388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yosys -p "read_verilog rtl/broken_examples.v; synth -top bad_latch; stat"</a:t>
            </a:r>
          </a:p>
          <a:p>
            <a:pPr algn="l">
              <a:lnSpc>
                <a:spcPct val="112000"/>
              </a:lnSpc>
            </a:pPr>
            <a:r>
              <a:rPr sz="1000" b="0" i="0">
                <a:solidFill>
                  <a:srgbClr val="D8E4F0"/>
                </a:solidFill>
                <a:latin typeface="Consolas"/>
              </a:rPr>
              <a:t>     $_DLATCH_N_    1</a:t>
            </a:r>
          </a:p>
          <a:p>
            <a:pPr algn="l">
              <a:lnSpc>
                <a:spcPct val="112000"/>
              </a:lnSpc>
            </a:pPr>
            <a:r>
              <a:rPr sz="1000" b="0" i="0">
                <a:solidFill>
                  <a:srgbClr val="D8E4F0"/>
                </a:solidFill>
                <a:latin typeface="Consolas"/>
              </a:rPr>
              <a:t>     $_DLATCH_P_    1              &lt;-- two latches, exactly as predicted</a:t>
            </a:r>
          </a:p>
        </p:txBody>
      </p:sp>
      <p:sp>
        <p:nvSpPr>
          <p:cNvPr id="16" name="TextBox 15"/>
          <p:cNvSpPr txBox="1"/>
          <p:nvPr/>
        </p:nvSpPr>
        <p:spPr>
          <a:xfrm>
            <a:off x="411480" y="555752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Now add the else and the default, re-run, and the two DLATCH lines vanish. That before-and-after is the exercise; the slide is only the summary.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DECODE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case Becomes a Multiplexer — or a Decoder, or an Encoder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One construct, three familiar building blocks. </a:t>
            </a:r>
            <a:r>
              <a:rPr sz="1100" b="0" i="0">
                <a:solidFill>
                  <a:srgbClr val="33414F"/>
                </a:solidFill>
                <a:latin typeface="Calibri"/>
              </a:rPr>
              <a:t>Which one you get depends only on what is being selected: data (multiplexer), a one-hot output (decoder), or a priority (encoder).</a:t>
            </a:r>
          </a:p>
        </p:txBody>
      </p:sp>
      <p:pic>
        <p:nvPicPr>
          <p:cNvPr id="10" name="Picture 9" descr="case_to_mux.png"/>
          <p:cNvPicPr>
            <a:picLocks noChangeAspect="1"/>
          </p:cNvPicPr>
          <p:nvPr/>
        </p:nvPicPr>
        <p:blipFill>
          <a:blip r:embed="rId2"/>
          <a:stretch>
            <a:fillRect/>
          </a:stretch>
        </p:blipFill>
        <p:spPr>
          <a:xfrm>
            <a:off x="2597656" y="1737360"/>
            <a:ext cx="6874768" cy="2743200"/>
          </a:xfrm>
          <a:prstGeom prst="rect">
            <a:avLst/>
          </a:prstGeom>
        </p:spPr>
      </p:pic>
      <p:sp>
        <p:nvSpPr>
          <p:cNvPr id="11" name="Rounded Rectangle 10"/>
          <p:cNvSpPr/>
          <p:nvPr/>
        </p:nvSpPr>
        <p:spPr>
          <a:xfrm>
            <a:off x="411480" y="4572000"/>
            <a:ext cx="5532120" cy="14630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636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Decoder — Topic4_Lab/rtl/decoder3to8.v</a:t>
            </a:r>
          </a:p>
        </p:txBody>
      </p:sp>
      <p:sp>
        <p:nvSpPr>
          <p:cNvPr id="13" name="TextBox 12"/>
          <p:cNvSpPr txBox="1"/>
          <p:nvPr/>
        </p:nvSpPr>
        <p:spPr>
          <a:xfrm>
            <a:off x="548640" y="4910328"/>
            <a:ext cx="5257800" cy="10607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always @(*) begin</a:t>
            </a:r>
          </a:p>
          <a:p>
            <a:pPr algn="l">
              <a:lnSpc>
                <a:spcPct val="103000"/>
              </a:lnSpc>
              <a:spcAft>
                <a:spcPts val="400"/>
              </a:spcAft>
            </a:pPr>
            <a:r>
              <a:rPr sz="1000" b="0" i="0">
                <a:solidFill>
                  <a:srgbClr val="33414F"/>
                </a:solidFill>
                <a:latin typeface="Consolas"/>
              </a:rPr>
              <a:t>  y = 8'b0;</a:t>
            </a:r>
          </a:p>
          <a:p>
            <a:pPr algn="l">
              <a:lnSpc>
                <a:spcPct val="103000"/>
              </a:lnSpc>
              <a:spcAft>
                <a:spcPts val="400"/>
              </a:spcAft>
            </a:pPr>
            <a:r>
              <a:rPr sz="1000" b="0" i="0">
                <a:solidFill>
                  <a:srgbClr val="33414F"/>
                </a:solidFill>
                <a:latin typeface="Consolas"/>
              </a:rPr>
              <a:t>  if (en) y[sel] = 1'b1;</a:t>
            </a:r>
          </a:p>
          <a:p>
            <a:pPr algn="l">
              <a:lnSpc>
                <a:spcPct val="103000"/>
              </a:lnSpc>
              <a:spcAft>
                <a:spcPts val="400"/>
              </a:spcAft>
            </a:pPr>
            <a:r>
              <a:rPr sz="1000" b="0" i="0">
                <a:solidFill>
                  <a:srgbClr val="33414F"/>
                </a:solidFill>
                <a:latin typeface="Consolas"/>
              </a:rPr>
              <a:t>end</a:t>
            </a:r>
          </a:p>
          <a:p>
            <a:pPr algn="l">
              <a:lnSpc>
                <a:spcPct val="103000"/>
              </a:lnSpc>
              <a:spcAft>
                <a:spcPts val="400"/>
              </a:spcAft>
            </a:pPr>
            <a:r>
              <a:rPr sz="1000" b="0" i="0">
                <a:solidFill>
                  <a:srgbClr val="5A6B7B"/>
                </a:solidFill>
                <a:latin typeface="Calibri"/>
              </a:rPr>
              <a:t>A variable INDEX on the left of an assignment is a decoder. Perfectly legal, perfectly synthesisable.</a:t>
            </a:r>
          </a:p>
        </p:txBody>
      </p:sp>
      <p:sp>
        <p:nvSpPr>
          <p:cNvPr id="14" name="Rounded Rectangle 13"/>
          <p:cNvSpPr/>
          <p:nvPr/>
        </p:nvSpPr>
        <p:spPr>
          <a:xfrm>
            <a:off x="6126480" y="4572000"/>
            <a:ext cx="5532120" cy="14630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4636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Priority encoder — rtl/priority_encoder8.v</a:t>
            </a:r>
          </a:p>
        </p:txBody>
      </p:sp>
      <p:sp>
        <p:nvSpPr>
          <p:cNvPr id="16" name="TextBox 15"/>
          <p:cNvSpPr txBox="1"/>
          <p:nvPr/>
        </p:nvSpPr>
        <p:spPr>
          <a:xfrm>
            <a:off x="6263640" y="4910328"/>
            <a:ext cx="5257800" cy="106070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casez (req)</a:t>
            </a:r>
          </a:p>
          <a:p>
            <a:pPr algn="l">
              <a:lnSpc>
                <a:spcPct val="103000"/>
              </a:lnSpc>
              <a:spcAft>
                <a:spcPts val="400"/>
              </a:spcAft>
            </a:pPr>
            <a:r>
              <a:rPr sz="1000" b="0" i="0">
                <a:solidFill>
                  <a:srgbClr val="33414F"/>
                </a:solidFill>
                <a:latin typeface="Consolas"/>
              </a:rPr>
              <a:t>  8'b1???????: {v,y} = {1'b1,3'd7};</a:t>
            </a:r>
          </a:p>
          <a:p>
            <a:pPr algn="l">
              <a:lnSpc>
                <a:spcPct val="103000"/>
              </a:lnSpc>
              <a:spcAft>
                <a:spcPts val="400"/>
              </a:spcAft>
            </a:pPr>
            <a:r>
              <a:rPr sz="1000" b="0" i="0">
                <a:solidFill>
                  <a:srgbClr val="33414F"/>
                </a:solidFill>
                <a:latin typeface="Consolas"/>
              </a:rPr>
              <a:t>  8'b01??????: {v,y} = {1'b1,3'd6};</a:t>
            </a:r>
          </a:p>
          <a:p>
            <a:pPr algn="l">
              <a:lnSpc>
                <a:spcPct val="103000"/>
              </a:lnSpc>
              <a:spcAft>
                <a:spcPts val="400"/>
              </a:spcAft>
            </a:pPr>
            <a:r>
              <a:rPr sz="1000" b="0" i="0">
                <a:solidFill>
                  <a:srgbClr val="33414F"/>
                </a:solidFill>
                <a:latin typeface="Consolas"/>
              </a:rPr>
              <a:t>  ... default: {v,y} = {1'b0,3'd0};</a:t>
            </a:r>
          </a:p>
          <a:p>
            <a:pPr algn="l">
              <a:lnSpc>
                <a:spcPct val="103000"/>
              </a:lnSpc>
              <a:spcAft>
                <a:spcPts val="400"/>
              </a:spcAft>
            </a:pPr>
            <a:r>
              <a:rPr sz="1000" b="0" i="0">
                <a:solidFill>
                  <a:srgbClr val="5A6B7B"/>
                </a:solidFill>
                <a:latin typeface="Calibri"/>
              </a:rPr>
              <a:t>casez, never casex. The valid bit tells you 'no request' apart from 'request 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 8-Operation ALU With Real Flags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first design in the lab that is big enough to be interesting. </a:t>
            </a:r>
            <a:r>
              <a:rPr sz="1100" b="0" i="0">
                <a:solidFill>
                  <a:srgbClr val="33414F"/>
                </a:solidFill>
                <a:latin typeface="Calibri"/>
              </a:rPr>
              <a:t>Note the defaults at the top of the block, the width-(W+1) sum that captures the carry, and the fact that signed overflow is NOT the same thing as carry.</a:t>
            </a:r>
          </a:p>
        </p:txBody>
      </p:sp>
      <p:sp>
        <p:nvSpPr>
          <p:cNvPr id="10" name="Rounded Rectangle 9"/>
          <p:cNvSpPr/>
          <p:nvPr/>
        </p:nvSpPr>
        <p:spPr>
          <a:xfrm>
            <a:off x="411480" y="1783080"/>
            <a:ext cx="11247120" cy="335991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Topic4_Lab/rtl/alu.v (extract)</a:t>
            </a:r>
          </a:p>
        </p:txBody>
      </p:sp>
      <p:sp>
        <p:nvSpPr>
          <p:cNvPr id="12" name="TextBox 11"/>
          <p:cNvSpPr txBox="1"/>
          <p:nvPr/>
        </p:nvSpPr>
        <p:spPr>
          <a:xfrm>
            <a:off x="594360" y="2171700"/>
            <a:ext cx="10881360" cy="285699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wire [W:0] sum_ext  = {1'b0, a} + {1'b0, b};   // ONE bit wider -&gt; carry is free</a:t>
            </a:r>
          </a:p>
          <a:p>
            <a:pPr algn="l">
              <a:lnSpc>
                <a:spcPct val="112000"/>
              </a:lnSpc>
            </a:pPr>
            <a:r>
              <a:rPr sz="950" b="0" i="0">
                <a:solidFill>
                  <a:srgbClr val="D8E4F0"/>
                </a:solidFill>
                <a:latin typeface="Consolas"/>
              </a:rPr>
              <a:t>always @(*) begin</a:t>
            </a:r>
          </a:p>
          <a:p>
            <a:pPr algn="l">
              <a:lnSpc>
                <a:spcPct val="112000"/>
              </a:lnSpc>
            </a:pPr>
            <a:r>
              <a:rPr sz="950" b="0" i="0">
                <a:solidFill>
                  <a:srgbClr val="D8E4F0"/>
                </a:solidFill>
                <a:latin typeface="Consolas"/>
              </a:rPr>
              <a:t>  result = {W{1'b0}};  carry = 1'b0;  overflow = 1'b0;   // defaults -&gt; no latch</a:t>
            </a:r>
          </a:p>
          <a:p>
            <a:pPr algn="l">
              <a:lnSpc>
                <a:spcPct val="112000"/>
              </a:lnSpc>
            </a:pPr>
            <a:r>
              <a:rPr sz="950" b="0" i="0">
                <a:solidFill>
                  <a:srgbClr val="D8E4F0"/>
                </a:solidFill>
                <a:latin typeface="Consolas"/>
              </a:rPr>
              <a:t>  case (op)</a:t>
            </a:r>
          </a:p>
          <a:p>
            <a:pPr algn="l">
              <a:lnSpc>
                <a:spcPct val="112000"/>
              </a:lnSpc>
            </a:pPr>
            <a:r>
              <a:rPr sz="950" b="0" i="0">
                <a:solidFill>
                  <a:srgbClr val="D8E4F0"/>
                </a:solidFill>
                <a:latin typeface="Consolas"/>
              </a:rPr>
              <a:t>    OP_ADD: begin</a:t>
            </a:r>
          </a:p>
          <a:p>
            <a:pPr algn="l">
              <a:lnSpc>
                <a:spcPct val="112000"/>
              </a:lnSpc>
            </a:pPr>
            <a:r>
              <a:rPr sz="950" b="0" i="0">
                <a:solidFill>
                  <a:srgbClr val="D8E4F0"/>
                </a:solidFill>
                <a:latin typeface="Consolas"/>
              </a:rPr>
              <a:t>      result   = sum_ext[W-1:0];</a:t>
            </a:r>
          </a:p>
          <a:p>
            <a:pPr algn="l">
              <a:lnSpc>
                <a:spcPct val="112000"/>
              </a:lnSpc>
            </a:pPr>
            <a:r>
              <a:rPr sz="950" b="0" i="0">
                <a:solidFill>
                  <a:srgbClr val="D8E4F0"/>
                </a:solidFill>
                <a:latin typeface="Consolas"/>
              </a:rPr>
              <a:t>      carry    = sum_ext[W];</a:t>
            </a:r>
          </a:p>
          <a:p>
            <a:pPr algn="l">
              <a:lnSpc>
                <a:spcPct val="112000"/>
              </a:lnSpc>
            </a:pPr>
            <a:r>
              <a:rPr sz="950" b="0" i="0">
                <a:solidFill>
                  <a:srgbClr val="D8E4F0"/>
                </a:solidFill>
                <a:latin typeface="Consolas"/>
              </a:rPr>
              <a:t>      overflow = (a[W-1] == b[W-1]) &amp;&amp; (result[W-1] != a[W-1]);</a:t>
            </a:r>
          </a:p>
          <a:p>
            <a:pPr algn="l">
              <a:lnSpc>
                <a:spcPct val="112000"/>
              </a:lnSpc>
            </a:pPr>
            <a:r>
              <a:rPr sz="950" b="0" i="0">
                <a:solidFill>
                  <a:srgbClr val="D8E4F0"/>
                </a:solidFill>
                <a:latin typeface="Consolas"/>
              </a:rPr>
              <a:t>    end</a:t>
            </a:r>
          </a:p>
          <a:p>
            <a:pPr algn="l">
              <a:lnSpc>
                <a:spcPct val="112000"/>
              </a:lnSpc>
            </a:pPr>
            <a:r>
              <a:rPr sz="950" b="0" i="0">
                <a:solidFill>
                  <a:srgbClr val="D8E4F0"/>
                </a:solidFill>
                <a:latin typeface="Consolas"/>
              </a:rPr>
              <a:t>    OP_SLT: result = ($signed(a) &lt; $signed(b)) ? {{(W-1){1'b0}},1'b1} : {W{1'b0}};</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default: begin result = {W{1'b0}}; carry = 1'b0; overflow = 1'b0; end</a:t>
            </a:r>
          </a:p>
          <a:p>
            <a:pPr algn="l">
              <a:lnSpc>
                <a:spcPct val="112000"/>
              </a:lnSpc>
            </a:pPr>
            <a:r>
              <a:rPr sz="950" b="0" i="0">
                <a:solidFill>
                  <a:srgbClr val="D8E4F0"/>
                </a:solidFill>
                <a:latin typeface="Consolas"/>
              </a:rPr>
              <a:t>  endcase</a:t>
            </a:r>
          </a:p>
          <a:p>
            <a:pPr algn="l">
              <a:lnSpc>
                <a:spcPct val="112000"/>
              </a:lnSpc>
            </a:pPr>
            <a:r>
              <a:rPr sz="950" b="0" i="0">
                <a:solidFill>
                  <a:srgbClr val="D8E4F0"/>
                </a:solidFill>
                <a:latin typeface="Consolas"/>
              </a:rPr>
              <a:t>end</a:t>
            </a:r>
          </a:p>
          <a:p>
            <a:pPr algn="l">
              <a:lnSpc>
                <a:spcPct val="112000"/>
              </a:lnSpc>
            </a:pPr>
            <a:r>
              <a:rPr sz="950" b="0" i="0">
                <a:solidFill>
                  <a:srgbClr val="D8E4F0"/>
                </a:solidFill>
                <a:latin typeface="Consolas"/>
              </a:rPr>
              <a:t>assign zero     = ~|result;      // reduction NOR -- one operator, a whole NOR tree</a:t>
            </a:r>
          </a:p>
          <a:p>
            <a:pPr algn="l">
              <a:lnSpc>
                <a:spcPct val="112000"/>
              </a:lnSpc>
            </a:pPr>
            <a:r>
              <a:rPr sz="950" b="0" i="0">
                <a:solidFill>
                  <a:srgbClr val="D8E4F0"/>
                </a:solidFill>
                <a:latin typeface="Consolas"/>
              </a:rPr>
              <a:t>assign negative = result[W-1];</a:t>
            </a:r>
          </a:p>
        </p:txBody>
      </p:sp>
      <p:sp>
        <p:nvSpPr>
          <p:cNvPr id="13" name="Rounded Rectangle 12"/>
          <p:cNvSpPr/>
          <p:nvPr/>
        </p:nvSpPr>
        <p:spPr>
          <a:xfrm>
            <a:off x="411480" y="5234432"/>
            <a:ext cx="11247120" cy="868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5298440"/>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flag that always catches people</a:t>
            </a:r>
          </a:p>
        </p:txBody>
      </p:sp>
      <p:sp>
        <p:nvSpPr>
          <p:cNvPr id="15" name="TextBox 14"/>
          <p:cNvSpPr txBox="1"/>
          <p:nvPr/>
        </p:nvSpPr>
        <p:spPr>
          <a:xfrm>
            <a:off x="576072" y="5572760"/>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Carry is UNSIGNED overflow; V is SIGNED overflow. </a:t>
            </a:r>
            <a:r>
              <a:rPr sz="1100" b="0" i="0">
                <a:solidFill>
                  <a:srgbClr val="33414F"/>
                </a:solidFill>
                <a:latin typeface="Calibri"/>
              </a:rPr>
              <a:t>Adding 8'h7F + 8'h01 gives 8'h80: no carry out at all, but a signed overflow (127 + 1 became −128). Adding 8'hFF + 8'h01 gives 8'h00: carry out set, but no signed overflow (−1 + 1 = 0 is correct). The lab testbench checks both.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SEQUENTIAL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Clocked Block — One Template, Used Everywhere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35</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Almost every sequential block you will ever write has this shape. </a:t>
            </a:r>
            <a:r>
              <a:rPr sz="1100" b="0" i="0">
                <a:solidFill>
                  <a:srgbClr val="33414F"/>
                </a:solidFill>
                <a:latin typeface="Calibri"/>
              </a:rPr>
              <a:t>Learn it as a pattern and type it from muscle memory; then all your attention goes on the logic instead of the boilerplate.</a:t>
            </a:r>
          </a:p>
        </p:txBody>
      </p:sp>
      <p:pic>
        <p:nvPicPr>
          <p:cNvPr id="10" name="Picture 9" descr="seq_template.png"/>
          <p:cNvPicPr>
            <a:picLocks noChangeAspect="1"/>
          </p:cNvPicPr>
          <p:nvPr/>
        </p:nvPicPr>
        <p:blipFill>
          <a:blip r:embed="rId2"/>
          <a:stretch>
            <a:fillRect/>
          </a:stretch>
        </p:blipFill>
        <p:spPr>
          <a:xfrm>
            <a:off x="3335114" y="1737360"/>
            <a:ext cx="5399852" cy="2560320"/>
          </a:xfrm>
          <a:prstGeom prst="rect">
            <a:avLst/>
          </a:prstGeom>
        </p:spPr>
      </p:pic>
      <p:sp>
        <p:nvSpPr>
          <p:cNvPr id="11" name="Rounded Rectangle 10"/>
          <p:cNvSpPr/>
          <p:nvPr/>
        </p:nvSpPr>
        <p:spPr>
          <a:xfrm>
            <a:off x="411480" y="4389120"/>
            <a:ext cx="11247120" cy="16306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5034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template — priority runs top to bottom</a:t>
            </a:r>
          </a:p>
        </p:txBody>
      </p:sp>
      <p:sp>
        <p:nvSpPr>
          <p:cNvPr id="13" name="TextBox 12"/>
          <p:cNvSpPr txBox="1"/>
          <p:nvPr/>
        </p:nvSpPr>
        <p:spPr>
          <a:xfrm>
            <a:off x="594360" y="4777740"/>
            <a:ext cx="10881360" cy="11277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always @(posedge clk or negedge rst_n) begin</a:t>
            </a:r>
          </a:p>
          <a:p>
            <a:pPr algn="l">
              <a:lnSpc>
                <a:spcPct val="112000"/>
              </a:lnSpc>
            </a:pPr>
            <a:r>
              <a:rPr sz="1000" b="0" i="0">
                <a:solidFill>
                  <a:srgbClr val="D8E4F0"/>
                </a:solidFill>
                <a:latin typeface="Consolas"/>
              </a:rPr>
              <a:t>  if (!rst_n)      q &lt;= RESET_VALUE;      // asynchronous, active-low reset</a:t>
            </a:r>
          </a:p>
          <a:p>
            <a:pPr algn="l">
              <a:lnSpc>
                <a:spcPct val="112000"/>
              </a:lnSpc>
            </a:pPr>
            <a:r>
              <a:rPr sz="1000" b="0" i="0">
                <a:solidFill>
                  <a:srgbClr val="D8E4F0"/>
                </a:solidFill>
                <a:latin typeface="Consolas"/>
              </a:rPr>
              <a:t>  else if (clr)    q &lt;= {W{1'b0}};        // synchronous clear</a:t>
            </a:r>
          </a:p>
          <a:p>
            <a:pPr algn="l">
              <a:lnSpc>
                <a:spcPct val="112000"/>
              </a:lnSpc>
            </a:pPr>
            <a:r>
              <a:rPr sz="1000" b="0" i="0">
                <a:solidFill>
                  <a:srgbClr val="D8E4F0"/>
                </a:solidFill>
                <a:latin typeface="Consolas"/>
              </a:rPr>
              <a:t>  else if (load)   q &lt;= din;              // priority order matters:</a:t>
            </a:r>
          </a:p>
          <a:p>
            <a:pPr algn="l">
              <a:lnSpc>
                <a:spcPct val="112000"/>
              </a:lnSpc>
            </a:pPr>
            <a:r>
              <a:rPr sz="1000" b="0" i="0">
                <a:solidFill>
                  <a:srgbClr val="D8E4F0"/>
                </a:solidFill>
                <a:latin typeface="Consolas"/>
              </a:rPr>
              <a:t>  else if (en)     q &lt;= next_value;       //   reset &gt; clear &gt; load &gt; enable</a:t>
            </a:r>
          </a:p>
          <a:p>
            <a:pPr algn="l">
              <a:lnSpc>
                <a:spcPct val="112000"/>
              </a:lnSpc>
            </a:pPr>
            <a:r>
              <a:rPr sz="1000" b="0" i="0">
                <a:solidFill>
                  <a:srgbClr val="D8E4F0"/>
                </a:solidFill>
                <a:latin typeface="Consolas"/>
              </a:rPr>
              <a:t>end</a:t>
            </a:r>
          </a:p>
        </p:txBody>
      </p:sp>
      <p:sp>
        <p:nvSpPr>
          <p:cNvPr id="14" name="TextBox 13"/>
          <p:cNvSpPr txBox="1"/>
          <p:nvPr/>
        </p:nvSpPr>
        <p:spPr>
          <a:xfrm>
            <a:off x="411480" y="606552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Everything assigned in this block becomes a flip-flop. Nothing else in the design may assign </a:t>
            </a:r>
            <a:r>
              <a:rPr sz="1050" b="1" i="0">
                <a:solidFill>
                  <a:srgbClr val="0E2A47"/>
                </a:solidFill>
                <a:latin typeface="Consolas"/>
              </a:rPr>
              <a:t>q</a:t>
            </a:r>
            <a:r>
              <a:rPr sz="1050" b="0" i="0">
                <a:solidFill>
                  <a:srgbClr val="33414F"/>
                </a:solidFill>
                <a:latin typeface="Calibri"/>
              </a:rPr>
              <a:t> — one signal, one driving block, no exceptions.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4B · = vs &lt;=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Blocking and Non-Blocking — The Rule and the Reason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36</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rule is two lines long and you must never break it. </a:t>
            </a:r>
            <a:r>
              <a:rPr sz="1100" b="0" i="0">
                <a:solidFill>
                  <a:srgbClr val="33414F"/>
                </a:solidFill>
                <a:latin typeface="Calibri"/>
              </a:rPr>
              <a:t>Inside always @(*) use </a:t>
            </a:r>
            <a:r>
              <a:rPr sz="1100" b="1" i="0">
                <a:solidFill>
                  <a:srgbClr val="2A9D5C"/>
                </a:solidFill>
                <a:latin typeface="Consolas"/>
              </a:rPr>
              <a:t>=</a:t>
            </a:r>
            <a:r>
              <a:rPr sz="1100" b="0" i="0">
                <a:solidFill>
                  <a:srgbClr val="33414F"/>
                </a:solidFill>
                <a:latin typeface="Calibri"/>
              </a:rPr>
              <a:t>. Inside always @(posedge clk) use </a:t>
            </a:r>
            <a:r>
              <a:rPr sz="1100" b="1" i="0">
                <a:solidFill>
                  <a:srgbClr val="2A9D5C"/>
                </a:solidFill>
                <a:latin typeface="Consolas"/>
              </a:rPr>
              <a:t>&lt;=</a:t>
            </a:r>
            <a:r>
              <a:rPr sz="1100" b="0" i="0">
                <a:solidFill>
                  <a:srgbClr val="33414F"/>
                </a:solidFill>
                <a:latin typeface="Calibri"/>
              </a:rPr>
              <a:t>. Never mix the two for the same variable, and never use = in a clocked block.</a:t>
            </a:r>
          </a:p>
        </p:txBody>
      </p:sp>
      <p:pic>
        <p:nvPicPr>
          <p:cNvPr id="10" name="Picture 9" descr="blocking_nonblocking.png"/>
          <p:cNvPicPr>
            <a:picLocks noChangeAspect="1"/>
          </p:cNvPicPr>
          <p:nvPr/>
        </p:nvPicPr>
        <p:blipFill>
          <a:blip r:embed="rId2"/>
          <a:stretch>
            <a:fillRect/>
          </a:stretch>
        </p:blipFill>
        <p:spPr>
          <a:xfrm>
            <a:off x="2430194" y="1783080"/>
            <a:ext cx="7209692" cy="3200400"/>
          </a:xfrm>
          <a:prstGeom prst="rect">
            <a:avLst/>
          </a:prstGeom>
        </p:spPr>
      </p:pic>
      <p:sp>
        <p:nvSpPr>
          <p:cNvPr id="11" name="Rounded Rectangle 10"/>
          <p:cNvSpPr/>
          <p:nvPr/>
        </p:nvSpPr>
        <p:spPr>
          <a:xfrm>
            <a:off x="411480" y="5074920"/>
            <a:ext cx="5532120" cy="12344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 blocking — happens NOW</a:t>
            </a:r>
          </a:p>
        </p:txBody>
      </p:sp>
      <p:sp>
        <p:nvSpPr>
          <p:cNvPr id="13" name="TextBox 12"/>
          <p:cNvSpPr txBox="1"/>
          <p:nvPr/>
        </p:nvSpPr>
        <p:spPr>
          <a:xfrm>
            <a:off x="548640" y="541324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 right-hand side is evaluated and the left-hand side updated immediately, before the next statement runs. In a clocked block that makes the result depend on the ORDER you typed the statements — which no real flip-flop cares about.</a:t>
            </a:r>
          </a:p>
        </p:txBody>
      </p:sp>
      <p:sp>
        <p:nvSpPr>
          <p:cNvPr id="14" name="Rounded Rectangle 13"/>
          <p:cNvSpPr/>
          <p:nvPr/>
        </p:nvSpPr>
        <p:spPr>
          <a:xfrm>
            <a:off x="6126480" y="5074920"/>
            <a:ext cx="5532120" cy="1234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&lt;= non-blocking — happens at the END</a:t>
            </a:r>
          </a:p>
        </p:txBody>
      </p:sp>
      <p:sp>
        <p:nvSpPr>
          <p:cNvPr id="16" name="TextBox 15"/>
          <p:cNvSpPr txBox="1"/>
          <p:nvPr/>
        </p:nvSpPr>
        <p:spPr>
          <a:xfrm>
            <a:off x="6263640" y="541324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Every right-hand side in the block is sampled first, using the OLD values; only then are all the left-hand sides updated together. That is exactly what a bank of flip-flops does at a clock edge, which is why it is the correct operator.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LAB EVIDENCE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Two Flip-Flops or One? The Tool Decides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37</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three-line difference that changes the hardware. </a:t>
            </a:r>
            <a:r>
              <a:rPr sz="1100" b="0" i="0">
                <a:solidFill>
                  <a:srgbClr val="33414F"/>
                </a:solidFill>
                <a:latin typeface="Calibri"/>
              </a:rPr>
              <a:t>This is bad_blocking from the lab. Read the two versions, predict the flip-flop count, then run the synthesiser and see.</a:t>
            </a:r>
          </a:p>
        </p:txBody>
      </p:sp>
      <p:sp>
        <p:nvSpPr>
          <p:cNvPr id="10" name="Rounded Rectangle 9"/>
          <p:cNvSpPr/>
          <p:nvPr/>
        </p:nvSpPr>
        <p:spPr>
          <a:xfrm>
            <a:off x="411480" y="1737360"/>
            <a:ext cx="5532120" cy="15544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013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WRONG — blocking in a clocked block</a:t>
            </a:r>
          </a:p>
        </p:txBody>
      </p:sp>
      <p:sp>
        <p:nvSpPr>
          <p:cNvPr id="12" name="TextBox 11"/>
          <p:cNvSpPr txBox="1"/>
          <p:nvPr/>
        </p:nvSpPr>
        <p:spPr>
          <a:xfrm>
            <a:off x="548640" y="2075688"/>
            <a:ext cx="5257800" cy="115214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always @(posedge clk) begin</a:t>
            </a:r>
          </a:p>
          <a:p>
            <a:pPr algn="l">
              <a:lnSpc>
                <a:spcPct val="103000"/>
              </a:lnSpc>
              <a:spcAft>
                <a:spcPts val="400"/>
              </a:spcAft>
            </a:pPr>
            <a:r>
              <a:rPr sz="1000" b="1" i="0">
                <a:solidFill>
                  <a:srgbClr val="C01F43"/>
                </a:solidFill>
                <a:latin typeface="Consolas"/>
              </a:rPr>
              <a:t>  q1 = d;</a:t>
            </a:r>
          </a:p>
          <a:p>
            <a:pPr algn="l">
              <a:lnSpc>
                <a:spcPct val="103000"/>
              </a:lnSpc>
              <a:spcAft>
                <a:spcPts val="400"/>
              </a:spcAft>
            </a:pPr>
            <a:r>
              <a:rPr sz="1000" b="1" i="0">
                <a:solidFill>
                  <a:srgbClr val="C01F43"/>
                </a:solidFill>
                <a:latin typeface="Consolas"/>
              </a:rPr>
              <a:t>  q2 = q1;   // q1 is ALREADY d</a:t>
            </a:r>
          </a:p>
          <a:p>
            <a:pPr algn="l">
              <a:lnSpc>
                <a:spcPct val="103000"/>
              </a:lnSpc>
              <a:spcAft>
                <a:spcPts val="400"/>
              </a:spcAft>
            </a:pPr>
            <a:r>
              <a:rPr sz="1000" b="0" i="0">
                <a:solidFill>
                  <a:srgbClr val="33414F"/>
                </a:solidFill>
                <a:latin typeface="Consolas"/>
              </a:rPr>
              <a:t>end</a:t>
            </a:r>
          </a:p>
          <a:p>
            <a:pPr algn="l">
              <a:lnSpc>
                <a:spcPct val="103000"/>
              </a:lnSpc>
              <a:spcAft>
                <a:spcPts val="400"/>
              </a:spcAft>
            </a:pPr>
            <a:r>
              <a:rPr sz="1000" b="0" i="0">
                <a:solidFill>
                  <a:srgbClr val="33414F"/>
                </a:solidFill>
                <a:latin typeface="Calibri"/>
              </a:rPr>
              <a:t>q2 follows d in the same cycle. Synthesis merges them: </a:t>
            </a:r>
            <a:r>
              <a:rPr sz="1000" b="1" i="0">
                <a:solidFill>
                  <a:srgbClr val="C01F43"/>
                </a:solidFill>
                <a:latin typeface="Calibri"/>
              </a:rPr>
              <a:t>1 flip-flop.</a:t>
            </a:r>
          </a:p>
        </p:txBody>
      </p:sp>
      <p:sp>
        <p:nvSpPr>
          <p:cNvPr id="13" name="Rounded Rectangle 12"/>
          <p:cNvSpPr/>
          <p:nvPr/>
        </p:nvSpPr>
        <p:spPr>
          <a:xfrm>
            <a:off x="6126480" y="1737360"/>
            <a:ext cx="5532120" cy="15544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8013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RIGHT — non-blocking</a:t>
            </a:r>
          </a:p>
        </p:txBody>
      </p:sp>
      <p:sp>
        <p:nvSpPr>
          <p:cNvPr id="15" name="TextBox 14"/>
          <p:cNvSpPr txBox="1"/>
          <p:nvPr/>
        </p:nvSpPr>
        <p:spPr>
          <a:xfrm>
            <a:off x="6263640" y="2075688"/>
            <a:ext cx="5257800" cy="1152144"/>
          </a:xfrm>
          <a:prstGeom prst="rect">
            <a:avLst/>
          </a:prstGeom>
          <a:noFill/>
        </p:spPr>
        <p:txBody>
          <a:bodyPr wrap="square" lIns="0" rIns="0" tIns="0" bIns="0" anchor="t">
            <a:spAutoFit/>
          </a:bodyPr>
          <a:lstStyle/>
          <a:p>
            <a:pPr algn="l">
              <a:lnSpc>
                <a:spcPct val="103000"/>
              </a:lnSpc>
              <a:spcAft>
                <a:spcPts val="400"/>
              </a:spcAft>
            </a:pPr>
            <a:r>
              <a:rPr sz="1000" b="0" i="0">
                <a:solidFill>
                  <a:srgbClr val="33414F"/>
                </a:solidFill>
                <a:latin typeface="Consolas"/>
              </a:rPr>
              <a:t>always @(posedge clk) begin</a:t>
            </a:r>
          </a:p>
          <a:p>
            <a:pPr algn="l">
              <a:lnSpc>
                <a:spcPct val="103000"/>
              </a:lnSpc>
              <a:spcAft>
                <a:spcPts val="400"/>
              </a:spcAft>
            </a:pPr>
            <a:r>
              <a:rPr sz="1000" b="1" i="0">
                <a:solidFill>
                  <a:srgbClr val="2A9D5C"/>
                </a:solidFill>
                <a:latin typeface="Consolas"/>
              </a:rPr>
              <a:t>  q1 &lt;= d;</a:t>
            </a:r>
          </a:p>
          <a:p>
            <a:pPr algn="l">
              <a:lnSpc>
                <a:spcPct val="103000"/>
              </a:lnSpc>
              <a:spcAft>
                <a:spcPts val="400"/>
              </a:spcAft>
            </a:pPr>
            <a:r>
              <a:rPr sz="1000" b="1" i="0">
                <a:solidFill>
                  <a:srgbClr val="2A9D5C"/>
                </a:solidFill>
                <a:latin typeface="Consolas"/>
              </a:rPr>
              <a:t>  q2 &lt;= q1;  // the OLD q1</a:t>
            </a:r>
          </a:p>
          <a:p>
            <a:pPr algn="l">
              <a:lnSpc>
                <a:spcPct val="103000"/>
              </a:lnSpc>
              <a:spcAft>
                <a:spcPts val="400"/>
              </a:spcAft>
            </a:pPr>
            <a:r>
              <a:rPr sz="1000" b="0" i="0">
                <a:solidFill>
                  <a:srgbClr val="33414F"/>
                </a:solidFill>
                <a:latin typeface="Consolas"/>
              </a:rPr>
              <a:t>end</a:t>
            </a:r>
          </a:p>
          <a:p>
            <a:pPr algn="l">
              <a:lnSpc>
                <a:spcPct val="103000"/>
              </a:lnSpc>
              <a:spcAft>
                <a:spcPts val="400"/>
              </a:spcAft>
            </a:pPr>
            <a:r>
              <a:rPr sz="1000" b="0" i="0">
                <a:solidFill>
                  <a:srgbClr val="33414F"/>
                </a:solidFill>
                <a:latin typeface="Calibri"/>
              </a:rPr>
              <a:t>A real two-stage shift register: </a:t>
            </a:r>
            <a:r>
              <a:rPr sz="1000" b="1" i="0">
                <a:solidFill>
                  <a:srgbClr val="2A9D5C"/>
                </a:solidFill>
                <a:latin typeface="Calibri"/>
              </a:rPr>
              <a:t>2 flip-flops,</a:t>
            </a:r>
            <a:r>
              <a:rPr sz="1000" b="0" i="0">
                <a:solidFill>
                  <a:srgbClr val="33414F"/>
                </a:solidFill>
                <a:latin typeface="Calibri"/>
              </a:rPr>
              <a:t> d delayed by two cycles.</a:t>
            </a:r>
          </a:p>
        </p:txBody>
      </p:sp>
      <p:sp>
        <p:nvSpPr>
          <p:cNvPr id="16" name="Rounded Rectangle 15"/>
          <p:cNvSpPr/>
          <p:nvPr/>
        </p:nvSpPr>
        <p:spPr>
          <a:xfrm>
            <a:off x="411480" y="3383280"/>
            <a:ext cx="11247120" cy="604520"/>
          </a:xfrm>
          <a:prstGeom prst="roundRect">
            <a:avLst>
              <a:gd name="adj" fmla="val 3000"/>
            </a:avLst>
          </a:prstGeom>
          <a:solidFill>
            <a:srgbClr val="11223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4360" y="3497580"/>
            <a:ext cx="10881360" cy="37592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yosys -p "read_verilog rtl/broken_examples.v; synth -top bad_blocking; stat"</a:t>
            </a:r>
          </a:p>
          <a:p>
            <a:pPr algn="l">
              <a:lnSpc>
                <a:spcPct val="112000"/>
              </a:lnSpc>
            </a:pPr>
            <a:r>
              <a:rPr sz="1000" b="0" i="0">
                <a:solidFill>
                  <a:srgbClr val="D8E4F0"/>
                </a:solidFill>
                <a:latin typeface="Consolas"/>
              </a:rPr>
              <a:t>     $_DFF_P_       1              &lt;-- ONE flip-flop, not two. Verified.</a:t>
            </a:r>
          </a:p>
        </p:txBody>
      </p:sp>
      <p:sp>
        <p:nvSpPr>
          <p:cNvPr id="18" name="TextBox 17"/>
          <p:cNvSpPr txBox="1"/>
          <p:nvPr/>
        </p:nvSpPr>
        <p:spPr>
          <a:xfrm>
            <a:off x="411480" y="403352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Change the two = to &lt;= and the same command reports 2. Nothing else in the file changes. That is how directly the operator maps to silicon.</a:t>
            </a:r>
          </a:p>
        </p:txBody>
      </p:sp>
      <p:sp>
        <p:nvSpPr>
          <p:cNvPr id="19" name="Rounded Rectangle 18"/>
          <p:cNvSpPr/>
          <p:nvPr/>
        </p:nvSpPr>
        <p:spPr>
          <a:xfrm>
            <a:off x="411480" y="4353560"/>
            <a:ext cx="5532120" cy="13258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48640" y="441756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the tool is entitled to do that</a:t>
            </a:r>
          </a:p>
        </p:txBody>
      </p:sp>
      <p:sp>
        <p:nvSpPr>
          <p:cNvPr id="21" name="TextBox 20"/>
          <p:cNvSpPr txBox="1"/>
          <p:nvPr/>
        </p:nvSpPr>
        <p:spPr>
          <a:xfrm>
            <a:off x="548640" y="4691888"/>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Blocking assignment says 'update now, before the next statement'. So at the clock edge q1 takes d, and the very next statement gives q2 the NEW q1 — which is d. The tool sees two registers holding the same value and keeps one. It is not being clever; it is obeying the semantics you wrote.</a:t>
            </a:r>
          </a:p>
        </p:txBody>
      </p:sp>
      <p:sp>
        <p:nvSpPr>
          <p:cNvPr id="22" name="Rounded Rectangle 21"/>
          <p:cNvSpPr/>
          <p:nvPr/>
        </p:nvSpPr>
        <p:spPr>
          <a:xfrm>
            <a:off x="6126480" y="4353560"/>
            <a:ext cx="5532120" cy="13258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63640" y="44175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And if you swap the two lines?</a:t>
            </a:r>
          </a:p>
        </p:txBody>
      </p:sp>
      <p:sp>
        <p:nvSpPr>
          <p:cNvPr id="24" name="TextBox 23"/>
          <p:cNvSpPr txBox="1"/>
          <p:nvPr/>
        </p:nvSpPr>
        <p:spPr>
          <a:xfrm>
            <a:off x="6263640" y="4691888"/>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Write </a:t>
            </a:r>
            <a:r>
              <a:rPr sz="1050" b="1" i="0">
                <a:solidFill>
                  <a:srgbClr val="0E2A47"/>
                </a:solidFill>
                <a:latin typeface="Consolas"/>
              </a:rPr>
              <a:t>q2 = q1; q1 = d;</a:t>
            </a:r>
            <a:r>
              <a:rPr sz="1050" b="0" i="0">
                <a:solidFill>
                  <a:srgbClr val="33414F"/>
                </a:solidFill>
                <a:latin typeface="Calibri"/>
              </a:rPr>
              <a:t> and you get two flip-flops and correct behaviour — from the same operator. That is the real objection to blocking assignment in a clocked block: the hardware depends on the ORDER you typed the lines, which is not a property real flip-flops have.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UNDER THE HOOD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Stratified Event Queue — Why &lt;= Actually Works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38</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the mechanism, for the students who want to know WHY. </a:t>
            </a:r>
            <a:r>
              <a:rPr sz="1100" b="0" i="0">
                <a:solidFill>
                  <a:srgbClr val="33414F"/>
                </a:solidFill>
                <a:latin typeface="Calibri"/>
              </a:rPr>
              <a:t>At a single simulation time step the simulator processes events in defined regions, in order. Non-blocking updates land in a later region than the right-hand-side evaluations — and that separation is the whole trick.</a:t>
            </a:r>
          </a:p>
        </p:txBody>
      </p:sp>
      <p:pic>
        <p:nvPicPr>
          <p:cNvPr id="10" name="Picture 9" descr="event_queue.png"/>
          <p:cNvPicPr>
            <a:picLocks noChangeAspect="1"/>
          </p:cNvPicPr>
          <p:nvPr/>
        </p:nvPicPr>
        <p:blipFill>
          <a:blip r:embed="rId2"/>
          <a:stretch>
            <a:fillRect/>
          </a:stretch>
        </p:blipFill>
        <p:spPr>
          <a:xfrm>
            <a:off x="1795600" y="1783080"/>
            <a:ext cx="8478880" cy="3383280"/>
          </a:xfrm>
          <a:prstGeom prst="rect">
            <a:avLst/>
          </a:prstGeom>
        </p:spPr>
      </p:pic>
      <p:sp>
        <p:nvSpPr>
          <p:cNvPr id="11" name="Rounded Rectangle 10"/>
          <p:cNvSpPr/>
          <p:nvPr/>
        </p:nvSpPr>
        <p:spPr>
          <a:xfrm>
            <a:off x="411480" y="5257800"/>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this buys you</a:t>
            </a:r>
          </a:p>
        </p:txBody>
      </p:sp>
      <p:sp>
        <p:nvSpPr>
          <p:cNvPr id="13" name="TextBox 12"/>
          <p:cNvSpPr txBox="1"/>
          <p:nvPr/>
        </p:nvSpPr>
        <p:spPr>
          <a:xfrm>
            <a:off x="576072" y="559612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Every clocked block in the design samples its inputs in the Active region using the values that existed BEFORE the edge, and every register updates in the NBA region afterwards. So no clocked block can ever see another block's new value within the same edge — which is precisely the behaviour of real flip-flops, and why the order in which the simulator happens to visit your always blocks cannot change the answer. Use = in a clocked block and you throw that guarantee away.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RESET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Synchronous or Asynchronous Reset — Pick One and Be Consistent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39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Reset is a design decision, not a detail. </a:t>
            </a:r>
            <a:r>
              <a:rPr sz="1100" b="0" i="0">
                <a:solidFill>
                  <a:srgbClr val="33414F"/>
                </a:solidFill>
                <a:latin typeface="Calibri"/>
              </a:rPr>
              <a:t>Mixing styles inside one design is how you get a block that comes out of reset two cycles after its neighbour and starts in an impossible state.</a:t>
            </a:r>
          </a:p>
        </p:txBody>
      </p:sp>
      <p:sp>
        <p:nvSpPr>
          <p:cNvPr id="10" name="Rounded Rectangle 9"/>
          <p:cNvSpPr/>
          <p:nvPr/>
        </p:nvSpPr>
        <p:spPr>
          <a:xfrm>
            <a:off x="411480" y="1737360"/>
            <a:ext cx="5532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013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Asynchronous reset (used in this lab)</a:t>
            </a:r>
          </a:p>
        </p:txBody>
      </p:sp>
      <p:sp>
        <p:nvSpPr>
          <p:cNvPr id="12" name="TextBox 11"/>
          <p:cNvSpPr txBox="1"/>
          <p:nvPr/>
        </p:nvSpPr>
        <p:spPr>
          <a:xfrm>
            <a:off x="548640" y="2075688"/>
            <a:ext cx="5257800" cy="133502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always @(posedge clk or negedge rst_n)</a:t>
            </a:r>
          </a:p>
          <a:p>
            <a:pPr algn="l">
              <a:lnSpc>
                <a:spcPct val="103000"/>
              </a:lnSpc>
              <a:spcAft>
                <a:spcPts val="400"/>
              </a:spcAft>
            </a:pPr>
            <a:r>
              <a:rPr sz="950" b="0" i="0">
                <a:solidFill>
                  <a:srgbClr val="33414F"/>
                </a:solidFill>
                <a:latin typeface="Consolas"/>
              </a:rPr>
              <a:t>  if (!rst_n) q &lt;= 1'b0;</a:t>
            </a:r>
          </a:p>
          <a:p>
            <a:pPr algn="l">
              <a:lnSpc>
                <a:spcPct val="103000"/>
              </a:lnSpc>
              <a:spcAft>
                <a:spcPts val="400"/>
              </a:spcAft>
            </a:pPr>
            <a:r>
              <a:rPr sz="950" b="0" i="0">
                <a:solidFill>
                  <a:srgbClr val="33414F"/>
                </a:solidFill>
                <a:latin typeface="Consolas"/>
              </a:rPr>
              <a:t>  else        q &lt;= d;</a:t>
            </a:r>
          </a:p>
          <a:p>
            <a:pPr algn="l">
              <a:lnSpc>
                <a:spcPct val="103000"/>
              </a:lnSpc>
              <a:spcAft>
                <a:spcPts val="400"/>
              </a:spcAft>
            </a:pPr>
            <a:r>
              <a:rPr sz="1000" b="0" i="0">
                <a:solidFill>
                  <a:srgbClr val="2A9D5C"/>
                </a:solidFill>
                <a:latin typeface="Calibri"/>
              </a:rPr>
              <a:t>+ Works with no clock running — safe at power-up.</a:t>
            </a:r>
          </a:p>
          <a:p>
            <a:pPr algn="l">
              <a:lnSpc>
                <a:spcPct val="103000"/>
              </a:lnSpc>
              <a:spcAft>
                <a:spcPts val="400"/>
              </a:spcAft>
            </a:pPr>
            <a:r>
              <a:rPr sz="1000" b="0" i="0">
                <a:solidFill>
                  <a:srgbClr val="C77514"/>
                </a:solidFill>
                <a:latin typeface="Calibri"/>
              </a:rPr>
              <a:t>− Release must be synchronised, or flip-flops can come out of reset on different cycles (and can go metastable).</a:t>
            </a:r>
          </a:p>
        </p:txBody>
      </p:sp>
      <p:sp>
        <p:nvSpPr>
          <p:cNvPr id="13" name="Rounded Rectangle 12"/>
          <p:cNvSpPr/>
          <p:nvPr/>
        </p:nvSpPr>
        <p:spPr>
          <a:xfrm>
            <a:off x="6126480" y="1737360"/>
            <a:ext cx="5532120" cy="1737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80136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Synchronous reset</a:t>
            </a:r>
          </a:p>
        </p:txBody>
      </p:sp>
      <p:sp>
        <p:nvSpPr>
          <p:cNvPr id="15" name="TextBox 14"/>
          <p:cNvSpPr txBox="1"/>
          <p:nvPr/>
        </p:nvSpPr>
        <p:spPr>
          <a:xfrm>
            <a:off x="6263640" y="2075688"/>
            <a:ext cx="5257800" cy="133502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always @(posedge clk)</a:t>
            </a:r>
          </a:p>
          <a:p>
            <a:pPr algn="l">
              <a:lnSpc>
                <a:spcPct val="103000"/>
              </a:lnSpc>
              <a:spcAft>
                <a:spcPts val="400"/>
              </a:spcAft>
            </a:pPr>
            <a:r>
              <a:rPr sz="950" b="0" i="0">
                <a:solidFill>
                  <a:srgbClr val="33414F"/>
                </a:solidFill>
                <a:latin typeface="Consolas"/>
              </a:rPr>
              <a:t>  if (!rst_n) q &lt;= 1'b0;</a:t>
            </a:r>
          </a:p>
          <a:p>
            <a:pPr algn="l">
              <a:lnSpc>
                <a:spcPct val="103000"/>
              </a:lnSpc>
              <a:spcAft>
                <a:spcPts val="400"/>
              </a:spcAft>
            </a:pPr>
            <a:r>
              <a:rPr sz="950" b="0" i="0">
                <a:solidFill>
                  <a:srgbClr val="33414F"/>
                </a:solidFill>
                <a:latin typeface="Consolas"/>
              </a:rPr>
              <a:t>  else        q &lt;= d;</a:t>
            </a:r>
          </a:p>
          <a:p>
            <a:pPr algn="l">
              <a:lnSpc>
                <a:spcPct val="103000"/>
              </a:lnSpc>
              <a:spcAft>
                <a:spcPts val="400"/>
              </a:spcAft>
            </a:pPr>
            <a:r>
              <a:rPr sz="1000" b="0" i="0">
                <a:solidFill>
                  <a:srgbClr val="2A9D5C"/>
                </a:solidFill>
                <a:latin typeface="Calibri"/>
              </a:rPr>
              <a:t>+ One clock domain, easy timing, no release problem.</a:t>
            </a:r>
          </a:p>
          <a:p>
            <a:pPr algn="l">
              <a:lnSpc>
                <a:spcPct val="103000"/>
              </a:lnSpc>
              <a:spcAft>
                <a:spcPts val="400"/>
              </a:spcAft>
            </a:pPr>
            <a:r>
              <a:rPr sz="1000" b="0" i="0">
                <a:solidFill>
                  <a:srgbClr val="C77514"/>
                </a:solidFill>
                <a:latin typeface="Calibri"/>
              </a:rPr>
              <a:t>− Needs a running clock; costs logic in front of the D input; a glitch shorter than a cycle is missed.</a:t>
            </a:r>
          </a:p>
        </p:txBody>
      </p:sp>
      <p:sp>
        <p:nvSpPr>
          <p:cNvPr id="16" name="Rounded Rectangle 15"/>
          <p:cNvSpPr/>
          <p:nvPr/>
        </p:nvSpPr>
        <p:spPr>
          <a:xfrm>
            <a:off x="411480" y="3566160"/>
            <a:ext cx="11247120" cy="8229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63016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Reset-release synchroniser — assert asynchronously, release synchronously</a:t>
            </a:r>
          </a:p>
        </p:txBody>
      </p:sp>
      <p:sp>
        <p:nvSpPr>
          <p:cNvPr id="18" name="TextBox 17"/>
          <p:cNvSpPr txBox="1"/>
          <p:nvPr/>
        </p:nvSpPr>
        <p:spPr>
          <a:xfrm>
            <a:off x="576072" y="390448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standard solution: drive the reset tree from two flip-flops clocked by clk whose asynchronous reset is the raw input. The reset asserts the instant the signal falls, and releases cleanly on a clock edge two cycles later. Every serious design does this; it costs two flip-flops.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COUNTERS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Counter Is a Register Plus an Incrementer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40</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Counters are the workhorse of sequential design — timers, address generators, dividers, bit counters in a UART. </a:t>
            </a:r>
            <a:r>
              <a:rPr sz="1100" b="0" i="0">
                <a:solidFill>
                  <a:srgbClr val="33414F"/>
                </a:solidFill>
                <a:latin typeface="Calibri"/>
              </a:rPr>
              <a:t>The lab counter is parameterised, up/down, loadable and has a terminal count.</a:t>
            </a:r>
          </a:p>
        </p:txBody>
      </p:sp>
      <p:sp>
        <p:nvSpPr>
          <p:cNvPr id="10" name="Rounded Rectangle 9"/>
          <p:cNvSpPr/>
          <p:nvPr/>
        </p:nvSpPr>
        <p:spPr>
          <a:xfrm>
            <a:off x="411480" y="1783080"/>
            <a:ext cx="11247120" cy="23825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973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Topic4_Lab/rtl/counter.v — W=4, MAX=15</a:t>
            </a:r>
          </a:p>
        </p:txBody>
      </p:sp>
      <p:sp>
        <p:nvSpPr>
          <p:cNvPr id="12" name="TextBox 11"/>
          <p:cNvSpPr txBox="1"/>
          <p:nvPr/>
        </p:nvSpPr>
        <p:spPr>
          <a:xfrm>
            <a:off x="594360" y="2171700"/>
            <a:ext cx="10881360" cy="187960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assign tc = en &amp; (up ? (q == MAX[W-1:0]) : (q == {W{1'b0}}));</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always @(posedge clk or negedge rst_n) begin</a:t>
            </a:r>
          </a:p>
          <a:p>
            <a:pPr algn="l">
              <a:lnSpc>
                <a:spcPct val="112000"/>
              </a:lnSpc>
            </a:pPr>
            <a:r>
              <a:rPr sz="1000" b="0" i="0">
                <a:solidFill>
                  <a:srgbClr val="D8E4F0"/>
                </a:solidFill>
                <a:latin typeface="Consolas"/>
              </a:rPr>
              <a:t>  if (!rst_n)      q &lt;= {W{1'b0}};</a:t>
            </a:r>
          </a:p>
          <a:p>
            <a:pPr algn="l">
              <a:lnSpc>
                <a:spcPct val="112000"/>
              </a:lnSpc>
            </a:pPr>
            <a:r>
              <a:rPr sz="1000" b="0" i="0">
                <a:solidFill>
                  <a:srgbClr val="D8E4F0"/>
                </a:solidFill>
                <a:latin typeface="Consolas"/>
              </a:rPr>
              <a:t>  else if (load)   q &lt;= din;</a:t>
            </a:r>
          </a:p>
          <a:p>
            <a:pPr algn="l">
              <a:lnSpc>
                <a:spcPct val="112000"/>
              </a:lnSpc>
            </a:pPr>
            <a:r>
              <a:rPr sz="1000" b="0" i="0">
                <a:solidFill>
                  <a:srgbClr val="D8E4F0"/>
                </a:solidFill>
                <a:latin typeface="Consolas"/>
              </a:rPr>
              <a:t>  else if (en) begin</a:t>
            </a:r>
          </a:p>
          <a:p>
            <a:pPr algn="l">
              <a:lnSpc>
                <a:spcPct val="112000"/>
              </a:lnSpc>
            </a:pPr>
            <a:r>
              <a:rPr sz="1000" b="0" i="0">
                <a:solidFill>
                  <a:srgbClr val="D8E4F0"/>
                </a:solidFill>
                <a:latin typeface="Consolas"/>
              </a:rPr>
              <a:t>    if (up)  q &lt;= (q == MAX[W-1:0]) ? {W{1'b0}}  : q + 1'b1;</a:t>
            </a:r>
          </a:p>
          <a:p>
            <a:pPr algn="l">
              <a:lnSpc>
                <a:spcPct val="112000"/>
              </a:lnSpc>
            </a:pPr>
            <a:r>
              <a:rPr sz="1000" b="0" i="0">
                <a:solidFill>
                  <a:srgbClr val="D8E4F0"/>
                </a:solidFill>
                <a:latin typeface="Consolas"/>
              </a:rPr>
              <a:t>    else     q &lt;= (q == {W{1'b0}})  ? MAX[W-1:0] : q - 1'b1;</a:t>
            </a:r>
          </a:p>
          <a:p>
            <a:pPr algn="l">
              <a:lnSpc>
                <a:spcPct val="112000"/>
              </a:lnSpc>
            </a:pPr>
            <a:r>
              <a:rPr sz="1000" b="0" i="0">
                <a:solidFill>
                  <a:srgbClr val="D8E4F0"/>
                </a:solidFill>
                <a:latin typeface="Consolas"/>
              </a:rPr>
              <a:t>  end</a:t>
            </a:r>
          </a:p>
          <a:p>
            <a:pPr algn="l">
              <a:lnSpc>
                <a:spcPct val="112000"/>
              </a:lnSpc>
            </a:pPr>
            <a:r>
              <a:rPr sz="1000" b="0" i="0">
                <a:solidFill>
                  <a:srgbClr val="D8E4F0"/>
                </a:solidFill>
                <a:latin typeface="Consolas"/>
              </a:rPr>
              <a:t>end</a:t>
            </a:r>
          </a:p>
        </p:txBody>
      </p:sp>
      <p:sp>
        <p:nvSpPr>
          <p:cNvPr id="13" name="Rounded Rectangle 12"/>
          <p:cNvSpPr/>
          <p:nvPr/>
        </p:nvSpPr>
        <p:spPr>
          <a:xfrm>
            <a:off x="411480" y="4257040"/>
            <a:ext cx="11247120" cy="604520"/>
          </a:xfrm>
          <a:prstGeom prst="roundRect">
            <a:avLst>
              <a:gd name="adj" fmla="val 3000"/>
            </a:avLst>
          </a:prstGeom>
          <a:solidFill>
            <a:srgbClr val="112233"/>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 y="4371340"/>
            <a:ext cx="10881360" cy="375920"/>
          </a:xfrm>
          <a:prstGeom prst="rect">
            <a:avLst/>
          </a:prstGeom>
          <a:noFill/>
        </p:spPr>
        <p:txBody>
          <a:bodyPr wrap="square" lIns="0" rIns="0" tIns="0" bIns="0" anchor="t">
            <a:spAutoFit/>
          </a:bodyPr>
          <a:lstStyle/>
          <a:p>
            <a:pPr algn="l">
              <a:lnSpc>
                <a:spcPct val="112000"/>
              </a:lnSpc>
            </a:pPr>
            <a:r>
              <a:rPr sz="1000" b="0" i="0">
                <a:solidFill>
                  <a:srgbClr val="1B9AAA"/>
                </a:solidFill>
                <a:latin typeface="Consolas"/>
              </a:rPr>
              <a:t>$ yosys -p "read_verilog rtl/counter.v; synth -top counter; stat"</a:t>
            </a:r>
          </a:p>
          <a:p>
            <a:pPr algn="l">
              <a:lnSpc>
                <a:spcPct val="112000"/>
              </a:lnSpc>
            </a:pPr>
            <a:r>
              <a:rPr sz="1000" b="0" i="0">
                <a:solidFill>
                  <a:srgbClr val="D8E4F0"/>
                </a:solidFill>
                <a:latin typeface="Consolas"/>
              </a:rPr>
              <a:t>   Number of cells:  38        $_DFF_NP0_  4     &lt;-- 4 bits of state, as expected</a:t>
            </a:r>
          </a:p>
        </p:txBody>
      </p:sp>
      <p:sp>
        <p:nvSpPr>
          <p:cNvPr id="15" name="TextBox 14"/>
          <p:cNvSpPr txBox="1"/>
          <p:nvPr/>
        </p:nvSpPr>
        <p:spPr>
          <a:xfrm>
            <a:off x="411480" y="490728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Set MAX = 9 and you have a BCD decade counter with no other change — that is what parameterisation buys. Chain two of them with </a:t>
            </a:r>
            <a:r>
              <a:rPr sz="1050" b="1" i="0">
                <a:solidFill>
                  <a:srgbClr val="0E2A47"/>
                </a:solidFill>
                <a:latin typeface="Consolas"/>
              </a:rPr>
              <a:t>tc</a:t>
            </a:r>
            <a:r>
              <a:rPr sz="1050" b="0" i="0">
                <a:solidFill>
                  <a:srgbClr val="33414F"/>
                </a:solidFill>
                <a:latin typeface="Calibri"/>
              </a:rPr>
              <a:t> as the enable of the next and you have a 0–99 counter.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SMALL, ESSENTIAL BLOCKS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Shift Register and Edge Detector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41</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Two tiny modules that appear in almost every design you will ever build. </a:t>
            </a:r>
            <a:r>
              <a:rPr sz="1100" b="0" i="0">
                <a:solidFill>
                  <a:srgbClr val="33414F"/>
                </a:solidFill>
                <a:latin typeface="Calibri"/>
              </a:rPr>
              <a:t>The edge detector in particular is the standard way to turn a level into a single-cycle pulse.</a:t>
            </a:r>
          </a:p>
        </p:txBody>
      </p:sp>
      <p:sp>
        <p:nvSpPr>
          <p:cNvPr id="10" name="Rounded Rectangle 9"/>
          <p:cNvSpPr/>
          <p:nvPr/>
        </p:nvSpPr>
        <p:spPr>
          <a:xfrm>
            <a:off x="411480" y="1737360"/>
            <a:ext cx="5532120" cy="1737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0136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Shift register — the concatenation idiom</a:t>
            </a:r>
          </a:p>
        </p:txBody>
      </p:sp>
      <p:sp>
        <p:nvSpPr>
          <p:cNvPr id="12" name="TextBox 11"/>
          <p:cNvSpPr txBox="1"/>
          <p:nvPr/>
        </p:nvSpPr>
        <p:spPr>
          <a:xfrm>
            <a:off x="548640" y="2075688"/>
            <a:ext cx="5257800" cy="133502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always @(posedge clk or negedge rst_n)</a:t>
            </a:r>
          </a:p>
          <a:p>
            <a:pPr algn="l">
              <a:lnSpc>
                <a:spcPct val="103000"/>
              </a:lnSpc>
              <a:spcAft>
                <a:spcPts val="400"/>
              </a:spcAft>
            </a:pPr>
            <a:r>
              <a:rPr sz="950" b="0" i="0">
                <a:solidFill>
                  <a:srgbClr val="33414F"/>
                </a:solidFill>
                <a:latin typeface="Consolas"/>
              </a:rPr>
              <a:t>  if (!rst_n) q &lt;= {W{1'b0}};</a:t>
            </a:r>
          </a:p>
          <a:p>
            <a:pPr algn="l">
              <a:lnSpc>
                <a:spcPct val="103000"/>
              </a:lnSpc>
              <a:spcAft>
                <a:spcPts val="400"/>
              </a:spcAft>
            </a:pPr>
            <a:r>
              <a:rPr sz="950" b="0" i="0">
                <a:solidFill>
                  <a:srgbClr val="33414F"/>
                </a:solidFill>
                <a:latin typeface="Consolas"/>
              </a:rPr>
              <a:t>  else if (en) q &lt;= {q[W-2:0], sin};</a:t>
            </a:r>
          </a:p>
          <a:p>
            <a:pPr algn="l">
              <a:lnSpc>
                <a:spcPct val="103000"/>
              </a:lnSpc>
              <a:spcAft>
                <a:spcPts val="400"/>
              </a:spcAft>
            </a:pPr>
            <a:r>
              <a:rPr sz="1000" b="0" i="0">
                <a:solidFill>
                  <a:srgbClr val="5A6B7B"/>
                </a:solidFill>
                <a:latin typeface="Calibri"/>
              </a:rPr>
              <a:t>One line shifts the whole register left and inserts the new bit. Reverse the concatenation for a right shift. This idiom builds serialisers, deserialisers, CRC engines and LFSRs.</a:t>
            </a:r>
          </a:p>
        </p:txBody>
      </p:sp>
      <p:sp>
        <p:nvSpPr>
          <p:cNvPr id="13" name="Rounded Rectangle 12"/>
          <p:cNvSpPr/>
          <p:nvPr/>
        </p:nvSpPr>
        <p:spPr>
          <a:xfrm>
            <a:off x="6126480" y="1737360"/>
            <a:ext cx="5532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63640" y="18013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Edge detector — one register and a gate</a:t>
            </a:r>
          </a:p>
        </p:txBody>
      </p:sp>
      <p:sp>
        <p:nvSpPr>
          <p:cNvPr id="15" name="TextBox 14"/>
          <p:cNvSpPr txBox="1"/>
          <p:nvPr/>
        </p:nvSpPr>
        <p:spPr>
          <a:xfrm>
            <a:off x="6263640" y="2075688"/>
            <a:ext cx="5257800" cy="133502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always @(posedge clk or negedge rst_n)</a:t>
            </a:r>
          </a:p>
          <a:p>
            <a:pPr algn="l">
              <a:lnSpc>
                <a:spcPct val="103000"/>
              </a:lnSpc>
              <a:spcAft>
                <a:spcPts val="400"/>
              </a:spcAft>
            </a:pPr>
            <a:r>
              <a:rPr sz="950" b="0" i="0">
                <a:solidFill>
                  <a:srgbClr val="33414F"/>
                </a:solidFill>
                <a:latin typeface="Consolas"/>
              </a:rPr>
              <a:t>  if (!rst_n) sig_d &lt;= 1'b0; else sig_d &lt;= sig;</a:t>
            </a:r>
          </a:p>
          <a:p>
            <a:pPr algn="l">
              <a:lnSpc>
                <a:spcPct val="103000"/>
              </a:lnSpc>
              <a:spcAft>
                <a:spcPts val="400"/>
              </a:spcAft>
            </a:pPr>
            <a:r>
              <a:rPr sz="950" b="1" i="0">
                <a:solidFill>
                  <a:srgbClr val="2A9D5C"/>
                </a:solidFill>
                <a:latin typeface="Consolas"/>
              </a:rPr>
              <a:t>assign rise = sig &amp; ~sig_d;</a:t>
            </a:r>
          </a:p>
          <a:p>
            <a:pPr algn="l">
              <a:lnSpc>
                <a:spcPct val="103000"/>
              </a:lnSpc>
              <a:spcAft>
                <a:spcPts val="400"/>
              </a:spcAft>
            </a:pPr>
            <a:r>
              <a:rPr sz="950" b="1" i="0">
                <a:solidFill>
                  <a:srgbClr val="2A9D5C"/>
                </a:solidFill>
                <a:latin typeface="Consolas"/>
              </a:rPr>
              <a:t>assign fall = ~sig &amp; sig_d;</a:t>
            </a:r>
          </a:p>
          <a:p>
            <a:pPr algn="l">
              <a:lnSpc>
                <a:spcPct val="103000"/>
              </a:lnSpc>
              <a:spcAft>
                <a:spcPts val="400"/>
              </a:spcAft>
            </a:pPr>
            <a:r>
              <a:rPr sz="1000" b="0" i="0">
                <a:solidFill>
                  <a:srgbClr val="5A6B7B"/>
                </a:solidFill>
                <a:latin typeface="Calibri"/>
              </a:rPr>
              <a:t>Remember what the signal was last cycle; compare. rise is high for exactly one clock cycle.</a:t>
            </a:r>
          </a:p>
        </p:txBody>
      </p:sp>
      <p:sp>
        <p:nvSpPr>
          <p:cNvPr id="16" name="Rounded Rectangle 15"/>
          <p:cNvSpPr/>
          <p:nvPr/>
        </p:nvSpPr>
        <p:spPr>
          <a:xfrm>
            <a:off x="411480" y="356616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6072" y="363016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 testbench lesson from building this lab</a:t>
            </a:r>
          </a:p>
        </p:txBody>
      </p:sp>
      <p:sp>
        <p:nvSpPr>
          <p:cNvPr id="18" name="TextBox 17"/>
          <p:cNvSpPr txBox="1"/>
          <p:nvPr/>
        </p:nvSpPr>
        <p:spPr>
          <a:xfrm>
            <a:off x="576072" y="3904488"/>
            <a:ext cx="10917936" cy="60350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The first edge-detector test failed. The cause was not the design — the testbench changed the input in the middle of a clock cycle, so the pulse was half a cycle wide and the check sampled it at the wrong moment. </a:t>
            </a:r>
            <a:r>
              <a:rPr sz="1100" b="0" i="0">
                <a:solidFill>
                  <a:srgbClr val="33414F"/>
                </a:solidFill>
                <a:latin typeface="Calibri"/>
              </a:rPr>
              <a:t>Drive your stimulus just AFTER the active clock edge, and sample just BEFORE the next one. Half of all 'the design is broken' reports are really this.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4B · CROSSING CLOCKS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Metastability and the Two-Flop Synchroniser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42</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flip-flop needs its D input stable for a setup time before the edge and a hold time after it. </a:t>
            </a:r>
            <a:r>
              <a:rPr sz="1100" b="0" i="0">
                <a:solidFill>
                  <a:srgbClr val="33414F"/>
                </a:solidFill>
                <a:latin typeface="Calibri"/>
              </a:rPr>
              <a:t>A signal from another clock domain cannot honour that, so the flip-flop can enter a metastable state — an output that is neither 0 nor 1 and settles at an unpredictable moment. You cannot prevent this. You can only give it time to decay.</a:t>
            </a:r>
          </a:p>
        </p:txBody>
      </p:sp>
      <p:sp>
        <p:nvSpPr>
          <p:cNvPr id="10" name="Rounded Rectangle 9"/>
          <p:cNvSpPr/>
          <p:nvPr/>
        </p:nvSpPr>
        <p:spPr>
          <a:xfrm>
            <a:off x="411480" y="1874520"/>
            <a:ext cx="11247120" cy="16306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9888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Topic4_Lab/rtl/synchroniser.v</a:t>
            </a:r>
          </a:p>
        </p:txBody>
      </p:sp>
      <p:sp>
        <p:nvSpPr>
          <p:cNvPr id="12" name="TextBox 11"/>
          <p:cNvSpPr txBox="1"/>
          <p:nvPr/>
        </p:nvSpPr>
        <p:spPr>
          <a:xfrm>
            <a:off x="594360" y="2263140"/>
            <a:ext cx="10881360" cy="11277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reg [1:0] sync;</a:t>
            </a:r>
          </a:p>
          <a:p>
            <a:pPr algn="l">
              <a:lnSpc>
                <a:spcPct val="112000"/>
              </a:lnSpc>
            </a:pPr>
            <a:r>
              <a:rPr sz="1000" b="0" i="0">
                <a:solidFill>
                  <a:srgbClr val="D8E4F0"/>
                </a:solidFill>
                <a:latin typeface="Consolas"/>
              </a:rPr>
              <a:t>always @(posedge clk or negedge rst_n) begin</a:t>
            </a:r>
          </a:p>
          <a:p>
            <a:pPr algn="l">
              <a:lnSpc>
                <a:spcPct val="112000"/>
              </a:lnSpc>
            </a:pPr>
            <a:r>
              <a:rPr sz="1000" b="0" i="0">
                <a:solidFill>
                  <a:srgbClr val="D8E4F0"/>
                </a:solidFill>
                <a:latin typeface="Consolas"/>
              </a:rPr>
              <a:t>  if (!rst_n) sync &lt;= 2'b00;</a:t>
            </a:r>
          </a:p>
          <a:p>
            <a:pPr algn="l">
              <a:lnSpc>
                <a:spcPct val="112000"/>
              </a:lnSpc>
            </a:pPr>
            <a:r>
              <a:rPr sz="1000" b="0" i="0">
                <a:solidFill>
                  <a:srgbClr val="D8E4F0"/>
                </a:solidFill>
                <a:latin typeface="Consolas"/>
              </a:rPr>
              <a:t>  else        sync &lt;= {sync[0], async_in};   // stage 0 may go metastable ...</a:t>
            </a:r>
          </a:p>
          <a:p>
            <a:pPr algn="l">
              <a:lnSpc>
                <a:spcPct val="112000"/>
              </a:lnSpc>
            </a:pPr>
            <a:r>
              <a:rPr sz="1000" b="0" i="0">
                <a:solidFill>
                  <a:srgbClr val="D8E4F0"/>
                </a:solidFill>
                <a:latin typeface="Consolas"/>
              </a:rPr>
              <a:t>end</a:t>
            </a:r>
          </a:p>
          <a:p>
            <a:pPr algn="l">
              <a:lnSpc>
                <a:spcPct val="112000"/>
              </a:lnSpc>
            </a:pPr>
            <a:r>
              <a:rPr sz="1000" b="0" i="0">
                <a:solidFill>
                  <a:srgbClr val="D8E4F0"/>
                </a:solidFill>
                <a:latin typeface="Consolas"/>
              </a:rPr>
              <a:t>assign sync_out = sync[1];                   // ... stage 1 has a whole cycle to settle</a:t>
            </a:r>
          </a:p>
        </p:txBody>
      </p:sp>
      <p:sp>
        <p:nvSpPr>
          <p:cNvPr id="13" name="Rounded Rectangle 12"/>
          <p:cNvSpPr/>
          <p:nvPr/>
        </p:nvSpPr>
        <p:spPr>
          <a:xfrm>
            <a:off x="411480" y="3596640"/>
            <a:ext cx="5532120" cy="10972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366064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Rules for crossing a clock domain</a:t>
            </a:r>
          </a:p>
        </p:txBody>
      </p:sp>
      <p:sp>
        <p:nvSpPr>
          <p:cNvPr id="15" name="TextBox 14"/>
          <p:cNvSpPr txBox="1"/>
          <p:nvPr/>
        </p:nvSpPr>
        <p:spPr>
          <a:xfrm>
            <a:off x="548640" y="3934968"/>
            <a:ext cx="5257800" cy="6949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Two flip-flops minimum for a single-bit LEVEL. Three at very high clock rates.</a:t>
            </a:r>
          </a:p>
          <a:p>
            <a:pPr algn="l">
              <a:lnSpc>
                <a:spcPct val="103000"/>
              </a:lnSpc>
              <a:spcAft>
                <a:spcPts val="400"/>
              </a:spcAft>
            </a:pPr>
            <a:r>
              <a:rPr sz="1050" b="1" i="0">
                <a:solidFill>
                  <a:srgbClr val="C01F43"/>
                </a:solidFill>
                <a:latin typeface="Calibri"/>
              </a:rPr>
              <a:t>· Never synchronise a multi-bit bus bit by bit — the bits will arrive on different cycles and you will read a value that never existed.</a:t>
            </a:r>
          </a:p>
        </p:txBody>
      </p:sp>
      <p:sp>
        <p:nvSpPr>
          <p:cNvPr id="16" name="Rounded Rectangle 15"/>
          <p:cNvSpPr/>
          <p:nvPr/>
        </p:nvSpPr>
        <p:spPr>
          <a:xfrm>
            <a:off x="6126480" y="3596640"/>
            <a:ext cx="5532120" cy="10972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366064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to do instead for buses</a:t>
            </a:r>
          </a:p>
        </p:txBody>
      </p:sp>
      <p:sp>
        <p:nvSpPr>
          <p:cNvPr id="18" name="TextBox 17"/>
          <p:cNvSpPr txBox="1"/>
          <p:nvPr/>
        </p:nvSpPr>
        <p:spPr>
          <a:xfrm>
            <a:off x="6263640" y="3934968"/>
            <a:ext cx="5257800" cy="6949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Gray-coded pointers (that is how an asynchronous FIFO works — only one bit changes per step, so a mis-sample gives the previous value, which is safe).</a:t>
            </a:r>
          </a:p>
          <a:p>
            <a:pPr algn="l">
              <a:lnSpc>
                <a:spcPct val="103000"/>
              </a:lnSpc>
              <a:spcAft>
                <a:spcPts val="400"/>
              </a:spcAft>
            </a:pPr>
            <a:r>
              <a:rPr sz="1050" b="0" i="0">
                <a:solidFill>
                  <a:srgbClr val="33414F"/>
                </a:solidFill>
                <a:latin typeface="Calibri"/>
              </a:rPr>
              <a:t>· Or a request/acknowledge handshake with the data held stable throughout.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STATE MACHINES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Three Coding Styles — Use the Three-Block Style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43</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finite state machine is a state register, next-state logic and output logic. </a:t>
            </a:r>
            <a:r>
              <a:rPr sz="1100" b="0" i="0">
                <a:solidFill>
                  <a:srgbClr val="33414F"/>
                </a:solidFill>
                <a:latin typeface="Calibri"/>
              </a:rPr>
              <a:t>How many always blocks you split those across is a style choice — and it matters more than students expect.</a:t>
            </a:r>
          </a:p>
        </p:txBody>
      </p:sp>
      <p:pic>
        <p:nvPicPr>
          <p:cNvPr id="10" name="Picture 9" descr="fsm_styles.png"/>
          <p:cNvPicPr>
            <a:picLocks noChangeAspect="1"/>
          </p:cNvPicPr>
          <p:nvPr/>
        </p:nvPicPr>
        <p:blipFill>
          <a:blip r:embed="rId2"/>
          <a:stretch>
            <a:fillRect/>
          </a:stretch>
        </p:blipFill>
        <p:spPr>
          <a:xfrm>
            <a:off x="2166632" y="1737360"/>
            <a:ext cx="7736816" cy="3200400"/>
          </a:xfrm>
          <a:prstGeom prst="rect">
            <a:avLst/>
          </a:prstGeom>
        </p:spPr>
      </p:pic>
      <p:sp>
        <p:nvSpPr>
          <p:cNvPr id="11" name="Rectangle 10"/>
          <p:cNvSpPr/>
          <p:nvPr/>
        </p:nvSpPr>
        <p:spPr>
          <a:xfrm>
            <a:off x="411480" y="5029200"/>
            <a:ext cx="173736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5029200"/>
            <a:ext cx="164592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Style</a:t>
            </a:r>
          </a:p>
        </p:txBody>
      </p:sp>
      <p:sp>
        <p:nvSpPr>
          <p:cNvPr id="13" name="Rectangle 12"/>
          <p:cNvSpPr/>
          <p:nvPr/>
        </p:nvSpPr>
        <p:spPr>
          <a:xfrm>
            <a:off x="2148840" y="5029200"/>
            <a:ext cx="20116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94560" y="5029200"/>
            <a:ext cx="19202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Blocks</a:t>
            </a:r>
          </a:p>
        </p:txBody>
      </p:sp>
      <p:sp>
        <p:nvSpPr>
          <p:cNvPr id="15" name="Rectangle 14"/>
          <p:cNvSpPr/>
          <p:nvPr/>
        </p:nvSpPr>
        <p:spPr>
          <a:xfrm>
            <a:off x="4160520" y="5029200"/>
            <a:ext cx="36576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206240" y="5029200"/>
            <a:ext cx="356616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Pros</a:t>
            </a:r>
          </a:p>
        </p:txBody>
      </p:sp>
      <p:sp>
        <p:nvSpPr>
          <p:cNvPr id="17" name="Rectangle 16"/>
          <p:cNvSpPr/>
          <p:nvPr/>
        </p:nvSpPr>
        <p:spPr>
          <a:xfrm>
            <a:off x="7818120" y="5029200"/>
            <a:ext cx="38404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0" y="5029200"/>
            <a:ext cx="37490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Cons</a:t>
            </a:r>
          </a:p>
        </p:txBody>
      </p:sp>
      <p:sp>
        <p:nvSpPr>
          <p:cNvPr id="19" name="Rectangle 18"/>
          <p:cNvSpPr/>
          <p:nvPr/>
        </p:nvSpPr>
        <p:spPr>
          <a:xfrm>
            <a:off x="411480" y="5358384"/>
            <a:ext cx="17373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5358384"/>
            <a:ext cx="16459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One-block</a:t>
            </a:r>
          </a:p>
        </p:txBody>
      </p:sp>
      <p:sp>
        <p:nvSpPr>
          <p:cNvPr id="21" name="Rectangle 20"/>
          <p:cNvSpPr/>
          <p:nvPr/>
        </p:nvSpPr>
        <p:spPr>
          <a:xfrm>
            <a:off x="2148840" y="5358384"/>
            <a:ext cx="2011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194560" y="5358384"/>
            <a:ext cx="1920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 clocked</a:t>
            </a:r>
          </a:p>
        </p:txBody>
      </p:sp>
      <p:sp>
        <p:nvSpPr>
          <p:cNvPr id="23" name="Rectangle 22"/>
          <p:cNvSpPr/>
          <p:nvPr/>
        </p:nvSpPr>
        <p:spPr>
          <a:xfrm>
            <a:off x="4160520" y="5358384"/>
            <a:ext cx="36576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206240" y="5358384"/>
            <a:ext cx="35661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Compact; outputs are registered automatically</a:t>
            </a:r>
          </a:p>
        </p:txBody>
      </p:sp>
      <p:sp>
        <p:nvSpPr>
          <p:cNvPr id="25" name="Rectangle 24"/>
          <p:cNvSpPr/>
          <p:nvPr/>
        </p:nvSpPr>
        <p:spPr>
          <a:xfrm>
            <a:off x="7818120" y="5358384"/>
            <a:ext cx="38404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863840" y="5358384"/>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Next-state and output logic tangled; hard to read</a:t>
            </a:r>
          </a:p>
        </p:txBody>
      </p:sp>
      <p:sp>
        <p:nvSpPr>
          <p:cNvPr id="27" name="Rectangle 26"/>
          <p:cNvSpPr/>
          <p:nvPr/>
        </p:nvSpPr>
        <p:spPr>
          <a:xfrm>
            <a:off x="411480" y="5687568"/>
            <a:ext cx="17373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5687568"/>
            <a:ext cx="16459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Two-block</a:t>
            </a:r>
          </a:p>
        </p:txBody>
      </p:sp>
      <p:sp>
        <p:nvSpPr>
          <p:cNvPr id="29" name="Rectangle 28"/>
          <p:cNvSpPr/>
          <p:nvPr/>
        </p:nvSpPr>
        <p:spPr>
          <a:xfrm>
            <a:off x="2148840" y="5687568"/>
            <a:ext cx="2011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194560" y="5687568"/>
            <a:ext cx="1920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 clocked + 1 comb</a:t>
            </a:r>
          </a:p>
        </p:txBody>
      </p:sp>
      <p:sp>
        <p:nvSpPr>
          <p:cNvPr id="31" name="Rectangle 30"/>
          <p:cNvSpPr/>
          <p:nvPr/>
        </p:nvSpPr>
        <p:spPr>
          <a:xfrm>
            <a:off x="4160520" y="5687568"/>
            <a:ext cx="36576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206240" y="5687568"/>
            <a:ext cx="35661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Clear separation of state and logic</a:t>
            </a:r>
          </a:p>
        </p:txBody>
      </p:sp>
      <p:sp>
        <p:nvSpPr>
          <p:cNvPr id="33" name="Rectangle 32"/>
          <p:cNvSpPr/>
          <p:nvPr/>
        </p:nvSpPr>
        <p:spPr>
          <a:xfrm>
            <a:off x="7818120" y="5687568"/>
            <a:ext cx="38404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63840" y="5687568"/>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Outputs still mixed into the combinational block</a:t>
            </a:r>
          </a:p>
        </p:txBody>
      </p:sp>
      <p:sp>
        <p:nvSpPr>
          <p:cNvPr id="35" name="Rectangle 34"/>
          <p:cNvSpPr/>
          <p:nvPr/>
        </p:nvSpPr>
        <p:spPr>
          <a:xfrm>
            <a:off x="411480" y="6016752"/>
            <a:ext cx="17373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6016752"/>
            <a:ext cx="16459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Three-block</a:t>
            </a:r>
          </a:p>
        </p:txBody>
      </p:sp>
      <p:sp>
        <p:nvSpPr>
          <p:cNvPr id="37" name="Rectangle 36"/>
          <p:cNvSpPr/>
          <p:nvPr/>
        </p:nvSpPr>
        <p:spPr>
          <a:xfrm>
            <a:off x="2148840" y="6016752"/>
            <a:ext cx="2011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194560" y="6016752"/>
            <a:ext cx="1920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1 clocked + 2 comb</a:t>
            </a:r>
          </a:p>
        </p:txBody>
      </p:sp>
      <p:sp>
        <p:nvSpPr>
          <p:cNvPr id="39" name="Rectangle 38"/>
          <p:cNvSpPr/>
          <p:nvPr/>
        </p:nvSpPr>
        <p:spPr>
          <a:xfrm>
            <a:off x="4160520" y="6016752"/>
            <a:ext cx="36576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206240" y="6016752"/>
            <a:ext cx="35661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State, next-state and outputs each separate</a:t>
            </a:r>
          </a:p>
        </p:txBody>
      </p:sp>
      <p:sp>
        <p:nvSpPr>
          <p:cNvPr id="41" name="Rectangle 40"/>
          <p:cNvSpPr/>
          <p:nvPr/>
        </p:nvSpPr>
        <p:spPr>
          <a:xfrm>
            <a:off x="7818120" y="6016752"/>
            <a:ext cx="38404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63840" y="6016752"/>
            <a:ext cx="37490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Slightly more typing — that is the whole cost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FSM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Traffic-Light Controller, Three Blocks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44</a:t>
            </a:r>
          </a:p>
        </p:txBody>
      </p:sp>
      <p:sp>
        <p:nvSpPr>
          <p:cNvPr id="9" name="Rounded Rectangle 8"/>
          <p:cNvSpPr/>
          <p:nvPr/>
        </p:nvSpPr>
        <p:spPr>
          <a:xfrm>
            <a:off x="411480" y="1143000"/>
            <a:ext cx="11247120" cy="481660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Topic4_Lab/rtl/traffic_fsm.v — verified: 52 cells, 12 flip-flops</a:t>
            </a:r>
          </a:p>
        </p:txBody>
      </p:sp>
      <p:sp>
        <p:nvSpPr>
          <p:cNvPr id="11" name="TextBox 10"/>
          <p:cNvSpPr txBox="1"/>
          <p:nvPr/>
        </p:nvSpPr>
        <p:spPr>
          <a:xfrm>
            <a:off x="594360" y="1531620"/>
            <a:ext cx="10881360" cy="4313682"/>
          </a:xfrm>
          <a:prstGeom prst="rect">
            <a:avLst/>
          </a:prstGeom>
          <a:noFill/>
        </p:spPr>
        <p:txBody>
          <a:bodyPr wrap="square" lIns="0" rIns="0" tIns="0" bIns="0" anchor="t">
            <a:spAutoFit/>
          </a:bodyPr>
          <a:lstStyle/>
          <a:p>
            <a:pPr algn="l">
              <a:lnSpc>
                <a:spcPct val="112000"/>
              </a:lnSpc>
            </a:pPr>
            <a:r>
              <a:rPr sz="850" b="0" i="0">
                <a:solidFill>
                  <a:srgbClr val="7F9CB5"/>
                </a:solidFill>
                <a:latin typeface="Consolas"/>
              </a:rPr>
              <a:t>// ---- BLOCK 1 : state register (and the dwell timer) ----</a:t>
            </a:r>
          </a:p>
          <a:p>
            <a:pPr algn="l">
              <a:lnSpc>
                <a:spcPct val="112000"/>
              </a:lnSpc>
            </a:pPr>
            <a:r>
              <a:rPr sz="850" b="0" i="0">
                <a:solidFill>
                  <a:srgbClr val="D8E4F0"/>
                </a:solidFill>
                <a:latin typeface="Consolas"/>
              </a:rPr>
              <a:t>always @(posedge clk or negedge rst_n) begin</a:t>
            </a:r>
          </a:p>
          <a:p>
            <a:pPr algn="l">
              <a:lnSpc>
                <a:spcPct val="112000"/>
              </a:lnSpc>
            </a:pPr>
            <a:r>
              <a:rPr sz="850" b="0" i="0">
                <a:solidFill>
                  <a:srgbClr val="D8E4F0"/>
                </a:solidFill>
                <a:latin typeface="Consolas"/>
              </a:rPr>
              <a:t>  if (!rst_n)       begin state &lt;= MAIN_GREEN; timer &lt;= 8'd0; end</a:t>
            </a:r>
          </a:p>
          <a:p>
            <a:pPr algn="l">
              <a:lnSpc>
                <a:spcPct val="112000"/>
              </a:lnSpc>
            </a:pPr>
            <a:r>
              <a:rPr sz="850" b="0" i="0">
                <a:solidFill>
                  <a:srgbClr val="D8E4F0"/>
                </a:solidFill>
                <a:latin typeface="Consolas"/>
              </a:rPr>
              <a:t>  else if (tick)    begin</a:t>
            </a:r>
          </a:p>
          <a:p>
            <a:pPr algn="l">
              <a:lnSpc>
                <a:spcPct val="112000"/>
              </a:lnSpc>
            </a:pPr>
            <a:r>
              <a:rPr sz="850" b="0" i="0">
                <a:solidFill>
                  <a:srgbClr val="D8E4F0"/>
                </a:solidFill>
                <a:latin typeface="Consolas"/>
              </a:rPr>
              <a:t>    if (done)       begin state &lt;= next; timer &lt;= 8'd0; end</a:t>
            </a:r>
          </a:p>
          <a:p>
            <a:pPr algn="l">
              <a:lnSpc>
                <a:spcPct val="112000"/>
              </a:lnSpc>
            </a:pPr>
            <a:r>
              <a:rPr sz="850" b="0" i="0">
                <a:solidFill>
                  <a:srgbClr val="D8E4F0"/>
                </a:solidFill>
                <a:latin typeface="Consolas"/>
              </a:rPr>
              <a:t>    else                  timer &lt;= timer + 1'b1;</a:t>
            </a:r>
          </a:p>
          <a:p>
            <a:pPr algn="l">
              <a:lnSpc>
                <a:spcPct val="112000"/>
              </a:lnSpc>
            </a:pPr>
            <a:r>
              <a:rPr sz="850" b="0" i="0">
                <a:solidFill>
                  <a:srgbClr val="D8E4F0"/>
                </a:solidFill>
                <a:latin typeface="Consolas"/>
              </a:rPr>
              <a:t>  end</a:t>
            </a:r>
          </a:p>
          <a:p>
            <a:pPr algn="l">
              <a:lnSpc>
                <a:spcPct val="112000"/>
              </a:lnSpc>
            </a:pPr>
            <a:r>
              <a:rPr sz="850" b="0" i="0">
                <a:solidFill>
                  <a:srgbClr val="D8E4F0"/>
                </a:solidFill>
                <a:latin typeface="Consolas"/>
              </a:rPr>
              <a:t>end</a:t>
            </a:r>
          </a:p>
          <a:p>
            <a:pPr algn="l">
              <a:lnSpc>
                <a:spcPct val="112000"/>
              </a:lnSpc>
            </a:pPr>
            <a:r>
              <a:rPr sz="850" b="0" i="0">
                <a:solidFill>
                  <a:srgbClr val="7F9CB5"/>
                </a:solidFill>
                <a:latin typeface="Consolas"/>
              </a:rPr>
              <a:t>// ---- BLOCK 2 : next-state logic (pure combinational) ----</a:t>
            </a:r>
          </a:p>
          <a:p>
            <a:pPr algn="l">
              <a:lnSpc>
                <a:spcPct val="112000"/>
              </a:lnSpc>
            </a:pPr>
            <a:r>
              <a:rPr sz="850" b="0" i="0">
                <a:solidFill>
                  <a:srgbClr val="D8E4F0"/>
                </a:solidFill>
                <a:latin typeface="Consolas"/>
              </a:rPr>
              <a:t>always @(*) begin</a:t>
            </a:r>
          </a:p>
          <a:p>
            <a:pPr algn="l">
              <a:lnSpc>
                <a:spcPct val="112000"/>
              </a:lnSpc>
            </a:pPr>
            <a:r>
              <a:rPr sz="850" b="0" i="0">
                <a:solidFill>
                  <a:srgbClr val="D8E4F0"/>
                </a:solidFill>
                <a:latin typeface="Consolas"/>
              </a:rPr>
              <a:t>  next = state;                       // default -&gt; no latch, and a safe self-loop</a:t>
            </a:r>
          </a:p>
          <a:p>
            <a:pPr algn="l">
              <a:lnSpc>
                <a:spcPct val="112000"/>
              </a:lnSpc>
            </a:pPr>
            <a:r>
              <a:rPr sz="850" b="0" i="0">
                <a:solidFill>
                  <a:srgbClr val="D8E4F0"/>
                </a:solidFill>
                <a:latin typeface="Consolas"/>
              </a:rPr>
              <a:t>  case (state)</a:t>
            </a:r>
          </a:p>
          <a:p>
            <a:pPr algn="l">
              <a:lnSpc>
                <a:spcPct val="112000"/>
              </a:lnSpc>
            </a:pPr>
            <a:r>
              <a:rPr sz="850" b="0" i="0">
                <a:solidFill>
                  <a:srgbClr val="D8E4F0"/>
                </a:solidFill>
                <a:latin typeface="Consolas"/>
              </a:rPr>
              <a:t>    MAIN_GREEN : next = MAIN_YELLOW;</a:t>
            </a:r>
          </a:p>
          <a:p>
            <a:pPr algn="l">
              <a:lnSpc>
                <a:spcPct val="112000"/>
              </a:lnSpc>
            </a:pPr>
            <a:r>
              <a:rPr sz="850" b="0" i="0">
                <a:solidFill>
                  <a:srgbClr val="D8E4F0"/>
                </a:solidFill>
                <a:latin typeface="Consolas"/>
              </a:rPr>
              <a:t>    MAIN_YELLOW: next = SIDE_GREEN;</a:t>
            </a:r>
          </a:p>
          <a:p>
            <a:pPr algn="l">
              <a:lnSpc>
                <a:spcPct val="112000"/>
              </a:lnSpc>
            </a:pPr>
            <a:r>
              <a:rPr sz="850" b="0" i="0">
                <a:solidFill>
                  <a:srgbClr val="D8E4F0"/>
                </a:solidFill>
                <a:latin typeface="Consolas"/>
              </a:rPr>
              <a:t>    SIDE_GREEN : next = SIDE_YELLOW;</a:t>
            </a:r>
          </a:p>
          <a:p>
            <a:pPr algn="l">
              <a:lnSpc>
                <a:spcPct val="112000"/>
              </a:lnSpc>
            </a:pPr>
            <a:r>
              <a:rPr sz="850" b="0" i="0">
                <a:solidFill>
                  <a:srgbClr val="D8E4F0"/>
                </a:solidFill>
                <a:latin typeface="Consolas"/>
              </a:rPr>
              <a:t>    SIDE_YELLOW: next = MAIN_GREEN;</a:t>
            </a:r>
          </a:p>
          <a:p>
            <a:pPr algn="l">
              <a:lnSpc>
                <a:spcPct val="112000"/>
              </a:lnSpc>
            </a:pPr>
            <a:r>
              <a:rPr sz="850" b="0" i="0">
                <a:solidFill>
                  <a:srgbClr val="D8E4F0"/>
                </a:solidFill>
                <a:latin typeface="Consolas"/>
              </a:rPr>
              <a:t>    default    : next = MAIN_GREEN;   // SAFE FSM -- recover from an illegal state</a:t>
            </a:r>
          </a:p>
          <a:p>
            <a:pPr algn="l">
              <a:lnSpc>
                <a:spcPct val="112000"/>
              </a:lnSpc>
            </a:pPr>
            <a:r>
              <a:rPr sz="850" b="0" i="0">
                <a:solidFill>
                  <a:srgbClr val="D8E4F0"/>
                </a:solidFill>
                <a:latin typeface="Consolas"/>
              </a:rPr>
              <a:t>  endcase</a:t>
            </a:r>
          </a:p>
          <a:p>
            <a:pPr algn="l">
              <a:lnSpc>
                <a:spcPct val="112000"/>
              </a:lnSpc>
            </a:pPr>
            <a:r>
              <a:rPr sz="850" b="0" i="0">
                <a:solidFill>
                  <a:srgbClr val="D8E4F0"/>
                </a:solidFill>
                <a:latin typeface="Consolas"/>
              </a:rPr>
              <a:t>end</a:t>
            </a:r>
          </a:p>
          <a:p>
            <a:pPr algn="l">
              <a:lnSpc>
                <a:spcPct val="112000"/>
              </a:lnSpc>
            </a:pPr>
            <a:r>
              <a:rPr sz="850" b="0" i="0">
                <a:solidFill>
                  <a:srgbClr val="7F9CB5"/>
                </a:solidFill>
                <a:latin typeface="Consolas"/>
              </a:rPr>
              <a:t>// ---- BLOCK 3 : output logic (Moore -- depends on state ONLY) ----</a:t>
            </a:r>
          </a:p>
          <a:p>
            <a:pPr algn="l">
              <a:lnSpc>
                <a:spcPct val="112000"/>
              </a:lnSpc>
            </a:pPr>
            <a:r>
              <a:rPr sz="850" b="0" i="0">
                <a:solidFill>
                  <a:srgbClr val="D8E4F0"/>
                </a:solidFill>
                <a:latin typeface="Consolas"/>
              </a:rPr>
              <a:t>always @(*) begin</a:t>
            </a:r>
          </a:p>
          <a:p>
            <a:pPr algn="l">
              <a:lnSpc>
                <a:spcPct val="112000"/>
              </a:lnSpc>
            </a:pPr>
            <a:r>
              <a:rPr sz="850" b="0" i="0">
                <a:solidFill>
                  <a:srgbClr val="D8E4F0"/>
                </a:solidFill>
                <a:latin typeface="Consolas"/>
              </a:rPr>
              <a:t>  main_light = RED;  side_light = RED;              // defaults</a:t>
            </a:r>
          </a:p>
          <a:p>
            <a:pPr algn="l">
              <a:lnSpc>
                <a:spcPct val="112000"/>
              </a:lnSpc>
            </a:pPr>
            <a:r>
              <a:rPr sz="850" b="0" i="0">
                <a:solidFill>
                  <a:srgbClr val="D8E4F0"/>
                </a:solidFill>
                <a:latin typeface="Consolas"/>
              </a:rPr>
              <a:t>  case (state)</a:t>
            </a:r>
          </a:p>
          <a:p>
            <a:pPr algn="l">
              <a:lnSpc>
                <a:spcPct val="112000"/>
              </a:lnSpc>
            </a:pPr>
            <a:r>
              <a:rPr sz="850" b="0" i="0">
                <a:solidFill>
                  <a:srgbClr val="D8E4F0"/>
                </a:solidFill>
                <a:latin typeface="Consolas"/>
              </a:rPr>
              <a:t>    MAIN_GREEN : begin main_light = GREEN;  side_light = RED;    end</a:t>
            </a:r>
          </a:p>
          <a:p>
            <a:pPr algn="l">
              <a:lnSpc>
                <a:spcPct val="112000"/>
              </a:lnSpc>
            </a:pPr>
            <a:r>
              <a:rPr sz="850" b="0" i="0">
                <a:solidFill>
                  <a:srgbClr val="D8E4F0"/>
                </a:solidFill>
                <a:latin typeface="Consolas"/>
              </a:rPr>
              <a:t>    ...</a:t>
            </a:r>
          </a:p>
          <a:p>
            <a:pPr algn="l">
              <a:lnSpc>
                <a:spcPct val="112000"/>
              </a:lnSpc>
            </a:pPr>
            <a:r>
              <a:rPr sz="850" b="0" i="0">
                <a:solidFill>
                  <a:srgbClr val="D8E4F0"/>
                </a:solidFill>
                <a:latin typeface="Consolas"/>
              </a:rPr>
              <a:t>  endcase</a:t>
            </a:r>
          </a:p>
          <a:p>
            <a:pPr algn="l">
              <a:lnSpc>
                <a:spcPct val="112000"/>
              </a:lnSpc>
            </a:pPr>
            <a:r>
              <a:rPr sz="850" b="0" i="0">
                <a:solidFill>
                  <a:srgbClr val="D8E4F0"/>
                </a:solidFill>
                <a:latin typeface="Consolas"/>
              </a:rPr>
              <a:t>end</a:t>
            </a:r>
          </a:p>
        </p:txBody>
      </p:sp>
      <p:sp>
        <p:nvSpPr>
          <p:cNvPr id="12" name="TextBox 11"/>
          <p:cNvSpPr txBox="1"/>
          <p:nvPr/>
        </p:nvSpPr>
        <p:spPr>
          <a:xfrm>
            <a:off x="411480" y="6005322"/>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Twelve flip-flops: eight for the timer and FOUR for the state — Yosys re-encoded the 2-bit state to one-hot by itself. Predict, then check the log.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FSM ENCODING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Binary or One-Hot — and How to Ask for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45</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state names in your code are symbols; the tool chooses the bit pattern. </a:t>
            </a:r>
            <a:r>
              <a:rPr sz="1100" b="0" i="0">
                <a:solidFill>
                  <a:srgbClr val="33414F"/>
                </a:solidFill>
                <a:latin typeface="Calibri"/>
              </a:rPr>
              <a:t>Binary uses the fewest flip-flops; one-hot uses one flip-flop per state but makes the next-state and output logic trivially shallow — which on an FPGA, where flip-flops are free and logic depth is not, is usually the faster choice.</a:t>
            </a:r>
          </a:p>
        </p:txBody>
      </p:sp>
      <p:sp>
        <p:nvSpPr>
          <p:cNvPr id="10" name="Rounded Rectangle 9"/>
          <p:cNvSpPr/>
          <p:nvPr/>
        </p:nvSpPr>
        <p:spPr>
          <a:xfrm>
            <a:off x="411480" y="1874520"/>
            <a:ext cx="11247120" cy="19314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9888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Requesting an encoding with an attribute</a:t>
            </a:r>
          </a:p>
        </p:txBody>
      </p:sp>
      <p:sp>
        <p:nvSpPr>
          <p:cNvPr id="12" name="TextBox 11"/>
          <p:cNvSpPr txBox="1"/>
          <p:nvPr/>
        </p:nvSpPr>
        <p:spPr>
          <a:xfrm>
            <a:off x="594360" y="2263140"/>
            <a:ext cx="10881360" cy="142849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fsm_encoding = "one-hot" *) reg [1:0] state, next;    // or "binary"</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Verified with Yosys 0.33 on a 4-state FSM, after abc -g AND,OR,XOR,NAND,NOR:</a:t>
            </a:r>
          </a:p>
          <a:p>
            <a:pPr algn="l">
              <a:lnSpc>
                <a:spcPct val="112000"/>
              </a:lnSpc>
            </a:pPr>
            <a:r>
              <a:rPr sz="950" b="0" i="0">
                <a:solidFill>
                  <a:srgbClr val="D8E4F0"/>
                </a:solidFill>
                <a:latin typeface="Consolas"/>
              </a:rPr>
              <a:t>//   binary   :  9 cells,  2 flip-flops</a:t>
            </a:r>
          </a:p>
          <a:p>
            <a:pPr algn="l">
              <a:lnSpc>
                <a:spcPct val="112000"/>
              </a:lnSpc>
            </a:pPr>
            <a:r>
              <a:rPr sz="950" b="0" i="0">
                <a:solidFill>
                  <a:srgbClr val="D8E4F0"/>
                </a:solidFill>
                <a:latin typeface="Consolas"/>
              </a:rPr>
              <a:t>//   one-hot  :  9 cells,  4 flip-flops     &lt;-- more FFs, shallower next-state logic</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And Yosys chose one-hot BY ITSELF for traffic_fsm -- read the log:</a:t>
            </a:r>
          </a:p>
          <a:p>
            <a:pPr algn="l">
              <a:lnSpc>
                <a:spcPct val="112000"/>
              </a:lnSpc>
            </a:pPr>
            <a:r>
              <a:rPr sz="950" b="0" i="0">
                <a:solidFill>
                  <a:srgbClr val="D8E4F0"/>
                </a:solidFill>
                <a:latin typeface="Consolas"/>
              </a:rPr>
              <a:t>//   FSM_RECODE: mapping auto encoding to `one-hot` for this FSM</a:t>
            </a:r>
          </a:p>
        </p:txBody>
      </p:sp>
      <p:sp>
        <p:nvSpPr>
          <p:cNvPr id="13" name="Rounded Rectangle 12"/>
          <p:cNvSpPr/>
          <p:nvPr/>
        </p:nvSpPr>
        <p:spPr>
          <a:xfrm>
            <a:off x="411480" y="3897376"/>
            <a:ext cx="5532120" cy="13258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 y="3961384"/>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Always write a safe default</a:t>
            </a:r>
          </a:p>
        </p:txBody>
      </p:sp>
      <p:sp>
        <p:nvSpPr>
          <p:cNvPr id="15" name="TextBox 14"/>
          <p:cNvSpPr txBox="1"/>
          <p:nvPr/>
        </p:nvSpPr>
        <p:spPr>
          <a:xfrm>
            <a:off x="548640" y="4235704"/>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With one-hot, N states use 2^N possible patterns — the vast majority illegal. A single upset bit puts the machine somewhere it can never leave. </a:t>
            </a:r>
            <a:r>
              <a:rPr sz="1050" b="1" i="0">
                <a:solidFill>
                  <a:srgbClr val="2A9D5C"/>
                </a:solidFill>
                <a:latin typeface="Consolas"/>
              </a:rPr>
              <a:t>default: next = IDLE;</a:t>
            </a:r>
            <a:r>
              <a:rPr sz="1050" b="0" i="0">
                <a:solidFill>
                  <a:srgbClr val="33414F"/>
                </a:solidFill>
                <a:latin typeface="Calibri"/>
              </a:rPr>
              <a:t> costs nothing and guarantees recovery.</a:t>
            </a:r>
          </a:p>
        </p:txBody>
      </p:sp>
      <p:sp>
        <p:nvSpPr>
          <p:cNvPr id="16" name="Rounded Rectangle 15"/>
          <p:cNvSpPr/>
          <p:nvPr/>
        </p:nvSpPr>
        <p:spPr>
          <a:xfrm>
            <a:off x="6126480" y="3897376"/>
            <a:ext cx="5532120" cy="13258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63640" y="3961384"/>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 note from building this lab</a:t>
            </a:r>
          </a:p>
        </p:txBody>
      </p:sp>
      <p:sp>
        <p:nvSpPr>
          <p:cNvPr id="18" name="TextBox 17"/>
          <p:cNvSpPr txBox="1"/>
          <p:nvPr/>
        </p:nvSpPr>
        <p:spPr>
          <a:xfrm>
            <a:off x="6263640" y="4235704"/>
            <a:ext cx="5257800" cy="9235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On this 4-state machine the two encodings tie on cell count — the advantage of one-hot only appears when the state count grows and the next-state decode would otherwise get deep. </a:t>
            </a:r>
            <a:r>
              <a:rPr sz="1050" b="1" i="0">
                <a:solidFill>
                  <a:srgbClr val="0E2A47"/>
                </a:solidFill>
                <a:latin typeface="Calibri"/>
              </a:rPr>
              <a:t>Do not assume; measure.</a:t>
            </a:r>
            <a:r>
              <a:rPr sz="1050" b="0" i="0">
                <a:solidFill>
                  <a:srgbClr val="33414F"/>
                </a:solidFill>
                <a:latin typeface="Calibri"/>
              </a:rPr>
              <a:t> And read the log: the tool may already have re-encoded your FSM without being asked, which is exactly what happened to traffic_fsm above.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MOORE vs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the Output Comes From Changes the Timing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46</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Moore outputs depend on the state alone; Mealy outputs depend on the state AND the current inputs. </a:t>
            </a:r>
            <a:r>
              <a:rPr sz="1100" b="0" i="0">
                <a:solidFill>
                  <a:srgbClr val="33414F"/>
                </a:solidFill>
                <a:latin typeface="Calibri"/>
              </a:rPr>
              <a:t>A Mealy machine reacts one cycle sooner and often needs fewer states — but its output is combinational from an input, so it can glitch and it lands on the wrong side of a timing path.</a:t>
            </a:r>
          </a:p>
        </p:txBody>
      </p:sp>
      <p:sp>
        <p:nvSpPr>
          <p:cNvPr id="10" name="Rectangle 9"/>
          <p:cNvSpPr/>
          <p:nvPr/>
        </p:nvSpPr>
        <p:spPr>
          <a:xfrm>
            <a:off x="411480" y="187452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87452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
            </a:r>
          </a:p>
        </p:txBody>
      </p:sp>
      <p:sp>
        <p:nvSpPr>
          <p:cNvPr id="12" name="Rectangle 11"/>
          <p:cNvSpPr/>
          <p:nvPr/>
        </p:nvSpPr>
        <p:spPr>
          <a:xfrm>
            <a:off x="3611880" y="187452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87452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Moore</a:t>
            </a:r>
          </a:p>
        </p:txBody>
      </p:sp>
      <p:sp>
        <p:nvSpPr>
          <p:cNvPr id="14" name="Rectangle 13"/>
          <p:cNvSpPr/>
          <p:nvPr/>
        </p:nvSpPr>
        <p:spPr>
          <a:xfrm>
            <a:off x="7635240" y="187452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0" y="187452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Mealy</a:t>
            </a:r>
          </a:p>
        </p:txBody>
      </p:sp>
      <p:sp>
        <p:nvSpPr>
          <p:cNvPr id="16" name="Rectangle 15"/>
          <p:cNvSpPr/>
          <p:nvPr/>
        </p:nvSpPr>
        <p:spPr>
          <a:xfrm>
            <a:off x="411480" y="215798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157984"/>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Output is a function of</a:t>
            </a:r>
          </a:p>
        </p:txBody>
      </p:sp>
      <p:sp>
        <p:nvSpPr>
          <p:cNvPr id="18" name="Rectangle 17"/>
          <p:cNvSpPr/>
          <p:nvPr/>
        </p:nvSpPr>
        <p:spPr>
          <a:xfrm>
            <a:off x="3611880" y="215798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57600" y="215798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state only</a:t>
            </a:r>
          </a:p>
        </p:txBody>
      </p:sp>
      <p:sp>
        <p:nvSpPr>
          <p:cNvPr id="20" name="Rectangle 19"/>
          <p:cNvSpPr/>
          <p:nvPr/>
        </p:nvSpPr>
        <p:spPr>
          <a:xfrm>
            <a:off x="7635240" y="215798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0" y="215798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state and inputs</a:t>
            </a:r>
          </a:p>
        </p:txBody>
      </p:sp>
      <p:sp>
        <p:nvSpPr>
          <p:cNvPr id="22" name="Rectangle 21"/>
          <p:cNvSpPr/>
          <p:nvPr/>
        </p:nvSpPr>
        <p:spPr>
          <a:xfrm>
            <a:off x="411480" y="244144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441448"/>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Reacts to an input</a:t>
            </a:r>
          </a:p>
        </p:txBody>
      </p:sp>
      <p:sp>
        <p:nvSpPr>
          <p:cNvPr id="24" name="Rectangle 23"/>
          <p:cNvSpPr/>
          <p:nvPr/>
        </p:nvSpPr>
        <p:spPr>
          <a:xfrm>
            <a:off x="3611880" y="244144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600" y="2441448"/>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clock later</a:t>
            </a:r>
          </a:p>
        </p:txBody>
      </p:sp>
      <p:sp>
        <p:nvSpPr>
          <p:cNvPr id="26" name="Rectangle 25"/>
          <p:cNvSpPr/>
          <p:nvPr/>
        </p:nvSpPr>
        <p:spPr>
          <a:xfrm>
            <a:off x="7635240" y="244144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0" y="2441448"/>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 the same cycle</a:t>
            </a:r>
          </a:p>
        </p:txBody>
      </p:sp>
      <p:sp>
        <p:nvSpPr>
          <p:cNvPr id="28" name="Rectangle 27"/>
          <p:cNvSpPr/>
          <p:nvPr/>
        </p:nvSpPr>
        <p:spPr>
          <a:xfrm>
            <a:off x="411480" y="272491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724912"/>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Output glitches?</a:t>
            </a:r>
          </a:p>
        </p:txBody>
      </p:sp>
      <p:sp>
        <p:nvSpPr>
          <p:cNvPr id="30" name="Rectangle 29"/>
          <p:cNvSpPr/>
          <p:nvPr/>
        </p:nvSpPr>
        <p:spPr>
          <a:xfrm>
            <a:off x="3611880" y="272491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57600" y="2724912"/>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 it is registered</a:t>
            </a:r>
          </a:p>
        </p:txBody>
      </p:sp>
      <p:sp>
        <p:nvSpPr>
          <p:cNvPr id="32" name="Rectangle 31"/>
          <p:cNvSpPr/>
          <p:nvPr/>
        </p:nvSpPr>
        <p:spPr>
          <a:xfrm>
            <a:off x="7635240" y="272491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80960" y="2724912"/>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yes — it follows the input</a:t>
            </a:r>
          </a:p>
        </p:txBody>
      </p:sp>
      <p:sp>
        <p:nvSpPr>
          <p:cNvPr id="34" name="Rectangle 33"/>
          <p:cNvSpPr/>
          <p:nvPr/>
        </p:nvSpPr>
        <p:spPr>
          <a:xfrm>
            <a:off x="411480" y="300837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008376"/>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Typical state count</a:t>
            </a:r>
          </a:p>
        </p:txBody>
      </p:sp>
      <p:sp>
        <p:nvSpPr>
          <p:cNvPr id="36" name="Rectangle 35"/>
          <p:cNvSpPr/>
          <p:nvPr/>
        </p:nvSpPr>
        <p:spPr>
          <a:xfrm>
            <a:off x="3611880" y="300837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57600" y="3008376"/>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more</a:t>
            </a:r>
          </a:p>
        </p:txBody>
      </p:sp>
      <p:sp>
        <p:nvSpPr>
          <p:cNvPr id="38" name="Rectangle 37"/>
          <p:cNvSpPr/>
          <p:nvPr/>
        </p:nvSpPr>
        <p:spPr>
          <a:xfrm>
            <a:off x="7635240" y="300837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0" y="3008376"/>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fewer</a:t>
            </a:r>
          </a:p>
        </p:txBody>
      </p:sp>
      <p:sp>
        <p:nvSpPr>
          <p:cNvPr id="40" name="Rectangle 39"/>
          <p:cNvSpPr/>
          <p:nvPr/>
        </p:nvSpPr>
        <p:spPr>
          <a:xfrm>
            <a:off x="411480" y="329184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291840"/>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Safe to drive off-chip?</a:t>
            </a:r>
          </a:p>
        </p:txBody>
      </p:sp>
      <p:sp>
        <p:nvSpPr>
          <p:cNvPr id="42" name="Rectangle 41"/>
          <p:cNvSpPr/>
          <p:nvPr/>
        </p:nvSpPr>
        <p:spPr>
          <a:xfrm>
            <a:off x="3611880" y="329184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57600" y="3291840"/>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yes</a:t>
            </a:r>
          </a:p>
        </p:txBody>
      </p:sp>
      <p:sp>
        <p:nvSpPr>
          <p:cNvPr id="44" name="Rectangle 43"/>
          <p:cNvSpPr/>
          <p:nvPr/>
        </p:nvSpPr>
        <p:spPr>
          <a:xfrm>
            <a:off x="7635240" y="329184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80960" y="3291840"/>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not without registering it</a:t>
            </a:r>
          </a:p>
        </p:txBody>
      </p:sp>
      <p:sp>
        <p:nvSpPr>
          <p:cNvPr id="46" name="Rectangle 45"/>
          <p:cNvSpPr/>
          <p:nvPr/>
        </p:nvSpPr>
        <p:spPr>
          <a:xfrm>
            <a:off x="411480" y="3575304"/>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575304"/>
            <a:ext cx="31089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Use it when</a:t>
            </a:r>
          </a:p>
        </p:txBody>
      </p:sp>
      <p:sp>
        <p:nvSpPr>
          <p:cNvPr id="48" name="Rectangle 47"/>
          <p:cNvSpPr/>
          <p:nvPr/>
        </p:nvSpPr>
        <p:spPr>
          <a:xfrm>
            <a:off x="3611880" y="357530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657600" y="357530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you want clean, predictable outputs</a:t>
            </a:r>
          </a:p>
        </p:txBody>
      </p:sp>
      <p:sp>
        <p:nvSpPr>
          <p:cNvPr id="50" name="Rectangle 49"/>
          <p:cNvSpPr/>
          <p:nvPr/>
        </p:nvSpPr>
        <p:spPr>
          <a:xfrm>
            <a:off x="7635240" y="357530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680960" y="3575304"/>
            <a:ext cx="3931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you need the earliest possible response</a:t>
            </a:r>
          </a:p>
        </p:txBody>
      </p:sp>
      <p:sp>
        <p:nvSpPr>
          <p:cNvPr id="52" name="Rounded Rectangle 51"/>
          <p:cNvSpPr/>
          <p:nvPr/>
        </p:nvSpPr>
        <p:spPr>
          <a:xfrm>
            <a:off x="411480" y="3950208"/>
            <a:ext cx="11247120" cy="10515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576072" y="4014216"/>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Lab L3 — build the same 1011 sequence detector both ways</a:t>
            </a:r>
          </a:p>
        </p:txBody>
      </p:sp>
      <p:sp>
        <p:nvSpPr>
          <p:cNvPr id="54" name="TextBox 53"/>
          <p:cNvSpPr txBox="1"/>
          <p:nvPr/>
        </p:nvSpPr>
        <p:spPr>
          <a:xfrm>
            <a:off x="576072" y="4288536"/>
            <a:ext cx="10917936" cy="6492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Topic4_Lab/rtl/seq_detect_1011.v implements both in one module so you can watch the two </a:t>
            </a:r>
            <a:r>
              <a:rPr sz="1100" b="1" i="0">
                <a:solidFill>
                  <a:srgbClr val="0E2A47"/>
                </a:solidFill>
                <a:latin typeface="Consolas"/>
              </a:rPr>
              <a:t>found</a:t>
            </a:r>
            <a:r>
              <a:rPr sz="1100" b="0" i="0">
                <a:solidFill>
                  <a:srgbClr val="33414F"/>
                </a:solidFill>
                <a:latin typeface="Calibri"/>
              </a:rPr>
              <a:t> outputs on the same waveform. The Mealy output pulses on the clock edge where the final 1 arrives; the Moore output pulses one cycle later. Overlapping detection is handled by returning to the correct partial-match state rather than to IDLE — 1011011 contains two matches, not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MEMORY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Inferring RAM — Write It the Way the Tool Expects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47</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You do not instantiate a RAM; you write a pattern the tool recognises. </a:t>
            </a:r>
            <a:r>
              <a:rPr sz="1100" b="0" i="0">
                <a:solidFill>
                  <a:srgbClr val="33414F"/>
                </a:solidFill>
                <a:latin typeface="Calibri"/>
              </a:rPr>
              <a:t>Get the pattern right and you get a dedicated block RAM. Get it slightly wrong and you get thousands of flip-flops, or a design that will not fit at all.</a:t>
            </a:r>
          </a:p>
        </p:txBody>
      </p:sp>
      <p:pic>
        <p:nvPicPr>
          <p:cNvPr id="10" name="Picture 9" descr="memory_inference.png"/>
          <p:cNvPicPr>
            <a:picLocks noChangeAspect="1"/>
          </p:cNvPicPr>
          <p:nvPr/>
        </p:nvPicPr>
        <p:blipFill>
          <a:blip r:embed="rId2"/>
          <a:stretch>
            <a:fillRect/>
          </a:stretch>
        </p:blipFill>
        <p:spPr>
          <a:xfrm>
            <a:off x="2462257" y="1783080"/>
            <a:ext cx="7145565" cy="2743200"/>
          </a:xfrm>
          <a:prstGeom prst="rect">
            <a:avLst/>
          </a:prstGeom>
        </p:spPr>
      </p:pic>
      <p:sp>
        <p:nvSpPr>
          <p:cNvPr id="11" name="Rounded Rectangle 10"/>
          <p:cNvSpPr/>
          <p:nvPr/>
        </p:nvSpPr>
        <p:spPr>
          <a:xfrm>
            <a:off x="411480" y="4617720"/>
            <a:ext cx="11247120" cy="14427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7320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Topic4_Lab/rtl/sync_ram.v — synchronous read</a:t>
            </a:r>
          </a:p>
        </p:txBody>
      </p:sp>
      <p:sp>
        <p:nvSpPr>
          <p:cNvPr id="13" name="TextBox 12"/>
          <p:cNvSpPr txBox="1"/>
          <p:nvPr/>
        </p:nvSpPr>
        <p:spPr>
          <a:xfrm>
            <a:off x="594360" y="5006340"/>
            <a:ext cx="10881360" cy="93980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reg [W-1:0] mem [0:DEPTH-1];</a:t>
            </a:r>
          </a:p>
          <a:p>
            <a:pPr algn="l">
              <a:lnSpc>
                <a:spcPct val="112000"/>
              </a:lnSpc>
            </a:pPr>
            <a:r>
              <a:rPr sz="1000" b="0" i="0">
                <a:solidFill>
                  <a:srgbClr val="D8E4F0"/>
                </a:solidFill>
                <a:latin typeface="Consolas"/>
              </a:rPr>
              <a:t>always @(posedge clk) begin</a:t>
            </a:r>
          </a:p>
          <a:p>
            <a:pPr algn="l">
              <a:lnSpc>
                <a:spcPct val="112000"/>
              </a:lnSpc>
            </a:pPr>
            <a:r>
              <a:rPr sz="1000" b="0" i="0">
                <a:solidFill>
                  <a:srgbClr val="D8E4F0"/>
                </a:solidFill>
                <a:latin typeface="Consolas"/>
              </a:rPr>
              <a:t>  if (we) mem[waddr] &lt;= wdata;</a:t>
            </a:r>
          </a:p>
          <a:p>
            <a:pPr algn="l">
              <a:lnSpc>
                <a:spcPct val="112000"/>
              </a:lnSpc>
            </a:pPr>
            <a:r>
              <a:rPr sz="1000" b="0" i="0">
                <a:solidFill>
                  <a:srgbClr val="D8E4F0"/>
                </a:solidFill>
                <a:latin typeface="Consolas"/>
              </a:rPr>
              <a:t>  rdata &lt;= mem[raddr];         // REGISTERED read -- this is what infers block RAM</a:t>
            </a:r>
          </a:p>
          <a:p>
            <a:pPr algn="l">
              <a:lnSpc>
                <a:spcPct val="112000"/>
              </a:lnSpc>
            </a:pPr>
            <a:r>
              <a:rPr sz="1000" b="0" i="0">
                <a:solidFill>
                  <a:srgbClr val="D8E4F0"/>
                </a:solidFill>
                <a:latin typeface="Consolas"/>
              </a:rPr>
              <a:t>end</a:t>
            </a:r>
          </a:p>
        </p:txBody>
      </p:sp>
      <p:sp>
        <p:nvSpPr>
          <p:cNvPr id="14" name="TextBox 13"/>
          <p:cNvSpPr txBox="1"/>
          <p:nvPr/>
        </p:nvSpPr>
        <p:spPr>
          <a:xfrm>
            <a:off x="411480" y="610616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Write </a:t>
            </a:r>
            <a:r>
              <a:rPr sz="1050" b="1" i="0">
                <a:solidFill>
                  <a:srgbClr val="C01F43"/>
                </a:solidFill>
                <a:latin typeface="Consolas"/>
              </a:rPr>
              <a:t>assign rdata = mem[raddr];</a:t>
            </a:r>
            <a:r>
              <a:rPr sz="1050" b="0" i="0">
                <a:solidFill>
                  <a:srgbClr val="33414F"/>
                </a:solidFill>
                <a:latin typeface="Calibri"/>
              </a:rPr>
              <a:t> instead — an asynchronous read — and no FPGA block RAM can implement it, so the tool builds the whole array out of registers and multiplexers. Same intent, wildly different silicon.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SPEED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Pipelining — Trading Latency for Throughput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48</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clock period must be longer than the slowest combinational path between two flip-flops. </a:t>
            </a:r>
            <a:r>
              <a:rPr sz="1100" b="0" i="0">
                <a:solidFill>
                  <a:srgbClr val="33414F"/>
                </a:solidFill>
                <a:latin typeface="Calibri"/>
              </a:rPr>
              <a:t>If that path is too slow, cut it in half with a register in the middle. You now need two cycles to get an answer — but you can start a new one every cycle.</a:t>
            </a:r>
          </a:p>
        </p:txBody>
      </p:sp>
      <p:pic>
        <p:nvPicPr>
          <p:cNvPr id="10" name="Picture 9" descr="pipelining.png"/>
          <p:cNvPicPr>
            <a:picLocks noChangeAspect="1"/>
          </p:cNvPicPr>
          <p:nvPr/>
        </p:nvPicPr>
        <p:blipFill>
          <a:blip r:embed="rId2"/>
          <a:stretch>
            <a:fillRect/>
          </a:stretch>
        </p:blipFill>
        <p:spPr>
          <a:xfrm>
            <a:off x="1866793" y="1783080"/>
            <a:ext cx="8336493" cy="3200400"/>
          </a:xfrm>
          <a:prstGeom prst="rect">
            <a:avLst/>
          </a:prstGeom>
        </p:spPr>
      </p:pic>
      <p:sp>
        <p:nvSpPr>
          <p:cNvPr id="11" name="Rounded Rectangle 10"/>
          <p:cNvSpPr/>
          <p:nvPr/>
        </p:nvSpPr>
        <p:spPr>
          <a:xfrm>
            <a:off x="411480" y="5074920"/>
            <a:ext cx="5532120" cy="1234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13892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you gain and what you pay</a:t>
            </a:r>
          </a:p>
        </p:txBody>
      </p:sp>
      <p:sp>
        <p:nvSpPr>
          <p:cNvPr id="13" name="TextBox 12"/>
          <p:cNvSpPr txBox="1"/>
          <p:nvPr/>
        </p:nvSpPr>
        <p:spPr>
          <a:xfrm>
            <a:off x="548640" y="5413248"/>
            <a:ext cx="5257800" cy="832104"/>
          </a:xfrm>
          <a:prstGeom prst="rect">
            <a:avLst/>
          </a:prstGeom>
          <a:noFill/>
        </p:spPr>
        <p:txBody>
          <a:bodyPr wrap="square" lIns="0" rIns="0" tIns="0" bIns="0" anchor="t">
            <a:spAutoFit/>
          </a:bodyPr>
          <a:lstStyle/>
          <a:p>
            <a:pPr algn="l">
              <a:lnSpc>
                <a:spcPct val="103000"/>
              </a:lnSpc>
              <a:spcAft>
                <a:spcPts val="400"/>
              </a:spcAft>
            </a:pPr>
            <a:r>
              <a:rPr sz="1050" b="0" i="0">
                <a:solidFill>
                  <a:srgbClr val="2A9D5C"/>
                </a:solidFill>
                <a:latin typeface="Calibri"/>
              </a:rPr>
              <a:t>+ Throughput: one result per clock, at a much higher clock.</a:t>
            </a:r>
          </a:p>
          <a:p>
            <a:pPr algn="l">
              <a:lnSpc>
                <a:spcPct val="103000"/>
              </a:lnSpc>
              <a:spcAft>
                <a:spcPts val="400"/>
              </a:spcAft>
            </a:pPr>
            <a:r>
              <a:rPr sz="1050" b="0" i="0">
                <a:solidFill>
                  <a:srgbClr val="C77514"/>
                </a:solidFill>
                <a:latin typeface="Calibri"/>
              </a:rPr>
              <a:t>− Latency: the first result arrives N cycles later.</a:t>
            </a:r>
          </a:p>
          <a:p>
            <a:pPr algn="l">
              <a:lnSpc>
                <a:spcPct val="103000"/>
              </a:lnSpc>
              <a:spcAft>
                <a:spcPts val="400"/>
              </a:spcAft>
            </a:pPr>
            <a:r>
              <a:rPr sz="1050" b="0" i="0">
                <a:solidFill>
                  <a:srgbClr val="C77514"/>
                </a:solidFill>
                <a:latin typeface="Calibri"/>
              </a:rPr>
              <a:t>− Area: the pipeline registers, and any control signal that must now be delayed to stay aligned with its data.</a:t>
            </a:r>
          </a:p>
        </p:txBody>
      </p:sp>
      <p:sp>
        <p:nvSpPr>
          <p:cNvPr id="14" name="Rounded Rectangle 13"/>
          <p:cNvSpPr/>
          <p:nvPr/>
        </p:nvSpPr>
        <p:spPr>
          <a:xfrm>
            <a:off x="6126480" y="5074920"/>
            <a:ext cx="5532120" cy="12344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13892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trap</a:t>
            </a:r>
          </a:p>
        </p:txBody>
      </p:sp>
      <p:sp>
        <p:nvSpPr>
          <p:cNvPr id="16" name="TextBox 15"/>
          <p:cNvSpPr txBox="1"/>
          <p:nvPr/>
        </p:nvSpPr>
        <p:spPr>
          <a:xfrm>
            <a:off x="6263640" y="5413248"/>
            <a:ext cx="5257800" cy="83210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Every signal travelling alongside the data must be delayed by the SAME number of stages. </a:t>
            </a:r>
            <a:r>
              <a:rPr sz="1050" b="0" i="0">
                <a:solidFill>
                  <a:srgbClr val="33414F"/>
                </a:solidFill>
                <a:latin typeface="Calibri"/>
              </a:rPr>
              <a:t>Pipeline the datapath and forget the valid bit, and your results arrive correctly but are marked valid two cycles early. Carry valid, and any tag or address, through the identical register chain.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4B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Predict the Hardware — Eight Snippets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49</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Show each snippet, ask 'what does the tool build?', then run it. </a:t>
            </a:r>
            <a:r>
              <a:rPr sz="1100" b="0" i="0">
                <a:solidFill>
                  <a:srgbClr val="33414F"/>
                </a:solidFill>
                <a:latin typeface="Calibri"/>
              </a:rPr>
              <a:t>Full answers and the synthesis reports are in workbook section T4-B.</a:t>
            </a:r>
          </a:p>
        </p:txBody>
      </p:sp>
      <p:sp>
        <p:nvSpPr>
          <p:cNvPr id="10" name="Rectangle 9"/>
          <p:cNvSpPr/>
          <p:nvPr/>
        </p:nvSpPr>
        <p:spPr>
          <a:xfrm>
            <a:off x="411480" y="1554480"/>
            <a:ext cx="5486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4572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t>
            </a:r>
          </a:p>
        </p:txBody>
      </p:sp>
      <p:sp>
        <p:nvSpPr>
          <p:cNvPr id="12" name="Rectangle 11"/>
          <p:cNvSpPr/>
          <p:nvPr/>
        </p:nvSpPr>
        <p:spPr>
          <a:xfrm>
            <a:off x="960120" y="1554480"/>
            <a:ext cx="53035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1554480"/>
            <a:ext cx="52120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Snippet</a:t>
            </a:r>
          </a:p>
        </p:txBody>
      </p:sp>
      <p:sp>
        <p:nvSpPr>
          <p:cNvPr id="14" name="Rectangle 13"/>
          <p:cNvSpPr/>
          <p:nvPr/>
        </p:nvSpPr>
        <p:spPr>
          <a:xfrm>
            <a:off x="6263640" y="1554480"/>
            <a:ext cx="53949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09360" y="1554480"/>
            <a:ext cx="53035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does synthesis produce?</a:t>
            </a:r>
          </a:p>
        </p:txBody>
      </p:sp>
      <p:sp>
        <p:nvSpPr>
          <p:cNvPr id="16" name="Rectangle 15"/>
          <p:cNvSpPr/>
          <p:nvPr/>
        </p:nvSpPr>
        <p:spPr>
          <a:xfrm>
            <a:off x="411480" y="1837944"/>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837944"/>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1</a:t>
            </a:r>
          </a:p>
        </p:txBody>
      </p:sp>
      <p:sp>
        <p:nvSpPr>
          <p:cNvPr id="18" name="Rectangle 17"/>
          <p:cNvSpPr/>
          <p:nvPr/>
        </p:nvSpPr>
        <p:spPr>
          <a:xfrm>
            <a:off x="960120" y="1837944"/>
            <a:ext cx="5303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05840" y="1837944"/>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assign y = sel ? b : a;</a:t>
            </a:r>
          </a:p>
        </p:txBody>
      </p:sp>
      <p:sp>
        <p:nvSpPr>
          <p:cNvPr id="20" name="Rectangle 19"/>
          <p:cNvSpPr/>
          <p:nvPr/>
        </p:nvSpPr>
        <p:spPr>
          <a:xfrm>
            <a:off x="6263640" y="1837944"/>
            <a:ext cx="53949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09360" y="1837944"/>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One W-bit 2:1 multiplexer, no state</a:t>
            </a:r>
          </a:p>
        </p:txBody>
      </p:sp>
      <p:sp>
        <p:nvSpPr>
          <p:cNvPr id="22" name="Rectangle 21"/>
          <p:cNvSpPr/>
          <p:nvPr/>
        </p:nvSpPr>
        <p:spPr>
          <a:xfrm>
            <a:off x="411480" y="2121408"/>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121408"/>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2</a:t>
            </a:r>
          </a:p>
        </p:txBody>
      </p:sp>
      <p:sp>
        <p:nvSpPr>
          <p:cNvPr id="24" name="Rectangle 23"/>
          <p:cNvSpPr/>
          <p:nvPr/>
        </p:nvSpPr>
        <p:spPr>
          <a:xfrm>
            <a:off x="960120" y="2121408"/>
            <a:ext cx="5303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05840" y="2121408"/>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always @(*) if (en) y = d;</a:t>
            </a:r>
          </a:p>
        </p:txBody>
      </p:sp>
      <p:sp>
        <p:nvSpPr>
          <p:cNvPr id="26" name="Rectangle 25"/>
          <p:cNvSpPr/>
          <p:nvPr/>
        </p:nvSpPr>
        <p:spPr>
          <a:xfrm>
            <a:off x="6263640" y="2121408"/>
            <a:ext cx="53949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09360" y="2121408"/>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transparent latch on y</a:t>
            </a:r>
          </a:p>
        </p:txBody>
      </p:sp>
      <p:sp>
        <p:nvSpPr>
          <p:cNvPr id="28" name="Rectangle 27"/>
          <p:cNvSpPr/>
          <p:nvPr/>
        </p:nvSpPr>
        <p:spPr>
          <a:xfrm>
            <a:off x="411480" y="2404872"/>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404872"/>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3</a:t>
            </a:r>
          </a:p>
        </p:txBody>
      </p:sp>
      <p:sp>
        <p:nvSpPr>
          <p:cNvPr id="30" name="Rectangle 29"/>
          <p:cNvSpPr/>
          <p:nvPr/>
        </p:nvSpPr>
        <p:spPr>
          <a:xfrm>
            <a:off x="960120" y="2404872"/>
            <a:ext cx="5303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005840" y="2404872"/>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always @(posedge clk) q1 = d; q2 = q1;</a:t>
            </a:r>
          </a:p>
        </p:txBody>
      </p:sp>
      <p:sp>
        <p:nvSpPr>
          <p:cNvPr id="32" name="Rectangle 31"/>
          <p:cNvSpPr/>
          <p:nvPr/>
        </p:nvSpPr>
        <p:spPr>
          <a:xfrm>
            <a:off x="6263640" y="2404872"/>
            <a:ext cx="53949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09360" y="2404872"/>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ONE flip-flop (verified above)</a:t>
            </a:r>
          </a:p>
        </p:txBody>
      </p:sp>
      <p:sp>
        <p:nvSpPr>
          <p:cNvPr id="34" name="Rectangle 33"/>
          <p:cNvSpPr/>
          <p:nvPr/>
        </p:nvSpPr>
        <p:spPr>
          <a:xfrm>
            <a:off x="411480" y="2688336"/>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688336"/>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4</a:t>
            </a:r>
          </a:p>
        </p:txBody>
      </p:sp>
      <p:sp>
        <p:nvSpPr>
          <p:cNvPr id="36" name="Rectangle 35"/>
          <p:cNvSpPr/>
          <p:nvPr/>
        </p:nvSpPr>
        <p:spPr>
          <a:xfrm>
            <a:off x="960120" y="2688336"/>
            <a:ext cx="5303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05840" y="2688336"/>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always @(posedge clk) q &lt;= {q[6:0], sin};</a:t>
            </a:r>
          </a:p>
        </p:txBody>
      </p:sp>
      <p:sp>
        <p:nvSpPr>
          <p:cNvPr id="38" name="Rectangle 37"/>
          <p:cNvSpPr/>
          <p:nvPr/>
        </p:nvSpPr>
        <p:spPr>
          <a:xfrm>
            <a:off x="6263640" y="2688336"/>
            <a:ext cx="53949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09360" y="2688336"/>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An 8-bit shift register</a:t>
            </a:r>
          </a:p>
        </p:txBody>
      </p:sp>
      <p:sp>
        <p:nvSpPr>
          <p:cNvPr id="40" name="Rectangle 39"/>
          <p:cNvSpPr/>
          <p:nvPr/>
        </p:nvSpPr>
        <p:spPr>
          <a:xfrm>
            <a:off x="411480" y="2971800"/>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2971800"/>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5</a:t>
            </a:r>
          </a:p>
        </p:txBody>
      </p:sp>
      <p:sp>
        <p:nvSpPr>
          <p:cNvPr id="42" name="Rectangle 41"/>
          <p:cNvSpPr/>
          <p:nvPr/>
        </p:nvSpPr>
        <p:spPr>
          <a:xfrm>
            <a:off x="960120" y="2971800"/>
            <a:ext cx="5303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05840" y="2971800"/>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for (i=0;i&lt;8;i=i+1) s = s + d[i];</a:t>
            </a:r>
          </a:p>
        </p:txBody>
      </p:sp>
      <p:sp>
        <p:nvSpPr>
          <p:cNvPr id="44" name="Rectangle 43"/>
          <p:cNvSpPr/>
          <p:nvPr/>
        </p:nvSpPr>
        <p:spPr>
          <a:xfrm>
            <a:off x="6263640" y="2971800"/>
            <a:ext cx="53949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09360" y="2971800"/>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An adder tree — eight adders, unrolled</a:t>
            </a:r>
          </a:p>
        </p:txBody>
      </p:sp>
      <p:sp>
        <p:nvSpPr>
          <p:cNvPr id="46" name="Rectangle 45"/>
          <p:cNvSpPr/>
          <p:nvPr/>
        </p:nvSpPr>
        <p:spPr>
          <a:xfrm>
            <a:off x="411480" y="3255264"/>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255264"/>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6</a:t>
            </a:r>
          </a:p>
        </p:txBody>
      </p:sp>
      <p:sp>
        <p:nvSpPr>
          <p:cNvPr id="48" name="Rectangle 47"/>
          <p:cNvSpPr/>
          <p:nvPr/>
        </p:nvSpPr>
        <p:spPr>
          <a:xfrm>
            <a:off x="960120" y="3255264"/>
            <a:ext cx="5303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05840" y="3255264"/>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assign z = ~|result;</a:t>
            </a:r>
          </a:p>
        </p:txBody>
      </p:sp>
      <p:sp>
        <p:nvSpPr>
          <p:cNvPr id="50" name="Rectangle 49"/>
          <p:cNvSpPr/>
          <p:nvPr/>
        </p:nvSpPr>
        <p:spPr>
          <a:xfrm>
            <a:off x="6263640" y="3255264"/>
            <a:ext cx="53949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309360" y="3255264"/>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NOR reduction tree — the zero flag</a:t>
            </a:r>
          </a:p>
        </p:txBody>
      </p:sp>
      <p:sp>
        <p:nvSpPr>
          <p:cNvPr id="52" name="Rectangle 51"/>
          <p:cNvSpPr/>
          <p:nvPr/>
        </p:nvSpPr>
        <p:spPr>
          <a:xfrm>
            <a:off x="411480" y="3538728"/>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538728"/>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7</a:t>
            </a:r>
          </a:p>
        </p:txBody>
      </p:sp>
      <p:sp>
        <p:nvSpPr>
          <p:cNvPr id="54" name="Rectangle 53"/>
          <p:cNvSpPr/>
          <p:nvPr/>
        </p:nvSpPr>
        <p:spPr>
          <a:xfrm>
            <a:off x="960120" y="3538728"/>
            <a:ext cx="5303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005840" y="3538728"/>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rdata &lt;= mem[raddr]; inside a clocked block</a:t>
            </a:r>
          </a:p>
        </p:txBody>
      </p:sp>
      <p:sp>
        <p:nvSpPr>
          <p:cNvPr id="56" name="Rectangle 55"/>
          <p:cNvSpPr/>
          <p:nvPr/>
        </p:nvSpPr>
        <p:spPr>
          <a:xfrm>
            <a:off x="6263640" y="3538728"/>
            <a:ext cx="53949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309360" y="3538728"/>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block RAM with registered read</a:t>
            </a:r>
          </a:p>
        </p:txBody>
      </p:sp>
      <p:sp>
        <p:nvSpPr>
          <p:cNvPr id="58" name="Rectangle 57"/>
          <p:cNvSpPr/>
          <p:nvPr/>
        </p:nvSpPr>
        <p:spPr>
          <a:xfrm>
            <a:off x="411480" y="3822192"/>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822192"/>
            <a:ext cx="45720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8</a:t>
            </a:r>
          </a:p>
        </p:txBody>
      </p:sp>
      <p:sp>
        <p:nvSpPr>
          <p:cNvPr id="60" name="Rectangle 59"/>
          <p:cNvSpPr/>
          <p:nvPr/>
        </p:nvSpPr>
        <p:spPr>
          <a:xfrm>
            <a:off x="960120" y="3822192"/>
            <a:ext cx="5303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1005840" y="3822192"/>
            <a:ext cx="52120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casex (sel) with an x in sel</a:t>
            </a:r>
          </a:p>
        </p:txBody>
      </p:sp>
      <p:sp>
        <p:nvSpPr>
          <p:cNvPr id="62" name="Rectangle 61"/>
          <p:cNvSpPr/>
          <p:nvPr/>
        </p:nvSpPr>
        <p:spPr>
          <a:xfrm>
            <a:off x="6263640" y="3822192"/>
            <a:ext cx="53949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309360" y="3822192"/>
            <a:ext cx="530352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Simulation/synthesis mismatch — banned</a:t>
            </a:r>
          </a:p>
        </p:txBody>
      </p:sp>
      <p:sp>
        <p:nvSpPr>
          <p:cNvPr id="64" name="Rounded Rectangle 63"/>
          <p:cNvSpPr/>
          <p:nvPr/>
        </p:nvSpPr>
        <p:spPr>
          <a:xfrm>
            <a:off x="411480" y="4197096"/>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576072" y="4261104"/>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habit this checkpoint is building</a:t>
            </a:r>
          </a:p>
        </p:txBody>
      </p:sp>
      <p:sp>
        <p:nvSpPr>
          <p:cNvPr id="66" name="TextBox 65"/>
          <p:cNvSpPr txBox="1"/>
          <p:nvPr/>
        </p:nvSpPr>
        <p:spPr>
          <a:xfrm>
            <a:off x="576072" y="4535424"/>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Predict, then verify. </a:t>
            </a:r>
            <a:r>
              <a:rPr sz="1100" b="0" i="0">
                <a:solidFill>
                  <a:srgbClr val="33414F"/>
                </a:solidFill>
                <a:latin typeface="Calibri"/>
              </a:rPr>
              <a:t>A designer who can look at a page of RTL and describe the netlist before running the tool will catch problems in review, in minutes. A designer who cannot will find them in the lab, in days — or on the silicon, in months.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6B45A8"/>
                </a:solidFill>
                <a:latin typeface="Calibri"/>
              </a:rPr>
              <a:t>SUBTOPIC 4C</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Writing RTL Code for Basic Digital Circuits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Twenty-two designs, five self-checking testbenches, one capstone. Everything from here on exists as runnable code.</a:t>
            </a:r>
          </a:p>
        </p:txBody>
      </p:sp>
      <p:sp>
        <p:nvSpPr>
          <p:cNvPr id="6" name="Rectangle 5"/>
          <p:cNvSpPr/>
          <p:nvPr/>
        </p:nvSpPr>
        <p:spPr>
          <a:xfrm>
            <a:off x="640080" y="394106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RTL development flow — specify, code, lint, simulate, synthesise</a:t>
            </a:r>
          </a:p>
        </p:txBody>
      </p:sp>
      <p:sp>
        <p:nvSpPr>
          <p:cNvPr id="8" name="Rectangle 7"/>
          <p:cNvSpPr/>
          <p:nvPr/>
        </p:nvSpPr>
        <p:spPr>
          <a:xfrm>
            <a:off x="640080" y="435254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 catalogue of the standard blocks and how each is written</a:t>
            </a:r>
          </a:p>
        </p:txBody>
      </p:sp>
      <p:sp>
        <p:nvSpPr>
          <p:cNvPr id="10" name="Rectangle 9"/>
          <p:cNvSpPr/>
          <p:nvPr/>
        </p:nvSpPr>
        <p:spPr>
          <a:xfrm>
            <a:off x="640080" y="476402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Verification: testbench anatomy, self-checking, scoreboards, randomisation</a:t>
            </a:r>
          </a:p>
        </p:txBody>
      </p:sp>
      <p:sp>
        <p:nvSpPr>
          <p:cNvPr id="12" name="Rectangle 11"/>
          <p:cNvSpPr/>
          <p:nvPr/>
        </p:nvSpPr>
        <p:spPr>
          <a:xfrm>
            <a:off x="640080" y="517550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Two full designs: a synchronous FIFO and an 8N1 UART</a:t>
            </a:r>
          </a:p>
        </p:txBody>
      </p:sp>
      <p:sp>
        <p:nvSpPr>
          <p:cNvPr id="14" name="Rectangle 13"/>
          <p:cNvSpPr/>
          <p:nvPr/>
        </p:nvSpPr>
        <p:spPr>
          <a:xfrm>
            <a:off x="640080" y="558698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Two real bugs, found while building this lab, and how they were caught</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Loop You Will Live In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51</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RTL block goes round this loop, and the order is not negotiable. </a:t>
            </a:r>
            <a:r>
              <a:rPr sz="1100" b="0" i="0">
                <a:solidFill>
                  <a:srgbClr val="33414F"/>
                </a:solidFill>
                <a:latin typeface="Calibri"/>
              </a:rPr>
              <a:t>Lint takes one second and catches width bugs; simulation takes a minute and catches logic bugs; synthesis takes longer and catches structural bugs. Run them cheapest first.</a:t>
            </a:r>
          </a:p>
        </p:txBody>
      </p:sp>
      <p:pic>
        <p:nvPicPr>
          <p:cNvPr id="10" name="Picture 9" descr="rtl_flow.png"/>
          <p:cNvPicPr>
            <a:picLocks noChangeAspect="1"/>
          </p:cNvPicPr>
          <p:nvPr/>
        </p:nvPicPr>
        <p:blipFill>
          <a:blip r:embed="rId2"/>
          <a:stretch>
            <a:fillRect/>
          </a:stretch>
        </p:blipFill>
        <p:spPr>
          <a:xfrm>
            <a:off x="1251782" y="1783080"/>
            <a:ext cx="9566516" cy="3383280"/>
          </a:xfrm>
          <a:prstGeom prst="rect">
            <a:avLst/>
          </a:prstGeom>
        </p:spPr>
      </p:pic>
      <p:sp>
        <p:nvSpPr>
          <p:cNvPr id="11" name="Rounded Rectangle 10"/>
          <p:cNvSpPr/>
          <p:nvPr/>
        </p:nvSpPr>
        <p:spPr>
          <a:xfrm>
            <a:off x="411480" y="5257800"/>
            <a:ext cx="11247120" cy="9601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3218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order matters more than the tools</a:t>
            </a:r>
          </a:p>
        </p:txBody>
      </p:sp>
      <p:sp>
        <p:nvSpPr>
          <p:cNvPr id="13" name="TextBox 12"/>
          <p:cNvSpPr txBox="1"/>
          <p:nvPr/>
        </p:nvSpPr>
        <p:spPr>
          <a:xfrm>
            <a:off x="576072" y="5596128"/>
            <a:ext cx="10917936" cy="557784"/>
          </a:xfrm>
          <a:prstGeom prst="rect">
            <a:avLst/>
          </a:prstGeom>
          <a:noFill/>
        </p:spPr>
        <p:txBody>
          <a:bodyPr wrap="square" lIns="0" rIns="0" tIns="0" bIns="0" anchor="t">
            <a:spAutoFit/>
          </a:bodyPr>
          <a:lstStyle/>
          <a:p>
            <a:pPr algn="l">
              <a:lnSpc>
                <a:spcPct val="103000"/>
              </a:lnSpc>
              <a:spcAft>
                <a:spcPts val="400"/>
              </a:spcAft>
            </a:pPr>
            <a:r>
              <a:rPr sz="1100" b="1" i="0">
                <a:solidFill>
                  <a:srgbClr val="C77514"/>
                </a:solidFill>
                <a:latin typeface="Calibri"/>
              </a:rPr>
              <a:t>Students who skip lint and go straight to the waveform viewer spend hours chasing symptoms of a truncation Verilator would have named in one second. Students who skip synthesis until the end discover their beautiful, fully-verified design contains forty latches. </a:t>
            </a:r>
            <a:r>
              <a:rPr sz="1100" b="0" i="0">
                <a:solidFill>
                  <a:srgbClr val="33414F"/>
                </a:solidFill>
                <a:latin typeface="Calibri"/>
              </a:rPr>
              <a:t>Lint, simulate, synthesise — every time, in that order.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CATALOGUE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Standard Blocks — and the Idiom That Builds Each One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52</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Almost all digital design is assembling these. </a:t>
            </a:r>
            <a:r>
              <a:rPr sz="1100" b="0" i="0">
                <a:solidFill>
                  <a:srgbClr val="33414F"/>
                </a:solidFill>
                <a:latin typeface="Calibri"/>
              </a:rPr>
              <a:t>Every row is a real, verified file in Topic4_Lab/rtl/.</a:t>
            </a:r>
          </a:p>
        </p:txBody>
      </p:sp>
      <p:sp>
        <p:nvSpPr>
          <p:cNvPr id="10" name="Rectangle 9"/>
          <p:cNvSpPr/>
          <p:nvPr/>
        </p:nvSpPr>
        <p:spPr>
          <a:xfrm>
            <a:off x="411480" y="1554480"/>
            <a:ext cx="3017520" cy="246888"/>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2926080" cy="246888"/>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Block</a:t>
            </a:r>
          </a:p>
        </p:txBody>
      </p:sp>
      <p:sp>
        <p:nvSpPr>
          <p:cNvPr id="12" name="Rectangle 11"/>
          <p:cNvSpPr/>
          <p:nvPr/>
        </p:nvSpPr>
        <p:spPr>
          <a:xfrm>
            <a:off x="3429000" y="1554480"/>
            <a:ext cx="2560320" cy="246888"/>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74720" y="1554480"/>
            <a:ext cx="2468880" cy="246888"/>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File</a:t>
            </a:r>
          </a:p>
        </p:txBody>
      </p:sp>
      <p:sp>
        <p:nvSpPr>
          <p:cNvPr id="14" name="Rectangle 13"/>
          <p:cNvSpPr/>
          <p:nvPr/>
        </p:nvSpPr>
        <p:spPr>
          <a:xfrm>
            <a:off x="5989320" y="1554480"/>
            <a:ext cx="4663440" cy="246888"/>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35040" y="1554480"/>
            <a:ext cx="4572000" cy="246888"/>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Core idiom</a:t>
            </a:r>
          </a:p>
        </p:txBody>
      </p:sp>
      <p:sp>
        <p:nvSpPr>
          <p:cNvPr id="16" name="Rectangle 15"/>
          <p:cNvSpPr/>
          <p:nvPr/>
        </p:nvSpPr>
        <p:spPr>
          <a:xfrm>
            <a:off x="10652760" y="1554480"/>
            <a:ext cx="1005840" cy="246888"/>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98480" y="1554480"/>
            <a:ext cx="914400" cy="246888"/>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Lab</a:t>
            </a:r>
          </a:p>
        </p:txBody>
      </p:sp>
      <p:sp>
        <p:nvSpPr>
          <p:cNvPr id="18" name="Rectangle 17"/>
          <p:cNvSpPr/>
          <p:nvPr/>
        </p:nvSpPr>
        <p:spPr>
          <a:xfrm>
            <a:off x="411480" y="1801368"/>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1801368"/>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2:1 / 4:1 multiplexer</a:t>
            </a:r>
          </a:p>
        </p:txBody>
      </p:sp>
      <p:sp>
        <p:nvSpPr>
          <p:cNvPr id="20" name="Rectangle 19"/>
          <p:cNvSpPr/>
          <p:nvPr/>
        </p:nvSpPr>
        <p:spPr>
          <a:xfrm>
            <a:off x="3429000" y="1801368"/>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74720" y="1801368"/>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mux2.v  mux4.v</a:t>
            </a:r>
          </a:p>
        </p:txBody>
      </p:sp>
      <p:sp>
        <p:nvSpPr>
          <p:cNvPr id="22" name="Rectangle 21"/>
          <p:cNvSpPr/>
          <p:nvPr/>
        </p:nvSpPr>
        <p:spPr>
          <a:xfrm>
            <a:off x="5989320" y="1801368"/>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35040" y="1801368"/>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assign y = sel ? b : a;  /  case</a:t>
            </a:r>
          </a:p>
        </p:txBody>
      </p:sp>
      <p:sp>
        <p:nvSpPr>
          <p:cNvPr id="24" name="Rectangle 23"/>
          <p:cNvSpPr/>
          <p:nvPr/>
        </p:nvSpPr>
        <p:spPr>
          <a:xfrm>
            <a:off x="10652760" y="1801368"/>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698480" y="1801368"/>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26" name="Rectangle 25"/>
          <p:cNvSpPr/>
          <p:nvPr/>
        </p:nvSpPr>
        <p:spPr>
          <a:xfrm>
            <a:off x="411480" y="2048256"/>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048256"/>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3-to-8 decoder</a:t>
            </a:r>
          </a:p>
        </p:txBody>
      </p:sp>
      <p:sp>
        <p:nvSpPr>
          <p:cNvPr id="28" name="Rectangle 27"/>
          <p:cNvSpPr/>
          <p:nvPr/>
        </p:nvSpPr>
        <p:spPr>
          <a:xfrm>
            <a:off x="3429000" y="2048256"/>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74720" y="2048256"/>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decoder3to8.v</a:t>
            </a:r>
          </a:p>
        </p:txBody>
      </p:sp>
      <p:sp>
        <p:nvSpPr>
          <p:cNvPr id="30" name="Rectangle 29"/>
          <p:cNvSpPr/>
          <p:nvPr/>
        </p:nvSpPr>
        <p:spPr>
          <a:xfrm>
            <a:off x="5989320" y="2048256"/>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35040" y="2048256"/>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y = 0; if (en) y[sel] = 1'b1;</a:t>
            </a:r>
          </a:p>
        </p:txBody>
      </p:sp>
      <p:sp>
        <p:nvSpPr>
          <p:cNvPr id="32" name="Rectangle 31"/>
          <p:cNvSpPr/>
          <p:nvPr/>
        </p:nvSpPr>
        <p:spPr>
          <a:xfrm>
            <a:off x="10652760" y="2048256"/>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698480" y="2048256"/>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34" name="Rectangle 33"/>
          <p:cNvSpPr/>
          <p:nvPr/>
        </p:nvSpPr>
        <p:spPr>
          <a:xfrm>
            <a:off x="411480" y="2295144"/>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295144"/>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8-input priority encoder</a:t>
            </a:r>
          </a:p>
        </p:txBody>
      </p:sp>
      <p:sp>
        <p:nvSpPr>
          <p:cNvPr id="36" name="Rectangle 35"/>
          <p:cNvSpPr/>
          <p:nvPr/>
        </p:nvSpPr>
        <p:spPr>
          <a:xfrm>
            <a:off x="3429000" y="2295144"/>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474720" y="2295144"/>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priority_encoder8.v</a:t>
            </a:r>
          </a:p>
        </p:txBody>
      </p:sp>
      <p:sp>
        <p:nvSpPr>
          <p:cNvPr id="38" name="Rectangle 37"/>
          <p:cNvSpPr/>
          <p:nvPr/>
        </p:nvSpPr>
        <p:spPr>
          <a:xfrm>
            <a:off x="5989320" y="2295144"/>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035040" y="2295144"/>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casez with ? wildcards</a:t>
            </a:r>
          </a:p>
        </p:txBody>
      </p:sp>
      <p:sp>
        <p:nvSpPr>
          <p:cNvPr id="40" name="Rectangle 39"/>
          <p:cNvSpPr/>
          <p:nvPr/>
        </p:nvSpPr>
        <p:spPr>
          <a:xfrm>
            <a:off x="10652760" y="2295144"/>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698480" y="2295144"/>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42" name="Rectangle 41"/>
          <p:cNvSpPr/>
          <p:nvPr/>
        </p:nvSpPr>
        <p:spPr>
          <a:xfrm>
            <a:off x="411480" y="2542032"/>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2542032"/>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8-operation ALU + flags</a:t>
            </a:r>
          </a:p>
        </p:txBody>
      </p:sp>
      <p:sp>
        <p:nvSpPr>
          <p:cNvPr id="44" name="Rectangle 43"/>
          <p:cNvSpPr/>
          <p:nvPr/>
        </p:nvSpPr>
        <p:spPr>
          <a:xfrm>
            <a:off x="3429000" y="2542032"/>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474720" y="2542032"/>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alu.v</a:t>
            </a:r>
          </a:p>
        </p:txBody>
      </p:sp>
      <p:sp>
        <p:nvSpPr>
          <p:cNvPr id="46" name="Rectangle 45"/>
          <p:cNvSpPr/>
          <p:nvPr/>
        </p:nvSpPr>
        <p:spPr>
          <a:xfrm>
            <a:off x="5989320" y="2542032"/>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035040" y="2542032"/>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defaults + case; {1'b0,a}+{1'b0,b}</a:t>
            </a:r>
          </a:p>
        </p:txBody>
      </p:sp>
      <p:sp>
        <p:nvSpPr>
          <p:cNvPr id="48" name="Rectangle 47"/>
          <p:cNvSpPr/>
          <p:nvPr/>
        </p:nvSpPr>
        <p:spPr>
          <a:xfrm>
            <a:off x="10652760" y="2542032"/>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698480" y="2542032"/>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50" name="Rectangle 49"/>
          <p:cNvSpPr/>
          <p:nvPr/>
        </p:nvSpPr>
        <p:spPr>
          <a:xfrm>
            <a:off x="411480" y="2788920"/>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2788920"/>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7-segment decoder</a:t>
            </a:r>
          </a:p>
        </p:txBody>
      </p:sp>
      <p:sp>
        <p:nvSpPr>
          <p:cNvPr id="52" name="Rectangle 51"/>
          <p:cNvSpPr/>
          <p:nvPr/>
        </p:nvSpPr>
        <p:spPr>
          <a:xfrm>
            <a:off x="3429000" y="2788920"/>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474720" y="2788920"/>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seven_seg.v</a:t>
            </a:r>
          </a:p>
        </p:txBody>
      </p:sp>
      <p:sp>
        <p:nvSpPr>
          <p:cNvPr id="54" name="Rectangle 53"/>
          <p:cNvSpPr/>
          <p:nvPr/>
        </p:nvSpPr>
        <p:spPr>
          <a:xfrm>
            <a:off x="5989320" y="2788920"/>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035040" y="2788920"/>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case on the nibble, active-low output</a:t>
            </a:r>
          </a:p>
        </p:txBody>
      </p:sp>
      <p:sp>
        <p:nvSpPr>
          <p:cNvPr id="56" name="Rectangle 55"/>
          <p:cNvSpPr/>
          <p:nvPr/>
        </p:nvSpPr>
        <p:spPr>
          <a:xfrm>
            <a:off x="10652760" y="2788920"/>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10698480" y="2788920"/>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58" name="Rectangle 57"/>
          <p:cNvSpPr/>
          <p:nvPr/>
        </p:nvSpPr>
        <p:spPr>
          <a:xfrm>
            <a:off x="411480" y="3035808"/>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035808"/>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N-bit ripple adder</a:t>
            </a:r>
          </a:p>
        </p:txBody>
      </p:sp>
      <p:sp>
        <p:nvSpPr>
          <p:cNvPr id="60" name="Rectangle 59"/>
          <p:cNvSpPr/>
          <p:nvPr/>
        </p:nvSpPr>
        <p:spPr>
          <a:xfrm>
            <a:off x="3429000" y="3035808"/>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3474720" y="3035808"/>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adder_gen.v</a:t>
            </a:r>
          </a:p>
        </p:txBody>
      </p:sp>
      <p:sp>
        <p:nvSpPr>
          <p:cNvPr id="62" name="Rectangle 61"/>
          <p:cNvSpPr/>
          <p:nvPr/>
        </p:nvSpPr>
        <p:spPr>
          <a:xfrm>
            <a:off x="5989320" y="3035808"/>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035040" y="3035808"/>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generate for + full_adder instances</a:t>
            </a:r>
          </a:p>
        </p:txBody>
      </p:sp>
      <p:sp>
        <p:nvSpPr>
          <p:cNvPr id="64" name="Rectangle 63"/>
          <p:cNvSpPr/>
          <p:nvPr/>
        </p:nvSpPr>
        <p:spPr>
          <a:xfrm>
            <a:off x="10652760" y="3035808"/>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10698480" y="3035808"/>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L1</a:t>
            </a:r>
          </a:p>
        </p:txBody>
      </p:sp>
      <p:sp>
        <p:nvSpPr>
          <p:cNvPr id="66" name="Rectangle 65"/>
          <p:cNvSpPr/>
          <p:nvPr/>
        </p:nvSpPr>
        <p:spPr>
          <a:xfrm>
            <a:off x="411480" y="3282696"/>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457200" y="3282696"/>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Register with enable</a:t>
            </a:r>
          </a:p>
        </p:txBody>
      </p:sp>
      <p:sp>
        <p:nvSpPr>
          <p:cNvPr id="68" name="Rectangle 67"/>
          <p:cNvSpPr/>
          <p:nvPr/>
        </p:nvSpPr>
        <p:spPr>
          <a:xfrm>
            <a:off x="3429000" y="3282696"/>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3474720" y="3282696"/>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reg_en.v</a:t>
            </a:r>
          </a:p>
        </p:txBody>
      </p:sp>
      <p:sp>
        <p:nvSpPr>
          <p:cNvPr id="70" name="Rectangle 69"/>
          <p:cNvSpPr/>
          <p:nvPr/>
        </p:nvSpPr>
        <p:spPr>
          <a:xfrm>
            <a:off x="5989320" y="3282696"/>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6035040" y="3282696"/>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if (!rst_n) ... else if (en) q &lt;= d;</a:t>
            </a:r>
          </a:p>
        </p:txBody>
      </p:sp>
      <p:sp>
        <p:nvSpPr>
          <p:cNvPr id="72" name="Rectangle 71"/>
          <p:cNvSpPr/>
          <p:nvPr/>
        </p:nvSpPr>
        <p:spPr>
          <a:xfrm>
            <a:off x="10652760" y="3282696"/>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698480" y="3282696"/>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74" name="Rectangle 73"/>
          <p:cNvSpPr/>
          <p:nvPr/>
        </p:nvSpPr>
        <p:spPr>
          <a:xfrm>
            <a:off x="411480" y="3529584"/>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457200" y="3529584"/>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Shift register</a:t>
            </a:r>
          </a:p>
        </p:txBody>
      </p:sp>
      <p:sp>
        <p:nvSpPr>
          <p:cNvPr id="76" name="Rectangle 75"/>
          <p:cNvSpPr/>
          <p:nvPr/>
        </p:nvSpPr>
        <p:spPr>
          <a:xfrm>
            <a:off x="3429000" y="3529584"/>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3474720" y="3529584"/>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shift_reg.v</a:t>
            </a:r>
          </a:p>
        </p:txBody>
      </p:sp>
      <p:sp>
        <p:nvSpPr>
          <p:cNvPr id="78" name="Rectangle 77"/>
          <p:cNvSpPr/>
          <p:nvPr/>
        </p:nvSpPr>
        <p:spPr>
          <a:xfrm>
            <a:off x="5989320" y="3529584"/>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6035040" y="3529584"/>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q &lt;= {q[W-2:0], sin};</a:t>
            </a:r>
          </a:p>
        </p:txBody>
      </p:sp>
      <p:sp>
        <p:nvSpPr>
          <p:cNvPr id="80" name="Rectangle 79"/>
          <p:cNvSpPr/>
          <p:nvPr/>
        </p:nvSpPr>
        <p:spPr>
          <a:xfrm>
            <a:off x="10652760" y="3529584"/>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10698480" y="3529584"/>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82" name="Rectangle 81"/>
          <p:cNvSpPr/>
          <p:nvPr/>
        </p:nvSpPr>
        <p:spPr>
          <a:xfrm>
            <a:off x="411480" y="3776472"/>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457200" y="3776472"/>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Up/down counter</a:t>
            </a:r>
          </a:p>
        </p:txBody>
      </p:sp>
      <p:sp>
        <p:nvSpPr>
          <p:cNvPr id="84" name="Rectangle 83"/>
          <p:cNvSpPr/>
          <p:nvPr/>
        </p:nvSpPr>
        <p:spPr>
          <a:xfrm>
            <a:off x="3429000" y="3776472"/>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3474720" y="3776472"/>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counter.v</a:t>
            </a:r>
          </a:p>
        </p:txBody>
      </p:sp>
      <p:sp>
        <p:nvSpPr>
          <p:cNvPr id="86" name="Rectangle 85"/>
          <p:cNvSpPr/>
          <p:nvPr/>
        </p:nvSpPr>
        <p:spPr>
          <a:xfrm>
            <a:off x="5989320" y="3776472"/>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6035040" y="3776472"/>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q &lt;= q + 1'b1; with wrap and load</a:t>
            </a:r>
          </a:p>
        </p:txBody>
      </p:sp>
      <p:sp>
        <p:nvSpPr>
          <p:cNvPr id="88" name="Rectangle 87"/>
          <p:cNvSpPr/>
          <p:nvPr/>
        </p:nvSpPr>
        <p:spPr>
          <a:xfrm>
            <a:off x="10652760" y="3776472"/>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10698480" y="3776472"/>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90" name="Rectangle 89"/>
          <p:cNvSpPr/>
          <p:nvPr/>
        </p:nvSpPr>
        <p:spPr>
          <a:xfrm>
            <a:off x="411480" y="4023360"/>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457200" y="4023360"/>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Edge detector</a:t>
            </a:r>
          </a:p>
        </p:txBody>
      </p:sp>
      <p:sp>
        <p:nvSpPr>
          <p:cNvPr id="92" name="Rectangle 91"/>
          <p:cNvSpPr/>
          <p:nvPr/>
        </p:nvSpPr>
        <p:spPr>
          <a:xfrm>
            <a:off x="3429000" y="4023360"/>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3474720" y="4023360"/>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edge_detect.v</a:t>
            </a:r>
          </a:p>
        </p:txBody>
      </p:sp>
      <p:sp>
        <p:nvSpPr>
          <p:cNvPr id="94" name="Rectangle 93"/>
          <p:cNvSpPr/>
          <p:nvPr/>
        </p:nvSpPr>
        <p:spPr>
          <a:xfrm>
            <a:off x="5989320" y="4023360"/>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TextBox 94"/>
          <p:cNvSpPr txBox="1"/>
          <p:nvPr/>
        </p:nvSpPr>
        <p:spPr>
          <a:xfrm>
            <a:off x="6035040" y="4023360"/>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sig &amp; ~sig_d</a:t>
            </a:r>
          </a:p>
        </p:txBody>
      </p:sp>
      <p:sp>
        <p:nvSpPr>
          <p:cNvPr id="96" name="Rectangle 95"/>
          <p:cNvSpPr/>
          <p:nvPr/>
        </p:nvSpPr>
        <p:spPr>
          <a:xfrm>
            <a:off x="10652760" y="4023360"/>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TextBox 96"/>
          <p:cNvSpPr txBox="1"/>
          <p:nvPr/>
        </p:nvSpPr>
        <p:spPr>
          <a:xfrm>
            <a:off x="10698480" y="4023360"/>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98" name="Rectangle 97"/>
          <p:cNvSpPr/>
          <p:nvPr/>
        </p:nvSpPr>
        <p:spPr>
          <a:xfrm>
            <a:off x="411480" y="4270248"/>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TextBox 98"/>
          <p:cNvSpPr txBox="1"/>
          <p:nvPr/>
        </p:nvSpPr>
        <p:spPr>
          <a:xfrm>
            <a:off x="457200" y="4270248"/>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CDC synchroniser</a:t>
            </a:r>
          </a:p>
        </p:txBody>
      </p:sp>
      <p:sp>
        <p:nvSpPr>
          <p:cNvPr id="100" name="Rectangle 99"/>
          <p:cNvSpPr/>
          <p:nvPr/>
        </p:nvSpPr>
        <p:spPr>
          <a:xfrm>
            <a:off x="3429000" y="4270248"/>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TextBox 100"/>
          <p:cNvSpPr txBox="1"/>
          <p:nvPr/>
        </p:nvSpPr>
        <p:spPr>
          <a:xfrm>
            <a:off x="3474720" y="4270248"/>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synchroniser.v</a:t>
            </a:r>
          </a:p>
        </p:txBody>
      </p:sp>
      <p:sp>
        <p:nvSpPr>
          <p:cNvPr id="102" name="Rectangle 101"/>
          <p:cNvSpPr/>
          <p:nvPr/>
        </p:nvSpPr>
        <p:spPr>
          <a:xfrm>
            <a:off x="5989320" y="4270248"/>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TextBox 102"/>
          <p:cNvSpPr txBox="1"/>
          <p:nvPr/>
        </p:nvSpPr>
        <p:spPr>
          <a:xfrm>
            <a:off x="6035040" y="4270248"/>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sync &lt;= {sync[0], async_in};</a:t>
            </a:r>
          </a:p>
        </p:txBody>
      </p:sp>
      <p:sp>
        <p:nvSpPr>
          <p:cNvPr id="104" name="Rectangle 103"/>
          <p:cNvSpPr/>
          <p:nvPr/>
        </p:nvSpPr>
        <p:spPr>
          <a:xfrm>
            <a:off x="10652760" y="4270248"/>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TextBox 104"/>
          <p:cNvSpPr txBox="1"/>
          <p:nvPr/>
        </p:nvSpPr>
        <p:spPr>
          <a:xfrm>
            <a:off x="10698480" y="4270248"/>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106" name="Rectangle 105"/>
          <p:cNvSpPr/>
          <p:nvPr/>
        </p:nvSpPr>
        <p:spPr>
          <a:xfrm>
            <a:off x="411480" y="4517136"/>
            <a:ext cx="30175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TextBox 106"/>
          <p:cNvSpPr txBox="1"/>
          <p:nvPr/>
        </p:nvSpPr>
        <p:spPr>
          <a:xfrm>
            <a:off x="457200" y="4517136"/>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Switch debouncer</a:t>
            </a:r>
          </a:p>
        </p:txBody>
      </p:sp>
      <p:sp>
        <p:nvSpPr>
          <p:cNvPr id="108" name="Rectangle 107"/>
          <p:cNvSpPr/>
          <p:nvPr/>
        </p:nvSpPr>
        <p:spPr>
          <a:xfrm>
            <a:off x="3429000" y="4517136"/>
            <a:ext cx="256032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9" name="TextBox 108"/>
          <p:cNvSpPr txBox="1"/>
          <p:nvPr/>
        </p:nvSpPr>
        <p:spPr>
          <a:xfrm>
            <a:off x="3474720" y="4517136"/>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debouncer.v</a:t>
            </a:r>
          </a:p>
        </p:txBody>
      </p:sp>
      <p:sp>
        <p:nvSpPr>
          <p:cNvPr id="110" name="Rectangle 109"/>
          <p:cNvSpPr/>
          <p:nvPr/>
        </p:nvSpPr>
        <p:spPr>
          <a:xfrm>
            <a:off x="5989320" y="4517136"/>
            <a:ext cx="46634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1" name="TextBox 110"/>
          <p:cNvSpPr txBox="1"/>
          <p:nvPr/>
        </p:nvSpPr>
        <p:spPr>
          <a:xfrm>
            <a:off x="6035040" y="4517136"/>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counter + stable-for-N-cycles</a:t>
            </a:r>
          </a:p>
        </p:txBody>
      </p:sp>
      <p:sp>
        <p:nvSpPr>
          <p:cNvPr id="112" name="Rectangle 111"/>
          <p:cNvSpPr/>
          <p:nvPr/>
        </p:nvSpPr>
        <p:spPr>
          <a:xfrm>
            <a:off x="10652760" y="4517136"/>
            <a:ext cx="1005840" cy="246888"/>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TextBox 112"/>
          <p:cNvSpPr txBox="1"/>
          <p:nvPr/>
        </p:nvSpPr>
        <p:spPr>
          <a:xfrm>
            <a:off x="10698480" y="4517136"/>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
        <p:nvSpPr>
          <p:cNvPr id="114" name="Rectangle 113"/>
          <p:cNvSpPr/>
          <p:nvPr/>
        </p:nvSpPr>
        <p:spPr>
          <a:xfrm>
            <a:off x="411480" y="4764024"/>
            <a:ext cx="30175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TextBox 114"/>
          <p:cNvSpPr txBox="1"/>
          <p:nvPr/>
        </p:nvSpPr>
        <p:spPr>
          <a:xfrm>
            <a:off x="457200" y="4764024"/>
            <a:ext cx="2926080" cy="246888"/>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Clock divider / tick gen</a:t>
            </a:r>
          </a:p>
        </p:txBody>
      </p:sp>
      <p:sp>
        <p:nvSpPr>
          <p:cNvPr id="116" name="Rectangle 115"/>
          <p:cNvSpPr/>
          <p:nvPr/>
        </p:nvSpPr>
        <p:spPr>
          <a:xfrm>
            <a:off x="3429000" y="4764024"/>
            <a:ext cx="256032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TextBox 116"/>
          <p:cNvSpPr txBox="1"/>
          <p:nvPr/>
        </p:nvSpPr>
        <p:spPr>
          <a:xfrm>
            <a:off x="3474720" y="4764024"/>
            <a:ext cx="246888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clk_divider.v</a:t>
            </a:r>
          </a:p>
        </p:txBody>
      </p:sp>
      <p:sp>
        <p:nvSpPr>
          <p:cNvPr id="118" name="Rectangle 117"/>
          <p:cNvSpPr/>
          <p:nvPr/>
        </p:nvSpPr>
        <p:spPr>
          <a:xfrm>
            <a:off x="5989320" y="4764024"/>
            <a:ext cx="46634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TextBox 118"/>
          <p:cNvSpPr txBox="1"/>
          <p:nvPr/>
        </p:nvSpPr>
        <p:spPr>
          <a:xfrm>
            <a:off x="6035040" y="4764024"/>
            <a:ext cx="45720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counter + terminal-count pulse</a:t>
            </a:r>
          </a:p>
        </p:txBody>
      </p:sp>
      <p:sp>
        <p:nvSpPr>
          <p:cNvPr id="120" name="Rectangle 119"/>
          <p:cNvSpPr/>
          <p:nvPr/>
        </p:nvSpPr>
        <p:spPr>
          <a:xfrm>
            <a:off x="10652760" y="4764024"/>
            <a:ext cx="1005840" cy="246888"/>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10698480" y="4764024"/>
            <a:ext cx="914400" cy="246888"/>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L2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CATALOGUE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…and the Bigger Blocks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53</a:t>
            </a:r>
          </a:p>
        </p:txBody>
      </p:sp>
      <p:sp>
        <p:nvSpPr>
          <p:cNvPr id="9" name="TextBox 8"/>
          <p:cNvSpPr txBox="1"/>
          <p:nvPr/>
        </p:nvSpPr>
        <p:spPr>
          <a:xfrm>
            <a:off x="411480" y="1143000"/>
            <a:ext cx="11247120" cy="45720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These are the designs where architecture starts to matter. </a:t>
            </a:r>
            <a:r>
              <a:rPr sz="1100" b="0" i="0">
                <a:solidFill>
                  <a:srgbClr val="33414F"/>
                </a:solidFill>
                <a:latin typeface="Calibri"/>
              </a:rPr>
              <a:t>Each is a small system: a controller, a datapath, and a decision about how they communicate.</a:t>
            </a:r>
          </a:p>
        </p:txBody>
      </p:sp>
      <p:sp>
        <p:nvSpPr>
          <p:cNvPr id="10" name="Rectangle 9"/>
          <p:cNvSpPr/>
          <p:nvPr/>
        </p:nvSpPr>
        <p:spPr>
          <a:xfrm>
            <a:off x="411480" y="1600200"/>
            <a:ext cx="30175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600200"/>
            <a:ext cx="29260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Block</a:t>
            </a:r>
          </a:p>
        </p:txBody>
      </p:sp>
      <p:sp>
        <p:nvSpPr>
          <p:cNvPr id="12" name="Rectangle 11"/>
          <p:cNvSpPr/>
          <p:nvPr/>
        </p:nvSpPr>
        <p:spPr>
          <a:xfrm>
            <a:off x="3429000" y="1600200"/>
            <a:ext cx="25603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74720" y="1600200"/>
            <a:ext cx="24688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File</a:t>
            </a:r>
          </a:p>
        </p:txBody>
      </p:sp>
      <p:sp>
        <p:nvSpPr>
          <p:cNvPr id="14" name="Rectangle 13"/>
          <p:cNvSpPr/>
          <p:nvPr/>
        </p:nvSpPr>
        <p:spPr>
          <a:xfrm>
            <a:off x="5989320" y="1600200"/>
            <a:ext cx="46634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035040" y="1600200"/>
            <a:ext cx="45720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Core idiom</a:t>
            </a:r>
          </a:p>
        </p:txBody>
      </p:sp>
      <p:sp>
        <p:nvSpPr>
          <p:cNvPr id="16" name="Rectangle 15"/>
          <p:cNvSpPr/>
          <p:nvPr/>
        </p:nvSpPr>
        <p:spPr>
          <a:xfrm>
            <a:off x="10652760" y="1600200"/>
            <a:ext cx="10058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98480" y="1600200"/>
            <a:ext cx="9144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Lab</a:t>
            </a:r>
          </a:p>
        </p:txBody>
      </p:sp>
      <p:sp>
        <p:nvSpPr>
          <p:cNvPr id="18" name="Rectangle 17"/>
          <p:cNvSpPr/>
          <p:nvPr/>
        </p:nvSpPr>
        <p:spPr>
          <a:xfrm>
            <a:off x="411480" y="1883664"/>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1883664"/>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Traffic-light controller</a:t>
            </a:r>
          </a:p>
        </p:txBody>
      </p:sp>
      <p:sp>
        <p:nvSpPr>
          <p:cNvPr id="20" name="Rectangle 19"/>
          <p:cNvSpPr/>
          <p:nvPr/>
        </p:nvSpPr>
        <p:spPr>
          <a:xfrm>
            <a:off x="3429000" y="1883664"/>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74720" y="1883664"/>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traffic_fsm.v</a:t>
            </a:r>
          </a:p>
        </p:txBody>
      </p:sp>
      <p:sp>
        <p:nvSpPr>
          <p:cNvPr id="22" name="Rectangle 21"/>
          <p:cNvSpPr/>
          <p:nvPr/>
        </p:nvSpPr>
        <p:spPr>
          <a:xfrm>
            <a:off x="5989320" y="1883664"/>
            <a:ext cx="4663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035040" y="1883664"/>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three-block Moore FSM + dwell timer</a:t>
            </a:r>
          </a:p>
        </p:txBody>
      </p:sp>
      <p:sp>
        <p:nvSpPr>
          <p:cNvPr id="24" name="Rectangle 23"/>
          <p:cNvSpPr/>
          <p:nvPr/>
        </p:nvSpPr>
        <p:spPr>
          <a:xfrm>
            <a:off x="10652760" y="1883664"/>
            <a:ext cx="1005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698480" y="1883664"/>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L3</a:t>
            </a:r>
          </a:p>
        </p:txBody>
      </p:sp>
      <p:sp>
        <p:nvSpPr>
          <p:cNvPr id="26" name="Rectangle 25"/>
          <p:cNvSpPr/>
          <p:nvPr/>
        </p:nvSpPr>
        <p:spPr>
          <a:xfrm>
            <a:off x="411480" y="2167128"/>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167128"/>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Vending machine</a:t>
            </a:r>
          </a:p>
        </p:txBody>
      </p:sp>
      <p:sp>
        <p:nvSpPr>
          <p:cNvPr id="28" name="Rectangle 27"/>
          <p:cNvSpPr/>
          <p:nvPr/>
        </p:nvSpPr>
        <p:spPr>
          <a:xfrm>
            <a:off x="3429000" y="2167128"/>
            <a:ext cx="2560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74720" y="2167128"/>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vending_fsm.v</a:t>
            </a:r>
          </a:p>
        </p:txBody>
      </p:sp>
      <p:sp>
        <p:nvSpPr>
          <p:cNvPr id="30" name="Rectangle 29"/>
          <p:cNvSpPr/>
          <p:nvPr/>
        </p:nvSpPr>
        <p:spPr>
          <a:xfrm>
            <a:off x="5989320" y="2167128"/>
            <a:ext cx="4663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35040" y="2167128"/>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FSM with a credit datapath and change</a:t>
            </a:r>
          </a:p>
        </p:txBody>
      </p:sp>
      <p:sp>
        <p:nvSpPr>
          <p:cNvPr id="32" name="Rectangle 31"/>
          <p:cNvSpPr/>
          <p:nvPr/>
        </p:nvSpPr>
        <p:spPr>
          <a:xfrm>
            <a:off x="10652760" y="2167128"/>
            <a:ext cx="1005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698480" y="2167128"/>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L3</a:t>
            </a:r>
          </a:p>
        </p:txBody>
      </p:sp>
      <p:sp>
        <p:nvSpPr>
          <p:cNvPr id="34" name="Rectangle 33"/>
          <p:cNvSpPr/>
          <p:nvPr/>
        </p:nvSpPr>
        <p:spPr>
          <a:xfrm>
            <a:off x="411480" y="2450592"/>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450592"/>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1011 sequence detector</a:t>
            </a:r>
          </a:p>
        </p:txBody>
      </p:sp>
      <p:sp>
        <p:nvSpPr>
          <p:cNvPr id="36" name="Rectangle 35"/>
          <p:cNvSpPr/>
          <p:nvPr/>
        </p:nvSpPr>
        <p:spPr>
          <a:xfrm>
            <a:off x="3429000" y="2450592"/>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474720" y="2450592"/>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seq_detect_1011.v</a:t>
            </a:r>
          </a:p>
        </p:txBody>
      </p:sp>
      <p:sp>
        <p:nvSpPr>
          <p:cNvPr id="38" name="Rectangle 37"/>
          <p:cNvSpPr/>
          <p:nvPr/>
        </p:nvSpPr>
        <p:spPr>
          <a:xfrm>
            <a:off x="5989320" y="2450592"/>
            <a:ext cx="4663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035040" y="2450592"/>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Moore AND Mealy in one module, overlapping</a:t>
            </a:r>
          </a:p>
        </p:txBody>
      </p:sp>
      <p:sp>
        <p:nvSpPr>
          <p:cNvPr id="40" name="Rectangle 39"/>
          <p:cNvSpPr/>
          <p:nvPr/>
        </p:nvSpPr>
        <p:spPr>
          <a:xfrm>
            <a:off x="10652760" y="2450592"/>
            <a:ext cx="1005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698480" y="2450592"/>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L3</a:t>
            </a:r>
          </a:p>
        </p:txBody>
      </p:sp>
      <p:sp>
        <p:nvSpPr>
          <p:cNvPr id="42" name="Rectangle 41"/>
          <p:cNvSpPr/>
          <p:nvPr/>
        </p:nvSpPr>
        <p:spPr>
          <a:xfrm>
            <a:off x="411480" y="2734056"/>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2734056"/>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Synchronous FIFO</a:t>
            </a:r>
          </a:p>
        </p:txBody>
      </p:sp>
      <p:sp>
        <p:nvSpPr>
          <p:cNvPr id="44" name="Rectangle 43"/>
          <p:cNvSpPr/>
          <p:nvPr/>
        </p:nvSpPr>
        <p:spPr>
          <a:xfrm>
            <a:off x="3429000" y="2734056"/>
            <a:ext cx="2560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474720" y="2734056"/>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sync_fifo.v</a:t>
            </a:r>
          </a:p>
        </p:txBody>
      </p:sp>
      <p:sp>
        <p:nvSpPr>
          <p:cNvPr id="46" name="Rectangle 45"/>
          <p:cNvSpPr/>
          <p:nvPr/>
        </p:nvSpPr>
        <p:spPr>
          <a:xfrm>
            <a:off x="5989320" y="2734056"/>
            <a:ext cx="4663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035040" y="2734056"/>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dual pointers with an extra MSB; inferred RAM</a:t>
            </a:r>
          </a:p>
        </p:txBody>
      </p:sp>
      <p:sp>
        <p:nvSpPr>
          <p:cNvPr id="48" name="Rectangle 47"/>
          <p:cNvSpPr/>
          <p:nvPr/>
        </p:nvSpPr>
        <p:spPr>
          <a:xfrm>
            <a:off x="10652760" y="2734056"/>
            <a:ext cx="1005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698480" y="2734056"/>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L4</a:t>
            </a:r>
          </a:p>
        </p:txBody>
      </p:sp>
      <p:sp>
        <p:nvSpPr>
          <p:cNvPr id="50" name="Rectangle 49"/>
          <p:cNvSpPr/>
          <p:nvPr/>
        </p:nvSpPr>
        <p:spPr>
          <a:xfrm>
            <a:off x="411480" y="3017520"/>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3017520"/>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Synchronous RAM</a:t>
            </a:r>
          </a:p>
        </p:txBody>
      </p:sp>
      <p:sp>
        <p:nvSpPr>
          <p:cNvPr id="52" name="Rectangle 51"/>
          <p:cNvSpPr/>
          <p:nvPr/>
        </p:nvSpPr>
        <p:spPr>
          <a:xfrm>
            <a:off x="3429000" y="3017520"/>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474720" y="3017520"/>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sync_ram.v</a:t>
            </a:r>
          </a:p>
        </p:txBody>
      </p:sp>
      <p:sp>
        <p:nvSpPr>
          <p:cNvPr id="54" name="Rectangle 53"/>
          <p:cNvSpPr/>
          <p:nvPr/>
        </p:nvSpPr>
        <p:spPr>
          <a:xfrm>
            <a:off x="5989320" y="3017520"/>
            <a:ext cx="4663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035040" y="3017520"/>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mem[waddr] &lt;= wdata; rdata &lt;= mem[raddr];</a:t>
            </a:r>
          </a:p>
        </p:txBody>
      </p:sp>
      <p:sp>
        <p:nvSpPr>
          <p:cNvPr id="56" name="Rectangle 55"/>
          <p:cNvSpPr/>
          <p:nvPr/>
        </p:nvSpPr>
        <p:spPr>
          <a:xfrm>
            <a:off x="10652760" y="3017520"/>
            <a:ext cx="1005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10698480" y="3017520"/>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L4</a:t>
            </a:r>
          </a:p>
        </p:txBody>
      </p:sp>
      <p:sp>
        <p:nvSpPr>
          <p:cNvPr id="58" name="Rectangle 57"/>
          <p:cNvSpPr/>
          <p:nvPr/>
        </p:nvSpPr>
        <p:spPr>
          <a:xfrm>
            <a:off x="411480" y="3300984"/>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300984"/>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UART transmitter</a:t>
            </a:r>
          </a:p>
        </p:txBody>
      </p:sp>
      <p:sp>
        <p:nvSpPr>
          <p:cNvPr id="60" name="Rectangle 59"/>
          <p:cNvSpPr/>
          <p:nvPr/>
        </p:nvSpPr>
        <p:spPr>
          <a:xfrm>
            <a:off x="3429000" y="3300984"/>
            <a:ext cx="2560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3474720" y="3300984"/>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uart_tx.v</a:t>
            </a:r>
          </a:p>
        </p:txBody>
      </p:sp>
      <p:sp>
        <p:nvSpPr>
          <p:cNvPr id="62" name="Rectangle 61"/>
          <p:cNvSpPr/>
          <p:nvPr/>
        </p:nvSpPr>
        <p:spPr>
          <a:xfrm>
            <a:off x="5989320" y="3300984"/>
            <a:ext cx="4663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035040" y="3300984"/>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FSMD: shift register + bit timer + FSM</a:t>
            </a:r>
          </a:p>
        </p:txBody>
      </p:sp>
      <p:sp>
        <p:nvSpPr>
          <p:cNvPr id="64" name="Rectangle 63"/>
          <p:cNvSpPr/>
          <p:nvPr/>
        </p:nvSpPr>
        <p:spPr>
          <a:xfrm>
            <a:off x="10652760" y="3300984"/>
            <a:ext cx="1005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10698480" y="3300984"/>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L5</a:t>
            </a:r>
          </a:p>
        </p:txBody>
      </p:sp>
      <p:sp>
        <p:nvSpPr>
          <p:cNvPr id="66" name="Rectangle 65"/>
          <p:cNvSpPr/>
          <p:nvPr/>
        </p:nvSpPr>
        <p:spPr>
          <a:xfrm>
            <a:off x="411480" y="3584448"/>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457200" y="3584448"/>
            <a:ext cx="2926080" cy="28346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UART receiver</a:t>
            </a:r>
          </a:p>
        </p:txBody>
      </p:sp>
      <p:sp>
        <p:nvSpPr>
          <p:cNvPr id="68" name="Rectangle 67"/>
          <p:cNvSpPr/>
          <p:nvPr/>
        </p:nvSpPr>
        <p:spPr>
          <a:xfrm>
            <a:off x="3429000" y="3584448"/>
            <a:ext cx="2560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3474720" y="3584448"/>
            <a:ext cx="246888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uart_rx.v</a:t>
            </a:r>
          </a:p>
        </p:txBody>
      </p:sp>
      <p:sp>
        <p:nvSpPr>
          <p:cNvPr id="70" name="Rectangle 69"/>
          <p:cNvSpPr/>
          <p:nvPr/>
        </p:nvSpPr>
        <p:spPr>
          <a:xfrm>
            <a:off x="5989320" y="3584448"/>
            <a:ext cx="4663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6035040" y="3584448"/>
            <a:ext cx="45720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half-bit alignment, mid-bit sampling, CDC</a:t>
            </a:r>
          </a:p>
        </p:txBody>
      </p:sp>
      <p:sp>
        <p:nvSpPr>
          <p:cNvPr id="72" name="Rectangle 71"/>
          <p:cNvSpPr/>
          <p:nvPr/>
        </p:nvSpPr>
        <p:spPr>
          <a:xfrm>
            <a:off x="10652760" y="3584448"/>
            <a:ext cx="1005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698480" y="3584448"/>
            <a:ext cx="914400" cy="28346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L5</a:t>
            </a:r>
          </a:p>
        </p:txBody>
      </p:sp>
      <p:sp>
        <p:nvSpPr>
          <p:cNvPr id="74" name="Rounded Rectangle 73"/>
          <p:cNvSpPr/>
          <p:nvPr/>
        </p:nvSpPr>
        <p:spPr>
          <a:xfrm>
            <a:off x="411480" y="3959352"/>
            <a:ext cx="11247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576072" y="4023360"/>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Verified synthesis results — you should be able to predict these</a:t>
            </a:r>
          </a:p>
        </p:txBody>
      </p:sp>
      <p:sp>
        <p:nvSpPr>
          <p:cNvPr id="76" name="TextBox 75"/>
          <p:cNvSpPr txBox="1"/>
          <p:nvPr/>
        </p:nvSpPr>
        <p:spPr>
          <a:xfrm>
            <a:off x="576072" y="4297680"/>
            <a:ext cx="10917936" cy="78638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counter (4-bit): 38 cells, 4 FF   ·   traffic_fsm: 52 cells, 12 FF   ·   uart_tx: 120 cells, 27 FF   ·   uart_rx: 120 cells, 36 FF   ·   sync_fifo (8×8): 255 cells, 72 FF</a:t>
            </a:r>
          </a:p>
          <a:p>
            <a:pPr algn="l">
              <a:lnSpc>
                <a:spcPct val="103000"/>
              </a:lnSpc>
              <a:spcAft>
                <a:spcPts val="400"/>
              </a:spcAft>
            </a:pPr>
            <a:r>
              <a:rPr sz="1100" b="0" i="0">
                <a:solidFill>
                  <a:srgbClr val="33414F"/>
                </a:solidFill>
                <a:latin typeface="Calibri"/>
              </a:rPr>
              <a:t>Before you run the tool on your own design, write down your prediction for the flip-flop count. Count the bits of state you declared. If the tool disagrees with you by more than a few, one of you is wrong — and it is worth finding out which.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TWO SHORT DESIGNS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Display Decoder and a Generated Adder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54</a:t>
            </a:r>
          </a:p>
        </p:txBody>
      </p:sp>
      <p:sp>
        <p:nvSpPr>
          <p:cNvPr id="9" name="Rounded Rectangle 8"/>
          <p:cNvSpPr/>
          <p:nvPr/>
        </p:nvSpPr>
        <p:spPr>
          <a:xfrm>
            <a:off x="411480" y="1143000"/>
            <a:ext cx="5532120" cy="33832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seven_seg.v — a lookup table in case form</a:t>
            </a:r>
          </a:p>
        </p:txBody>
      </p:sp>
      <p:sp>
        <p:nvSpPr>
          <p:cNvPr id="11" name="TextBox 10"/>
          <p:cNvSpPr txBox="1"/>
          <p:nvPr/>
        </p:nvSpPr>
        <p:spPr>
          <a:xfrm>
            <a:off x="548640" y="1481328"/>
            <a:ext cx="5257800" cy="298094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always @(*) begin</a:t>
            </a:r>
          </a:p>
          <a:p>
            <a:pPr algn="l">
              <a:lnSpc>
                <a:spcPct val="103000"/>
              </a:lnSpc>
              <a:spcAft>
                <a:spcPts val="400"/>
              </a:spcAft>
            </a:pPr>
            <a:r>
              <a:rPr sz="950" b="0" i="0">
                <a:solidFill>
                  <a:srgbClr val="33414F"/>
                </a:solidFill>
                <a:latin typeface="Consolas"/>
              </a:rPr>
              <a:t>  seg = 7'b111_1111;      // all off</a:t>
            </a:r>
          </a:p>
          <a:p>
            <a:pPr algn="l">
              <a:lnSpc>
                <a:spcPct val="103000"/>
              </a:lnSpc>
              <a:spcAft>
                <a:spcPts val="400"/>
              </a:spcAft>
            </a:pPr>
            <a:r>
              <a:rPr sz="950" b="0" i="0">
                <a:solidFill>
                  <a:srgbClr val="33414F"/>
                </a:solidFill>
                <a:latin typeface="Consolas"/>
              </a:rPr>
              <a:t>  case (nibble)</a:t>
            </a:r>
          </a:p>
          <a:p>
            <a:pPr algn="l">
              <a:lnSpc>
                <a:spcPct val="103000"/>
              </a:lnSpc>
              <a:spcAft>
                <a:spcPts val="400"/>
              </a:spcAft>
            </a:pPr>
            <a:r>
              <a:rPr sz="950" b="0" i="0">
                <a:solidFill>
                  <a:srgbClr val="33414F"/>
                </a:solidFill>
                <a:latin typeface="Consolas"/>
              </a:rPr>
              <a:t>    4'h0: seg = 7'b100_0000;</a:t>
            </a:r>
          </a:p>
          <a:p>
            <a:pPr algn="l">
              <a:lnSpc>
                <a:spcPct val="103000"/>
              </a:lnSpc>
              <a:spcAft>
                <a:spcPts val="400"/>
              </a:spcAft>
            </a:pPr>
            <a:r>
              <a:rPr sz="950" b="0" i="0">
                <a:solidFill>
                  <a:srgbClr val="33414F"/>
                </a:solidFill>
                <a:latin typeface="Consolas"/>
              </a:rPr>
              <a:t>    4'h1: seg = 7'b111_1001;</a:t>
            </a:r>
          </a:p>
          <a:p>
            <a:pPr algn="l">
              <a:lnSpc>
                <a:spcPct val="103000"/>
              </a:lnSpc>
              <a:spcAft>
                <a:spcPts val="400"/>
              </a:spcAft>
            </a:pPr>
            <a:r>
              <a:rPr sz="950" b="0" i="0">
                <a:solidFill>
                  <a:srgbClr val="33414F"/>
                </a:solidFill>
                <a:latin typeface="Consolas"/>
              </a:rPr>
              <a:t>    ...</a:t>
            </a:r>
          </a:p>
          <a:p>
            <a:pPr algn="l">
              <a:lnSpc>
                <a:spcPct val="103000"/>
              </a:lnSpc>
              <a:spcAft>
                <a:spcPts val="400"/>
              </a:spcAft>
            </a:pPr>
            <a:r>
              <a:rPr sz="950" b="0" i="0">
                <a:solidFill>
                  <a:srgbClr val="33414F"/>
                </a:solidFill>
                <a:latin typeface="Consolas"/>
              </a:rPr>
              <a:t>    default: seg = 7'b011_1111;  // '-'</a:t>
            </a:r>
          </a:p>
          <a:p>
            <a:pPr algn="l">
              <a:lnSpc>
                <a:spcPct val="103000"/>
              </a:lnSpc>
              <a:spcAft>
                <a:spcPts val="400"/>
              </a:spcAft>
            </a:pPr>
            <a:r>
              <a:rPr sz="950" b="0" i="0">
                <a:solidFill>
                  <a:srgbClr val="33414F"/>
                </a:solidFill>
                <a:latin typeface="Consolas"/>
              </a:rPr>
              <a:t>  endcase</a:t>
            </a:r>
          </a:p>
          <a:p>
            <a:pPr algn="l">
              <a:lnSpc>
                <a:spcPct val="103000"/>
              </a:lnSpc>
              <a:spcAft>
                <a:spcPts val="400"/>
              </a:spcAft>
            </a:pPr>
            <a:r>
              <a:rPr sz="950" b="0" i="0">
                <a:solidFill>
                  <a:srgbClr val="33414F"/>
                </a:solidFill>
                <a:latin typeface="Consolas"/>
              </a:rPr>
              <a:t>end</a:t>
            </a:r>
          </a:p>
          <a:p>
            <a:pPr algn="l">
              <a:lnSpc>
                <a:spcPct val="103000"/>
              </a:lnSpc>
              <a:spcAft>
                <a:spcPts val="400"/>
              </a:spcAft>
            </a:pPr>
            <a:r>
              <a:rPr sz="950" b="0" i="0">
                <a:solidFill>
                  <a:srgbClr val="5A6B7B"/>
                </a:solidFill>
                <a:latin typeface="Calibri"/>
              </a:rPr>
              <a:t>Active-LOW because the display's common anode is tied high — read the board schematic, not the datasheet's picture.</a:t>
            </a:r>
          </a:p>
        </p:txBody>
      </p:sp>
      <p:sp>
        <p:nvSpPr>
          <p:cNvPr id="12" name="Rounded Rectangle 11"/>
          <p:cNvSpPr/>
          <p:nvPr/>
        </p:nvSpPr>
        <p:spPr>
          <a:xfrm>
            <a:off x="6126480" y="1143000"/>
            <a:ext cx="5532120" cy="33832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adder_gen.v — structure from a loop</a:t>
            </a:r>
          </a:p>
        </p:txBody>
      </p:sp>
      <p:sp>
        <p:nvSpPr>
          <p:cNvPr id="14" name="TextBox 13"/>
          <p:cNvSpPr txBox="1"/>
          <p:nvPr/>
        </p:nvSpPr>
        <p:spPr>
          <a:xfrm>
            <a:off x="6263640" y="1481328"/>
            <a:ext cx="5257800" cy="2980944"/>
          </a:xfrm>
          <a:prstGeom prst="rect">
            <a:avLst/>
          </a:prstGeom>
          <a:noFill/>
        </p:spPr>
        <p:txBody>
          <a:bodyPr wrap="square" lIns="0" rIns="0" tIns="0" bIns="0" anchor="t">
            <a:spAutoFit/>
          </a:bodyPr>
          <a:lstStyle/>
          <a:p>
            <a:pPr algn="l">
              <a:lnSpc>
                <a:spcPct val="103000"/>
              </a:lnSpc>
              <a:spcAft>
                <a:spcPts val="400"/>
              </a:spcAft>
            </a:pPr>
            <a:r>
              <a:rPr sz="950" b="0" i="0">
                <a:solidFill>
                  <a:srgbClr val="33414F"/>
                </a:solidFill>
                <a:latin typeface="Consolas"/>
              </a:rPr>
              <a:t>genvar i;</a:t>
            </a:r>
          </a:p>
          <a:p>
            <a:pPr algn="l">
              <a:lnSpc>
                <a:spcPct val="103000"/>
              </a:lnSpc>
              <a:spcAft>
                <a:spcPts val="400"/>
              </a:spcAft>
            </a:pPr>
            <a:r>
              <a:rPr sz="950" b="0" i="0">
                <a:solidFill>
                  <a:srgbClr val="33414F"/>
                </a:solidFill>
                <a:latin typeface="Consolas"/>
              </a:rPr>
              <a:t>assign c[0] = cin;</a:t>
            </a:r>
          </a:p>
          <a:p>
            <a:pPr algn="l">
              <a:lnSpc>
                <a:spcPct val="103000"/>
              </a:lnSpc>
              <a:spcAft>
                <a:spcPts val="400"/>
              </a:spcAft>
            </a:pPr>
            <a:r>
              <a:rPr sz="950" b="0" i="0">
                <a:solidFill>
                  <a:srgbClr val="33414F"/>
                </a:solidFill>
                <a:latin typeface="Consolas"/>
              </a:rPr>
              <a:t>generate</a:t>
            </a:r>
          </a:p>
          <a:p>
            <a:pPr algn="l">
              <a:lnSpc>
                <a:spcPct val="103000"/>
              </a:lnSpc>
              <a:spcAft>
                <a:spcPts val="400"/>
              </a:spcAft>
            </a:pPr>
            <a:r>
              <a:rPr sz="950" b="0" i="0">
                <a:solidFill>
                  <a:srgbClr val="33414F"/>
                </a:solidFill>
                <a:latin typeface="Consolas"/>
              </a:rPr>
              <a:t>  for (i=0;i&lt;W;i=i+1) begin: bit_slice</a:t>
            </a:r>
          </a:p>
          <a:p>
            <a:pPr algn="l">
              <a:lnSpc>
                <a:spcPct val="103000"/>
              </a:lnSpc>
              <a:spcAft>
                <a:spcPts val="400"/>
              </a:spcAft>
            </a:pPr>
            <a:r>
              <a:rPr sz="950" b="0" i="0">
                <a:solidFill>
                  <a:srgbClr val="33414F"/>
                </a:solidFill>
                <a:latin typeface="Consolas"/>
              </a:rPr>
              <a:t>    full_adder u_fa (.a(a[i]), .b(b[i]),</a:t>
            </a:r>
          </a:p>
          <a:p>
            <a:pPr algn="l">
              <a:lnSpc>
                <a:spcPct val="103000"/>
              </a:lnSpc>
              <a:spcAft>
                <a:spcPts val="400"/>
              </a:spcAft>
            </a:pPr>
            <a:r>
              <a:rPr sz="950" b="0" i="0">
                <a:solidFill>
                  <a:srgbClr val="33414F"/>
                </a:solidFill>
                <a:latin typeface="Consolas"/>
              </a:rPr>
              <a:t>      .cin(c[i]), .sum(sum[i]),</a:t>
            </a:r>
          </a:p>
          <a:p>
            <a:pPr algn="l">
              <a:lnSpc>
                <a:spcPct val="103000"/>
              </a:lnSpc>
              <a:spcAft>
                <a:spcPts val="400"/>
              </a:spcAft>
            </a:pPr>
            <a:r>
              <a:rPr sz="950" b="0" i="0">
                <a:solidFill>
                  <a:srgbClr val="33414F"/>
                </a:solidFill>
                <a:latin typeface="Consolas"/>
              </a:rPr>
              <a:t>      .cout(c[i+1]));</a:t>
            </a:r>
          </a:p>
          <a:p>
            <a:pPr algn="l">
              <a:lnSpc>
                <a:spcPct val="103000"/>
              </a:lnSpc>
              <a:spcAft>
                <a:spcPts val="400"/>
              </a:spcAft>
            </a:pPr>
            <a:r>
              <a:rPr sz="950" b="0" i="0">
                <a:solidFill>
                  <a:srgbClr val="33414F"/>
                </a:solidFill>
                <a:latin typeface="Consolas"/>
              </a:rPr>
              <a:t>  end</a:t>
            </a:r>
          </a:p>
          <a:p>
            <a:pPr algn="l">
              <a:lnSpc>
                <a:spcPct val="103000"/>
              </a:lnSpc>
              <a:spcAft>
                <a:spcPts val="400"/>
              </a:spcAft>
            </a:pPr>
            <a:r>
              <a:rPr sz="950" b="0" i="0">
                <a:solidFill>
                  <a:srgbClr val="33414F"/>
                </a:solidFill>
                <a:latin typeface="Consolas"/>
              </a:rPr>
              <a:t>endgenerate</a:t>
            </a:r>
          </a:p>
          <a:p>
            <a:pPr algn="l">
              <a:lnSpc>
                <a:spcPct val="103000"/>
              </a:lnSpc>
              <a:spcAft>
                <a:spcPts val="400"/>
              </a:spcAft>
            </a:pPr>
            <a:r>
              <a:rPr sz="950" b="0" i="0">
                <a:solidFill>
                  <a:srgbClr val="5A6B7B"/>
                </a:solidFill>
                <a:latin typeface="Calibri"/>
              </a:rPr>
              <a:t>W full-adder instances chained by the carry. Slow for large W — the carry ripples — which is exactly the point of the experiment.</a:t>
            </a:r>
          </a:p>
        </p:txBody>
      </p:sp>
      <p:sp>
        <p:nvSpPr>
          <p:cNvPr id="15" name="Rounded Rectangle 14"/>
          <p:cNvSpPr/>
          <p:nvPr/>
        </p:nvSpPr>
        <p:spPr>
          <a:xfrm>
            <a:off x="411480" y="4617720"/>
            <a:ext cx="11247120" cy="10515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468172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Experiment for Lab L1</a:t>
            </a:r>
          </a:p>
        </p:txBody>
      </p:sp>
      <p:sp>
        <p:nvSpPr>
          <p:cNvPr id="17" name="TextBox 16"/>
          <p:cNvSpPr txBox="1"/>
          <p:nvPr/>
        </p:nvSpPr>
        <p:spPr>
          <a:xfrm>
            <a:off x="576072" y="4956048"/>
            <a:ext cx="10917936" cy="6492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Synthesise adder_gen at W = 4, 16 and 64 and watch the longest path grow linearly with W. Then look up carry-lookahead and carry-select adders and ask why a synthesiser given </a:t>
            </a:r>
            <a:r>
              <a:rPr sz="1100" b="1" i="0">
                <a:solidFill>
                  <a:srgbClr val="2A9D5C"/>
                </a:solidFill>
                <a:latin typeface="Consolas"/>
              </a:rPr>
              <a:t>assign sum = a + b;</a:t>
            </a:r>
            <a:r>
              <a:rPr sz="1100" b="0" i="0">
                <a:solidFill>
                  <a:srgbClr val="33414F"/>
                </a:solidFill>
                <a:latin typeface="Calibri"/>
              </a:rPr>
              <a:t> will usually produce something faster than your hand-written ripple chain. Lesson: describe intent, let the tool choose the structure — unless you have a specific reason not to.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C77514"/>
                </a:solidFill>
                <a:latin typeface="Calibri"/>
              </a:rPr>
              <a:t>TOPIC 4C · VERIFICATION</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Simulating and Verifying the Functionality of RTL Designs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syllabus names this as a practical outcome in its own right. Untested RTL is not a design; it is a guess.</a:t>
            </a:r>
          </a:p>
        </p:txBody>
      </p:sp>
      <p:sp>
        <p:nvSpPr>
          <p:cNvPr id="6" name="Rectangle 5"/>
          <p:cNvSpPr/>
          <p:nvPr/>
        </p:nvSpPr>
        <p:spPr>
          <a:xfrm>
            <a:off x="640080" y="394106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Testbench anatomy — the six parts every testbench has</a:t>
            </a:r>
          </a:p>
        </p:txBody>
      </p:sp>
      <p:sp>
        <p:nvSpPr>
          <p:cNvPr id="8" name="Rectangle 7"/>
          <p:cNvSpPr/>
          <p:nvPr/>
        </p:nvSpPr>
        <p:spPr>
          <a:xfrm>
            <a:off x="640080" y="435254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Self-checking: never read a waveform to decide if a test passed</a:t>
            </a:r>
          </a:p>
        </p:txBody>
      </p:sp>
      <p:sp>
        <p:nvSpPr>
          <p:cNvPr id="10" name="Rectangle 9"/>
          <p:cNvSpPr/>
          <p:nvPr/>
        </p:nvSpPr>
        <p:spPr>
          <a:xfrm>
            <a:off x="640080" y="476402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Reference models, scoreboards and randomised stimulus</a:t>
            </a:r>
          </a:p>
        </p:txBody>
      </p:sp>
      <p:sp>
        <p:nvSpPr>
          <p:cNvPr id="12" name="Rectangle 11"/>
          <p:cNvSpPr/>
          <p:nvPr/>
        </p:nvSpPr>
        <p:spPr>
          <a:xfrm>
            <a:off x="640080" y="5175504"/>
            <a:ext cx="91440" cy="182880"/>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Waveform debugging, and the debug ladder to climb when stuck</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TESTBENCH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Anatomy of a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56</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testbench is a module with no ports. </a:t>
            </a:r>
            <a:r>
              <a:rPr sz="1100" b="0" i="0">
                <a:solidFill>
                  <a:srgbClr val="33414F"/>
                </a:solidFill>
                <a:latin typeface="Calibri"/>
              </a:rPr>
              <a:t>It creates a clock, drives the design, and decides — automatically — whether the answers were right. It is NOT synthesised, so the whole language is available to you.</a:t>
            </a:r>
          </a:p>
        </p:txBody>
      </p:sp>
      <p:pic>
        <p:nvPicPr>
          <p:cNvPr id="10" name="Picture 9" descr="testbench_anatomy.png"/>
          <p:cNvPicPr>
            <a:picLocks noChangeAspect="1"/>
          </p:cNvPicPr>
          <p:nvPr/>
        </p:nvPicPr>
        <p:blipFill>
          <a:blip r:embed="rId2"/>
          <a:stretch>
            <a:fillRect/>
          </a:stretch>
        </p:blipFill>
        <p:spPr>
          <a:xfrm>
            <a:off x="2349746" y="1737360"/>
            <a:ext cx="7370589" cy="3383280"/>
          </a:xfrm>
          <a:prstGeom prst="rect">
            <a:avLst/>
          </a:prstGeom>
        </p:spPr>
      </p:pic>
      <p:sp>
        <p:nvSpPr>
          <p:cNvPr id="11" name="Rounded Rectangle 10"/>
          <p:cNvSpPr/>
          <p:nvPr/>
        </p:nvSpPr>
        <p:spPr>
          <a:xfrm>
            <a:off x="411480" y="5212080"/>
            <a:ext cx="11247120" cy="868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rule that separates a testbench from a demo</a:t>
            </a:r>
          </a:p>
        </p:txBody>
      </p:sp>
      <p:sp>
        <p:nvSpPr>
          <p:cNvPr id="13" name="TextBox 12"/>
          <p:cNvSpPr txBox="1"/>
          <p:nvPr/>
        </p:nvSpPr>
        <p:spPr>
          <a:xfrm>
            <a:off x="576072" y="555040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A testbench must print PASS or FAIL and must be readable by a machine. </a:t>
            </a:r>
            <a:r>
              <a:rPr sz="1100" b="0" i="0">
                <a:solidFill>
                  <a:srgbClr val="33414F"/>
                </a:solidFill>
                <a:latin typeface="Calibri"/>
              </a:rPr>
              <a:t>If deciding whether the run was correct requires a human to look at a waveform, you cannot run it in a regression, you cannot run it overnight, and you will stop running it entirely within a week.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TESTBENCH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Complete, Minimal, Self-Checking Testbench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57</a:t>
            </a:r>
          </a:p>
        </p:txBody>
      </p:sp>
      <p:sp>
        <p:nvSpPr>
          <p:cNvPr id="9" name="Rounded Rectangle 8"/>
          <p:cNvSpPr/>
          <p:nvPr/>
        </p:nvSpPr>
        <p:spPr>
          <a:xfrm>
            <a:off x="411480" y="1143000"/>
            <a:ext cx="11247120" cy="47320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Everything a testbench needs, in 24 lines</a:t>
            </a:r>
          </a:p>
        </p:txBody>
      </p:sp>
      <p:sp>
        <p:nvSpPr>
          <p:cNvPr id="11" name="TextBox 10"/>
          <p:cNvSpPr txBox="1"/>
          <p:nvPr/>
        </p:nvSpPr>
        <p:spPr>
          <a:xfrm>
            <a:off x="594360" y="1531620"/>
            <a:ext cx="10881360" cy="4229100"/>
          </a:xfrm>
          <a:prstGeom prst="rect">
            <a:avLst/>
          </a:prstGeom>
          <a:noFill/>
        </p:spPr>
        <p:txBody>
          <a:bodyPr wrap="square" lIns="0" rIns="0" tIns="0" bIns="0" anchor="t">
            <a:spAutoFit/>
          </a:bodyPr>
          <a:lstStyle/>
          <a:p>
            <a:pPr algn="l">
              <a:lnSpc>
                <a:spcPct val="112000"/>
              </a:lnSpc>
            </a:pPr>
            <a:r>
              <a:rPr sz="900" b="0" i="0">
                <a:solidFill>
                  <a:srgbClr val="D8E4F0"/>
                </a:solidFill>
                <a:latin typeface="Consolas"/>
              </a:rPr>
              <a:t>`timescale 1ns / 1ps</a:t>
            </a:r>
          </a:p>
          <a:p>
            <a:pPr algn="l">
              <a:lnSpc>
                <a:spcPct val="112000"/>
              </a:lnSpc>
            </a:pPr>
            <a:r>
              <a:rPr sz="900" b="0" i="0">
                <a:solidFill>
                  <a:srgbClr val="D8E4F0"/>
                </a:solidFill>
                <a:latin typeface="Consolas"/>
              </a:rPr>
              <a:t>module tb_mux2;</a:t>
            </a:r>
          </a:p>
          <a:p>
            <a:pPr algn="l">
              <a:lnSpc>
                <a:spcPct val="112000"/>
              </a:lnSpc>
            </a:pPr>
            <a:r>
              <a:rPr sz="900" b="0" i="0">
                <a:solidFill>
                  <a:srgbClr val="D8E4F0"/>
                </a:solidFill>
                <a:latin typeface="Consolas"/>
              </a:rPr>
              <a:t>  reg  [7:0] a, b;  reg sel;  wire [7:0] y;</a:t>
            </a:r>
          </a:p>
          <a:p>
            <a:pPr algn="l">
              <a:lnSpc>
                <a:spcPct val="112000"/>
              </a:lnSpc>
            </a:pPr>
            <a:r>
              <a:rPr sz="900" b="0" i="0">
                <a:solidFill>
                  <a:srgbClr val="D8E4F0"/>
                </a:solidFill>
                <a:latin typeface="Consolas"/>
              </a:rPr>
              <a:t>  integer errors = 0;</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mux2 #(.W(8)) u_dut (.a(a), .b(b), .sel(sel), .y(y));      // 1. instantiate</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 2. one place that decides pass or fail</a:t>
            </a:r>
          </a:p>
          <a:p>
            <a:pPr algn="l">
              <a:lnSpc>
                <a:spcPct val="112000"/>
              </a:lnSpc>
            </a:pPr>
            <a:r>
              <a:rPr sz="900" b="0" i="0">
                <a:solidFill>
                  <a:srgbClr val="D8E4F0"/>
                </a:solidFill>
                <a:latin typeface="Consolas"/>
              </a:rPr>
              <a:t>  task check(input [7:0] got, input [7:0] exp, input [255:0] msg);</a:t>
            </a:r>
          </a:p>
          <a:p>
            <a:pPr algn="l">
              <a:lnSpc>
                <a:spcPct val="112000"/>
              </a:lnSpc>
            </a:pPr>
            <a:r>
              <a:rPr sz="900" b="0" i="0">
                <a:solidFill>
                  <a:srgbClr val="D8E4F0"/>
                </a:solidFill>
                <a:latin typeface="Consolas"/>
              </a:rPr>
              <a:t>    if (got !== exp) begin</a:t>
            </a:r>
          </a:p>
          <a:p>
            <a:pPr algn="l">
              <a:lnSpc>
                <a:spcPct val="112000"/>
              </a:lnSpc>
            </a:pPr>
            <a:r>
              <a:rPr sz="900" b="0" i="0">
                <a:solidFill>
                  <a:srgbClr val="D8E4F0"/>
                </a:solidFill>
                <a:latin typeface="Consolas"/>
              </a:rPr>
              <a:t>      $display("FAIL %0t: %0s  got %h expected %h", $time, msg, got, exp);</a:t>
            </a:r>
          </a:p>
          <a:p>
            <a:pPr algn="l">
              <a:lnSpc>
                <a:spcPct val="112000"/>
              </a:lnSpc>
            </a:pPr>
            <a:r>
              <a:rPr sz="900" b="0" i="0">
                <a:solidFill>
                  <a:srgbClr val="D8E4F0"/>
                </a:solidFill>
                <a:latin typeface="Consolas"/>
              </a:rPr>
              <a:t>      errors = errors + 1;</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endtask</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initial begin</a:t>
            </a:r>
          </a:p>
          <a:p>
            <a:pPr algn="l">
              <a:lnSpc>
                <a:spcPct val="112000"/>
              </a:lnSpc>
            </a:pPr>
            <a:r>
              <a:rPr sz="900" b="0" i="0">
                <a:solidFill>
                  <a:srgbClr val="D8E4F0"/>
                </a:solidFill>
                <a:latin typeface="Consolas"/>
              </a:rPr>
              <a:t>    $dumpfile("mux2.vcd");  $dumpvars(0, tb_mux2);          // 3. waveform dump</a:t>
            </a:r>
          </a:p>
          <a:p>
            <a:pPr algn="l">
              <a:lnSpc>
                <a:spcPct val="112000"/>
              </a:lnSpc>
            </a:pPr>
            <a:r>
              <a:rPr sz="900" b="0" i="0">
                <a:solidFill>
                  <a:srgbClr val="D8E4F0"/>
                </a:solidFill>
                <a:latin typeface="Consolas"/>
              </a:rPr>
              <a:t>    a = 8'hA5; b = 8'h5A;</a:t>
            </a:r>
          </a:p>
          <a:p>
            <a:pPr algn="l">
              <a:lnSpc>
                <a:spcPct val="112000"/>
              </a:lnSpc>
            </a:pPr>
            <a:r>
              <a:rPr sz="900" b="0" i="0">
                <a:solidFill>
                  <a:srgbClr val="D8E4F0"/>
                </a:solidFill>
                <a:latin typeface="Consolas"/>
              </a:rPr>
              <a:t>    sel = 1'b0; #1 check(y, 8'hA5, "sel=0 should pass a");   // 4. stimulus + check</a:t>
            </a:r>
          </a:p>
          <a:p>
            <a:pPr algn="l">
              <a:lnSpc>
                <a:spcPct val="112000"/>
              </a:lnSpc>
            </a:pPr>
            <a:r>
              <a:rPr sz="900" b="0" i="0">
                <a:solidFill>
                  <a:srgbClr val="D8E4F0"/>
                </a:solidFill>
                <a:latin typeface="Consolas"/>
              </a:rPr>
              <a:t>    sel = 1'b1; #1 check(y, 8'h5A, "sel=1 should pass b");</a:t>
            </a:r>
          </a:p>
          <a:p>
            <a:pPr algn="l">
              <a:lnSpc>
                <a:spcPct val="112000"/>
              </a:lnSpc>
            </a:pPr>
            <a:r>
              <a:rPr sz="900" b="0" i="0">
                <a:solidFill>
                  <a:srgbClr val="D8E4F0"/>
                </a:solidFill>
                <a:latin typeface="Consolas"/>
              </a:rPr>
              <a:t>    if (errors == 0) $display("PASS - mux2");                // 5. verdict</a:t>
            </a:r>
          </a:p>
          <a:p>
            <a:pPr algn="l">
              <a:lnSpc>
                <a:spcPct val="112000"/>
              </a:lnSpc>
            </a:pPr>
            <a:r>
              <a:rPr sz="900" b="0" i="0">
                <a:solidFill>
                  <a:srgbClr val="D8E4F0"/>
                </a:solidFill>
                <a:latin typeface="Consolas"/>
              </a:rPr>
              <a:t>    else             $display("FAIL - %0d errors", errors);</a:t>
            </a:r>
          </a:p>
          <a:p>
            <a:pPr algn="l">
              <a:lnSpc>
                <a:spcPct val="112000"/>
              </a:lnSpc>
            </a:pPr>
            <a:r>
              <a:rPr sz="900" b="0" i="0">
                <a:solidFill>
                  <a:srgbClr val="D8E4F0"/>
                </a:solidFill>
                <a:latin typeface="Consolas"/>
              </a:rPr>
              <a:t>    $finish;                                                 // 6. stop</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endmodule</a:t>
            </a:r>
          </a:p>
        </p:txBody>
      </p:sp>
      <p:sp>
        <p:nvSpPr>
          <p:cNvPr id="12" name="TextBox 11"/>
          <p:cNvSpPr txBox="1"/>
          <p:nvPr/>
        </p:nvSpPr>
        <p:spPr>
          <a:xfrm>
            <a:off x="411480" y="5920740"/>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Note </a:t>
            </a:r>
            <a:r>
              <a:rPr sz="1050" b="1" i="0">
                <a:solidFill>
                  <a:srgbClr val="2A9D5C"/>
                </a:solidFill>
                <a:latin typeface="Consolas"/>
              </a:rPr>
              <a:t>!==</a:t>
            </a:r>
            <a:r>
              <a:rPr sz="1050" b="0" i="0">
                <a:solidFill>
                  <a:srgbClr val="33414F"/>
                </a:solidFill>
                <a:latin typeface="Calibri"/>
              </a:rPr>
              <a:t> not </a:t>
            </a:r>
            <a:r>
              <a:rPr sz="1050" b="1" i="0">
                <a:solidFill>
                  <a:srgbClr val="C01F43"/>
                </a:solidFill>
                <a:latin typeface="Consolas"/>
              </a:rPr>
              <a:t>!=</a:t>
            </a:r>
            <a:r>
              <a:rPr sz="1050" b="0" i="0">
                <a:solidFill>
                  <a:srgbClr val="33414F"/>
                </a:solidFill>
                <a:latin typeface="Calibri"/>
              </a:rPr>
              <a:t> — the four-state comparison. With </a:t>
            </a:r>
            <a:r>
              <a:rPr sz="1050" b="1" i="0">
                <a:solidFill>
                  <a:srgbClr val="C01F43"/>
                </a:solidFill>
                <a:latin typeface="Consolas"/>
              </a:rPr>
              <a:t>!=</a:t>
            </a:r>
            <a:r>
              <a:rPr sz="1050" b="0" i="0">
                <a:solidFill>
                  <a:srgbClr val="33414F"/>
                </a:solidFill>
                <a:latin typeface="Calibri"/>
              </a:rPr>
              <a:t>, comparing against an x gives x, which is not true, so the check silently passes. Always use === and !== in a testbench.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TESTBENCH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Clock, Reset, and When to Drive and Sample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58</a:t>
            </a:r>
          </a:p>
        </p:txBody>
      </p:sp>
      <p:sp>
        <p:nvSpPr>
          <p:cNvPr id="9" name="Rounded Rectangle 8"/>
          <p:cNvSpPr/>
          <p:nvPr/>
        </p:nvSpPr>
        <p:spPr>
          <a:xfrm>
            <a:off x="411480" y="1143000"/>
            <a:ext cx="11247120" cy="25704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clock and reset boilerplate</a:t>
            </a:r>
          </a:p>
        </p:txBody>
      </p:sp>
      <p:sp>
        <p:nvSpPr>
          <p:cNvPr id="11" name="TextBox 10"/>
          <p:cNvSpPr txBox="1"/>
          <p:nvPr/>
        </p:nvSpPr>
        <p:spPr>
          <a:xfrm>
            <a:off x="594360" y="1531620"/>
            <a:ext cx="10881360" cy="2067560"/>
          </a:xfrm>
          <a:prstGeom prst="rect">
            <a:avLst/>
          </a:prstGeom>
          <a:noFill/>
        </p:spPr>
        <p:txBody>
          <a:bodyPr wrap="square" lIns="0" rIns="0" tIns="0" bIns="0" anchor="t">
            <a:spAutoFit/>
          </a:bodyPr>
          <a:lstStyle/>
          <a:p>
            <a:pPr algn="l">
              <a:lnSpc>
                <a:spcPct val="112000"/>
              </a:lnSpc>
            </a:pPr>
            <a:r>
              <a:rPr sz="1000" b="0" i="0">
                <a:solidFill>
                  <a:srgbClr val="7F9CB5"/>
                </a:solidFill>
                <a:latin typeface="Consolas"/>
              </a:rPr>
              <a:t>// A 100 MHz clock: 10 ns period, so toggle every 5 ns.</a:t>
            </a:r>
          </a:p>
          <a:p>
            <a:pPr algn="l">
              <a:lnSpc>
                <a:spcPct val="112000"/>
              </a:lnSpc>
            </a:pPr>
            <a:r>
              <a:rPr sz="1000" b="0" i="0">
                <a:solidFill>
                  <a:srgbClr val="D8E4F0"/>
                </a:solidFill>
                <a:latin typeface="Consolas"/>
              </a:rPr>
              <a:t>localparam integer CLK = 10;</a:t>
            </a:r>
          </a:p>
          <a:p>
            <a:pPr algn="l">
              <a:lnSpc>
                <a:spcPct val="112000"/>
              </a:lnSpc>
            </a:pPr>
            <a:r>
              <a:rPr sz="1000" b="0" i="0">
                <a:solidFill>
                  <a:srgbClr val="D8E4F0"/>
                </a:solidFill>
                <a:latin typeface="Consolas"/>
              </a:rPr>
              <a:t>initial clk = 1'b0;</a:t>
            </a:r>
          </a:p>
          <a:p>
            <a:pPr algn="l">
              <a:lnSpc>
                <a:spcPct val="112000"/>
              </a:lnSpc>
            </a:pPr>
            <a:r>
              <a:rPr sz="1000" b="0" i="0">
                <a:solidFill>
                  <a:srgbClr val="D8E4F0"/>
                </a:solidFill>
                <a:latin typeface="Consolas"/>
              </a:rPr>
              <a:t>always #(CLK/2) clk = ~clk;</a:t>
            </a:r>
          </a:p>
          <a:p>
            <a:pPr algn="l">
              <a:lnSpc>
                <a:spcPct val="112000"/>
              </a:lnSpc>
            </a:pPr>
            <a:r>
              <a:rPr sz="1000" b="0" i="0">
                <a:solidFill>
                  <a:srgbClr val="D8E4F0"/>
                </a:solidFill>
                <a:latin typeface="Consolas"/>
              </a:rPr>
              <a:t> </a:t>
            </a:r>
          </a:p>
          <a:p>
            <a:pPr algn="l">
              <a:lnSpc>
                <a:spcPct val="112000"/>
              </a:lnSpc>
            </a:pPr>
            <a:r>
              <a:rPr sz="1000" b="0" i="0">
                <a:solidFill>
                  <a:srgbClr val="7F9CB5"/>
                </a:solidFill>
                <a:latin typeface="Consolas"/>
              </a:rPr>
              <a:t>// Reset: assert before the first edge, release BETWEEN edges.</a:t>
            </a:r>
          </a:p>
          <a:p>
            <a:pPr algn="l">
              <a:lnSpc>
                <a:spcPct val="112000"/>
              </a:lnSpc>
            </a:pPr>
            <a:r>
              <a:rPr sz="1000" b="0" i="0">
                <a:solidFill>
                  <a:srgbClr val="D8E4F0"/>
                </a:solidFill>
                <a:latin typeface="Consolas"/>
              </a:rPr>
              <a:t>initial begin</a:t>
            </a:r>
          </a:p>
          <a:p>
            <a:pPr algn="l">
              <a:lnSpc>
                <a:spcPct val="112000"/>
              </a:lnSpc>
            </a:pPr>
            <a:r>
              <a:rPr sz="1000" b="0" i="0">
                <a:solidFill>
                  <a:srgbClr val="D8E4F0"/>
                </a:solidFill>
                <a:latin typeface="Consolas"/>
              </a:rPr>
              <a:t>  rst_n = 1'b0;</a:t>
            </a:r>
          </a:p>
          <a:p>
            <a:pPr algn="l">
              <a:lnSpc>
                <a:spcPct val="112000"/>
              </a:lnSpc>
            </a:pPr>
            <a:r>
              <a:rPr sz="1000" b="0" i="0">
                <a:solidFill>
                  <a:srgbClr val="D8E4F0"/>
                </a:solidFill>
                <a:latin typeface="Consolas"/>
              </a:rPr>
              <a:t>  repeat (3) @(posedge clk);</a:t>
            </a:r>
          </a:p>
          <a:p>
            <a:pPr algn="l">
              <a:lnSpc>
                <a:spcPct val="112000"/>
              </a:lnSpc>
            </a:pPr>
            <a:r>
              <a:rPr sz="1000" b="0" i="0">
                <a:solidFill>
                  <a:srgbClr val="D8E4F0"/>
                </a:solidFill>
                <a:latin typeface="Consolas"/>
              </a:rPr>
              <a:t>  #(CLK/5) rst_n = 1'b1;      // released just after an edge, not ON one</a:t>
            </a:r>
          </a:p>
          <a:p>
            <a:pPr algn="l">
              <a:lnSpc>
                <a:spcPct val="112000"/>
              </a:lnSpc>
            </a:pPr>
            <a:r>
              <a:rPr sz="1000" b="0" i="0">
                <a:solidFill>
                  <a:srgbClr val="D8E4F0"/>
                </a:solidFill>
                <a:latin typeface="Consolas"/>
              </a:rPr>
              <a:t>end</a:t>
            </a:r>
          </a:p>
        </p:txBody>
      </p:sp>
      <p:sp>
        <p:nvSpPr>
          <p:cNvPr id="12" name="Rounded Rectangle 11"/>
          <p:cNvSpPr/>
          <p:nvPr/>
        </p:nvSpPr>
        <p:spPr>
          <a:xfrm>
            <a:off x="411480" y="3804920"/>
            <a:ext cx="11247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38689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A bug that cost real time while building this lab</a:t>
            </a:r>
          </a:p>
        </p:txBody>
      </p:sp>
      <p:sp>
        <p:nvSpPr>
          <p:cNvPr id="14" name="TextBox 13"/>
          <p:cNvSpPr txBox="1"/>
          <p:nvPr/>
        </p:nvSpPr>
        <p:spPr>
          <a:xfrm>
            <a:off x="576072" y="4143248"/>
            <a:ext cx="10917936" cy="78638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The FSM testbench originally released reset exactly ON a clock edge. </a:t>
            </a:r>
            <a:r>
              <a:rPr sz="1100" b="0" i="0">
                <a:solidFill>
                  <a:srgbClr val="33414F"/>
                </a:solidFill>
                <a:latin typeface="Calibri"/>
              </a:rPr>
              <a:t>That is a race: the reset and the clock change at the same instant, so the state register saw an ambiguous condition and the state stayed x for two cycles. The sequence detector then found one match instead of two, and the design looked broken. It was not.</a:t>
            </a:r>
          </a:p>
          <a:p>
            <a:pPr algn="l">
              <a:lnSpc>
                <a:spcPct val="103000"/>
              </a:lnSpc>
              <a:spcAft>
                <a:spcPts val="400"/>
              </a:spcAft>
            </a:pPr>
            <a:r>
              <a:rPr sz="1100" b="1" i="0">
                <a:solidFill>
                  <a:srgbClr val="2A9D5C"/>
                </a:solidFill>
                <a:latin typeface="Calibri"/>
              </a:rPr>
              <a:t>Rule: </a:t>
            </a:r>
            <a:r>
              <a:rPr sz="1100" b="0" i="0">
                <a:solidFill>
                  <a:srgbClr val="33414F"/>
                </a:solidFill>
                <a:latin typeface="Calibri"/>
              </a:rPr>
              <a:t>drive stimulus a small delay AFTER the active edge, and sample a small delay BEFORE the next one. Never change an input at the same instant as the clock.</a:t>
            </a:r>
          </a:p>
        </p:txBody>
      </p:sp>
      <p:sp>
        <p:nvSpPr>
          <p:cNvPr id="15" name="Rounded Rectangle 14"/>
          <p:cNvSpPr/>
          <p:nvPr/>
        </p:nvSpPr>
        <p:spPr>
          <a:xfrm>
            <a:off x="411480" y="508508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51490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Timescale matters</a:t>
            </a:r>
          </a:p>
        </p:txBody>
      </p:sp>
      <p:sp>
        <p:nvSpPr>
          <p:cNvPr id="17" name="TextBox 16"/>
          <p:cNvSpPr txBox="1"/>
          <p:nvPr/>
        </p:nvSpPr>
        <p:spPr>
          <a:xfrm>
            <a:off x="576072" y="5423408"/>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onsolas"/>
              </a:rPr>
              <a:t>`timescale 1ns / 1ps</a:t>
            </a:r>
            <a:r>
              <a:rPr sz="1100" b="0" i="0">
                <a:solidFill>
                  <a:srgbClr val="33414F"/>
                </a:solidFill>
                <a:latin typeface="Calibri"/>
              </a:rPr>
              <a:t>  means the unit of #1 is a nanosecond and the simulator rounds to a picosecond. Change the first number and every delay in the file changes meaning. Put the same timescale in every file, or put it in one included header.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VERIFICATION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Reference Models, Scoreboards and Randomisation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59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Hand-written expected values do not scale past about twenty cases. </a:t>
            </a:r>
            <a:r>
              <a:rPr sz="1100" b="0" i="0">
                <a:solidFill>
                  <a:srgbClr val="33414F"/>
                </a:solidFill>
                <a:latin typeface="Calibri"/>
              </a:rPr>
              <a:t>Beyond that you need a model that computes the right answer independently, and random stimulus to reach the corners you would never think of.</a:t>
            </a:r>
          </a:p>
        </p:txBody>
      </p:sp>
      <p:sp>
        <p:nvSpPr>
          <p:cNvPr id="10" name="Rounded Rectangle 9"/>
          <p:cNvSpPr/>
          <p:nvPr/>
        </p:nvSpPr>
        <p:spPr>
          <a:xfrm>
            <a:off x="411480" y="1737360"/>
            <a:ext cx="11247120" cy="354787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18516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Topic4_Lab/tb/tb_mem.v (extract)</a:t>
            </a:r>
          </a:p>
        </p:txBody>
      </p:sp>
      <p:sp>
        <p:nvSpPr>
          <p:cNvPr id="12" name="TextBox 11"/>
          <p:cNvSpPr txBox="1"/>
          <p:nvPr/>
        </p:nvSpPr>
        <p:spPr>
          <a:xfrm>
            <a:off x="594360" y="2125980"/>
            <a:ext cx="10881360" cy="3044952"/>
          </a:xfrm>
          <a:prstGeom prst="rect">
            <a:avLst/>
          </a:prstGeom>
          <a:noFill/>
        </p:spPr>
        <p:txBody>
          <a:bodyPr wrap="square" lIns="0" rIns="0" tIns="0" bIns="0" anchor="t">
            <a:spAutoFit/>
          </a:bodyPr>
          <a:lstStyle/>
          <a:p>
            <a:pPr algn="l">
              <a:lnSpc>
                <a:spcPct val="112000"/>
              </a:lnSpc>
            </a:pPr>
            <a:r>
              <a:rPr sz="900" b="0" i="0">
                <a:solidFill>
                  <a:srgbClr val="7F9CB5"/>
                </a:solidFill>
                <a:latin typeface="Consolas"/>
              </a:rPr>
              <a:t>// A scoreboard: an independent model of what should be inside the FIFO.</a:t>
            </a:r>
          </a:p>
          <a:p>
            <a:pPr algn="l">
              <a:lnSpc>
                <a:spcPct val="112000"/>
              </a:lnSpc>
            </a:pPr>
            <a:r>
              <a:rPr sz="900" b="0" i="0">
                <a:solidFill>
                  <a:srgbClr val="D8E4F0"/>
                </a:solidFill>
                <a:latin typeface="Consolas"/>
              </a:rPr>
              <a:t>reg [W-1:0] model [0:DEPTH-1];</a:t>
            </a:r>
          </a:p>
          <a:p>
            <a:pPr algn="l">
              <a:lnSpc>
                <a:spcPct val="112000"/>
              </a:lnSpc>
            </a:pPr>
            <a:r>
              <a:rPr sz="900" b="0" i="0">
                <a:solidFill>
                  <a:srgbClr val="D8E4F0"/>
                </a:solidFill>
                <a:latin typeface="Consolas"/>
              </a:rPr>
              <a:t>integer     mhead, mtail;</a:t>
            </a:r>
          </a:p>
          <a:p>
            <a:pPr algn="l">
              <a:lnSpc>
                <a:spcPct val="112000"/>
              </a:lnSpc>
            </a:pPr>
            <a:r>
              <a:rPr sz="900" b="0" i="0">
                <a:solidFill>
                  <a:srgbClr val="D8E4F0"/>
                </a:solidFill>
                <a:latin typeface="Consolas"/>
              </a:rPr>
              <a:t>function integer mcount; mcount = mtail - mhead; endfunction</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task fifo_push(input [W-1:0] dat);</a:t>
            </a:r>
          </a:p>
          <a:p>
            <a:pPr algn="l">
              <a:lnSpc>
                <a:spcPct val="112000"/>
              </a:lnSpc>
            </a:pPr>
            <a:r>
              <a:rPr sz="900" b="0" i="0">
                <a:solidFill>
                  <a:srgbClr val="D8E4F0"/>
                </a:solidFill>
                <a:latin typeface="Consolas"/>
              </a:rPr>
              <a:t>  begin</a:t>
            </a:r>
          </a:p>
          <a:p>
            <a:pPr algn="l">
              <a:lnSpc>
                <a:spcPct val="112000"/>
              </a:lnSpc>
            </a:pPr>
            <a:r>
              <a:rPr sz="900" b="0" i="0">
                <a:solidFill>
                  <a:srgbClr val="D8E4F0"/>
                </a:solidFill>
                <a:latin typeface="Consolas"/>
              </a:rPr>
              <a:t>    wr_en = 1'b1; wr_data = dat; @(posedge clk); #1 wr_en = 1'b0;</a:t>
            </a:r>
          </a:p>
          <a:p>
            <a:pPr algn="l">
              <a:lnSpc>
                <a:spcPct val="112000"/>
              </a:lnSpc>
            </a:pPr>
            <a:r>
              <a:rPr sz="900" b="0" i="0">
                <a:solidFill>
                  <a:srgbClr val="D8E4F0"/>
                </a:solidFill>
                <a:latin typeface="Consolas"/>
              </a:rPr>
              <a:t>    model[mtail % DEPTH] = dat;  mtail = mtail + 1;      // model, not DUT</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endtask</a:t>
            </a:r>
          </a:p>
          <a:p>
            <a:pPr algn="l">
              <a:lnSpc>
                <a:spcPct val="112000"/>
              </a:lnSpc>
            </a:pPr>
            <a:r>
              <a:rPr sz="900" b="0" i="0">
                <a:solidFill>
                  <a:srgbClr val="D8E4F0"/>
                </a:solidFill>
                <a:latin typeface="Consolas"/>
              </a:rPr>
              <a:t> </a:t>
            </a:r>
          </a:p>
          <a:p>
            <a:pPr algn="l">
              <a:lnSpc>
                <a:spcPct val="112000"/>
              </a:lnSpc>
            </a:pPr>
            <a:r>
              <a:rPr sz="900" b="0" i="0">
                <a:solidFill>
                  <a:srgbClr val="7F9CB5"/>
                </a:solidFill>
                <a:latin typeface="Consolas"/>
              </a:rPr>
              <a:t>// Randomised, but SEEDED -- so a failure reproduces exactly.</a:t>
            </a:r>
          </a:p>
          <a:p>
            <a:pPr algn="l">
              <a:lnSpc>
                <a:spcPct val="112000"/>
              </a:lnSpc>
            </a:pPr>
            <a:r>
              <a:rPr sz="900" b="0" i="0">
                <a:solidFill>
                  <a:srgbClr val="D8E4F0"/>
                </a:solidFill>
                <a:latin typeface="Consolas"/>
              </a:rPr>
              <a:t>for (k = 0; k &lt; 200; k = k + 1) begin</a:t>
            </a:r>
          </a:p>
          <a:p>
            <a:pPr algn="l">
              <a:lnSpc>
                <a:spcPct val="112000"/>
              </a:lnSpc>
            </a:pPr>
            <a:r>
              <a:rPr sz="900" b="0" i="0">
                <a:solidFill>
                  <a:srgbClr val="D8E4F0"/>
                </a:solidFill>
                <a:latin typeface="Consolas"/>
              </a:rPr>
              <a:t>  if (($random(seed) % 2) == 0) begin if (!full) fifo_push($random(seed)); end</a:t>
            </a:r>
          </a:p>
          <a:p>
            <a:pPr algn="l">
              <a:lnSpc>
                <a:spcPct val="112000"/>
              </a:lnSpc>
            </a:pPr>
            <a:r>
              <a:rPr sz="900" b="0" i="0">
                <a:solidFill>
                  <a:srgbClr val="D8E4F0"/>
                </a:solidFill>
                <a:latin typeface="Consolas"/>
              </a:rPr>
              <a:t>  else                          begin if (!empty) fifo_pop(); end</a:t>
            </a:r>
          </a:p>
          <a:p>
            <a:pPr algn="l">
              <a:lnSpc>
                <a:spcPct val="112000"/>
              </a:lnSpc>
            </a:pPr>
            <a:r>
              <a:rPr sz="900" b="0" i="0">
                <a:solidFill>
                  <a:srgbClr val="D8E4F0"/>
                </a:solidFill>
                <a:latin typeface="Consolas"/>
              </a:rPr>
              <a:t>  check1(count === mcount(), "fifo count disagrees with the scoreboard");</a:t>
            </a:r>
          </a:p>
          <a:p>
            <a:pPr algn="l">
              <a:lnSpc>
                <a:spcPct val="112000"/>
              </a:lnSpc>
            </a:pPr>
            <a:r>
              <a:rPr sz="900" b="0" i="0">
                <a:solidFill>
                  <a:srgbClr val="D8E4F0"/>
                </a:solidFill>
                <a:latin typeface="Consolas"/>
              </a:rPr>
              <a:t>end</a:t>
            </a:r>
          </a:p>
        </p:txBody>
      </p:sp>
      <p:sp>
        <p:nvSpPr>
          <p:cNvPr id="13" name="TextBox 12"/>
          <p:cNvSpPr txBox="1"/>
          <p:nvPr/>
        </p:nvSpPr>
        <p:spPr>
          <a:xfrm>
            <a:off x="411480" y="5330952"/>
            <a:ext cx="11247120" cy="274320"/>
          </a:xfrm>
          <a:prstGeom prst="rect">
            <a:avLst/>
          </a:prstGeom>
          <a:noFill/>
        </p:spPr>
        <p:txBody>
          <a:bodyPr wrap="square" lIns="0" rIns="0" tIns="0" bIns="0" anchor="t">
            <a:spAutoFit/>
          </a:bodyPr>
          <a:lstStyle/>
          <a:p>
            <a:pPr algn="l">
              <a:lnSpc>
                <a:spcPct val="103000"/>
              </a:lnSpc>
            </a:pPr>
            <a:r>
              <a:rPr sz="1050" b="1" i="0">
                <a:solidFill>
                  <a:srgbClr val="C01F43"/>
                </a:solidFill>
                <a:latin typeface="Calibri"/>
              </a:rPr>
              <a:t>The model must be written from the SPECIFICATION, never by reading the RTL. </a:t>
            </a:r>
            <a:r>
              <a:rPr sz="1050" b="0" i="0">
                <a:solidFill>
                  <a:srgbClr val="33414F"/>
                </a:solidFill>
                <a:latin typeface="Calibri"/>
              </a:rPr>
              <a:t>A model derived from the design under test will happily agree with the design's bugs.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DEBUG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It Does Not Work — Climb the Ladder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Debugging RTL is not guessing; it is a procedure. </a:t>
            </a:r>
            <a:r>
              <a:rPr sz="1100" b="0" i="0">
                <a:solidFill>
                  <a:srgbClr val="33414F"/>
                </a:solidFill>
                <a:latin typeface="Calibri"/>
              </a:rPr>
              <a:t>Work from the cheapest check to the most expensive, and always find the FIRST moment the design went wrong, never the moment you noticed.</a:t>
            </a:r>
          </a:p>
        </p:txBody>
      </p:sp>
      <p:pic>
        <p:nvPicPr>
          <p:cNvPr id="10" name="Picture 9" descr="debug_ladder.png"/>
          <p:cNvPicPr>
            <a:picLocks noChangeAspect="1"/>
          </p:cNvPicPr>
          <p:nvPr/>
        </p:nvPicPr>
        <p:blipFill>
          <a:blip r:embed="rId2"/>
          <a:stretch>
            <a:fillRect/>
          </a:stretch>
        </p:blipFill>
        <p:spPr>
          <a:xfrm>
            <a:off x="2467281" y="1737360"/>
            <a:ext cx="7135519" cy="3383280"/>
          </a:xfrm>
          <a:prstGeom prst="rect">
            <a:avLst/>
          </a:prstGeom>
        </p:spPr>
      </p:pic>
      <p:sp>
        <p:nvSpPr>
          <p:cNvPr id="11" name="Rounded Rectangle 10"/>
          <p:cNvSpPr/>
          <p:nvPr/>
        </p:nvSpPr>
        <p:spPr>
          <a:xfrm>
            <a:off x="411480" y="5212080"/>
            <a:ext cx="5532120" cy="118872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5276088"/>
            <a:ext cx="5257800"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Chasing an x</a:t>
            </a:r>
          </a:p>
        </p:txBody>
      </p:sp>
      <p:sp>
        <p:nvSpPr>
          <p:cNvPr id="13" name="TextBox 12"/>
          <p:cNvSpPr txBox="1"/>
          <p:nvPr/>
        </p:nvSpPr>
        <p:spPr>
          <a:xfrm>
            <a:off x="548640" y="5550408"/>
            <a:ext cx="5257800" cy="7863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x is contagious — by the time you see it on your output it may have travelled through ten signals. In GTKWave, add the suspect signal, find the FIRST edge where it goes x, then add whatever drives it and repeat. You are looking for the source, not the symptom.</a:t>
            </a:r>
          </a:p>
        </p:txBody>
      </p:sp>
      <p:sp>
        <p:nvSpPr>
          <p:cNvPr id="14" name="Rounded Rectangle 13"/>
          <p:cNvSpPr/>
          <p:nvPr/>
        </p:nvSpPr>
        <p:spPr>
          <a:xfrm>
            <a:off x="6126480" y="521208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527608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Reading a VCD</a:t>
            </a:r>
          </a:p>
        </p:txBody>
      </p:sp>
      <p:sp>
        <p:nvSpPr>
          <p:cNvPr id="16" name="TextBox 15"/>
          <p:cNvSpPr txBox="1"/>
          <p:nvPr/>
        </p:nvSpPr>
        <p:spPr>
          <a:xfrm>
            <a:off x="6263640" y="5550408"/>
            <a:ext cx="5257800" cy="78638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$dumpvars(0, tb);</a:t>
            </a:r>
            <a:r>
              <a:rPr sz="1050" b="0" i="0">
                <a:solidFill>
                  <a:srgbClr val="33414F"/>
                </a:solidFill>
                <a:latin typeface="Calibri"/>
              </a:rPr>
              <a:t>  dumps every signal at every level — start there. </a:t>
            </a:r>
            <a:r>
              <a:rPr sz="1050" b="1" i="0">
                <a:solidFill>
                  <a:srgbClr val="2A9D5C"/>
                </a:solidFill>
                <a:latin typeface="Consolas"/>
              </a:rPr>
              <a:t>$dumpvars(1, tb.u_dut);</a:t>
            </a:r>
            <a:r>
              <a:rPr sz="1050" b="0" i="0">
                <a:solidFill>
                  <a:srgbClr val="33414F"/>
                </a:solidFill>
                <a:latin typeface="Calibri"/>
              </a:rPr>
              <a:t>  dumps one level of one instance, for when the file gets too big to open.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DESIGN 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Synchronous FIFO — Pointers, and the Extra Bit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61</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 FIFO is a memory plus two pointers. </a:t>
            </a:r>
            <a:r>
              <a:rPr sz="1100" b="0" i="0">
                <a:solidFill>
                  <a:srgbClr val="33414F"/>
                </a:solidFill>
                <a:latin typeface="Calibri"/>
              </a:rPr>
              <a:t>The only hard part is telling FULL from EMPTY: in both cases the two pointers are equal. The classic solution is to give each pointer one extra bit.</a:t>
            </a:r>
          </a:p>
        </p:txBody>
      </p:sp>
      <p:pic>
        <p:nvPicPr>
          <p:cNvPr id="10" name="Picture 9" descr="fifo_structure.png"/>
          <p:cNvPicPr>
            <a:picLocks noChangeAspect="1"/>
          </p:cNvPicPr>
          <p:nvPr/>
        </p:nvPicPr>
        <p:blipFill>
          <a:blip r:embed="rId2"/>
          <a:stretch>
            <a:fillRect/>
          </a:stretch>
        </p:blipFill>
        <p:spPr>
          <a:xfrm>
            <a:off x="2315754" y="1737360"/>
            <a:ext cx="7438571" cy="2743200"/>
          </a:xfrm>
          <a:prstGeom prst="rect">
            <a:avLst/>
          </a:prstGeom>
        </p:spPr>
      </p:pic>
      <p:sp>
        <p:nvSpPr>
          <p:cNvPr id="11" name="Rounded Rectangle 10"/>
          <p:cNvSpPr/>
          <p:nvPr/>
        </p:nvSpPr>
        <p:spPr>
          <a:xfrm>
            <a:off x="411480" y="4572000"/>
            <a:ext cx="11247120" cy="139573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94360" y="4686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Topic4_Lab/rtl/sync_fifo.v — verified 255 cells, 72 FF at 8×8</a:t>
            </a:r>
          </a:p>
        </p:txBody>
      </p:sp>
      <p:sp>
        <p:nvSpPr>
          <p:cNvPr id="13" name="TextBox 12"/>
          <p:cNvSpPr txBox="1"/>
          <p:nvPr/>
        </p:nvSpPr>
        <p:spPr>
          <a:xfrm>
            <a:off x="594360" y="4960620"/>
            <a:ext cx="10881360" cy="892810"/>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reg [AW:0] wr_ptr, rd_ptr;                  // AW+1 bits for a 2**AW-deep FIFO</a:t>
            </a:r>
          </a:p>
          <a:p>
            <a:pPr algn="l">
              <a:lnSpc>
                <a:spcPct val="112000"/>
              </a:lnSpc>
            </a:pPr>
            <a:r>
              <a:rPr sz="950" b="0" i="0">
                <a:solidFill>
                  <a:srgbClr val="D8E4F0"/>
                </a:solidFill>
                <a:latin typeface="Consolas"/>
              </a:rPr>
              <a:t>assign empty = (wr_ptr == rd_ptr);                       // identical, MSB included</a:t>
            </a:r>
          </a:p>
          <a:p>
            <a:pPr algn="l">
              <a:lnSpc>
                <a:spcPct val="112000"/>
              </a:lnSpc>
            </a:pPr>
            <a:r>
              <a:rPr sz="950" b="0" i="0">
                <a:solidFill>
                  <a:srgbClr val="D8E4F0"/>
                </a:solidFill>
                <a:latin typeface="Consolas"/>
              </a:rPr>
              <a:t>assign full  = (wr_ptr[AW] != rd_ptr[AW]) &amp;&amp;             // wrapped a different number</a:t>
            </a:r>
          </a:p>
          <a:p>
            <a:pPr algn="l">
              <a:lnSpc>
                <a:spcPct val="112000"/>
              </a:lnSpc>
            </a:pPr>
            <a:r>
              <a:rPr sz="950" b="0" i="0">
                <a:solidFill>
                  <a:srgbClr val="D8E4F0"/>
                </a:solidFill>
                <a:latin typeface="Consolas"/>
              </a:rPr>
              <a:t>               (wr_ptr[AW-1:0] == rd_ptr[AW-1:0]);       //   of times, same position</a:t>
            </a:r>
          </a:p>
          <a:p>
            <a:pPr algn="l">
              <a:lnSpc>
                <a:spcPct val="112000"/>
              </a:lnSpc>
            </a:pPr>
            <a:r>
              <a:rPr sz="950" b="0" i="0">
                <a:solidFill>
                  <a:srgbClr val="D8E4F0"/>
                </a:solidFill>
                <a:latin typeface="Consolas"/>
              </a:rPr>
              <a:t>assign count = wr_ptr - rd_ptr;             // subtraction wraps correctly, for free</a:t>
            </a:r>
          </a:p>
        </p:txBody>
      </p:sp>
      <p:sp>
        <p:nvSpPr>
          <p:cNvPr id="14" name="TextBox 13"/>
          <p:cNvSpPr txBox="1"/>
          <p:nvPr/>
        </p:nvSpPr>
        <p:spPr>
          <a:xfrm>
            <a:off x="411480" y="6013450"/>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alibri"/>
              </a:rPr>
              <a:t>Guard the pointers, not the caller: </a:t>
            </a:r>
            <a:r>
              <a:rPr sz="1050" b="1" i="0">
                <a:solidFill>
                  <a:srgbClr val="2A9D5C"/>
                </a:solidFill>
                <a:latin typeface="Consolas"/>
              </a:rPr>
              <a:t>wr_en &amp; ~full</a:t>
            </a:r>
            <a:r>
              <a:rPr sz="1050" b="0" i="0">
                <a:solidFill>
                  <a:srgbClr val="33414F"/>
                </a:solidFill>
                <a:latin typeface="Calibri"/>
              </a:rPr>
              <a:t> and </a:t>
            </a:r>
            <a:r>
              <a:rPr sz="1050" b="1" i="0">
                <a:solidFill>
                  <a:srgbClr val="2A9D5C"/>
                </a:solidFill>
                <a:latin typeface="Consolas"/>
              </a:rPr>
              <a:t>rd_en &amp; ~empty</a:t>
            </a:r>
            <a:r>
              <a:rPr sz="1050" b="0" i="0">
                <a:solidFill>
                  <a:srgbClr val="33414F"/>
                </a:solidFill>
                <a:latin typeface="Calibri"/>
              </a:rPr>
              <a:t>. A FIFO that silently corrupts itself when someone writes to it while full is a system-level bug waiting to happen.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DESIGN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UART — the 8N1 Frame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62</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 UART is the capstone because it forces every idea in this topic together. </a:t>
            </a:r>
            <a:r>
              <a:rPr sz="1100" b="0" i="0">
                <a:solidFill>
                  <a:srgbClr val="33414F"/>
                </a:solidFill>
                <a:latin typeface="Calibri"/>
              </a:rPr>
              <a:t>There is no clock on the wire: both ends agree a bit rate in advance and the receiver recovers timing from the start bit. That is the whole design problem.</a:t>
            </a:r>
          </a:p>
        </p:txBody>
      </p:sp>
      <p:pic>
        <p:nvPicPr>
          <p:cNvPr id="10" name="Picture 9" descr="uart_frame.png"/>
          <p:cNvPicPr>
            <a:picLocks noChangeAspect="1"/>
          </p:cNvPicPr>
          <p:nvPr/>
        </p:nvPicPr>
        <p:blipFill>
          <a:blip r:embed="rId2"/>
          <a:stretch>
            <a:fillRect/>
          </a:stretch>
        </p:blipFill>
        <p:spPr>
          <a:xfrm>
            <a:off x="2563707" y="1783080"/>
            <a:ext cx="6942667" cy="2560320"/>
          </a:xfrm>
          <a:prstGeom prst="rect">
            <a:avLst/>
          </a:prstGeom>
        </p:spPr>
      </p:pic>
      <p:sp>
        <p:nvSpPr>
          <p:cNvPr id="11" name="Rounded Rectangle 10"/>
          <p:cNvSpPr/>
          <p:nvPr/>
        </p:nvSpPr>
        <p:spPr>
          <a:xfrm>
            <a:off x="411480" y="4434840"/>
            <a:ext cx="5532120" cy="13716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48640" y="449884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8N1, and how you count clocks</a:t>
            </a:r>
          </a:p>
        </p:txBody>
      </p:sp>
      <p:sp>
        <p:nvSpPr>
          <p:cNvPr id="13" name="TextBox 12"/>
          <p:cNvSpPr txBox="1"/>
          <p:nvPr/>
        </p:nvSpPr>
        <p:spPr>
          <a:xfrm>
            <a:off x="548640" y="4773168"/>
            <a:ext cx="5257800" cy="9692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Idle high · one START bit low · eight DATA bits, LSB first · no parity · one STOP bit high. Ten bit times per byte.</a:t>
            </a:r>
          </a:p>
          <a:p>
            <a:pPr algn="l">
              <a:lnSpc>
                <a:spcPct val="103000"/>
              </a:lnSpc>
              <a:spcAft>
                <a:spcPts val="400"/>
              </a:spcAft>
            </a:pPr>
            <a:r>
              <a:rPr sz="1050" b="1" i="0">
                <a:solidFill>
                  <a:srgbClr val="0E2A47"/>
                </a:solidFill>
                <a:latin typeface="Consolas"/>
              </a:rPr>
              <a:t>CLKS_PER_BIT = f_clk / baud</a:t>
            </a:r>
          </a:p>
          <a:p>
            <a:pPr algn="l">
              <a:lnSpc>
                <a:spcPct val="103000"/>
              </a:lnSpc>
              <a:spcAft>
                <a:spcPts val="400"/>
              </a:spcAft>
            </a:pPr>
            <a:r>
              <a:rPr sz="1050" b="0" i="0">
                <a:solidFill>
                  <a:srgbClr val="33414F"/>
                </a:solidFill>
                <a:latin typeface="Calibri"/>
              </a:rPr>
              <a:t>50 MHz / 115200 = 434.03 → 434. The 0.03 error accumulates to 0.3 of a bit over ten bits: comfortably inside tolerance.</a:t>
            </a:r>
          </a:p>
        </p:txBody>
      </p:sp>
      <p:sp>
        <p:nvSpPr>
          <p:cNvPr id="14" name="Rounded Rectangle 13"/>
          <p:cNvSpPr/>
          <p:nvPr/>
        </p:nvSpPr>
        <p:spPr>
          <a:xfrm>
            <a:off x="6126480" y="4434840"/>
            <a:ext cx="5532120" cy="13716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63640" y="449884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receiver's one trick</a:t>
            </a:r>
          </a:p>
        </p:txBody>
      </p:sp>
      <p:sp>
        <p:nvSpPr>
          <p:cNvPr id="16" name="TextBox 15"/>
          <p:cNvSpPr txBox="1"/>
          <p:nvPr/>
        </p:nvSpPr>
        <p:spPr>
          <a:xfrm>
            <a:off x="6263640" y="4773168"/>
            <a:ext cx="5257800" cy="96926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alibri"/>
              </a:rPr>
              <a:t>Sample each bit in its MIDDLE, not at its edge. </a:t>
            </a:r>
            <a:r>
              <a:rPr sz="1050" b="0" i="0">
                <a:solidFill>
                  <a:srgbClr val="33414F"/>
                </a:solidFill>
                <a:latin typeface="Calibri"/>
              </a:rPr>
              <a:t>On seeing the start bit fall, wait HALF a bit time and re-check the line is still low — that rejects a glitch. From then on, sample every FULL bit time and you land in the centre of every bit, with maximum margin against clock mismatch.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DESIGN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Receiver — an FSMD in Four States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63</a:t>
            </a:r>
          </a:p>
        </p:txBody>
      </p:sp>
      <p:sp>
        <p:nvSpPr>
          <p:cNvPr id="9" name="Rounded Rectangle 8"/>
          <p:cNvSpPr/>
          <p:nvPr/>
        </p:nvSpPr>
        <p:spPr>
          <a:xfrm>
            <a:off x="411480" y="1143000"/>
            <a:ext cx="11247120" cy="422452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Topic4_Lab/rtl/uart_rx.v — verified 120 cells, 36 FF</a:t>
            </a:r>
          </a:p>
        </p:txBody>
      </p:sp>
      <p:sp>
        <p:nvSpPr>
          <p:cNvPr id="11" name="TextBox 10"/>
          <p:cNvSpPr txBox="1"/>
          <p:nvPr/>
        </p:nvSpPr>
        <p:spPr>
          <a:xfrm>
            <a:off x="594360" y="1531620"/>
            <a:ext cx="10881360" cy="3721608"/>
          </a:xfrm>
          <a:prstGeom prst="rect">
            <a:avLst/>
          </a:prstGeom>
          <a:noFill/>
        </p:spPr>
        <p:txBody>
          <a:bodyPr wrap="square" lIns="0" rIns="0" tIns="0" bIns="0" anchor="t">
            <a:spAutoFit/>
          </a:bodyPr>
          <a:lstStyle/>
          <a:p>
            <a:pPr algn="l">
              <a:lnSpc>
                <a:spcPct val="112000"/>
              </a:lnSpc>
            </a:pPr>
            <a:r>
              <a:rPr sz="900" b="0" i="0">
                <a:solidFill>
                  <a:srgbClr val="D8E4F0"/>
                </a:solidFill>
                <a:latin typeface="Consolas"/>
              </a:rPr>
              <a:t>synchroniser #(.STAGES(2)) u_sync (.clk(clk), .rst_n(rst_n),</a:t>
            </a:r>
          </a:p>
          <a:p>
            <a:pPr algn="l">
              <a:lnSpc>
                <a:spcPct val="112000"/>
              </a:lnSpc>
            </a:pPr>
            <a:r>
              <a:rPr sz="900" b="0" i="0">
                <a:solidFill>
                  <a:srgbClr val="D8E4F0"/>
                </a:solidFill>
                <a:latin typeface="Consolas"/>
              </a:rPr>
              <a:t>                                  .async_in(rx), .sync_out(rx_sync));  // CDC first!</a:t>
            </a:r>
          </a:p>
          <a:p>
            <a:pPr algn="l">
              <a:lnSpc>
                <a:spcPct val="112000"/>
              </a:lnSpc>
            </a:pPr>
            <a:r>
              <a:rPr sz="900" b="0" i="0">
                <a:solidFill>
                  <a:srgbClr val="D8E4F0"/>
                </a:solidFill>
                <a:latin typeface="Consolas"/>
              </a:rPr>
              <a:t>case (state)</a:t>
            </a:r>
          </a:p>
          <a:p>
            <a:pPr algn="l">
              <a:lnSpc>
                <a:spcPct val="112000"/>
              </a:lnSpc>
            </a:pPr>
            <a:r>
              <a:rPr sz="900" b="0" i="0">
                <a:solidFill>
                  <a:srgbClr val="D8E4F0"/>
                </a:solidFill>
                <a:latin typeface="Consolas"/>
              </a:rPr>
              <a:t>  IDLE : begin</a:t>
            </a:r>
          </a:p>
          <a:p>
            <a:pPr algn="l">
              <a:lnSpc>
                <a:spcPct val="112000"/>
              </a:lnSpc>
            </a:pPr>
            <a:r>
              <a:rPr sz="900" b="0" i="0">
                <a:solidFill>
                  <a:srgbClr val="D8E4F0"/>
                </a:solidFill>
                <a:latin typeface="Consolas"/>
              </a:rPr>
              <a:t>           clk_cnt &lt;= {CW{1'b0}};  bit_idx &lt;= 3'd0;</a:t>
            </a:r>
          </a:p>
          <a:p>
            <a:pPr algn="l">
              <a:lnSpc>
                <a:spcPct val="112000"/>
              </a:lnSpc>
            </a:pPr>
            <a:r>
              <a:rPr sz="900" b="0" i="0">
                <a:solidFill>
                  <a:srgbClr val="D8E4F0"/>
                </a:solidFill>
                <a:latin typeface="Consolas"/>
              </a:rPr>
              <a:t>           if (!rx_sync) state &lt;= START;              // falling edge seen</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START: if (clk_cnt == HALF_BIT[CW-1:0]) begin</a:t>
            </a:r>
          </a:p>
          <a:p>
            <a:pPr algn="l">
              <a:lnSpc>
                <a:spcPct val="112000"/>
              </a:lnSpc>
            </a:pPr>
            <a:r>
              <a:rPr sz="900" b="0" i="0">
                <a:solidFill>
                  <a:srgbClr val="D8E4F0"/>
                </a:solidFill>
                <a:latin typeface="Consolas"/>
              </a:rPr>
              <a:t>           if (!rx_sync) begin clk_cnt &lt;= {CW{1'b0}}; state &lt;= DATA; end  // genuine</a:t>
            </a:r>
          </a:p>
          <a:p>
            <a:pPr algn="l">
              <a:lnSpc>
                <a:spcPct val="112000"/>
              </a:lnSpc>
            </a:pPr>
            <a:r>
              <a:rPr sz="900" b="0" i="0">
                <a:solidFill>
                  <a:srgbClr val="D8E4F0"/>
                </a:solidFill>
                <a:latin typeface="Consolas"/>
              </a:rPr>
              <a:t>           else                state &lt;= IDLE;                            // glitch</a:t>
            </a:r>
          </a:p>
          <a:p>
            <a:pPr algn="l">
              <a:lnSpc>
                <a:spcPct val="112000"/>
              </a:lnSpc>
            </a:pPr>
            <a:r>
              <a:rPr sz="900" b="0" i="0">
                <a:solidFill>
                  <a:srgbClr val="D8E4F0"/>
                </a:solidFill>
                <a:latin typeface="Consolas"/>
              </a:rPr>
              <a:t>         end else clk_cnt &lt;= clk_cnt + 1'b1;</a:t>
            </a:r>
          </a:p>
          <a:p>
            <a:pPr algn="l">
              <a:lnSpc>
                <a:spcPct val="112000"/>
              </a:lnSpc>
            </a:pPr>
            <a:r>
              <a:rPr sz="900" b="0" i="0">
                <a:solidFill>
                  <a:srgbClr val="D8E4F0"/>
                </a:solidFill>
                <a:latin typeface="Consolas"/>
              </a:rPr>
              <a:t>  DATA : if (clk_cnt == FULL_BIT[CW-1:0]) begin</a:t>
            </a:r>
          </a:p>
          <a:p>
            <a:pPr algn="l">
              <a:lnSpc>
                <a:spcPct val="112000"/>
              </a:lnSpc>
            </a:pPr>
            <a:r>
              <a:rPr sz="900" b="0" i="0">
                <a:solidFill>
                  <a:srgbClr val="D8E4F0"/>
                </a:solidFill>
                <a:latin typeface="Consolas"/>
              </a:rPr>
              <a:t>           clk_cnt &lt;= {CW{1'b0}};</a:t>
            </a:r>
          </a:p>
          <a:p>
            <a:pPr algn="l">
              <a:lnSpc>
                <a:spcPct val="112000"/>
              </a:lnSpc>
            </a:pPr>
            <a:r>
              <a:rPr sz="900" b="0" i="0">
                <a:solidFill>
                  <a:srgbClr val="D8E4F0"/>
                </a:solidFill>
                <a:latin typeface="Consolas"/>
              </a:rPr>
              <a:t>           shifter &lt;= {rx_sync, shifter[7:1]};        // LSB arrives first</a:t>
            </a:r>
          </a:p>
          <a:p>
            <a:pPr algn="l">
              <a:lnSpc>
                <a:spcPct val="112000"/>
              </a:lnSpc>
            </a:pPr>
            <a:r>
              <a:rPr sz="900" b="0" i="0">
                <a:solidFill>
                  <a:srgbClr val="D8E4F0"/>
                </a:solidFill>
                <a:latin typeface="Consolas"/>
              </a:rPr>
              <a:t>           if (bit_idx == 3'd7) state &lt;= STOP; else bit_idx &lt;= bit_idx + 1'b1;</a:t>
            </a:r>
          </a:p>
          <a:p>
            <a:pPr algn="l">
              <a:lnSpc>
                <a:spcPct val="112000"/>
              </a:lnSpc>
            </a:pPr>
            <a:r>
              <a:rPr sz="900" b="0" i="0">
                <a:solidFill>
                  <a:srgbClr val="D8E4F0"/>
                </a:solidFill>
                <a:latin typeface="Consolas"/>
              </a:rPr>
              <a:t>         end else clk_cnt &lt;= clk_cnt + 1'b1;</a:t>
            </a:r>
          </a:p>
          <a:p>
            <a:pPr algn="l">
              <a:lnSpc>
                <a:spcPct val="112000"/>
              </a:lnSpc>
            </a:pPr>
            <a:r>
              <a:rPr sz="900" b="0" i="0">
                <a:solidFill>
                  <a:srgbClr val="D8E4F0"/>
                </a:solidFill>
                <a:latin typeface="Consolas"/>
              </a:rPr>
              <a:t>  STOP : if (clk_cnt == FULL_BIT[CW-1:0]) begin</a:t>
            </a:r>
          </a:p>
          <a:p>
            <a:pPr algn="l">
              <a:lnSpc>
                <a:spcPct val="112000"/>
              </a:lnSpc>
            </a:pPr>
            <a:r>
              <a:rPr sz="900" b="0" i="0">
                <a:solidFill>
                  <a:srgbClr val="D8E4F0"/>
                </a:solidFill>
                <a:latin typeface="Consolas"/>
              </a:rPr>
              <a:t>           rx_data &lt;= shifter;  rx_valid &lt;= 1'b1;</a:t>
            </a:r>
          </a:p>
          <a:p>
            <a:pPr algn="l">
              <a:lnSpc>
                <a:spcPct val="112000"/>
              </a:lnSpc>
            </a:pPr>
            <a:r>
              <a:rPr sz="900" b="0" i="0">
                <a:solidFill>
                  <a:srgbClr val="D8E4F0"/>
                </a:solidFill>
                <a:latin typeface="Consolas"/>
              </a:rPr>
              <a:t>           frame_error &lt;= ~rx_sync;                   // stop bit must be high</a:t>
            </a:r>
          </a:p>
          <a:p>
            <a:pPr algn="l">
              <a:lnSpc>
                <a:spcPct val="112000"/>
              </a:lnSpc>
            </a:pPr>
            <a:r>
              <a:rPr sz="900" b="0" i="0">
                <a:solidFill>
                  <a:srgbClr val="D8E4F0"/>
                </a:solidFill>
                <a:latin typeface="Consolas"/>
              </a:rPr>
              <a:t>           state &lt;= IDLE;</a:t>
            </a:r>
          </a:p>
          <a:p>
            <a:pPr algn="l">
              <a:lnSpc>
                <a:spcPct val="112000"/>
              </a:lnSpc>
            </a:pPr>
            <a:r>
              <a:rPr sz="900" b="0" i="0">
                <a:solidFill>
                  <a:srgbClr val="D8E4F0"/>
                </a:solidFill>
                <a:latin typeface="Consolas"/>
              </a:rPr>
              <a:t>         end else clk_cnt &lt;= clk_cnt + 1'b1;</a:t>
            </a:r>
          </a:p>
          <a:p>
            <a:pPr algn="l">
              <a:lnSpc>
                <a:spcPct val="112000"/>
              </a:lnSpc>
            </a:pPr>
            <a:r>
              <a:rPr sz="900" b="0" i="0">
                <a:solidFill>
                  <a:srgbClr val="D8E4F0"/>
                </a:solidFill>
                <a:latin typeface="Consolas"/>
              </a:rPr>
              <a:t>endcase</a:t>
            </a:r>
          </a:p>
        </p:txBody>
      </p:sp>
      <p:sp>
        <p:nvSpPr>
          <p:cNvPr id="12" name="TextBox 11"/>
          <p:cNvSpPr txBox="1"/>
          <p:nvPr/>
        </p:nvSpPr>
        <p:spPr>
          <a:xfrm>
            <a:off x="411480" y="5413248"/>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Three separate registers hold the state: the FSM state (2 bits), the clock counter (CW bits) and the bit index (3 bits). Counting those, plus the shifter and outputs, is how you predict 36 flip-flops before you run the tool.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TOPIC 4C · CASE STUDY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Bug That Made Some Bytes Work and Others Not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64</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This is a genuine bug found while writing this lab, kept because it is better teaching material than anything invented. </a:t>
            </a:r>
            <a:r>
              <a:rPr sz="1100" b="0" i="0">
                <a:solidFill>
                  <a:srgbClr val="33414F"/>
                </a:solidFill>
                <a:latin typeface="Calibri"/>
              </a:rPr>
              <a:t>Read the symptom first and try to name the cause before turning to the next line.</a:t>
            </a:r>
          </a:p>
        </p:txBody>
      </p:sp>
      <p:sp>
        <p:nvSpPr>
          <p:cNvPr id="10" name="Rounded Rectangle 9"/>
          <p:cNvSpPr/>
          <p:nvPr/>
        </p:nvSpPr>
        <p:spPr>
          <a:xfrm>
            <a:off x="411480" y="1783080"/>
            <a:ext cx="11247120" cy="7315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11480" y="1783080"/>
            <a:ext cx="1737360" cy="731520"/>
          </a:xfrm>
          <a:prstGeom prst="roundRect">
            <a:avLst>
              <a:gd name="adj" fmla="val 5714"/>
            </a:avLst>
          </a:prstGeom>
          <a:solidFill>
            <a:srgbClr val="C01F4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 y="1783080"/>
            <a:ext cx="1737360" cy="7315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SYMPTOM</a:t>
            </a:r>
          </a:p>
        </p:txBody>
      </p:sp>
      <p:sp>
        <p:nvSpPr>
          <p:cNvPr id="13" name="TextBox 12"/>
          <p:cNvSpPr txBox="1"/>
          <p:nvPr/>
        </p:nvSpPr>
        <p:spPr>
          <a:xfrm>
            <a:off x="2331720" y="1828800"/>
            <a:ext cx="9144000" cy="6400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The loopback test passed for 0x00 and 0x55 but failed for 0xFF — which came back as 0xF7. One bit, in one pattern. Everything else about the design looked correct, and the transmitter was provably fine.</a:t>
            </a:r>
          </a:p>
        </p:txBody>
      </p:sp>
      <p:sp>
        <p:nvSpPr>
          <p:cNvPr id="14" name="Rounded Rectangle 13"/>
          <p:cNvSpPr/>
          <p:nvPr/>
        </p:nvSpPr>
        <p:spPr>
          <a:xfrm>
            <a:off x="411480" y="2560320"/>
            <a:ext cx="11247120" cy="7315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11480" y="2560320"/>
            <a:ext cx="1737360" cy="73152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1480" y="2560320"/>
            <a:ext cx="1737360" cy="7315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CAUSE</a:t>
            </a:r>
          </a:p>
        </p:txBody>
      </p:sp>
      <p:sp>
        <p:nvSpPr>
          <p:cNvPr id="17" name="TextBox 16"/>
          <p:cNvSpPr txBox="1"/>
          <p:nvPr/>
        </p:nvSpPr>
        <p:spPr>
          <a:xfrm>
            <a:off x="2331720" y="2606040"/>
            <a:ext cx="9144000" cy="6400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The bit-timing limits were written CLKS_PER_BIT[CW-1:0]. The testbench used CLKS_PER_BIT = 16 to keep runs short, so CW = $clog2(16) = 4 — and 16 does not fit in 4 bits. It truncated to ZERO. HALF_BIT became 0, so the receiver never waited half a bit and sampled on bit BOUNDARIES instead of bit centres.</a:t>
            </a:r>
          </a:p>
        </p:txBody>
      </p:sp>
      <p:sp>
        <p:nvSpPr>
          <p:cNvPr id="18" name="Rounded Rectangle 17"/>
          <p:cNvSpPr/>
          <p:nvPr/>
        </p:nvSpPr>
        <p:spPr>
          <a:xfrm>
            <a:off x="411480" y="3337560"/>
            <a:ext cx="11247120" cy="7315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11480" y="3337560"/>
            <a:ext cx="1737360" cy="731520"/>
          </a:xfrm>
          <a:prstGeom prst="roundRect">
            <a:avLst>
              <a:gd name="adj" fmla="val 5714"/>
            </a:avLst>
          </a:prstGeom>
          <a:solidFill>
            <a:srgbClr val="6B45A8"/>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11480" y="3337560"/>
            <a:ext cx="1737360" cy="7315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WHY SOME BYTES</a:t>
            </a:r>
          </a:p>
        </p:txBody>
      </p:sp>
      <p:sp>
        <p:nvSpPr>
          <p:cNvPr id="21" name="TextBox 20"/>
          <p:cNvSpPr txBox="1"/>
          <p:nvPr/>
        </p:nvSpPr>
        <p:spPr>
          <a:xfrm>
            <a:off x="2331720" y="3383280"/>
            <a:ext cx="9144000" cy="6400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Sampling on a boundary gives whichever value wins the race — which only matters when adjacent bits DIFFER. 0x00 and 0xFF-with-a-low-start-bit differ in different places, so some patterns survived and others did not. Intermittent, data-dependent failure: the worst kind.</a:t>
            </a:r>
          </a:p>
        </p:txBody>
      </p:sp>
      <p:sp>
        <p:nvSpPr>
          <p:cNvPr id="22" name="Rounded Rectangle 21"/>
          <p:cNvSpPr/>
          <p:nvPr/>
        </p:nvSpPr>
        <p:spPr>
          <a:xfrm>
            <a:off x="411480" y="4114800"/>
            <a:ext cx="11247120" cy="73152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11480" y="4114800"/>
            <a:ext cx="1737360" cy="73152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 y="4114800"/>
            <a:ext cx="1737360" cy="73152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FIX</a:t>
            </a:r>
          </a:p>
        </p:txBody>
      </p:sp>
      <p:sp>
        <p:nvSpPr>
          <p:cNvPr id="25" name="TextBox 24"/>
          <p:cNvSpPr txBox="1"/>
          <p:nvPr/>
        </p:nvSpPr>
        <p:spPr>
          <a:xfrm>
            <a:off x="2331720" y="4160520"/>
            <a:ext cx="9144000" cy="64008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Compute the limits as integers — localparam integer FULL_BIT = CLKS_PER_BIT - 1; — and slice them where they are USED. Verified at CLKS_PER_BIT = 16, 27 and 434. Verilator -Wall is clean on this form and flagged the alternatives.</a:t>
            </a:r>
          </a:p>
        </p:txBody>
      </p:sp>
      <p:sp>
        <p:nvSpPr>
          <p:cNvPr id="26" name="Rounded Rectangle 25"/>
          <p:cNvSpPr/>
          <p:nvPr/>
        </p:nvSpPr>
        <p:spPr>
          <a:xfrm>
            <a:off x="411480" y="4983480"/>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76072" y="50474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How it was actually caught, and what would have caught it sooner</a:t>
            </a:r>
          </a:p>
        </p:txBody>
      </p:sp>
      <p:sp>
        <p:nvSpPr>
          <p:cNvPr id="28" name="TextBox 27"/>
          <p:cNvSpPr txBox="1"/>
          <p:nvPr/>
        </p:nvSpPr>
        <p:spPr>
          <a:xfrm>
            <a:off x="576072" y="5321808"/>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was caught by the loopback testbench, which compares the received byte with the byte that was sent — in one second, with no waveform. It would have been caught EARLIER by </a:t>
            </a:r>
            <a:r>
              <a:rPr sz="1100" b="1" i="0">
                <a:solidFill>
                  <a:srgbClr val="2A9D5C"/>
                </a:solidFill>
                <a:latin typeface="Consolas"/>
              </a:rPr>
              <a:t>verilator --lint-only -Wall</a:t>
            </a:r>
            <a:r>
              <a:rPr sz="1100" b="0" i="0">
                <a:solidFill>
                  <a:srgbClr val="33414F"/>
                </a:solidFill>
                <a:latin typeface="Calibri"/>
              </a:rPr>
              <a:t>, which reports WIDTHTRUNC on exactly that expression. Lint costs a second; this bug cost an hour.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4C · CASE STUDY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Those Two Bugs Actually Teach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65</a:t>
            </a:r>
          </a:p>
        </p:txBody>
      </p:sp>
      <p:sp>
        <p:nvSpPr>
          <p:cNvPr id="9" name="Rounded Rectangle 8"/>
          <p:cNvSpPr/>
          <p:nvPr/>
        </p:nvSpPr>
        <p:spPr>
          <a:xfrm>
            <a:off x="411480" y="1143000"/>
            <a:ext cx="5532120" cy="25603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Bug 1 — width truncation in the UART</a:t>
            </a:r>
          </a:p>
        </p:txBody>
      </p:sp>
      <p:sp>
        <p:nvSpPr>
          <p:cNvPr id="11" name="TextBox 10"/>
          <p:cNvSpPr txBox="1"/>
          <p:nvPr/>
        </p:nvSpPr>
        <p:spPr>
          <a:xfrm>
            <a:off x="548640" y="1481328"/>
            <a:ext cx="5257800" cy="2157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A parameter used as an INDEX RANGE is not the same as a parameter used as a VALUE. Slicing a value that does not fit destroys it silently.</a:t>
            </a:r>
          </a:p>
          <a:p>
            <a:pPr algn="l">
              <a:lnSpc>
                <a:spcPct val="103000"/>
              </a:lnSpc>
              <a:spcAft>
                <a:spcPts val="400"/>
              </a:spcAft>
            </a:pPr>
            <a:r>
              <a:rPr sz="1050" b="1" i="0">
                <a:solidFill>
                  <a:srgbClr val="0E2A47"/>
                </a:solidFill>
                <a:latin typeface="Calibri"/>
              </a:rPr>
              <a:t>· Test at more than one parameter value. </a:t>
            </a:r>
            <a:r>
              <a:rPr sz="1050" b="0" i="0">
                <a:solidFill>
                  <a:srgbClr val="33414F"/>
                </a:solidFill>
                <a:latin typeface="Calibri"/>
              </a:rPr>
              <a:t>At 434 the bug is invisible, because 434 needs 9 bits and CW is 9. Only the short test value exposed it.</a:t>
            </a:r>
          </a:p>
          <a:p>
            <a:pPr algn="l">
              <a:lnSpc>
                <a:spcPct val="103000"/>
              </a:lnSpc>
              <a:spcAft>
                <a:spcPts val="400"/>
              </a:spcAft>
            </a:pPr>
            <a:r>
              <a:rPr sz="1050" b="1" i="0">
                <a:solidFill>
                  <a:srgbClr val="2A9D5C"/>
                </a:solidFill>
                <a:latin typeface="Calibri"/>
              </a:rPr>
              <a:t>· Verilator would have said WIDTHTRUNC. Lint first, always.</a:t>
            </a:r>
          </a:p>
        </p:txBody>
      </p:sp>
      <p:sp>
        <p:nvSpPr>
          <p:cNvPr id="12" name="Rounded Rectangle 11"/>
          <p:cNvSpPr/>
          <p:nvPr/>
        </p:nvSpPr>
        <p:spPr>
          <a:xfrm>
            <a:off x="6126480" y="1143000"/>
            <a:ext cx="5532120" cy="2560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Bug 2 — state timing in the vending machine</a:t>
            </a:r>
          </a:p>
        </p:txBody>
      </p:sp>
      <p:sp>
        <p:nvSpPr>
          <p:cNvPr id="14" name="TextBox 13"/>
          <p:cNvSpPr txBox="1"/>
          <p:nvPr/>
        </p:nvSpPr>
        <p:spPr>
          <a:xfrm>
            <a:off x="6263640" y="1481328"/>
            <a:ext cx="5257800" cy="2157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The credit register was cleared as the FSM ENTERED the DISPENSE state, so the output logic — which needs the credit to compute change — saw zero.</a:t>
            </a:r>
          </a:p>
          <a:p>
            <a:pPr algn="l">
              <a:lnSpc>
                <a:spcPct val="103000"/>
              </a:lnSpc>
              <a:spcAft>
                <a:spcPts val="400"/>
              </a:spcAft>
            </a:pPr>
            <a:r>
              <a:rPr sz="1050" b="1" i="0">
                <a:solidFill>
                  <a:srgbClr val="0E2A47"/>
                </a:solidFill>
                <a:latin typeface="Calibri"/>
              </a:rPr>
              <a:t>· The fix is to clear it as the machine LEAVES that state.</a:t>
            </a:r>
          </a:p>
          <a:p>
            <a:pPr algn="l">
              <a:lnSpc>
                <a:spcPct val="103000"/>
              </a:lnSpc>
              <a:spcAft>
                <a:spcPts val="400"/>
              </a:spcAft>
            </a:pPr>
            <a:r>
              <a:rPr sz="1050" b="1" i="0">
                <a:solidFill>
                  <a:srgbClr val="2A9D5C"/>
                </a:solidFill>
                <a:latin typeface="Calibri"/>
              </a:rPr>
              <a:t>· Lesson: in a Moore machine the outputs are computed FROM the state you are in. Anything that state's outputs depend on must still be valid while you are in it.</a:t>
            </a:r>
          </a:p>
        </p:txBody>
      </p:sp>
      <p:sp>
        <p:nvSpPr>
          <p:cNvPr id="15" name="Rounded Rectangle 14"/>
          <p:cNvSpPr/>
          <p:nvPr/>
        </p:nvSpPr>
        <p:spPr>
          <a:xfrm>
            <a:off x="411480" y="3794760"/>
            <a:ext cx="11247120" cy="868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385876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meta-lesson worth stating out loud to the class</a:t>
            </a:r>
          </a:p>
        </p:txBody>
      </p:sp>
      <p:sp>
        <p:nvSpPr>
          <p:cNvPr id="17" name="TextBox 16"/>
          <p:cNvSpPr txBox="1"/>
          <p:nvPr/>
        </p:nvSpPr>
        <p:spPr>
          <a:xfrm>
            <a:off x="576072" y="413308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Both bugs were found by a self-checking testbench, in seconds, and both would have been nearly impossible to find by looking at waveforms alone. </a:t>
            </a:r>
            <a:r>
              <a:rPr sz="1100" b="0" i="0">
                <a:solidFill>
                  <a:srgbClr val="33414F"/>
                </a:solidFill>
                <a:latin typeface="Calibri"/>
              </a:rPr>
              <a:t>Neither was a syntax error; both compiled and simulated cleanly. This is what verification is FOR.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0E2A47"/>
                </a:solidFill>
                <a:latin typeface="Calibri"/>
              </a:rPr>
              <a:t>TOPIC 4 · TOOLS</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Software Tools — Installation and Flow</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syllabus specifies Vivado Design Suite and ModelSim. The open-source chain does the same jobs and runs on any laptop.</a:t>
            </a:r>
          </a:p>
        </p:txBody>
      </p:sp>
      <p:sp>
        <p:nvSpPr>
          <p:cNvPr id="6" name="Rectangle 5"/>
          <p:cNvSpPr/>
          <p:nvPr/>
        </p:nvSpPr>
        <p:spPr>
          <a:xfrm>
            <a:off x="640080" y="394106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What each tool does, and which one to reach for first</a:t>
            </a:r>
          </a:p>
        </p:txBody>
      </p:sp>
      <p:sp>
        <p:nvSpPr>
          <p:cNvPr id="8" name="Rectangle 7"/>
          <p:cNvSpPr/>
          <p:nvPr/>
        </p:nvSpPr>
        <p:spPr>
          <a:xfrm>
            <a:off x="640080" y="435254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Installing the open-source chain — Linux, WSL2, macOS</a:t>
            </a:r>
          </a:p>
        </p:txBody>
      </p:sp>
      <p:sp>
        <p:nvSpPr>
          <p:cNvPr id="10" name="Rectangle 9"/>
          <p:cNvSpPr/>
          <p:nvPr/>
        </p:nvSpPr>
        <p:spPr>
          <a:xfrm>
            <a:off x="640080" y="476402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Installing and driving Vivado Design Suite</a:t>
            </a:r>
          </a:p>
        </p:txBody>
      </p:sp>
      <p:sp>
        <p:nvSpPr>
          <p:cNvPr id="12" name="Rectangle 11"/>
          <p:cNvSpPr/>
          <p:nvPr/>
        </p:nvSpPr>
        <p:spPr>
          <a:xfrm>
            <a:off x="640080" y="517550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Installing and driving ModelSim / Questa</a:t>
            </a:r>
          </a:p>
        </p:txBody>
      </p:sp>
      <p:sp>
        <p:nvSpPr>
          <p:cNvPr id="14" name="Rectangle 13"/>
          <p:cNvSpPr/>
          <p:nvPr/>
        </p:nvSpPr>
        <p:spPr>
          <a:xfrm>
            <a:off x="640080" y="558698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 one-page command reference to keep beside the keyboard</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TOOLS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Jobs, Several Tools for Each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67</a:t>
            </a:r>
          </a:p>
        </p:txBody>
      </p:sp>
      <p:sp>
        <p:nvSpPr>
          <p:cNvPr id="9" name="TextBox 8"/>
          <p:cNvSpPr txBox="1"/>
          <p:nvPr/>
        </p:nvSpPr>
        <p:spPr>
          <a:xfrm>
            <a:off x="411480" y="1143000"/>
            <a:ext cx="11247120" cy="50292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Every flow does the same four jobs. </a:t>
            </a:r>
            <a:r>
              <a:rPr sz="1100" b="0" i="0">
                <a:solidFill>
                  <a:srgbClr val="33414F"/>
                </a:solidFill>
                <a:latin typeface="Calibri"/>
              </a:rPr>
              <a:t>Only the command names change. Learn the jobs and moving between vendors becomes a morning's work rather than a new skill.</a:t>
            </a:r>
          </a:p>
        </p:txBody>
      </p:sp>
      <p:pic>
        <p:nvPicPr>
          <p:cNvPr id="10" name="Picture 9" descr="toolchains.png"/>
          <p:cNvPicPr>
            <a:picLocks noChangeAspect="1"/>
          </p:cNvPicPr>
          <p:nvPr/>
        </p:nvPicPr>
        <p:blipFill>
          <a:blip r:embed="rId2"/>
          <a:stretch>
            <a:fillRect/>
          </a:stretch>
        </p:blipFill>
        <p:spPr>
          <a:xfrm>
            <a:off x="2366889" y="1691640"/>
            <a:ext cx="7336302" cy="3200400"/>
          </a:xfrm>
          <a:prstGeom prst="rect">
            <a:avLst/>
          </a:prstGeom>
        </p:spPr>
      </p:pic>
      <p:sp>
        <p:nvSpPr>
          <p:cNvPr id="11" name="Rectangle 10"/>
          <p:cNvSpPr/>
          <p:nvPr/>
        </p:nvSpPr>
        <p:spPr>
          <a:xfrm>
            <a:off x="411480" y="4983480"/>
            <a:ext cx="219456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4983480"/>
            <a:ext cx="210312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Job</a:t>
            </a:r>
          </a:p>
        </p:txBody>
      </p:sp>
      <p:sp>
        <p:nvSpPr>
          <p:cNvPr id="13" name="Rectangle 12"/>
          <p:cNvSpPr/>
          <p:nvPr/>
        </p:nvSpPr>
        <p:spPr>
          <a:xfrm>
            <a:off x="2606040" y="498348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651760" y="4983480"/>
            <a:ext cx="28346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Open-source</a:t>
            </a:r>
          </a:p>
        </p:txBody>
      </p:sp>
      <p:sp>
        <p:nvSpPr>
          <p:cNvPr id="15" name="Rectangle 14"/>
          <p:cNvSpPr/>
          <p:nvPr/>
        </p:nvSpPr>
        <p:spPr>
          <a:xfrm>
            <a:off x="5532120" y="498348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577840" y="4983480"/>
            <a:ext cx="28346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Vendor (syllabus)</a:t>
            </a:r>
          </a:p>
        </p:txBody>
      </p:sp>
      <p:sp>
        <p:nvSpPr>
          <p:cNvPr id="17" name="Rectangle 16"/>
          <p:cNvSpPr/>
          <p:nvPr/>
        </p:nvSpPr>
        <p:spPr>
          <a:xfrm>
            <a:off x="8458200" y="4983480"/>
            <a:ext cx="32004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503920" y="4983480"/>
            <a:ext cx="310896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tells you</a:t>
            </a:r>
          </a:p>
        </p:txBody>
      </p:sp>
      <p:sp>
        <p:nvSpPr>
          <p:cNvPr id="19" name="Rectangle 18"/>
          <p:cNvSpPr/>
          <p:nvPr/>
        </p:nvSpPr>
        <p:spPr>
          <a:xfrm>
            <a:off x="411480" y="5312664"/>
            <a:ext cx="2194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5312664"/>
            <a:ext cx="21031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Lint / static check</a:t>
            </a:r>
          </a:p>
        </p:txBody>
      </p:sp>
      <p:sp>
        <p:nvSpPr>
          <p:cNvPr id="21" name="Rectangle 20"/>
          <p:cNvSpPr/>
          <p:nvPr/>
        </p:nvSpPr>
        <p:spPr>
          <a:xfrm>
            <a:off x="2606040" y="531266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51760" y="5312664"/>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Verilator --lint-only</a:t>
            </a:r>
          </a:p>
        </p:txBody>
      </p:sp>
      <p:sp>
        <p:nvSpPr>
          <p:cNvPr id="23" name="Rectangle 22"/>
          <p:cNvSpPr/>
          <p:nvPr/>
        </p:nvSpPr>
        <p:spPr>
          <a:xfrm>
            <a:off x="5532120" y="531266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577840" y="5312664"/>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Vivado report_methodology</a:t>
            </a:r>
          </a:p>
        </p:txBody>
      </p:sp>
      <p:sp>
        <p:nvSpPr>
          <p:cNvPr id="25" name="Rectangle 24"/>
          <p:cNvSpPr/>
          <p:nvPr/>
        </p:nvSpPr>
        <p:spPr>
          <a:xfrm>
            <a:off x="8458200" y="5312664"/>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503920" y="5312664"/>
            <a:ext cx="31089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Width bugs, latches, unused signals — in one second</a:t>
            </a:r>
          </a:p>
        </p:txBody>
      </p:sp>
      <p:sp>
        <p:nvSpPr>
          <p:cNvPr id="27" name="Rectangle 26"/>
          <p:cNvSpPr/>
          <p:nvPr/>
        </p:nvSpPr>
        <p:spPr>
          <a:xfrm>
            <a:off x="411480" y="5641848"/>
            <a:ext cx="2194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5641848"/>
            <a:ext cx="21031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Simulate</a:t>
            </a:r>
          </a:p>
        </p:txBody>
      </p:sp>
      <p:sp>
        <p:nvSpPr>
          <p:cNvPr id="29" name="Rectangle 28"/>
          <p:cNvSpPr/>
          <p:nvPr/>
        </p:nvSpPr>
        <p:spPr>
          <a:xfrm>
            <a:off x="2606040" y="564184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651760" y="5641848"/>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Icarus Verilog (iverilog/vvp)</a:t>
            </a:r>
          </a:p>
        </p:txBody>
      </p:sp>
      <p:sp>
        <p:nvSpPr>
          <p:cNvPr id="31" name="Rectangle 30"/>
          <p:cNvSpPr/>
          <p:nvPr/>
        </p:nvSpPr>
        <p:spPr>
          <a:xfrm>
            <a:off x="5532120" y="564184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0" y="5641848"/>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ModelSim, Questa, Vivado xsim</a:t>
            </a:r>
          </a:p>
        </p:txBody>
      </p:sp>
      <p:sp>
        <p:nvSpPr>
          <p:cNvPr id="33" name="Rectangle 32"/>
          <p:cNvSpPr/>
          <p:nvPr/>
        </p:nvSpPr>
        <p:spPr>
          <a:xfrm>
            <a:off x="8458200" y="5641848"/>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03920" y="5641848"/>
            <a:ext cx="31089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Does it behave correctly?</a:t>
            </a:r>
          </a:p>
        </p:txBody>
      </p:sp>
      <p:sp>
        <p:nvSpPr>
          <p:cNvPr id="35" name="Rectangle 34"/>
          <p:cNvSpPr/>
          <p:nvPr/>
        </p:nvSpPr>
        <p:spPr>
          <a:xfrm>
            <a:off x="411480" y="5971032"/>
            <a:ext cx="2194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 y="5971032"/>
            <a:ext cx="21031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View waveforms</a:t>
            </a:r>
          </a:p>
        </p:txBody>
      </p:sp>
      <p:sp>
        <p:nvSpPr>
          <p:cNvPr id="37" name="Rectangle 36"/>
          <p:cNvSpPr/>
          <p:nvPr/>
        </p:nvSpPr>
        <p:spPr>
          <a:xfrm>
            <a:off x="2606040" y="597103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651760" y="5971032"/>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GTKWave</a:t>
            </a:r>
          </a:p>
        </p:txBody>
      </p:sp>
      <p:sp>
        <p:nvSpPr>
          <p:cNvPr id="39" name="Rectangle 38"/>
          <p:cNvSpPr/>
          <p:nvPr/>
        </p:nvSpPr>
        <p:spPr>
          <a:xfrm>
            <a:off x="5532120" y="597103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577840" y="5971032"/>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ModelSim wave window, Vivado sim</a:t>
            </a:r>
          </a:p>
        </p:txBody>
      </p:sp>
      <p:sp>
        <p:nvSpPr>
          <p:cNvPr id="41" name="Rectangle 40"/>
          <p:cNvSpPr/>
          <p:nvPr/>
        </p:nvSpPr>
        <p:spPr>
          <a:xfrm>
            <a:off x="8458200" y="5971032"/>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503920" y="5971032"/>
            <a:ext cx="31089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Where and when it went wrong</a:t>
            </a:r>
          </a:p>
        </p:txBody>
      </p:sp>
      <p:sp>
        <p:nvSpPr>
          <p:cNvPr id="43" name="Rectangle 42"/>
          <p:cNvSpPr/>
          <p:nvPr/>
        </p:nvSpPr>
        <p:spPr>
          <a:xfrm>
            <a:off x="411480" y="6300216"/>
            <a:ext cx="2194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57200" y="6300216"/>
            <a:ext cx="210312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Synthesise</a:t>
            </a:r>
          </a:p>
        </p:txBody>
      </p:sp>
      <p:sp>
        <p:nvSpPr>
          <p:cNvPr id="45" name="Rectangle 44"/>
          <p:cNvSpPr/>
          <p:nvPr/>
        </p:nvSpPr>
        <p:spPr>
          <a:xfrm>
            <a:off x="2606040" y="630021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651760" y="6300216"/>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Yosys</a:t>
            </a:r>
          </a:p>
        </p:txBody>
      </p:sp>
      <p:sp>
        <p:nvSpPr>
          <p:cNvPr id="47" name="Rectangle 46"/>
          <p:cNvSpPr/>
          <p:nvPr/>
        </p:nvSpPr>
        <p:spPr>
          <a:xfrm>
            <a:off x="5532120" y="630021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577840" y="6300216"/>
            <a:ext cx="28346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Vivado synth_design</a:t>
            </a:r>
          </a:p>
        </p:txBody>
      </p:sp>
      <p:sp>
        <p:nvSpPr>
          <p:cNvPr id="49" name="Rectangle 48"/>
          <p:cNvSpPr/>
          <p:nvPr/>
        </p:nvSpPr>
        <p:spPr>
          <a:xfrm>
            <a:off x="8458200" y="6300216"/>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503920" y="6300216"/>
            <a:ext cx="310896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What hardware it becomes; area; latch warnings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Open-Source Toolchain — Every Command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68</a:t>
            </a:r>
          </a:p>
        </p:txBody>
      </p:sp>
      <p:sp>
        <p:nvSpPr>
          <p:cNvPr id="9" name="Rounded Rectangle 8"/>
          <p:cNvSpPr/>
          <p:nvPr/>
        </p:nvSpPr>
        <p:spPr>
          <a:xfrm>
            <a:off x="411480" y="1143000"/>
            <a:ext cx="11247120" cy="371703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Copy-paste installation</a:t>
            </a:r>
          </a:p>
        </p:txBody>
      </p:sp>
      <p:sp>
        <p:nvSpPr>
          <p:cNvPr id="11" name="TextBox 10"/>
          <p:cNvSpPr txBox="1"/>
          <p:nvPr/>
        </p:nvSpPr>
        <p:spPr>
          <a:xfrm>
            <a:off x="594360" y="1531620"/>
            <a:ext cx="10881360" cy="3214116"/>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 Ubuntu / Debian / WSL2 -------------------------------------------</a:t>
            </a:r>
          </a:p>
          <a:p>
            <a:pPr algn="l">
              <a:lnSpc>
                <a:spcPct val="112000"/>
              </a:lnSpc>
            </a:pPr>
            <a:r>
              <a:rPr sz="950" b="0" i="0">
                <a:solidFill>
                  <a:srgbClr val="D8E4F0"/>
                </a:solidFill>
                <a:latin typeface="Consolas"/>
              </a:rPr>
              <a:t>sudo apt update</a:t>
            </a:r>
          </a:p>
          <a:p>
            <a:pPr algn="l">
              <a:lnSpc>
                <a:spcPct val="112000"/>
              </a:lnSpc>
            </a:pPr>
            <a:r>
              <a:rPr sz="950" b="0" i="0">
                <a:solidFill>
                  <a:srgbClr val="D8E4F0"/>
                </a:solidFill>
                <a:latin typeface="Consolas"/>
              </a:rPr>
              <a:t>sudo apt install -y iverilog gtkwave verilator yosys graphviz</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 macOS (Homebrew) --------------------------------------------------</a:t>
            </a:r>
          </a:p>
          <a:p>
            <a:pPr algn="l">
              <a:lnSpc>
                <a:spcPct val="112000"/>
              </a:lnSpc>
            </a:pPr>
            <a:r>
              <a:rPr sz="950" b="0" i="0">
                <a:solidFill>
                  <a:srgbClr val="D8E4F0"/>
                </a:solidFill>
                <a:latin typeface="Consolas"/>
              </a:rPr>
              <a:t>brew install icarus-verilog gtkwave verilator yosys graphviz</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 Windows -----------------------------------------------------------</a:t>
            </a:r>
          </a:p>
          <a:p>
            <a:pPr algn="l">
              <a:lnSpc>
                <a:spcPct val="112000"/>
              </a:lnSpc>
            </a:pPr>
            <a:r>
              <a:rPr sz="950" b="0" i="0">
                <a:solidFill>
                  <a:srgbClr val="D8E4F0"/>
                </a:solidFill>
                <a:latin typeface="Consolas"/>
              </a:rPr>
              <a:t>#  Best:  install WSL2 (wsl --install in an admin PowerShell), then use</a:t>
            </a:r>
          </a:p>
          <a:p>
            <a:pPr algn="l">
              <a:lnSpc>
                <a:spcPct val="112000"/>
              </a:lnSpc>
            </a:pPr>
            <a:r>
              <a:rPr sz="950" b="0" i="0">
                <a:solidFill>
                  <a:srgbClr val="D8E4F0"/>
                </a:solidFill>
                <a:latin typeface="Consolas"/>
              </a:rPr>
              <a:t>#         the Ubuntu commands above inside it.</a:t>
            </a:r>
          </a:p>
          <a:p>
            <a:pPr algn="l">
              <a:lnSpc>
                <a:spcPct val="112000"/>
              </a:lnSpc>
            </a:pPr>
            <a:r>
              <a:rPr sz="950" b="0" i="0">
                <a:solidFill>
                  <a:srgbClr val="D8E4F0"/>
                </a:solidFill>
                <a:latin typeface="Consolas"/>
              </a:rPr>
              <a:t>#  Or:    download the OSS CAD Suite release for Windows, unzip it, and</a:t>
            </a:r>
          </a:p>
          <a:p>
            <a:pPr algn="l">
              <a:lnSpc>
                <a:spcPct val="112000"/>
              </a:lnSpc>
            </a:pPr>
            <a:r>
              <a:rPr sz="950" b="0" i="0">
                <a:solidFill>
                  <a:srgbClr val="D8E4F0"/>
                </a:solidFill>
                <a:latin typeface="Consolas"/>
              </a:rPr>
              <a:t>#         run its start.bat -- it contains all four tools, already built.</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 verify the installation -------------------------------------------</a:t>
            </a:r>
          </a:p>
          <a:p>
            <a:pPr algn="l">
              <a:lnSpc>
                <a:spcPct val="112000"/>
              </a:lnSpc>
            </a:pPr>
            <a:r>
              <a:rPr sz="950" b="0" i="0">
                <a:solidFill>
                  <a:srgbClr val="D8E4F0"/>
                </a:solidFill>
                <a:latin typeface="Consolas"/>
              </a:rPr>
              <a:t>iverilog -V | head -1        # Icarus Verilog version 12.0</a:t>
            </a:r>
          </a:p>
          <a:p>
            <a:pPr algn="l">
              <a:lnSpc>
                <a:spcPct val="112000"/>
              </a:lnSpc>
            </a:pPr>
            <a:r>
              <a:rPr sz="950" b="0" i="0">
                <a:solidFill>
                  <a:srgbClr val="D8E4F0"/>
                </a:solidFill>
                <a:latin typeface="Consolas"/>
              </a:rPr>
              <a:t>verilator --version          # Verilator 5.020</a:t>
            </a:r>
          </a:p>
          <a:p>
            <a:pPr algn="l">
              <a:lnSpc>
                <a:spcPct val="112000"/>
              </a:lnSpc>
            </a:pPr>
            <a:r>
              <a:rPr sz="950" b="0" i="0">
                <a:solidFill>
                  <a:srgbClr val="D8E4F0"/>
                </a:solidFill>
                <a:latin typeface="Consolas"/>
              </a:rPr>
              <a:t>yosys -V                     # Yosys 0.33</a:t>
            </a:r>
          </a:p>
          <a:p>
            <a:pPr algn="l">
              <a:lnSpc>
                <a:spcPct val="112000"/>
              </a:lnSpc>
            </a:pPr>
            <a:r>
              <a:rPr sz="950" b="0" i="0">
                <a:solidFill>
                  <a:srgbClr val="D8E4F0"/>
                </a:solidFill>
                <a:latin typeface="Consolas"/>
              </a:rPr>
              <a:t>gtkwave --version</a:t>
            </a:r>
          </a:p>
        </p:txBody>
      </p:sp>
      <p:sp>
        <p:nvSpPr>
          <p:cNvPr id="12" name="Rounded Rectangle 11"/>
          <p:cNvSpPr/>
          <p:nvPr/>
        </p:nvSpPr>
        <p:spPr>
          <a:xfrm>
            <a:off x="411480" y="4951476"/>
            <a:ext cx="11247120" cy="9601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5015484"/>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GTKWave on WSL2</a:t>
            </a:r>
          </a:p>
        </p:txBody>
      </p:sp>
      <p:sp>
        <p:nvSpPr>
          <p:cNvPr id="14" name="TextBox 13"/>
          <p:cNvSpPr txBox="1"/>
          <p:nvPr/>
        </p:nvSpPr>
        <p:spPr>
          <a:xfrm>
            <a:off x="576072" y="5289804"/>
            <a:ext cx="10917936" cy="5577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GTKWave is a GUI. On Windows 11, WSLg runs Linux GUI applications with no extra setup — just type </a:t>
            </a:r>
            <a:r>
              <a:rPr sz="1100" b="1" i="0">
                <a:solidFill>
                  <a:srgbClr val="2A9D5C"/>
                </a:solidFill>
                <a:latin typeface="Consolas"/>
              </a:rPr>
              <a:t>gtkwave dump.vcd</a:t>
            </a:r>
            <a:r>
              <a:rPr sz="1100" b="0" i="0">
                <a:solidFill>
                  <a:srgbClr val="33414F"/>
                </a:solidFill>
                <a:latin typeface="Calibri"/>
              </a:rPr>
              <a:t>. On Windows 10 you need an X server (VcXsrv) and </a:t>
            </a:r>
            <a:r>
              <a:rPr sz="1100" b="1" i="0">
                <a:solidFill>
                  <a:srgbClr val="0E2A47"/>
                </a:solidFill>
                <a:latin typeface="Consolas"/>
              </a:rPr>
              <a:t>export DISPLAY=:0</a:t>
            </a:r>
            <a:r>
              <a:rPr sz="1100" b="0" i="0">
                <a:solidFill>
                  <a:srgbClr val="33414F"/>
                </a:solidFill>
                <a:latin typeface="Calibri"/>
              </a:rPr>
              <a:t>, or simply install the native Windows GTKWave and open the .vcd file the WSL side wrote.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TOOLS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Driving the Open-Source Chain — Four Commands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69</a:t>
            </a:r>
          </a:p>
        </p:txBody>
      </p:sp>
      <p:sp>
        <p:nvSpPr>
          <p:cNvPr id="9" name="Rounded Rectangle 8"/>
          <p:cNvSpPr/>
          <p:nvPr/>
        </p:nvSpPr>
        <p:spPr>
          <a:xfrm>
            <a:off x="411480" y="1143000"/>
            <a:ext cx="11247120" cy="353847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 — these exact commands were used to verify this material</a:t>
            </a:r>
          </a:p>
        </p:txBody>
      </p:sp>
      <p:sp>
        <p:nvSpPr>
          <p:cNvPr id="11" name="TextBox 10"/>
          <p:cNvSpPr txBox="1"/>
          <p:nvPr/>
        </p:nvSpPr>
        <p:spPr>
          <a:xfrm>
            <a:off x="594360" y="1531620"/>
            <a:ext cx="10881360" cy="3035554"/>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1. LINT -- one second, run it before anything else</a:t>
            </a:r>
          </a:p>
          <a:p>
            <a:pPr algn="l">
              <a:lnSpc>
                <a:spcPct val="112000"/>
              </a:lnSpc>
            </a:pPr>
            <a:r>
              <a:rPr sz="950" b="0" i="0">
                <a:solidFill>
                  <a:srgbClr val="D8E4F0"/>
                </a:solidFill>
                <a:latin typeface="Consolas"/>
              </a:rPr>
              <a:t>verilator --lint-only -Wall -Wno-DECLFILENAME rtl/*.v</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2. COMPILE + SIMULATE</a:t>
            </a:r>
          </a:p>
          <a:p>
            <a:pPr algn="l">
              <a:lnSpc>
                <a:spcPct val="112000"/>
              </a:lnSpc>
            </a:pPr>
            <a:r>
              <a:rPr sz="950" b="0" i="0">
                <a:solidFill>
                  <a:srgbClr val="D8E4F0"/>
                </a:solidFill>
                <a:latin typeface="Consolas"/>
              </a:rPr>
              <a:t>iverilog -g2005 -Wall -o build/sim.vvp rtl/uart_tx.v rtl/uart_rx.v \</a:t>
            </a:r>
          </a:p>
          <a:p>
            <a:pPr algn="l">
              <a:lnSpc>
                <a:spcPct val="112000"/>
              </a:lnSpc>
            </a:pPr>
            <a:r>
              <a:rPr sz="950" b="0" i="0">
                <a:solidFill>
                  <a:srgbClr val="D8E4F0"/>
                </a:solidFill>
                <a:latin typeface="Consolas"/>
              </a:rPr>
              <a:t>         rtl/synchroniser.v tb/tb_uart.v</a:t>
            </a:r>
          </a:p>
          <a:p>
            <a:pPr algn="l">
              <a:lnSpc>
                <a:spcPct val="112000"/>
              </a:lnSpc>
            </a:pPr>
            <a:r>
              <a:rPr sz="950" b="0" i="0">
                <a:solidFill>
                  <a:srgbClr val="D8E4F0"/>
                </a:solidFill>
                <a:latin typeface="Consolas"/>
              </a:rPr>
              <a:t>vvp build/sim.vvp                       # prints PASS or FAIL</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3. VIEW WAVEFORMS  (the testbench must call $dumpfile/$dumpvars)</a:t>
            </a:r>
          </a:p>
          <a:p>
            <a:pPr algn="l">
              <a:lnSpc>
                <a:spcPct val="112000"/>
              </a:lnSpc>
            </a:pPr>
            <a:r>
              <a:rPr sz="950" b="0" i="0">
                <a:solidFill>
                  <a:srgbClr val="D8E4F0"/>
                </a:solidFill>
                <a:latin typeface="Consolas"/>
              </a:rPr>
              <a:t>gtkwave uart.vcd &amp;</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4. SYNTHESISE and look for latches</a:t>
            </a:r>
          </a:p>
          <a:p>
            <a:pPr algn="l">
              <a:lnSpc>
                <a:spcPct val="112000"/>
              </a:lnSpc>
            </a:pPr>
            <a:r>
              <a:rPr sz="950" b="0" i="0">
                <a:solidFill>
                  <a:srgbClr val="D8E4F0"/>
                </a:solidFill>
                <a:latin typeface="Consolas"/>
              </a:rPr>
              <a:t>yosys -p "read_verilog rtl/counter.v; synth -top counter; stat"</a:t>
            </a:r>
          </a:p>
          <a:p>
            <a:pPr algn="l">
              <a:lnSpc>
                <a:spcPct val="112000"/>
              </a:lnSpc>
            </a:pPr>
            <a:r>
              <a:rPr sz="950" b="0" i="0">
                <a:solidFill>
                  <a:srgbClr val="D8E4F0"/>
                </a:solidFill>
                <a:latin typeface="Consolas"/>
              </a:rPr>
              <a:t>yosys -p "read_verilog rtl/counter.v; synth -top counter" 2&gt;&amp;1 | grep -i latch</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 or just use the scripts, which do all of the above for every lab</a:t>
            </a:r>
          </a:p>
          <a:p>
            <a:pPr algn="l">
              <a:lnSpc>
                <a:spcPct val="112000"/>
              </a:lnSpc>
            </a:pPr>
            <a:r>
              <a:rPr sz="950" b="0" i="0">
                <a:solidFill>
                  <a:srgbClr val="D8E4F0"/>
                </a:solidFill>
                <a:latin typeface="Consolas"/>
              </a:rPr>
              <a:t>./scripts/lint.sh   &amp;&amp;  ./scripts/run_all.sh  &amp;&amp;  ./scripts/synth_all.sh</a:t>
            </a:r>
          </a:p>
        </p:txBody>
      </p:sp>
      <p:sp>
        <p:nvSpPr>
          <p:cNvPr id="12" name="TextBox 11"/>
          <p:cNvSpPr txBox="1"/>
          <p:nvPr/>
        </p:nvSpPr>
        <p:spPr>
          <a:xfrm>
            <a:off x="411480" y="4727194"/>
            <a:ext cx="11247120" cy="274320"/>
          </a:xfrm>
          <a:prstGeom prst="rect">
            <a:avLst/>
          </a:prstGeom>
          <a:noFill/>
        </p:spPr>
        <p:txBody>
          <a:bodyPr wrap="square" lIns="0" rIns="0" tIns="0" bIns="0" anchor="t">
            <a:spAutoFit/>
          </a:bodyPr>
          <a:lstStyle/>
          <a:p>
            <a:pPr algn="l">
              <a:lnSpc>
                <a:spcPct val="103000"/>
              </a:lnSpc>
            </a:pPr>
            <a:r>
              <a:rPr sz="1050" b="1" i="0">
                <a:solidFill>
                  <a:srgbClr val="0E2A47"/>
                </a:solidFill>
                <a:latin typeface="Calibri"/>
              </a:rPr>
              <a:t>Expected output: </a:t>
            </a:r>
            <a:r>
              <a:rPr sz="1050" b="1" i="0">
                <a:solidFill>
                  <a:srgbClr val="2A9D5C"/>
                </a:solidFill>
                <a:latin typeface="Consolas"/>
              </a:rPr>
              <a:t>LINT CLEAN</a:t>
            </a:r>
            <a:r>
              <a:rPr sz="1050" b="0" i="0">
                <a:solidFill>
                  <a:srgbClr val="33414F"/>
                </a:solidFill>
                <a:latin typeface="Calibri"/>
              </a:rPr>
              <a:t>  ·  </a:t>
            </a:r>
            <a:r>
              <a:rPr sz="1050" b="1" i="0">
                <a:solidFill>
                  <a:srgbClr val="2A9D5C"/>
                </a:solidFill>
                <a:latin typeface="Consolas"/>
              </a:rPr>
              <a:t>ALL LABS PASSED</a:t>
            </a:r>
            <a:r>
              <a:rPr sz="1050" b="0" i="0">
                <a:solidFill>
                  <a:srgbClr val="33414F"/>
                </a:solidFill>
                <a:latin typeface="Calibri"/>
              </a:rPr>
              <a:t>  ·  </a:t>
            </a:r>
            <a:r>
              <a:rPr sz="1050" b="1" i="0">
                <a:solidFill>
                  <a:srgbClr val="2A9D5C"/>
                </a:solidFill>
                <a:latin typeface="Consolas"/>
              </a:rPr>
              <a:t>ALL DESIGNS SYNTHESISED, NO LATCHES INFERRED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Vivado Design Suite — Installation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70</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Vivado is the tool named in the syllabus. </a:t>
            </a:r>
            <a:r>
              <a:rPr sz="1100" b="0" i="0">
                <a:solidFill>
                  <a:srgbClr val="33414F"/>
                </a:solidFill>
                <a:latin typeface="Calibri"/>
              </a:rPr>
              <a:t>The free ML Standard edition covers every device you will use on a training board. Budget an afternoon: the download is large and the installer is slow.</a:t>
            </a:r>
          </a:p>
        </p:txBody>
      </p:sp>
      <p:sp>
        <p:nvSpPr>
          <p:cNvPr id="10" name="TextBox 9"/>
          <p:cNvSpPr txBox="1"/>
          <p:nvPr/>
        </p:nvSpPr>
        <p:spPr>
          <a:xfrm>
            <a:off x="411480" y="173736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11" name="TextBox 10"/>
          <p:cNvSpPr txBox="1"/>
          <p:nvPr/>
        </p:nvSpPr>
        <p:spPr>
          <a:xfrm>
            <a:off x="640080" y="173736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1. Create a free AMD/Xilinx account, then download the </a:t>
            </a:r>
            <a:r>
              <a:rPr sz="1050" b="1" i="0">
                <a:solidFill>
                  <a:srgbClr val="0E2A47"/>
                </a:solidFill>
                <a:latin typeface="Calibri"/>
              </a:rPr>
              <a:t>Unified Installer</a:t>
            </a:r>
            <a:r>
              <a:rPr sz="1050" b="0" i="0">
                <a:solidFill>
                  <a:srgbClr val="33414F"/>
                </a:solidFill>
                <a:latin typeface="Calibri"/>
              </a:rPr>
              <a:t> for Windows or Linux from the AMD downloads page.</a:t>
            </a:r>
          </a:p>
        </p:txBody>
      </p:sp>
      <p:sp>
        <p:nvSpPr>
          <p:cNvPr id="12" name="TextBox 11"/>
          <p:cNvSpPr txBox="1"/>
          <p:nvPr/>
        </p:nvSpPr>
        <p:spPr>
          <a:xfrm>
            <a:off x="411480" y="205740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13" name="TextBox 12"/>
          <p:cNvSpPr txBox="1"/>
          <p:nvPr/>
        </p:nvSpPr>
        <p:spPr>
          <a:xfrm>
            <a:off x="640080" y="205740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2. Run it and choose </a:t>
            </a:r>
            <a:r>
              <a:rPr sz="1050" b="1" i="0">
                <a:solidFill>
                  <a:srgbClr val="2A9D5C"/>
                </a:solidFill>
                <a:latin typeface="Calibri"/>
              </a:rPr>
              <a:t>Vivado → Vivado ML Standard</a:t>
            </a:r>
            <a:r>
              <a:rPr sz="1050" b="0" i="0">
                <a:solidFill>
                  <a:srgbClr val="33414F"/>
                </a:solidFill>
                <a:latin typeface="Calibri"/>
              </a:rPr>
              <a:t> (free, no licence file needed).</a:t>
            </a:r>
          </a:p>
        </p:txBody>
      </p:sp>
      <p:sp>
        <p:nvSpPr>
          <p:cNvPr id="14" name="TextBox 13"/>
          <p:cNvSpPr txBox="1"/>
          <p:nvPr/>
        </p:nvSpPr>
        <p:spPr>
          <a:xfrm>
            <a:off x="411480" y="237744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15" name="TextBox 14"/>
          <p:cNvSpPr txBox="1"/>
          <p:nvPr/>
        </p:nvSpPr>
        <p:spPr>
          <a:xfrm>
            <a:off x="640080" y="237744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3. On the device page select ONLY the family your board uses — </a:t>
            </a:r>
            <a:r>
              <a:rPr sz="1050" b="1" i="0">
                <a:solidFill>
                  <a:srgbClr val="0E2A47"/>
                </a:solidFill>
                <a:latin typeface="Calibri"/>
              </a:rPr>
              <a:t>Artix-7</a:t>
            </a:r>
            <a:r>
              <a:rPr sz="1050" b="0" i="0">
                <a:solidFill>
                  <a:srgbClr val="33414F"/>
                </a:solidFill>
                <a:latin typeface="Calibri"/>
              </a:rPr>
              <a:t> for Basys 3 / Arty A7, </a:t>
            </a:r>
            <a:r>
              <a:rPr sz="1050" b="1" i="0">
                <a:solidFill>
                  <a:srgbClr val="0E2A47"/>
                </a:solidFill>
                <a:latin typeface="Calibri"/>
              </a:rPr>
              <a:t>Zynq-7000</a:t>
            </a:r>
            <a:r>
              <a:rPr sz="1050" b="0" i="0">
                <a:solidFill>
                  <a:srgbClr val="33414F"/>
                </a:solidFill>
                <a:latin typeface="Calibri"/>
              </a:rPr>
              <a:t> for Zybo / PYNQ. Selecting everything costs well over 100 GB.</a:t>
            </a:r>
          </a:p>
        </p:txBody>
      </p:sp>
      <p:sp>
        <p:nvSpPr>
          <p:cNvPr id="16" name="TextBox 15"/>
          <p:cNvSpPr txBox="1"/>
          <p:nvPr/>
        </p:nvSpPr>
        <p:spPr>
          <a:xfrm>
            <a:off x="411480" y="269748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17" name="TextBox 16"/>
          <p:cNvSpPr txBox="1"/>
          <p:nvPr/>
        </p:nvSpPr>
        <p:spPr>
          <a:xfrm>
            <a:off x="640080" y="269748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4. Keep </a:t>
            </a:r>
            <a:r>
              <a:rPr sz="1050" b="1" i="0">
                <a:solidFill>
                  <a:srgbClr val="2A9D5C"/>
                </a:solidFill>
                <a:latin typeface="Calibri"/>
              </a:rPr>
              <a:t>Vivado Simulator (xsim)</a:t>
            </a:r>
            <a:r>
              <a:rPr sz="1050" b="0" i="0">
                <a:solidFill>
                  <a:srgbClr val="33414F"/>
                </a:solidFill>
                <a:latin typeface="Calibri"/>
              </a:rPr>
              <a:t> and, on Windows, the </a:t>
            </a:r>
            <a:r>
              <a:rPr sz="1050" b="1" i="0">
                <a:solidFill>
                  <a:srgbClr val="2A9D5C"/>
                </a:solidFill>
                <a:latin typeface="Calibri"/>
              </a:rPr>
              <a:t>Cable Drivers</a:t>
            </a:r>
            <a:r>
              <a:rPr sz="1050" b="0" i="0">
                <a:solidFill>
                  <a:srgbClr val="33414F"/>
                </a:solidFill>
                <a:latin typeface="Calibri"/>
              </a:rPr>
              <a:t> — without the drivers the board will not be detected.</a:t>
            </a:r>
          </a:p>
        </p:txBody>
      </p:sp>
      <p:sp>
        <p:nvSpPr>
          <p:cNvPr id="18" name="TextBox 17"/>
          <p:cNvSpPr txBox="1"/>
          <p:nvPr/>
        </p:nvSpPr>
        <p:spPr>
          <a:xfrm>
            <a:off x="411480" y="301752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19" name="TextBox 18"/>
          <p:cNvSpPr txBox="1"/>
          <p:nvPr/>
        </p:nvSpPr>
        <p:spPr>
          <a:xfrm>
            <a:off x="640080" y="301752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5. Disk: allow 60–100 GB for one device family. RAM: 8 GB minimum, 16 GB comfortable.</a:t>
            </a:r>
          </a:p>
        </p:txBody>
      </p:sp>
      <p:sp>
        <p:nvSpPr>
          <p:cNvPr id="20" name="TextBox 19"/>
          <p:cNvSpPr txBox="1"/>
          <p:nvPr/>
        </p:nvSpPr>
        <p:spPr>
          <a:xfrm>
            <a:off x="411480" y="333756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21" name="TextBox 20"/>
          <p:cNvSpPr txBox="1"/>
          <p:nvPr/>
        </p:nvSpPr>
        <p:spPr>
          <a:xfrm>
            <a:off x="640080" y="333756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6. Linux only: run </a:t>
            </a:r>
            <a:r>
              <a:rPr sz="900" b="1" i="0">
                <a:solidFill>
                  <a:srgbClr val="0E2A47"/>
                </a:solidFill>
                <a:latin typeface="Consolas"/>
              </a:rPr>
              <a:t>sudo &lt;install&gt;/data/xicom/cable_drivers/lin64/install_script/install_drivers/install_drivers</a:t>
            </a:r>
            <a:r>
              <a:rPr sz="1050" b="0" i="0">
                <a:solidFill>
                  <a:srgbClr val="33414F"/>
                </a:solidFill>
                <a:latin typeface="Calibri"/>
              </a:rPr>
              <a:t> after installation.</a:t>
            </a:r>
          </a:p>
        </p:txBody>
      </p:sp>
      <p:sp>
        <p:nvSpPr>
          <p:cNvPr id="22" name="TextBox 21"/>
          <p:cNvSpPr txBox="1"/>
          <p:nvPr/>
        </p:nvSpPr>
        <p:spPr>
          <a:xfrm>
            <a:off x="411480" y="3657600"/>
            <a:ext cx="182880" cy="320040"/>
          </a:xfrm>
          <a:prstGeom prst="rect">
            <a:avLst/>
          </a:prstGeom>
          <a:noFill/>
        </p:spPr>
        <p:txBody>
          <a:bodyPr wrap="square" lIns="0" rIns="0" tIns="0" bIns="0" anchor="ctr">
            <a:spAutoFit/>
          </a:bodyPr>
          <a:lstStyle/>
          <a:p>
            <a:pPr algn="l">
              <a:lnSpc>
                <a:spcPct val="103000"/>
              </a:lnSpc>
            </a:pPr>
            <a:r>
              <a:rPr sz="920" b="1" i="0">
                <a:solidFill>
                  <a:srgbClr val="0E2A47"/>
                </a:solidFill>
                <a:latin typeface="Calibri"/>
              </a:rPr>
              <a:t>▪</a:t>
            </a:r>
          </a:p>
        </p:txBody>
      </p:sp>
      <p:sp>
        <p:nvSpPr>
          <p:cNvPr id="23" name="TextBox 22"/>
          <p:cNvSpPr txBox="1"/>
          <p:nvPr/>
        </p:nvSpPr>
        <p:spPr>
          <a:xfrm>
            <a:off x="640080" y="3657600"/>
            <a:ext cx="11018520" cy="32004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7. Verify: </a:t>
            </a:r>
            <a:r>
              <a:rPr sz="1050" b="1" i="0">
                <a:solidFill>
                  <a:srgbClr val="2A9D5C"/>
                </a:solidFill>
                <a:latin typeface="Consolas"/>
              </a:rPr>
              <a:t>vivado -version</a:t>
            </a:r>
            <a:r>
              <a:rPr sz="1050" b="0" i="0">
                <a:solidFill>
                  <a:srgbClr val="33414F"/>
                </a:solidFill>
                <a:latin typeface="Calibri"/>
              </a:rPr>
              <a:t>  (source </a:t>
            </a:r>
            <a:r>
              <a:rPr sz="1050" b="0" i="0">
                <a:solidFill>
                  <a:srgbClr val="33414F"/>
                </a:solidFill>
                <a:latin typeface="Consolas"/>
              </a:rPr>
              <a:t>settings64.sh</a:t>
            </a:r>
            <a:r>
              <a:rPr sz="1050" b="0" i="0">
                <a:solidFill>
                  <a:srgbClr val="33414F"/>
                </a:solidFill>
                <a:latin typeface="Calibri"/>
              </a:rPr>
              <a:t> first on Linux).</a:t>
            </a:r>
          </a:p>
        </p:txBody>
      </p:sp>
      <p:sp>
        <p:nvSpPr>
          <p:cNvPr id="24" name="Rounded Rectangle 23"/>
          <p:cNvSpPr/>
          <p:nvPr/>
        </p:nvSpPr>
        <p:spPr>
          <a:xfrm>
            <a:off x="411480" y="4069080"/>
            <a:ext cx="3627120" cy="2011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48640" y="413308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Boards commonly used for this course</a:t>
            </a:r>
          </a:p>
        </p:txBody>
      </p:sp>
      <p:sp>
        <p:nvSpPr>
          <p:cNvPr id="26" name="TextBox 25"/>
          <p:cNvSpPr txBox="1"/>
          <p:nvPr/>
        </p:nvSpPr>
        <p:spPr>
          <a:xfrm>
            <a:off x="548640" y="4407408"/>
            <a:ext cx="3352800" cy="1609344"/>
          </a:xfrm>
          <a:prstGeom prst="rect">
            <a:avLst/>
          </a:prstGeom>
          <a:noFill/>
        </p:spPr>
        <p:txBody>
          <a:bodyPr wrap="square" lIns="0" rIns="0" tIns="0" bIns="0" anchor="t">
            <a:spAutoFit/>
          </a:bodyPr>
          <a:lstStyle/>
          <a:p>
            <a:pPr algn="l">
              <a:lnSpc>
                <a:spcPct val="103000"/>
              </a:lnSpc>
              <a:spcAft>
                <a:spcPts val="400"/>
              </a:spcAft>
            </a:pPr>
            <a:r>
              <a:rPr sz="1050" b="1" i="0">
                <a:solidFill>
                  <a:srgbClr val="0E2A47"/>
                </a:solidFill>
                <a:latin typeface="Calibri"/>
              </a:rPr>
              <a:t>Basys 3</a:t>
            </a:r>
            <a:r>
              <a:rPr sz="1050" b="0" i="0">
                <a:solidFill>
                  <a:srgbClr val="33414F"/>
                </a:solidFill>
                <a:latin typeface="Calibri"/>
              </a:rPr>
              <a:t>  — Artix-7 xc7a35tcpg236-1. Switches, LEDs, four 7-segment digits. Ideal for L1–L3.</a:t>
            </a:r>
          </a:p>
          <a:p>
            <a:pPr algn="l">
              <a:lnSpc>
                <a:spcPct val="103000"/>
              </a:lnSpc>
              <a:spcAft>
                <a:spcPts val="400"/>
              </a:spcAft>
            </a:pPr>
            <a:r>
              <a:rPr sz="1050" b="1" i="0">
                <a:solidFill>
                  <a:srgbClr val="0E2A47"/>
                </a:solidFill>
                <a:latin typeface="Calibri"/>
              </a:rPr>
              <a:t>Arty A7 / Nexys A7</a:t>
            </a:r>
            <a:r>
              <a:rPr sz="1050" b="0" i="0">
                <a:solidFill>
                  <a:srgbClr val="33414F"/>
                </a:solidFill>
                <a:latin typeface="Calibri"/>
              </a:rPr>
              <a:t>  — Artix-7, with a USB-UART bridge, so L5 talks to a terminal on the PC.</a:t>
            </a:r>
          </a:p>
          <a:p>
            <a:pPr algn="l">
              <a:lnSpc>
                <a:spcPct val="103000"/>
              </a:lnSpc>
              <a:spcAft>
                <a:spcPts val="400"/>
              </a:spcAft>
            </a:pPr>
            <a:r>
              <a:rPr sz="1050" b="1" i="0">
                <a:solidFill>
                  <a:srgbClr val="0E2A47"/>
                </a:solidFill>
                <a:latin typeface="Calibri"/>
              </a:rPr>
              <a:t>Zybo / PYNQ-Z2</a:t>
            </a:r>
            <a:r>
              <a:rPr sz="1050" b="0" i="0">
                <a:solidFill>
                  <a:srgbClr val="33414F"/>
                </a:solidFill>
                <a:latin typeface="Calibri"/>
              </a:rPr>
              <a:t>  — Zynq-7000. More than this topic needs, but the same flow.</a:t>
            </a:r>
          </a:p>
        </p:txBody>
      </p:sp>
      <p:sp>
        <p:nvSpPr>
          <p:cNvPr id="27" name="Rounded Rectangle 26"/>
          <p:cNvSpPr/>
          <p:nvPr/>
        </p:nvSpPr>
        <p:spPr>
          <a:xfrm>
            <a:off x="4221480" y="4069080"/>
            <a:ext cx="3627120" cy="2011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358640" y="413308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Installation problems you will meet</a:t>
            </a:r>
          </a:p>
        </p:txBody>
      </p:sp>
      <p:sp>
        <p:nvSpPr>
          <p:cNvPr id="29" name="TextBox 28"/>
          <p:cNvSpPr txBox="1"/>
          <p:nvPr/>
        </p:nvSpPr>
        <p:spPr>
          <a:xfrm>
            <a:off x="4358640" y="4407408"/>
            <a:ext cx="3352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Installer hangs at 'Generating installed device list' — it is not hung, it takes several minutes.</a:t>
            </a:r>
          </a:p>
          <a:p>
            <a:pPr algn="l">
              <a:lnSpc>
                <a:spcPct val="103000"/>
              </a:lnSpc>
              <a:spcAft>
                <a:spcPts val="400"/>
              </a:spcAft>
            </a:pPr>
            <a:r>
              <a:rPr sz="1050" b="0" i="0">
                <a:solidFill>
                  <a:srgbClr val="33414F"/>
                </a:solidFill>
                <a:latin typeface="Calibri"/>
              </a:rPr>
              <a:t>· Board not detected — the cable drivers were skipped, or on Linux the udev rules were not installed.</a:t>
            </a:r>
          </a:p>
          <a:p>
            <a:pPr algn="l">
              <a:lnSpc>
                <a:spcPct val="103000"/>
              </a:lnSpc>
              <a:spcAft>
                <a:spcPts val="400"/>
              </a:spcAft>
            </a:pPr>
            <a:r>
              <a:rPr sz="1050" b="0" i="0">
                <a:solidFill>
                  <a:srgbClr val="33414F"/>
                </a:solidFill>
                <a:latin typeface="Calibri"/>
              </a:rPr>
              <a:t>· 'No such part' from a TCL script — the part string does not match your board. Edit it in vivado_synth.tcl.</a:t>
            </a:r>
          </a:p>
        </p:txBody>
      </p:sp>
      <p:sp>
        <p:nvSpPr>
          <p:cNvPr id="30" name="Rounded Rectangle 29"/>
          <p:cNvSpPr/>
          <p:nvPr/>
        </p:nvSpPr>
        <p:spPr>
          <a:xfrm>
            <a:off x="8031480" y="4069080"/>
            <a:ext cx="3627120" cy="2011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168640" y="4133088"/>
            <a:ext cx="3352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Plan the lab session around this</a:t>
            </a:r>
          </a:p>
        </p:txBody>
      </p:sp>
      <p:sp>
        <p:nvSpPr>
          <p:cNvPr id="32" name="TextBox 31"/>
          <p:cNvSpPr txBox="1"/>
          <p:nvPr/>
        </p:nvSpPr>
        <p:spPr>
          <a:xfrm>
            <a:off x="8168640" y="4407408"/>
            <a:ext cx="3352800" cy="1609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Do not spend a scheduled lab hour installing Vivado. Either pre-install it on the machines, or set the download running at the start of the session and teach the open-source flow — which installs in under a minute — while it runs. The concepts are identical, and the students are learning RTL, not an installer.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VIVADO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Vivado Flow — GUI and Batch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71</a:t>
            </a:r>
          </a:p>
        </p:txBody>
      </p:sp>
      <p:pic>
        <p:nvPicPr>
          <p:cNvPr id="9" name="Picture 8" descr="vivado_flow.png"/>
          <p:cNvPicPr>
            <a:picLocks noChangeAspect="1"/>
          </p:cNvPicPr>
          <p:nvPr/>
        </p:nvPicPr>
        <p:blipFill>
          <a:blip r:embed="rId2"/>
          <a:stretch>
            <a:fillRect/>
          </a:stretch>
        </p:blipFill>
        <p:spPr>
          <a:xfrm>
            <a:off x="1943826" y="1143000"/>
            <a:ext cx="8182429" cy="3017520"/>
          </a:xfrm>
          <a:prstGeom prst="rect">
            <a:avLst/>
          </a:prstGeom>
        </p:spPr>
      </p:pic>
      <p:sp>
        <p:nvSpPr>
          <p:cNvPr id="10" name="Rounded Rectangle 9"/>
          <p:cNvSpPr/>
          <p:nvPr/>
        </p:nvSpPr>
        <p:spPr>
          <a:xfrm>
            <a:off x="411480" y="4251960"/>
            <a:ext cx="11247120" cy="175285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36626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Topic4_Lab/scripts/vivado_sim.tcl and vivado_synth.tcl</a:t>
            </a:r>
          </a:p>
        </p:txBody>
      </p:sp>
      <p:sp>
        <p:nvSpPr>
          <p:cNvPr id="12" name="TextBox 11"/>
          <p:cNvSpPr txBox="1"/>
          <p:nvPr/>
        </p:nvSpPr>
        <p:spPr>
          <a:xfrm>
            <a:off x="594360" y="4640580"/>
            <a:ext cx="10881360" cy="1249934"/>
          </a:xfrm>
          <a:prstGeom prst="rect">
            <a:avLst/>
          </a:prstGeom>
          <a:noFill/>
        </p:spPr>
        <p:txBody>
          <a:bodyPr wrap="square" lIns="0" rIns="0" tIns="0" bIns="0" anchor="t">
            <a:spAutoFit/>
          </a:bodyPr>
          <a:lstStyle/>
          <a:p>
            <a:pPr algn="l">
              <a:lnSpc>
                <a:spcPct val="112000"/>
              </a:lnSpc>
            </a:pPr>
            <a:r>
              <a:rPr sz="950" b="0" i="0">
                <a:solidFill>
                  <a:srgbClr val="7F9CB5"/>
                </a:solidFill>
                <a:latin typeface="Consolas"/>
              </a:rPr>
              <a:t># Batch simulation -- three tools, always in this order</a:t>
            </a:r>
          </a:p>
          <a:p>
            <a:pPr algn="l">
              <a:lnSpc>
                <a:spcPct val="112000"/>
              </a:lnSpc>
            </a:pPr>
            <a:r>
              <a:rPr sz="950" b="0" i="0">
                <a:solidFill>
                  <a:srgbClr val="D8E4F0"/>
                </a:solidFill>
                <a:latin typeface="Consolas"/>
              </a:rPr>
              <a:t>xvlog rtl/uart_tx.v rtl/uart_rx.v rtl/synchroniser.v tb/tb_uart.v   # analyse</a:t>
            </a:r>
          </a:p>
          <a:p>
            <a:pPr algn="l">
              <a:lnSpc>
                <a:spcPct val="112000"/>
              </a:lnSpc>
            </a:pPr>
            <a:r>
              <a:rPr sz="950" b="0" i="0">
                <a:solidFill>
                  <a:srgbClr val="D8E4F0"/>
                </a:solidFill>
                <a:latin typeface="Consolas"/>
              </a:rPr>
              <a:t>xelab -debug typical tb_uart -s tb_uart_sim                          # elaborate</a:t>
            </a:r>
          </a:p>
          <a:p>
            <a:pPr algn="l">
              <a:lnSpc>
                <a:spcPct val="112000"/>
              </a:lnSpc>
            </a:pPr>
            <a:r>
              <a:rPr sz="950" b="0" i="0">
                <a:solidFill>
                  <a:srgbClr val="D8E4F0"/>
                </a:solidFill>
                <a:latin typeface="Consolas"/>
              </a:rPr>
              <a:t>xsim tb_uart_sim -runall                                             # run</a:t>
            </a:r>
          </a:p>
          <a:p>
            <a:pPr algn="l">
              <a:lnSpc>
                <a:spcPct val="112000"/>
              </a:lnSpc>
            </a:pPr>
            <a:r>
              <a:rPr sz="950" b="0" i="0">
                <a:solidFill>
                  <a:srgbClr val="D8E4F0"/>
                </a:solidFill>
                <a:latin typeface="Consolas"/>
              </a:rPr>
              <a:t> </a:t>
            </a:r>
          </a:p>
          <a:p>
            <a:pPr algn="l">
              <a:lnSpc>
                <a:spcPct val="112000"/>
              </a:lnSpc>
            </a:pPr>
            <a:r>
              <a:rPr sz="950" b="0" i="0">
                <a:solidFill>
                  <a:srgbClr val="7F9CB5"/>
                </a:solidFill>
                <a:latin typeface="Consolas"/>
              </a:rPr>
              <a:t># Batch synthesis with the provided script</a:t>
            </a:r>
          </a:p>
          <a:p>
            <a:pPr algn="l">
              <a:lnSpc>
                <a:spcPct val="112000"/>
              </a:lnSpc>
            </a:pPr>
            <a:r>
              <a:rPr sz="950" b="0" i="0">
                <a:solidFill>
                  <a:srgbClr val="D8E4F0"/>
                </a:solidFill>
                <a:latin typeface="Consolas"/>
              </a:rPr>
              <a:t>vivado -mode batch -source scripts/vivado_synth.tcl -tclargs uart_tx</a:t>
            </a:r>
          </a:p>
        </p:txBody>
      </p:sp>
      <p:sp>
        <p:nvSpPr>
          <p:cNvPr id="13" name="TextBox 12"/>
          <p:cNvSpPr txBox="1"/>
          <p:nvPr/>
        </p:nvSpPr>
        <p:spPr>
          <a:xfrm>
            <a:off x="411480" y="6050534"/>
            <a:ext cx="11247120" cy="274320"/>
          </a:xfrm>
          <a:prstGeom prst="rect">
            <a:avLst/>
          </a:prstGeom>
          <a:noFill/>
        </p:spPr>
        <p:txBody>
          <a:bodyPr wrap="square" lIns="0" rIns="0" tIns="0" bIns="0" anchor="t">
            <a:spAutoFit/>
          </a:bodyPr>
          <a:lstStyle/>
          <a:p>
            <a:pPr algn="l">
              <a:lnSpc>
                <a:spcPct val="103000"/>
              </a:lnSpc>
            </a:pPr>
            <a:r>
              <a:rPr sz="1050" b="0" i="0">
                <a:solidFill>
                  <a:srgbClr val="33414F"/>
                </a:solidFill>
                <a:latin typeface="Calibri"/>
              </a:rPr>
              <a:t>In the GUI the same steps are Create Project → Add Sources → Run Simulation → Run Synthesis → Open Synthesized Design. Learn the batch commands anyway: they are what you put in a makefile, and they are what a regression runs.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VIVADO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Read After Synthesis — Not the Schematic</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72</a:t>
            </a:r>
          </a:p>
        </p:txBody>
      </p:sp>
      <p:sp>
        <p:nvSpPr>
          <p:cNvPr id="9" name="Rounded Rectangle 8"/>
          <p:cNvSpPr/>
          <p:nvPr/>
        </p:nvSpPr>
        <p:spPr>
          <a:xfrm>
            <a:off x="411480" y="1143000"/>
            <a:ext cx="11247120" cy="125476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scripts/vivado_synth.tcl — change the part to match your board</a:t>
            </a:r>
          </a:p>
        </p:txBody>
      </p:sp>
      <p:sp>
        <p:nvSpPr>
          <p:cNvPr id="11" name="TextBox 10"/>
          <p:cNvSpPr txBox="1"/>
          <p:nvPr/>
        </p:nvSpPr>
        <p:spPr>
          <a:xfrm>
            <a:off x="594360" y="1531620"/>
            <a:ext cx="10881360" cy="75184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create_clock -period 20.000 -name clk [get_ports clk]   # 50 MHz, or timing means nothing</a:t>
            </a:r>
          </a:p>
          <a:p>
            <a:pPr algn="l">
              <a:lnSpc>
                <a:spcPct val="112000"/>
              </a:lnSpc>
            </a:pPr>
            <a:r>
              <a:rPr sz="1000" b="0" i="0">
                <a:solidFill>
                  <a:srgbClr val="D8E4F0"/>
                </a:solidFill>
                <a:latin typeface="Consolas"/>
              </a:rPr>
              <a:t>synth_design -top uart_tx -part xc7a35tcpg236-1</a:t>
            </a:r>
          </a:p>
          <a:p>
            <a:pPr algn="l">
              <a:lnSpc>
                <a:spcPct val="112000"/>
              </a:lnSpc>
            </a:pPr>
            <a:r>
              <a:rPr sz="1000" b="0" i="0">
                <a:solidFill>
                  <a:srgbClr val="D8E4F0"/>
                </a:solidFill>
                <a:latin typeface="Consolas"/>
              </a:rPr>
              <a:t>report_utilization    -file build/vivado/uart_tx_utilization.rpt</a:t>
            </a:r>
          </a:p>
          <a:p>
            <a:pPr algn="l">
              <a:lnSpc>
                <a:spcPct val="112000"/>
              </a:lnSpc>
            </a:pPr>
            <a:r>
              <a:rPr sz="1000" b="0" i="0">
                <a:solidFill>
                  <a:srgbClr val="D8E4F0"/>
                </a:solidFill>
                <a:latin typeface="Consolas"/>
              </a:rPr>
              <a:t>report_timing_summary -file build/vivado/uart_tx_timing.rpt</a:t>
            </a:r>
          </a:p>
        </p:txBody>
      </p:sp>
      <p:sp>
        <p:nvSpPr>
          <p:cNvPr id="12" name="Rounded Rectangle 11"/>
          <p:cNvSpPr/>
          <p:nvPr/>
        </p:nvSpPr>
        <p:spPr>
          <a:xfrm>
            <a:off x="411480" y="2489200"/>
            <a:ext cx="3627120" cy="15544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255320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Utilisation report</a:t>
            </a:r>
          </a:p>
        </p:txBody>
      </p:sp>
      <p:sp>
        <p:nvSpPr>
          <p:cNvPr id="14" name="TextBox 13"/>
          <p:cNvSpPr txBox="1"/>
          <p:nvPr/>
        </p:nvSpPr>
        <p:spPr>
          <a:xfrm>
            <a:off x="548640" y="2827528"/>
            <a:ext cx="3352800" cy="11521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LUTs, flip-flops, block RAMs, DSPs. Compare the flip-flop count with your own prediction from the source — a large disagreement means the tool built something you did not intend.</a:t>
            </a:r>
          </a:p>
        </p:txBody>
      </p:sp>
      <p:sp>
        <p:nvSpPr>
          <p:cNvPr id="15" name="Rounded Rectangle 14"/>
          <p:cNvSpPr/>
          <p:nvPr/>
        </p:nvSpPr>
        <p:spPr>
          <a:xfrm>
            <a:off x="4221480" y="2489200"/>
            <a:ext cx="3627120" cy="15544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58640" y="255320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Timing summary</a:t>
            </a:r>
          </a:p>
        </p:txBody>
      </p:sp>
      <p:sp>
        <p:nvSpPr>
          <p:cNvPr id="17" name="TextBox 16"/>
          <p:cNvSpPr txBox="1"/>
          <p:nvPr/>
        </p:nvSpPr>
        <p:spPr>
          <a:xfrm>
            <a:off x="4358640" y="2827528"/>
            <a:ext cx="3352800" cy="11521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Worst negative slack (WNS). Positive means the design meets the clock you constrained; negative means it does not, and the number tells you by how much. Without a create_clock the report is meaningless.</a:t>
            </a:r>
          </a:p>
        </p:txBody>
      </p:sp>
      <p:sp>
        <p:nvSpPr>
          <p:cNvPr id="18" name="Rounded Rectangle 17"/>
          <p:cNvSpPr/>
          <p:nvPr/>
        </p:nvSpPr>
        <p:spPr>
          <a:xfrm>
            <a:off x="8031480" y="2489200"/>
            <a:ext cx="3627120" cy="15544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168640" y="2553208"/>
            <a:ext cx="3352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Messages tab</a:t>
            </a:r>
          </a:p>
        </p:txBody>
      </p:sp>
      <p:sp>
        <p:nvSpPr>
          <p:cNvPr id="20" name="TextBox 19"/>
          <p:cNvSpPr txBox="1"/>
          <p:nvPr/>
        </p:nvSpPr>
        <p:spPr>
          <a:xfrm>
            <a:off x="8168640" y="2827528"/>
            <a:ext cx="3352800" cy="11521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Every </a:t>
            </a:r>
            <a:r>
              <a:rPr sz="1050" b="1" i="0">
                <a:solidFill>
                  <a:srgbClr val="C77514"/>
                </a:solidFill>
                <a:latin typeface="Consolas"/>
              </a:rPr>
              <a:t>[Synth 8-xxx]</a:t>
            </a:r>
            <a:r>
              <a:rPr sz="1050" b="0" i="0">
                <a:solidFill>
                  <a:srgbClr val="33414F"/>
                </a:solidFill>
                <a:latin typeface="Calibri"/>
              </a:rPr>
              <a:t> warning. Read all of them once. Latch inference, width mismatch and unconnected port warnings all live here.</a:t>
            </a:r>
          </a:p>
        </p:txBody>
      </p:sp>
      <p:sp>
        <p:nvSpPr>
          <p:cNvPr id="21" name="Rounded Rectangle 20"/>
          <p:cNvSpPr/>
          <p:nvPr/>
        </p:nvSpPr>
        <p:spPr>
          <a:xfrm>
            <a:off x="411480" y="4135120"/>
            <a:ext cx="11247120" cy="100584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76072" y="41991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Honesty note for the trainer</a:t>
            </a:r>
          </a:p>
        </p:txBody>
      </p:sp>
      <p:sp>
        <p:nvSpPr>
          <p:cNvPr id="23" name="TextBox 22"/>
          <p:cNvSpPr txBox="1"/>
          <p:nvPr/>
        </p:nvSpPr>
        <p:spPr>
          <a:xfrm>
            <a:off x="576072" y="447344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Vivado and ModelSim scripts in Topic4_Lab are working templates written from standard, version-stable commands, but they were NOT executed while this material was prepared — neither tool was installed in the authoring environment. Everything quoted from Icarus, Verilator and Yosys was really run. Check the vendor scripts against your installed version before the session; part numbers and menu names change between releases.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MODELSIM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ModelSim / Questa — Installation and Flow</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73</a:t>
            </a:r>
          </a:p>
        </p:txBody>
      </p:sp>
      <p:sp>
        <p:nvSpPr>
          <p:cNvPr id="9" name="Rounded Rectangle 8"/>
          <p:cNvSpPr/>
          <p:nvPr/>
        </p:nvSpPr>
        <p:spPr>
          <a:xfrm>
            <a:off x="411480" y="1143000"/>
            <a:ext cx="5532120" cy="23774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Installing</a:t>
            </a:r>
          </a:p>
        </p:txBody>
      </p:sp>
      <p:sp>
        <p:nvSpPr>
          <p:cNvPr id="11" name="TextBox 10"/>
          <p:cNvSpPr txBox="1"/>
          <p:nvPr/>
        </p:nvSpPr>
        <p:spPr>
          <a:xfrm>
            <a:off x="548640" y="1481328"/>
            <a:ext cx="5257800" cy="19751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ModelSim Intel FPGA Starter Edition is free and needs no licence; it ships with Intel Quartus Prime Lite. Questa Intel FPGA Starter is its successor — either is fine for this course.</a:t>
            </a:r>
          </a:p>
          <a:p>
            <a:pPr algn="l">
              <a:lnSpc>
                <a:spcPct val="103000"/>
              </a:lnSpc>
              <a:spcAft>
                <a:spcPts val="400"/>
              </a:spcAft>
            </a:pPr>
            <a:r>
              <a:rPr sz="1050" b="0" i="0">
                <a:solidFill>
                  <a:srgbClr val="33414F"/>
                </a:solidFill>
                <a:latin typeface="Calibri"/>
              </a:rPr>
              <a:t>· Windows: run the installer, accept the default path. Linux: it is 32-bit, so install the multilib packages </a:t>
            </a:r>
            <a:r>
              <a:rPr sz="950" b="1" i="0">
                <a:solidFill>
                  <a:srgbClr val="0E2A47"/>
                </a:solidFill>
                <a:latin typeface="Consolas"/>
              </a:rPr>
              <a:t>lib32z1 lib32ncurses6 libxft2:i386</a:t>
            </a:r>
            <a:r>
              <a:rPr sz="1050" b="0" i="0">
                <a:solidFill>
                  <a:srgbClr val="33414F"/>
                </a:solidFill>
                <a:latin typeface="Calibri"/>
              </a:rPr>
              <a:t> first or vsim will not start.</a:t>
            </a:r>
          </a:p>
          <a:p>
            <a:pPr algn="l">
              <a:lnSpc>
                <a:spcPct val="103000"/>
              </a:lnSpc>
              <a:spcAft>
                <a:spcPts val="400"/>
              </a:spcAft>
            </a:pPr>
            <a:r>
              <a:rPr sz="1050" b="0" i="0">
                <a:solidFill>
                  <a:srgbClr val="33414F"/>
                </a:solidFill>
                <a:latin typeface="Calibri"/>
              </a:rPr>
              <a:t>· Verify with </a:t>
            </a:r>
            <a:r>
              <a:rPr sz="1050" b="1" i="0">
                <a:solidFill>
                  <a:srgbClr val="2A9D5C"/>
                </a:solidFill>
                <a:latin typeface="Consolas"/>
              </a:rPr>
              <a:t>vsim -version</a:t>
            </a:r>
            <a:r>
              <a:rPr sz="1050" b="0" i="0">
                <a:solidFill>
                  <a:srgbClr val="33414F"/>
                </a:solidFill>
                <a:latin typeface="Calibri"/>
              </a:rPr>
              <a:t>.</a:t>
            </a:r>
          </a:p>
        </p:txBody>
      </p:sp>
      <p:sp>
        <p:nvSpPr>
          <p:cNvPr id="12" name="Rounded Rectangle 11"/>
          <p:cNvSpPr/>
          <p:nvPr/>
        </p:nvSpPr>
        <p:spPr>
          <a:xfrm>
            <a:off x="6126480" y="1143000"/>
            <a:ext cx="5532120" cy="23774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three commands that matter</a:t>
            </a:r>
          </a:p>
        </p:txBody>
      </p:sp>
      <p:sp>
        <p:nvSpPr>
          <p:cNvPr id="14" name="TextBox 13"/>
          <p:cNvSpPr txBox="1"/>
          <p:nvPr/>
        </p:nvSpPr>
        <p:spPr>
          <a:xfrm>
            <a:off x="6263640" y="1481328"/>
            <a:ext cx="5257800" cy="1975104"/>
          </a:xfrm>
          <a:prstGeom prst="rect">
            <a:avLst/>
          </a:prstGeom>
          <a:noFill/>
        </p:spPr>
        <p:txBody>
          <a:bodyPr wrap="square" lIns="0" rIns="0" tIns="0" bIns="0" anchor="t">
            <a:spAutoFit/>
          </a:bodyPr>
          <a:lstStyle/>
          <a:p>
            <a:pPr algn="l">
              <a:lnSpc>
                <a:spcPct val="103000"/>
              </a:lnSpc>
              <a:spcAft>
                <a:spcPts val="400"/>
              </a:spcAft>
            </a:pPr>
            <a:r>
              <a:rPr sz="1050" b="1" i="0">
                <a:solidFill>
                  <a:srgbClr val="2A9D5C"/>
                </a:solidFill>
                <a:latin typeface="Consolas"/>
              </a:rPr>
              <a:t>vlib work</a:t>
            </a:r>
            <a:r>
              <a:rPr sz="1050" b="0" i="0">
                <a:solidFill>
                  <a:srgbClr val="33414F"/>
                </a:solidFill>
                <a:latin typeface="Calibri"/>
              </a:rPr>
              <a:t>   create the working library</a:t>
            </a:r>
          </a:p>
          <a:p>
            <a:pPr algn="l">
              <a:lnSpc>
                <a:spcPct val="103000"/>
              </a:lnSpc>
              <a:spcAft>
                <a:spcPts val="400"/>
              </a:spcAft>
            </a:pPr>
            <a:r>
              <a:rPr sz="1050" b="1" i="0">
                <a:solidFill>
                  <a:srgbClr val="2A9D5C"/>
                </a:solidFill>
                <a:latin typeface="Consolas"/>
              </a:rPr>
              <a:t>vlog rtl/*.v tb/tb_uart.v</a:t>
            </a:r>
            <a:r>
              <a:rPr sz="1050" b="0" i="0">
                <a:solidFill>
                  <a:srgbClr val="33414F"/>
                </a:solidFill>
                <a:latin typeface="Calibri"/>
              </a:rPr>
              <a:t>   compile into it</a:t>
            </a:r>
          </a:p>
          <a:p>
            <a:pPr algn="l">
              <a:lnSpc>
                <a:spcPct val="103000"/>
              </a:lnSpc>
              <a:spcAft>
                <a:spcPts val="400"/>
              </a:spcAft>
            </a:pPr>
            <a:r>
              <a:rPr sz="1050" b="1" i="0">
                <a:solidFill>
                  <a:srgbClr val="2A9D5C"/>
                </a:solidFill>
                <a:latin typeface="Consolas"/>
              </a:rPr>
              <a:t>vsim -voptargs=+acc work.tb_uart</a:t>
            </a:r>
            <a:r>
              <a:rPr sz="1050" b="0" i="0">
                <a:solidFill>
                  <a:srgbClr val="33414F"/>
                </a:solidFill>
                <a:latin typeface="Calibri"/>
              </a:rPr>
              <a:t>   elaborate and load</a:t>
            </a:r>
          </a:p>
          <a:p>
            <a:pPr algn="l">
              <a:lnSpc>
                <a:spcPct val="103000"/>
              </a:lnSpc>
              <a:spcAft>
                <a:spcPts val="400"/>
              </a:spcAft>
            </a:pPr>
            <a:r>
              <a:rPr sz="1050" b="1" i="0">
                <a:solidFill>
                  <a:srgbClr val="2A9D5C"/>
                </a:solidFill>
                <a:latin typeface="Consolas"/>
              </a:rPr>
              <a:t>run -all</a:t>
            </a:r>
            <a:r>
              <a:rPr sz="1050" b="0" i="0">
                <a:solidFill>
                  <a:srgbClr val="33414F"/>
                </a:solidFill>
                <a:latin typeface="Calibri"/>
              </a:rPr>
              <a:t>   simulate to $finish</a:t>
            </a:r>
          </a:p>
          <a:p>
            <a:pPr algn="l">
              <a:lnSpc>
                <a:spcPct val="103000"/>
              </a:lnSpc>
              <a:spcAft>
                <a:spcPts val="400"/>
              </a:spcAft>
            </a:pPr>
            <a:r>
              <a:rPr sz="1050" b="0" i="1">
                <a:solidFill>
                  <a:srgbClr val="5A6B7B"/>
                </a:solidFill>
                <a:latin typeface="Calibri"/>
              </a:rPr>
              <a:t>+acc keeps signal visibility — without it the optimiser removes the very signals you want to look at.</a:t>
            </a:r>
          </a:p>
        </p:txBody>
      </p:sp>
      <p:sp>
        <p:nvSpPr>
          <p:cNvPr id="15" name="Rounded Rectangle 14"/>
          <p:cNvSpPr/>
          <p:nvPr/>
        </p:nvSpPr>
        <p:spPr>
          <a:xfrm>
            <a:off x="411480" y="3611880"/>
            <a:ext cx="11247120" cy="86004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94360" y="372618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Topic4_Lab/scripts/modelsim_run.do — covers all five labs</a:t>
            </a:r>
          </a:p>
        </p:txBody>
      </p:sp>
      <p:sp>
        <p:nvSpPr>
          <p:cNvPr id="17" name="TextBox 16"/>
          <p:cNvSpPr txBox="1"/>
          <p:nvPr/>
        </p:nvSpPr>
        <p:spPr>
          <a:xfrm>
            <a:off x="594360" y="4000500"/>
            <a:ext cx="10881360" cy="357124"/>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vsim -c -gLAB=L3_fsm -do scripts/modelsim_run.do     # batch, prints PASS/FAIL</a:t>
            </a:r>
          </a:p>
          <a:p>
            <a:pPr algn="l">
              <a:lnSpc>
                <a:spcPct val="112000"/>
              </a:lnSpc>
            </a:pPr>
            <a:r>
              <a:rPr sz="950" b="0" i="0">
                <a:solidFill>
                  <a:srgbClr val="D8E4F0"/>
                </a:solidFill>
                <a:latin typeface="Consolas"/>
              </a:rPr>
              <a:t>vsim    -do scripts/modelsim_run.do                  # GUI, with waveforms added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One-Page Command Card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74</a:t>
            </a:r>
          </a:p>
        </p:txBody>
      </p:sp>
      <p:sp>
        <p:nvSpPr>
          <p:cNvPr id="9" name="TextBox 8"/>
          <p:cNvSpPr txBox="1"/>
          <p:nvPr/>
        </p:nvSpPr>
        <p:spPr>
          <a:xfrm>
            <a:off x="411480" y="1143000"/>
            <a:ext cx="11247120" cy="36576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Print this and keep it beside the keyboard for the whole module.</a:t>
            </a:r>
          </a:p>
        </p:txBody>
      </p:sp>
      <p:sp>
        <p:nvSpPr>
          <p:cNvPr id="10" name="Rectangle 9"/>
          <p:cNvSpPr/>
          <p:nvPr/>
        </p:nvSpPr>
        <p:spPr>
          <a:xfrm>
            <a:off x="411480" y="1508760"/>
            <a:ext cx="1737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08760"/>
            <a:ext cx="1645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Task</a:t>
            </a:r>
          </a:p>
        </p:txBody>
      </p:sp>
      <p:sp>
        <p:nvSpPr>
          <p:cNvPr id="12" name="Rectangle 11"/>
          <p:cNvSpPr/>
          <p:nvPr/>
        </p:nvSpPr>
        <p:spPr>
          <a:xfrm>
            <a:off x="2148840" y="1508760"/>
            <a:ext cx="36576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94560" y="1508760"/>
            <a:ext cx="35661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Open-source</a:t>
            </a:r>
          </a:p>
        </p:txBody>
      </p:sp>
      <p:sp>
        <p:nvSpPr>
          <p:cNvPr id="14" name="Rectangle 13"/>
          <p:cNvSpPr/>
          <p:nvPr/>
        </p:nvSpPr>
        <p:spPr>
          <a:xfrm>
            <a:off x="5806440" y="150876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852160" y="150876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Vivado</a:t>
            </a:r>
          </a:p>
        </p:txBody>
      </p:sp>
      <p:sp>
        <p:nvSpPr>
          <p:cNvPr id="16" name="Rectangle 15"/>
          <p:cNvSpPr/>
          <p:nvPr/>
        </p:nvSpPr>
        <p:spPr>
          <a:xfrm>
            <a:off x="9006840" y="1508760"/>
            <a:ext cx="26517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52560" y="1508760"/>
            <a:ext cx="25603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ModelSim</a:t>
            </a:r>
          </a:p>
        </p:txBody>
      </p:sp>
      <p:sp>
        <p:nvSpPr>
          <p:cNvPr id="18" name="Rectangle 17"/>
          <p:cNvSpPr/>
          <p:nvPr/>
        </p:nvSpPr>
        <p:spPr>
          <a:xfrm>
            <a:off x="411480" y="1792224"/>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1792224"/>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Lint</a:t>
            </a:r>
          </a:p>
        </p:txBody>
      </p:sp>
      <p:sp>
        <p:nvSpPr>
          <p:cNvPr id="20" name="Rectangle 19"/>
          <p:cNvSpPr/>
          <p:nvPr/>
        </p:nvSpPr>
        <p:spPr>
          <a:xfrm>
            <a:off x="2148840" y="1792224"/>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94560" y="1792224"/>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verilator --lint-only -Wall rtl/*.v</a:t>
            </a:r>
          </a:p>
        </p:txBody>
      </p:sp>
      <p:sp>
        <p:nvSpPr>
          <p:cNvPr id="22" name="Rectangle 21"/>
          <p:cNvSpPr/>
          <p:nvPr/>
        </p:nvSpPr>
        <p:spPr>
          <a:xfrm>
            <a:off x="5806440" y="179222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852160" y="1792224"/>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report_methodology</a:t>
            </a:r>
          </a:p>
        </p:txBody>
      </p:sp>
      <p:sp>
        <p:nvSpPr>
          <p:cNvPr id="24" name="Rectangle 23"/>
          <p:cNvSpPr/>
          <p:nvPr/>
        </p:nvSpPr>
        <p:spPr>
          <a:xfrm>
            <a:off x="9006840" y="1792224"/>
            <a:ext cx="26517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052560" y="1792224"/>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vlog (warnings)</a:t>
            </a:r>
          </a:p>
        </p:txBody>
      </p:sp>
      <p:sp>
        <p:nvSpPr>
          <p:cNvPr id="26" name="Rectangle 25"/>
          <p:cNvSpPr/>
          <p:nvPr/>
        </p:nvSpPr>
        <p:spPr>
          <a:xfrm>
            <a:off x="411480" y="2075688"/>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2075688"/>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Compile</a:t>
            </a:r>
          </a:p>
        </p:txBody>
      </p:sp>
      <p:sp>
        <p:nvSpPr>
          <p:cNvPr id="28" name="Rectangle 27"/>
          <p:cNvSpPr/>
          <p:nvPr/>
        </p:nvSpPr>
        <p:spPr>
          <a:xfrm>
            <a:off x="2148840" y="2075688"/>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94560" y="2075688"/>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iverilog -g2005 -o sim.vvp &lt;files&gt;</a:t>
            </a:r>
          </a:p>
        </p:txBody>
      </p:sp>
      <p:sp>
        <p:nvSpPr>
          <p:cNvPr id="30" name="Rectangle 29"/>
          <p:cNvSpPr/>
          <p:nvPr/>
        </p:nvSpPr>
        <p:spPr>
          <a:xfrm>
            <a:off x="5806440" y="207568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852160" y="2075688"/>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xvlog &lt;files&gt;</a:t>
            </a:r>
          </a:p>
        </p:txBody>
      </p:sp>
      <p:sp>
        <p:nvSpPr>
          <p:cNvPr id="32" name="Rectangle 31"/>
          <p:cNvSpPr/>
          <p:nvPr/>
        </p:nvSpPr>
        <p:spPr>
          <a:xfrm>
            <a:off x="9006840" y="2075688"/>
            <a:ext cx="26517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052560" y="2075688"/>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vlog &lt;files&gt;</a:t>
            </a:r>
          </a:p>
        </p:txBody>
      </p:sp>
      <p:sp>
        <p:nvSpPr>
          <p:cNvPr id="34" name="Rectangle 33"/>
          <p:cNvSpPr/>
          <p:nvPr/>
        </p:nvSpPr>
        <p:spPr>
          <a:xfrm>
            <a:off x="411480" y="2359152"/>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359152"/>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Elaborate</a:t>
            </a:r>
          </a:p>
        </p:txBody>
      </p:sp>
      <p:sp>
        <p:nvSpPr>
          <p:cNvPr id="36" name="Rectangle 35"/>
          <p:cNvSpPr/>
          <p:nvPr/>
        </p:nvSpPr>
        <p:spPr>
          <a:xfrm>
            <a:off x="2148840" y="2359152"/>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194560" y="2359152"/>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(part of iverilog)</a:t>
            </a:r>
          </a:p>
        </p:txBody>
      </p:sp>
      <p:sp>
        <p:nvSpPr>
          <p:cNvPr id="38" name="Rectangle 37"/>
          <p:cNvSpPr/>
          <p:nvPr/>
        </p:nvSpPr>
        <p:spPr>
          <a:xfrm>
            <a:off x="5806440" y="235915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852160" y="2359152"/>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xelab -debug typical &lt;top&gt;</a:t>
            </a:r>
          </a:p>
        </p:txBody>
      </p:sp>
      <p:sp>
        <p:nvSpPr>
          <p:cNvPr id="40" name="Rectangle 39"/>
          <p:cNvSpPr/>
          <p:nvPr/>
        </p:nvSpPr>
        <p:spPr>
          <a:xfrm>
            <a:off x="9006840" y="2359152"/>
            <a:ext cx="26517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052560" y="2359152"/>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(part of vsim)</a:t>
            </a:r>
          </a:p>
        </p:txBody>
      </p:sp>
      <p:sp>
        <p:nvSpPr>
          <p:cNvPr id="42" name="Rectangle 41"/>
          <p:cNvSpPr/>
          <p:nvPr/>
        </p:nvSpPr>
        <p:spPr>
          <a:xfrm>
            <a:off x="411480" y="2642616"/>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2642616"/>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Run</a:t>
            </a:r>
          </a:p>
        </p:txBody>
      </p:sp>
      <p:sp>
        <p:nvSpPr>
          <p:cNvPr id="44" name="Rectangle 43"/>
          <p:cNvSpPr/>
          <p:nvPr/>
        </p:nvSpPr>
        <p:spPr>
          <a:xfrm>
            <a:off x="2148840" y="2642616"/>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2194560" y="2642616"/>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vvp sim.vvp</a:t>
            </a:r>
          </a:p>
        </p:txBody>
      </p:sp>
      <p:sp>
        <p:nvSpPr>
          <p:cNvPr id="46" name="Rectangle 45"/>
          <p:cNvSpPr/>
          <p:nvPr/>
        </p:nvSpPr>
        <p:spPr>
          <a:xfrm>
            <a:off x="5806440" y="264261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852160" y="2642616"/>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xsim &lt;snapshot&gt; -runall</a:t>
            </a:r>
          </a:p>
        </p:txBody>
      </p:sp>
      <p:sp>
        <p:nvSpPr>
          <p:cNvPr id="48" name="Rectangle 47"/>
          <p:cNvSpPr/>
          <p:nvPr/>
        </p:nvSpPr>
        <p:spPr>
          <a:xfrm>
            <a:off x="9006840" y="2642616"/>
            <a:ext cx="26517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052560" y="2642616"/>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vsim -c work.&lt;top&gt;; run -all</a:t>
            </a:r>
          </a:p>
        </p:txBody>
      </p:sp>
      <p:sp>
        <p:nvSpPr>
          <p:cNvPr id="50" name="Rectangle 49"/>
          <p:cNvSpPr/>
          <p:nvPr/>
        </p:nvSpPr>
        <p:spPr>
          <a:xfrm>
            <a:off x="411480" y="2926080"/>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2926080"/>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Waves</a:t>
            </a:r>
          </a:p>
        </p:txBody>
      </p:sp>
      <p:sp>
        <p:nvSpPr>
          <p:cNvPr id="52" name="Rectangle 51"/>
          <p:cNvSpPr/>
          <p:nvPr/>
        </p:nvSpPr>
        <p:spPr>
          <a:xfrm>
            <a:off x="2148840" y="2926080"/>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194560" y="2926080"/>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gtkwave dump.vcd</a:t>
            </a:r>
          </a:p>
        </p:txBody>
      </p:sp>
      <p:sp>
        <p:nvSpPr>
          <p:cNvPr id="54" name="Rectangle 53"/>
          <p:cNvSpPr/>
          <p:nvPr/>
        </p:nvSpPr>
        <p:spPr>
          <a:xfrm>
            <a:off x="5806440" y="292608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852160" y="2926080"/>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Vivado sim wave window</a:t>
            </a:r>
          </a:p>
        </p:txBody>
      </p:sp>
      <p:sp>
        <p:nvSpPr>
          <p:cNvPr id="56" name="Rectangle 55"/>
          <p:cNvSpPr/>
          <p:nvPr/>
        </p:nvSpPr>
        <p:spPr>
          <a:xfrm>
            <a:off x="9006840" y="2926080"/>
            <a:ext cx="26517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052560" y="2926080"/>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add wave -r /*</a:t>
            </a:r>
          </a:p>
        </p:txBody>
      </p:sp>
      <p:sp>
        <p:nvSpPr>
          <p:cNvPr id="58" name="Rectangle 57"/>
          <p:cNvSpPr/>
          <p:nvPr/>
        </p:nvSpPr>
        <p:spPr>
          <a:xfrm>
            <a:off x="411480" y="3209544"/>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209544"/>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Synthesise</a:t>
            </a:r>
          </a:p>
        </p:txBody>
      </p:sp>
      <p:sp>
        <p:nvSpPr>
          <p:cNvPr id="60" name="Rectangle 59"/>
          <p:cNvSpPr/>
          <p:nvPr/>
        </p:nvSpPr>
        <p:spPr>
          <a:xfrm>
            <a:off x="2148840" y="3209544"/>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2194560" y="3209544"/>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yosys -p "...; synth -top X; stat"</a:t>
            </a:r>
          </a:p>
        </p:txBody>
      </p:sp>
      <p:sp>
        <p:nvSpPr>
          <p:cNvPr id="62" name="Rectangle 61"/>
          <p:cNvSpPr/>
          <p:nvPr/>
        </p:nvSpPr>
        <p:spPr>
          <a:xfrm>
            <a:off x="5806440" y="3209544"/>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5852160" y="3209544"/>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synth_design -top X -part P</a:t>
            </a:r>
          </a:p>
        </p:txBody>
      </p:sp>
      <p:sp>
        <p:nvSpPr>
          <p:cNvPr id="64" name="Rectangle 63"/>
          <p:cNvSpPr/>
          <p:nvPr/>
        </p:nvSpPr>
        <p:spPr>
          <a:xfrm>
            <a:off x="9006840" y="3209544"/>
            <a:ext cx="26517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052560" y="3209544"/>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(not a synthesis tool)</a:t>
            </a:r>
          </a:p>
        </p:txBody>
      </p:sp>
      <p:sp>
        <p:nvSpPr>
          <p:cNvPr id="66" name="Rectangle 65"/>
          <p:cNvSpPr/>
          <p:nvPr/>
        </p:nvSpPr>
        <p:spPr>
          <a:xfrm>
            <a:off x="411480" y="3493008"/>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457200" y="3493008"/>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Area report</a:t>
            </a:r>
          </a:p>
        </p:txBody>
      </p:sp>
      <p:sp>
        <p:nvSpPr>
          <p:cNvPr id="68" name="Rectangle 67"/>
          <p:cNvSpPr/>
          <p:nvPr/>
        </p:nvSpPr>
        <p:spPr>
          <a:xfrm>
            <a:off x="2148840" y="3493008"/>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2194560" y="3493008"/>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stat</a:t>
            </a:r>
          </a:p>
        </p:txBody>
      </p:sp>
      <p:sp>
        <p:nvSpPr>
          <p:cNvPr id="70" name="Rectangle 69"/>
          <p:cNvSpPr/>
          <p:nvPr/>
        </p:nvSpPr>
        <p:spPr>
          <a:xfrm>
            <a:off x="5806440" y="3493008"/>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5852160" y="3493008"/>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report_utilization</a:t>
            </a:r>
          </a:p>
        </p:txBody>
      </p:sp>
      <p:sp>
        <p:nvSpPr>
          <p:cNvPr id="72" name="Rectangle 71"/>
          <p:cNvSpPr/>
          <p:nvPr/>
        </p:nvSpPr>
        <p:spPr>
          <a:xfrm>
            <a:off x="9006840" y="3493008"/>
            <a:ext cx="26517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9052560" y="3493008"/>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t>
            </a:r>
          </a:p>
        </p:txBody>
      </p:sp>
      <p:sp>
        <p:nvSpPr>
          <p:cNvPr id="74" name="Rectangle 73"/>
          <p:cNvSpPr/>
          <p:nvPr/>
        </p:nvSpPr>
        <p:spPr>
          <a:xfrm>
            <a:off x="411480" y="3776472"/>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457200" y="3776472"/>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Timing report</a:t>
            </a:r>
          </a:p>
        </p:txBody>
      </p:sp>
      <p:sp>
        <p:nvSpPr>
          <p:cNvPr id="76" name="Rectangle 75"/>
          <p:cNvSpPr/>
          <p:nvPr/>
        </p:nvSpPr>
        <p:spPr>
          <a:xfrm>
            <a:off x="2148840" y="3776472"/>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2194560" y="3776472"/>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(none — no timing model)</a:t>
            </a:r>
          </a:p>
        </p:txBody>
      </p:sp>
      <p:sp>
        <p:nvSpPr>
          <p:cNvPr id="78" name="Rectangle 77"/>
          <p:cNvSpPr/>
          <p:nvPr/>
        </p:nvSpPr>
        <p:spPr>
          <a:xfrm>
            <a:off x="5806440" y="3776472"/>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5852160" y="3776472"/>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report_timing_summary</a:t>
            </a:r>
          </a:p>
        </p:txBody>
      </p:sp>
      <p:sp>
        <p:nvSpPr>
          <p:cNvPr id="80" name="Rectangle 79"/>
          <p:cNvSpPr/>
          <p:nvPr/>
        </p:nvSpPr>
        <p:spPr>
          <a:xfrm>
            <a:off x="9006840" y="3776472"/>
            <a:ext cx="26517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052560" y="3776472"/>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t>
            </a:r>
          </a:p>
        </p:txBody>
      </p:sp>
      <p:sp>
        <p:nvSpPr>
          <p:cNvPr id="82" name="Rectangle 81"/>
          <p:cNvSpPr/>
          <p:nvPr/>
        </p:nvSpPr>
        <p:spPr>
          <a:xfrm>
            <a:off x="411480" y="4059936"/>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457200" y="4059936"/>
            <a:ext cx="164592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Find latches</a:t>
            </a:r>
          </a:p>
        </p:txBody>
      </p:sp>
      <p:sp>
        <p:nvSpPr>
          <p:cNvPr id="84" name="Rectangle 83"/>
          <p:cNvSpPr/>
          <p:nvPr/>
        </p:nvSpPr>
        <p:spPr>
          <a:xfrm>
            <a:off x="2148840" y="4059936"/>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2194560" y="4059936"/>
            <a:ext cx="35661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grep -i latch on the log</a:t>
            </a:r>
          </a:p>
        </p:txBody>
      </p:sp>
      <p:sp>
        <p:nvSpPr>
          <p:cNvPr id="86" name="Rectangle 85"/>
          <p:cNvSpPr/>
          <p:nvPr/>
        </p:nvSpPr>
        <p:spPr>
          <a:xfrm>
            <a:off x="5806440" y="4059936"/>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5852160" y="4059936"/>
            <a:ext cx="310896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Messages: [Synth 8-327]</a:t>
            </a:r>
          </a:p>
        </p:txBody>
      </p:sp>
      <p:sp>
        <p:nvSpPr>
          <p:cNvPr id="88" name="Rectangle 87"/>
          <p:cNvSpPr/>
          <p:nvPr/>
        </p:nvSpPr>
        <p:spPr>
          <a:xfrm>
            <a:off x="9006840" y="4059936"/>
            <a:ext cx="26517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9052560" y="4059936"/>
            <a:ext cx="25603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TOPIC 4 · PRACTICAL</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The Lab Programme</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Mapped to the syllabus practical component: 40 hours of RTL Design and Implementation Labs, plus synthesis and timing.</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L1 combinational · L2 sequential · L3 state machines · L4 memory · L5 UART capstone</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Twenty-two designs, five self-checking testbenches, three toolchains</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Deliberately broken examples, so failures can be seen in real tool reports</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Assessment rubric and the common-error table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LABS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Five Labs and Their Hours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76</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These hours map onto the syllabus practical component. </a:t>
            </a:r>
            <a:r>
              <a:rPr sz="1100" b="0" i="0">
                <a:solidFill>
                  <a:srgbClr val="33414F"/>
                </a:solidFill>
                <a:latin typeface="Calibri"/>
              </a:rPr>
              <a:t>Every design listed exists, compiles, simulates to PASS and synthesises with no inferred latches.</a:t>
            </a:r>
          </a:p>
        </p:txBody>
      </p:sp>
      <p:sp>
        <p:nvSpPr>
          <p:cNvPr id="10" name="Rectangle 9"/>
          <p:cNvSpPr/>
          <p:nvPr/>
        </p:nvSpPr>
        <p:spPr>
          <a:xfrm>
            <a:off x="411480" y="1554480"/>
            <a:ext cx="192024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182880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Lab</a:t>
            </a:r>
          </a:p>
        </p:txBody>
      </p:sp>
      <p:sp>
        <p:nvSpPr>
          <p:cNvPr id="12" name="Rectangle 11"/>
          <p:cNvSpPr/>
          <p:nvPr/>
        </p:nvSpPr>
        <p:spPr>
          <a:xfrm>
            <a:off x="2331720" y="1554480"/>
            <a:ext cx="64008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77440" y="1554480"/>
            <a:ext cx="54864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Hours</a:t>
            </a:r>
          </a:p>
        </p:txBody>
      </p:sp>
      <p:sp>
        <p:nvSpPr>
          <p:cNvPr id="14" name="Rectangle 13"/>
          <p:cNvSpPr/>
          <p:nvPr/>
        </p:nvSpPr>
        <p:spPr>
          <a:xfrm>
            <a:off x="2971800" y="1554480"/>
            <a:ext cx="338328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017520" y="1554480"/>
            <a:ext cx="329184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Designs</a:t>
            </a:r>
          </a:p>
        </p:txBody>
      </p:sp>
      <p:sp>
        <p:nvSpPr>
          <p:cNvPr id="16" name="Rectangle 15"/>
          <p:cNvSpPr/>
          <p:nvPr/>
        </p:nvSpPr>
        <p:spPr>
          <a:xfrm>
            <a:off x="6355080" y="1554480"/>
            <a:ext cx="118872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0" y="1554480"/>
            <a:ext cx="109728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Testbench</a:t>
            </a:r>
          </a:p>
        </p:txBody>
      </p:sp>
      <p:sp>
        <p:nvSpPr>
          <p:cNvPr id="18" name="Rectangle 17"/>
          <p:cNvSpPr/>
          <p:nvPr/>
        </p:nvSpPr>
        <p:spPr>
          <a:xfrm>
            <a:off x="7543800" y="1554480"/>
            <a:ext cx="411480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589520" y="1554480"/>
            <a:ext cx="402336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teaches</a:t>
            </a:r>
          </a:p>
        </p:txBody>
      </p:sp>
      <p:sp>
        <p:nvSpPr>
          <p:cNvPr id="20" name="Rectangle 19"/>
          <p:cNvSpPr/>
          <p:nvPr/>
        </p:nvSpPr>
        <p:spPr>
          <a:xfrm>
            <a:off x="411480" y="2011680"/>
            <a:ext cx="192024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 y="2011680"/>
            <a:ext cx="1828800" cy="45720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L1 Combinational</a:t>
            </a:r>
          </a:p>
        </p:txBody>
      </p:sp>
      <p:sp>
        <p:nvSpPr>
          <p:cNvPr id="22" name="Rectangle 21"/>
          <p:cNvSpPr/>
          <p:nvPr/>
        </p:nvSpPr>
        <p:spPr>
          <a:xfrm>
            <a:off x="2331720" y="2011680"/>
            <a:ext cx="6400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377440" y="2011680"/>
            <a:ext cx="5486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8</a:t>
            </a:r>
          </a:p>
        </p:txBody>
      </p:sp>
      <p:sp>
        <p:nvSpPr>
          <p:cNvPr id="24" name="Rectangle 23"/>
          <p:cNvSpPr/>
          <p:nvPr/>
        </p:nvSpPr>
        <p:spPr>
          <a:xfrm>
            <a:off x="2971800" y="2011680"/>
            <a:ext cx="33832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017520" y="2011680"/>
            <a:ext cx="32918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mux2 mux4 decoder3to8 priority_encoder8 alu seven_seg adder_gen</a:t>
            </a:r>
          </a:p>
        </p:txBody>
      </p:sp>
      <p:sp>
        <p:nvSpPr>
          <p:cNvPr id="26" name="Rectangle 25"/>
          <p:cNvSpPr/>
          <p:nvPr/>
        </p:nvSpPr>
        <p:spPr>
          <a:xfrm>
            <a:off x="6355080" y="2011680"/>
            <a:ext cx="11887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0" y="2011680"/>
            <a:ext cx="109728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tb_comb.v</a:t>
            </a:r>
          </a:p>
        </p:txBody>
      </p:sp>
      <p:sp>
        <p:nvSpPr>
          <p:cNvPr id="28" name="Rectangle 27"/>
          <p:cNvSpPr/>
          <p:nvPr/>
        </p:nvSpPr>
        <p:spPr>
          <a:xfrm>
            <a:off x="7543800" y="2011680"/>
            <a:ext cx="4114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589520" y="2011680"/>
            <a:ext cx="402336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assign vs always @(*), defaults, case, generate</a:t>
            </a:r>
          </a:p>
        </p:txBody>
      </p:sp>
      <p:sp>
        <p:nvSpPr>
          <p:cNvPr id="30" name="Rectangle 29"/>
          <p:cNvSpPr/>
          <p:nvPr/>
        </p:nvSpPr>
        <p:spPr>
          <a:xfrm>
            <a:off x="411480" y="2468880"/>
            <a:ext cx="192024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7200" y="2468880"/>
            <a:ext cx="1828800" cy="45720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L2 Sequential</a:t>
            </a:r>
          </a:p>
        </p:txBody>
      </p:sp>
      <p:sp>
        <p:nvSpPr>
          <p:cNvPr id="32" name="Rectangle 31"/>
          <p:cNvSpPr/>
          <p:nvPr/>
        </p:nvSpPr>
        <p:spPr>
          <a:xfrm>
            <a:off x="2331720" y="2468880"/>
            <a:ext cx="6400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377440" y="2468880"/>
            <a:ext cx="5486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8</a:t>
            </a:r>
          </a:p>
        </p:txBody>
      </p:sp>
      <p:sp>
        <p:nvSpPr>
          <p:cNvPr id="34" name="Rectangle 33"/>
          <p:cNvSpPr/>
          <p:nvPr/>
        </p:nvSpPr>
        <p:spPr>
          <a:xfrm>
            <a:off x="2971800" y="2468880"/>
            <a:ext cx="33832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017520" y="2468880"/>
            <a:ext cx="32918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reg_en shift_reg counter edge_detect synchroniser debouncer clk_divider</a:t>
            </a:r>
          </a:p>
        </p:txBody>
      </p:sp>
      <p:sp>
        <p:nvSpPr>
          <p:cNvPr id="36" name="Rectangle 35"/>
          <p:cNvSpPr/>
          <p:nvPr/>
        </p:nvSpPr>
        <p:spPr>
          <a:xfrm>
            <a:off x="6355080" y="2468880"/>
            <a:ext cx="118872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0" y="2468880"/>
            <a:ext cx="109728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tb_seq.v</a:t>
            </a:r>
          </a:p>
        </p:txBody>
      </p:sp>
      <p:sp>
        <p:nvSpPr>
          <p:cNvPr id="38" name="Rectangle 37"/>
          <p:cNvSpPr/>
          <p:nvPr/>
        </p:nvSpPr>
        <p:spPr>
          <a:xfrm>
            <a:off x="7543800" y="2468880"/>
            <a:ext cx="41148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589520" y="2468880"/>
            <a:ext cx="402336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the clocked templates, &lt;=, clock enables, CDC</a:t>
            </a:r>
          </a:p>
        </p:txBody>
      </p:sp>
      <p:sp>
        <p:nvSpPr>
          <p:cNvPr id="40" name="Rectangle 39"/>
          <p:cNvSpPr/>
          <p:nvPr/>
        </p:nvSpPr>
        <p:spPr>
          <a:xfrm>
            <a:off x="411480" y="2926080"/>
            <a:ext cx="192024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2926080"/>
            <a:ext cx="1828800" cy="45720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L3 State machines</a:t>
            </a:r>
          </a:p>
        </p:txBody>
      </p:sp>
      <p:sp>
        <p:nvSpPr>
          <p:cNvPr id="42" name="Rectangle 41"/>
          <p:cNvSpPr/>
          <p:nvPr/>
        </p:nvSpPr>
        <p:spPr>
          <a:xfrm>
            <a:off x="2331720" y="2926080"/>
            <a:ext cx="6400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377440" y="2926080"/>
            <a:ext cx="5486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8</a:t>
            </a:r>
          </a:p>
        </p:txBody>
      </p:sp>
      <p:sp>
        <p:nvSpPr>
          <p:cNvPr id="44" name="Rectangle 43"/>
          <p:cNvSpPr/>
          <p:nvPr/>
        </p:nvSpPr>
        <p:spPr>
          <a:xfrm>
            <a:off x="2971800" y="2926080"/>
            <a:ext cx="33832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017520" y="2926080"/>
            <a:ext cx="32918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traffic_fsm vending_fsm seq_detect_1011</a:t>
            </a:r>
          </a:p>
        </p:txBody>
      </p:sp>
      <p:sp>
        <p:nvSpPr>
          <p:cNvPr id="46" name="Rectangle 45"/>
          <p:cNvSpPr/>
          <p:nvPr/>
        </p:nvSpPr>
        <p:spPr>
          <a:xfrm>
            <a:off x="6355080" y="2926080"/>
            <a:ext cx="11887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00800" y="2926080"/>
            <a:ext cx="109728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tb_fsm.v</a:t>
            </a:r>
          </a:p>
        </p:txBody>
      </p:sp>
      <p:sp>
        <p:nvSpPr>
          <p:cNvPr id="48" name="Rectangle 47"/>
          <p:cNvSpPr/>
          <p:nvPr/>
        </p:nvSpPr>
        <p:spPr>
          <a:xfrm>
            <a:off x="7543800" y="2926080"/>
            <a:ext cx="4114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589520" y="2926080"/>
            <a:ext cx="402336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three-block FSM, safe defaults, Moore vs Mealy</a:t>
            </a:r>
          </a:p>
        </p:txBody>
      </p:sp>
      <p:sp>
        <p:nvSpPr>
          <p:cNvPr id="50" name="Rectangle 49"/>
          <p:cNvSpPr/>
          <p:nvPr/>
        </p:nvSpPr>
        <p:spPr>
          <a:xfrm>
            <a:off x="411480" y="3383280"/>
            <a:ext cx="192024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7200" y="3383280"/>
            <a:ext cx="1828800" cy="45720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L4 Memory &amp; FIFO</a:t>
            </a:r>
          </a:p>
        </p:txBody>
      </p:sp>
      <p:sp>
        <p:nvSpPr>
          <p:cNvPr id="52" name="Rectangle 51"/>
          <p:cNvSpPr/>
          <p:nvPr/>
        </p:nvSpPr>
        <p:spPr>
          <a:xfrm>
            <a:off x="2331720" y="3383280"/>
            <a:ext cx="6400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2377440" y="3383280"/>
            <a:ext cx="5486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8</a:t>
            </a:r>
          </a:p>
        </p:txBody>
      </p:sp>
      <p:sp>
        <p:nvSpPr>
          <p:cNvPr id="54" name="Rectangle 53"/>
          <p:cNvSpPr/>
          <p:nvPr/>
        </p:nvSpPr>
        <p:spPr>
          <a:xfrm>
            <a:off x="2971800" y="3383280"/>
            <a:ext cx="338328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017520" y="3383280"/>
            <a:ext cx="32918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sync_fifo sync_ram</a:t>
            </a:r>
          </a:p>
        </p:txBody>
      </p:sp>
      <p:sp>
        <p:nvSpPr>
          <p:cNvPr id="56" name="Rectangle 55"/>
          <p:cNvSpPr/>
          <p:nvPr/>
        </p:nvSpPr>
        <p:spPr>
          <a:xfrm>
            <a:off x="6355080" y="3383280"/>
            <a:ext cx="118872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400800" y="3383280"/>
            <a:ext cx="109728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tb_mem.v</a:t>
            </a:r>
          </a:p>
        </p:txBody>
      </p:sp>
      <p:sp>
        <p:nvSpPr>
          <p:cNvPr id="58" name="Rectangle 57"/>
          <p:cNvSpPr/>
          <p:nvPr/>
        </p:nvSpPr>
        <p:spPr>
          <a:xfrm>
            <a:off x="7543800" y="3383280"/>
            <a:ext cx="411480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589520" y="3383280"/>
            <a:ext cx="402336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memory inference, pointers, scoreboards, $random</a:t>
            </a:r>
          </a:p>
        </p:txBody>
      </p:sp>
      <p:sp>
        <p:nvSpPr>
          <p:cNvPr id="60" name="Rectangle 59"/>
          <p:cNvSpPr/>
          <p:nvPr/>
        </p:nvSpPr>
        <p:spPr>
          <a:xfrm>
            <a:off x="411480" y="3840480"/>
            <a:ext cx="192024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457200" y="3840480"/>
            <a:ext cx="1828800" cy="457200"/>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L5 UART capstone</a:t>
            </a:r>
          </a:p>
        </p:txBody>
      </p:sp>
      <p:sp>
        <p:nvSpPr>
          <p:cNvPr id="62" name="Rectangle 61"/>
          <p:cNvSpPr/>
          <p:nvPr/>
        </p:nvSpPr>
        <p:spPr>
          <a:xfrm>
            <a:off x="2331720" y="3840480"/>
            <a:ext cx="6400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2377440" y="3840480"/>
            <a:ext cx="5486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8</a:t>
            </a:r>
          </a:p>
        </p:txBody>
      </p:sp>
      <p:sp>
        <p:nvSpPr>
          <p:cNvPr id="64" name="Rectangle 63"/>
          <p:cNvSpPr/>
          <p:nvPr/>
        </p:nvSpPr>
        <p:spPr>
          <a:xfrm>
            <a:off x="2971800" y="3840480"/>
            <a:ext cx="338328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3017520" y="3840480"/>
            <a:ext cx="329184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uart_tx uart_rx (+ synchroniser)</a:t>
            </a:r>
          </a:p>
        </p:txBody>
      </p:sp>
      <p:sp>
        <p:nvSpPr>
          <p:cNvPr id="66" name="Rectangle 65"/>
          <p:cNvSpPr/>
          <p:nvPr/>
        </p:nvSpPr>
        <p:spPr>
          <a:xfrm>
            <a:off x="6355080" y="3840480"/>
            <a:ext cx="118872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6400800" y="3840480"/>
            <a:ext cx="109728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tb_uart.v</a:t>
            </a:r>
          </a:p>
        </p:txBody>
      </p:sp>
      <p:sp>
        <p:nvSpPr>
          <p:cNvPr id="68" name="Rectangle 67"/>
          <p:cNvSpPr/>
          <p:nvPr/>
        </p:nvSpPr>
        <p:spPr>
          <a:xfrm>
            <a:off x="7543800" y="3840480"/>
            <a:ext cx="411480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7589520" y="3840480"/>
            <a:ext cx="4023360" cy="457200"/>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complete FSMD, loopback, independent decoder</a:t>
            </a:r>
          </a:p>
        </p:txBody>
      </p:sp>
      <p:sp>
        <p:nvSpPr>
          <p:cNvPr id="70" name="TextBox 69"/>
          <p:cNvSpPr txBox="1"/>
          <p:nvPr/>
        </p:nvSpPr>
        <p:spPr>
          <a:xfrm>
            <a:off x="411480" y="4343400"/>
            <a:ext cx="11247120" cy="274320"/>
          </a:xfrm>
          <a:prstGeom prst="rect">
            <a:avLst/>
          </a:prstGeom>
          <a:noFill/>
        </p:spPr>
        <p:txBody>
          <a:bodyPr wrap="square" lIns="0" rIns="0" tIns="0" bIns="0" anchor="t">
            <a:spAutoFit/>
          </a:bodyPr>
          <a:lstStyle/>
          <a:p>
            <a:pPr algn="l">
              <a:lnSpc>
                <a:spcPct val="103000"/>
              </a:lnSpc>
            </a:pPr>
            <a:r>
              <a:rPr sz="1050" b="0" i="1">
                <a:solidFill>
                  <a:srgbClr val="5A6B7B"/>
                </a:solidFill>
                <a:latin typeface="Calibri"/>
              </a:rPr>
              <a:t>Forty hours in total, matching the syllabus allocation for RTL Design and Implementation Labs. The synthesis and timing exercises inside each lab feed the further 15 h Design Synthesis and 10 h Timing Analysis allocations.</a:t>
            </a:r>
          </a:p>
        </p:txBody>
      </p:sp>
      <p:sp>
        <p:nvSpPr>
          <p:cNvPr id="71" name="Rounded Rectangle 70"/>
          <p:cNvSpPr/>
          <p:nvPr/>
        </p:nvSpPr>
        <p:spPr>
          <a:xfrm>
            <a:off x="411480" y="4709160"/>
            <a:ext cx="5532120" cy="14173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548640" y="47731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every lab produces</a:t>
            </a:r>
          </a:p>
        </p:txBody>
      </p:sp>
      <p:sp>
        <p:nvSpPr>
          <p:cNvPr id="73" name="TextBox 72"/>
          <p:cNvSpPr txBox="1"/>
          <p:nvPr/>
        </p:nvSpPr>
        <p:spPr>
          <a:xfrm>
            <a:off x="548640" y="5047488"/>
            <a:ext cx="5257800" cy="101498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 A clean lint run.   · A simulation transcript ending in PASS.</a:t>
            </a:r>
          </a:p>
          <a:p>
            <a:pPr algn="l">
              <a:lnSpc>
                <a:spcPct val="103000"/>
              </a:lnSpc>
              <a:spcAft>
                <a:spcPts val="400"/>
              </a:spcAft>
            </a:pPr>
            <a:r>
              <a:rPr sz="1050" b="0" i="0">
                <a:solidFill>
                  <a:srgbClr val="33414F"/>
                </a:solidFill>
                <a:latin typeface="Calibri"/>
              </a:rPr>
              <a:t>· A synthesis report with a cell and flip-flop count, and no inferred latches.</a:t>
            </a:r>
          </a:p>
          <a:p>
            <a:pPr algn="l">
              <a:lnSpc>
                <a:spcPct val="103000"/>
              </a:lnSpc>
              <a:spcAft>
                <a:spcPts val="400"/>
              </a:spcAft>
            </a:pPr>
            <a:r>
              <a:rPr sz="1050" b="0" i="0">
                <a:solidFill>
                  <a:srgbClr val="33414F"/>
                </a:solidFill>
                <a:latin typeface="Calibri"/>
              </a:rPr>
              <a:t>· Two sentences from the student saying what the design became in hardware.</a:t>
            </a:r>
          </a:p>
        </p:txBody>
      </p:sp>
      <p:sp>
        <p:nvSpPr>
          <p:cNvPr id="74" name="Rounded Rectangle 73"/>
          <p:cNvSpPr/>
          <p:nvPr/>
        </p:nvSpPr>
        <p:spPr>
          <a:xfrm>
            <a:off x="6126480" y="4709160"/>
            <a:ext cx="5532120" cy="14173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6263640" y="47731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Running short of time?</a:t>
            </a:r>
          </a:p>
        </p:txBody>
      </p:sp>
      <p:sp>
        <p:nvSpPr>
          <p:cNvPr id="76" name="TextBox 75"/>
          <p:cNvSpPr txBox="1"/>
          <p:nvPr/>
        </p:nvSpPr>
        <p:spPr>
          <a:xfrm>
            <a:off x="6263640" y="5047488"/>
            <a:ext cx="5257800" cy="101498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Do not cut L5. </a:t>
            </a:r>
            <a:r>
              <a:rPr sz="1050" b="0" i="0">
                <a:solidFill>
                  <a:srgbClr val="33414F"/>
                </a:solidFill>
                <a:latin typeface="Calibri"/>
              </a:rPr>
              <a:t>The UART is where combinational logic, sequential logic, an FSM, a datapath, a clock-domain crossing and a self-checking testbench all appear in one design — it is the only exercise that shows students how the pieces fit. Cut depth in L1 instead; those designs are the easiest to catch up on alone.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LABS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to Run a Lab Session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77</a:t>
            </a:r>
          </a:p>
        </p:txBody>
      </p:sp>
      <p:sp>
        <p:nvSpPr>
          <p:cNvPr id="9" name="Rounded Rectangle 8"/>
          <p:cNvSpPr/>
          <p:nvPr/>
        </p:nvSpPr>
        <p:spPr>
          <a:xfrm>
            <a:off x="411480" y="114300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11480" y="1143000"/>
            <a:ext cx="1737360" cy="822960"/>
          </a:xfrm>
          <a:prstGeom prst="roundRect">
            <a:avLst>
              <a:gd name="adj" fmla="val 5714"/>
            </a:avLst>
          </a:prstGeom>
          <a:solidFill>
            <a:srgbClr val="0E2A47"/>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1480" y="114300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BEFORE</a:t>
            </a:r>
          </a:p>
        </p:txBody>
      </p:sp>
      <p:sp>
        <p:nvSpPr>
          <p:cNvPr id="12" name="TextBox 11"/>
          <p:cNvSpPr txBox="1"/>
          <p:nvPr/>
        </p:nvSpPr>
        <p:spPr>
          <a:xfrm>
            <a:off x="2331720" y="118872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Students clone Topic4_Lab and run ./scripts/lint.sh and ./scripts/run_all.sh unmodified. Everything must print PASS before anyone edits anything — that proves the environment works and removes 'it does not build' from the session.</a:t>
            </a:r>
          </a:p>
        </p:txBody>
      </p:sp>
      <p:sp>
        <p:nvSpPr>
          <p:cNvPr id="13" name="Rounded Rectangle 12"/>
          <p:cNvSpPr/>
          <p:nvPr/>
        </p:nvSpPr>
        <p:spPr>
          <a:xfrm>
            <a:off x="411480" y="201168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11480" y="2011680"/>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 y="201168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READ</a:t>
            </a:r>
          </a:p>
        </p:txBody>
      </p:sp>
      <p:sp>
        <p:nvSpPr>
          <p:cNvPr id="16" name="TextBox 15"/>
          <p:cNvSpPr txBox="1"/>
          <p:nvPr/>
        </p:nvSpPr>
        <p:spPr>
          <a:xfrm>
            <a:off x="2331720" y="205740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Open one design and one testbench side by side. Ask the room to predict the flip-flop count from the source, write the predictions on the board, then run the synthesiser and compare. Ten minutes; it changes how they read code.</a:t>
            </a:r>
          </a:p>
        </p:txBody>
      </p:sp>
      <p:sp>
        <p:nvSpPr>
          <p:cNvPr id="17" name="Rounded Rectangle 16"/>
          <p:cNvSpPr/>
          <p:nvPr/>
        </p:nvSpPr>
        <p:spPr>
          <a:xfrm>
            <a:off x="411480" y="288036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11480" y="2880360"/>
            <a:ext cx="1737360" cy="822960"/>
          </a:xfrm>
          <a:prstGeom prst="roundRect">
            <a:avLst>
              <a:gd name="adj" fmla="val 5714"/>
            </a:avLst>
          </a:prstGeom>
          <a:solidFill>
            <a:srgbClr val="C77514"/>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1480" y="288036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BREAK</a:t>
            </a:r>
          </a:p>
        </p:txBody>
      </p:sp>
      <p:sp>
        <p:nvSpPr>
          <p:cNvPr id="20" name="TextBox 19"/>
          <p:cNvSpPr txBox="1"/>
          <p:nvPr/>
        </p:nvSpPr>
        <p:spPr>
          <a:xfrm>
            <a:off x="2331720" y="292608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Introduce a fault deliberately: remove a default, change a &lt;= to =, drop a case branch. Re-run lint, simulation and synthesis and see which one catches it. This is the single most effective exercise in the whole topic.</a:t>
            </a:r>
          </a:p>
        </p:txBody>
      </p:sp>
      <p:sp>
        <p:nvSpPr>
          <p:cNvPr id="21" name="Rounded Rectangle 20"/>
          <p:cNvSpPr/>
          <p:nvPr/>
        </p:nvSpPr>
        <p:spPr>
          <a:xfrm>
            <a:off x="411480" y="374904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1480" y="3749040"/>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1480" y="374904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BUILD</a:t>
            </a:r>
          </a:p>
        </p:txBody>
      </p:sp>
      <p:sp>
        <p:nvSpPr>
          <p:cNvPr id="24" name="TextBox 23"/>
          <p:cNvSpPr txBox="1"/>
          <p:nvPr/>
        </p:nvSpPr>
        <p:spPr>
          <a:xfrm>
            <a:off x="2331720" y="379476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The exercise proper — extend or write a design from the workbook. Every exercise has a specification, a required interface and an expected testbench result, so the student always knows when they are finished.</a:t>
            </a:r>
          </a:p>
        </p:txBody>
      </p:sp>
      <p:sp>
        <p:nvSpPr>
          <p:cNvPr id="25" name="Rounded Rectangle 24"/>
          <p:cNvSpPr/>
          <p:nvPr/>
        </p:nvSpPr>
        <p:spPr>
          <a:xfrm>
            <a:off x="411480" y="461772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11480" y="4617720"/>
            <a:ext cx="1737360" cy="822960"/>
          </a:xfrm>
          <a:prstGeom prst="roundRect">
            <a:avLst>
              <a:gd name="adj" fmla="val 5714"/>
            </a:avLst>
          </a:prstGeom>
          <a:solidFill>
            <a:srgbClr val="6B45A8"/>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11480" y="4617720"/>
            <a:ext cx="1737360" cy="822960"/>
          </a:xfrm>
          <a:prstGeom prst="rect">
            <a:avLst/>
          </a:prstGeom>
          <a:noFill/>
        </p:spPr>
        <p:txBody>
          <a:bodyPr wrap="square" lIns="0" rIns="0" tIns="0" bIns="0" anchor="ctr">
            <a:spAutoFit/>
          </a:bodyPr>
          <a:lstStyle/>
          <a:p>
            <a:pPr algn="ctr">
              <a:lnSpc>
                <a:spcPct val="103000"/>
              </a:lnSpc>
            </a:pPr>
            <a:r>
              <a:rPr sz="1250" b="1" i="0">
                <a:solidFill>
                  <a:srgbClr val="FFFFFF"/>
                </a:solidFill>
                <a:latin typeface="Cambria"/>
              </a:rPr>
              <a:t>REPORT</a:t>
            </a:r>
          </a:p>
        </p:txBody>
      </p:sp>
      <p:sp>
        <p:nvSpPr>
          <p:cNvPr id="28" name="TextBox 27"/>
          <p:cNvSpPr txBox="1"/>
          <p:nvPr/>
        </p:nvSpPr>
        <p:spPr>
          <a:xfrm>
            <a:off x="2331720" y="4663440"/>
            <a:ext cx="9144000" cy="731520"/>
          </a:xfrm>
          <a:prstGeom prst="rect">
            <a:avLst/>
          </a:prstGeom>
          <a:noFill/>
        </p:spPr>
        <p:txBody>
          <a:bodyPr wrap="square" lIns="0" rIns="0" tIns="0" bIns="0" anchor="ctr">
            <a:spAutoFit/>
          </a:bodyPr>
          <a:lstStyle/>
          <a:p>
            <a:pPr algn="l">
              <a:lnSpc>
                <a:spcPct val="103000"/>
              </a:lnSpc>
            </a:pPr>
            <a:r>
              <a:rPr sz="1050" b="0" i="0">
                <a:solidFill>
                  <a:srgbClr val="33414F"/>
                </a:solidFill>
                <a:latin typeface="Calibri"/>
              </a:rPr>
              <a:t>Submit: source, the simulation transcript showing PASS, the synthesis utilisation figures, and two sentences on what the design became in hardware. The last item is the one being assessed.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TROUBLESHOOTING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Errors Your Students Will Actually Hit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78</a:t>
            </a:r>
          </a:p>
        </p:txBody>
      </p:sp>
      <p:sp>
        <p:nvSpPr>
          <p:cNvPr id="9" name="TextBox 8"/>
          <p:cNvSpPr txBox="1"/>
          <p:nvPr/>
        </p:nvSpPr>
        <p:spPr>
          <a:xfrm>
            <a:off x="411480" y="1143000"/>
            <a:ext cx="11247120" cy="41148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Nine out of ten support questions in this topic are one of these. </a:t>
            </a:r>
            <a:r>
              <a:rPr sz="1100" b="0" i="0">
                <a:solidFill>
                  <a:srgbClr val="33414F"/>
                </a:solidFill>
                <a:latin typeface="Calibri"/>
              </a:rPr>
              <a:t>Put this table on the wall of the lab.</a:t>
            </a:r>
          </a:p>
        </p:txBody>
      </p:sp>
      <p:sp>
        <p:nvSpPr>
          <p:cNvPr id="10" name="Rectangle 9"/>
          <p:cNvSpPr/>
          <p:nvPr/>
        </p:nvSpPr>
        <p:spPr>
          <a:xfrm>
            <a:off x="411480" y="155448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5448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Symptom</a:t>
            </a:r>
          </a:p>
        </p:txBody>
      </p:sp>
      <p:sp>
        <p:nvSpPr>
          <p:cNvPr id="12" name="Rectangle 11"/>
          <p:cNvSpPr/>
          <p:nvPr/>
        </p:nvSpPr>
        <p:spPr>
          <a:xfrm>
            <a:off x="3611880" y="155448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155448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Almost always means</a:t>
            </a:r>
          </a:p>
        </p:txBody>
      </p:sp>
      <p:sp>
        <p:nvSpPr>
          <p:cNvPr id="14" name="Rectangle 13"/>
          <p:cNvSpPr/>
          <p:nvPr/>
        </p:nvSpPr>
        <p:spPr>
          <a:xfrm>
            <a:off x="7635240" y="1554480"/>
            <a:ext cx="4023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0" y="1554480"/>
            <a:ext cx="3931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Fix</a:t>
            </a:r>
          </a:p>
        </p:txBody>
      </p:sp>
      <p:sp>
        <p:nvSpPr>
          <p:cNvPr id="16" name="Rectangle 15"/>
          <p:cNvSpPr/>
          <p:nvPr/>
        </p:nvSpPr>
        <p:spPr>
          <a:xfrm>
            <a:off x="411480" y="183794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837944"/>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Output is x from time zero</a:t>
            </a:r>
          </a:p>
        </p:txBody>
      </p:sp>
      <p:sp>
        <p:nvSpPr>
          <p:cNvPr id="18" name="Rectangle 17"/>
          <p:cNvSpPr/>
          <p:nvPr/>
        </p:nvSpPr>
        <p:spPr>
          <a:xfrm>
            <a:off x="3611880" y="183794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57600" y="183794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register was never reset, or a wire has no driver</a:t>
            </a:r>
          </a:p>
        </p:txBody>
      </p:sp>
      <p:sp>
        <p:nvSpPr>
          <p:cNvPr id="20" name="Rectangle 19"/>
          <p:cNvSpPr/>
          <p:nvPr/>
        </p:nvSpPr>
        <p:spPr>
          <a:xfrm>
            <a:off x="7635240" y="1837944"/>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0" y="183794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Reset every register; check the port connections</a:t>
            </a:r>
          </a:p>
        </p:txBody>
      </p:sp>
      <p:sp>
        <p:nvSpPr>
          <p:cNvPr id="22" name="Rectangle 21"/>
          <p:cNvSpPr/>
          <p:nvPr/>
        </p:nvSpPr>
        <p:spPr>
          <a:xfrm>
            <a:off x="411480" y="212140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121408"/>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Output is x after working</a:t>
            </a:r>
          </a:p>
        </p:txBody>
      </p:sp>
      <p:sp>
        <p:nvSpPr>
          <p:cNvPr id="24" name="Rectangle 23"/>
          <p:cNvSpPr/>
          <p:nvPr/>
        </p:nvSpPr>
        <p:spPr>
          <a:xfrm>
            <a:off x="3611880" y="212140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600" y="212140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Two drivers, or reading past the end of a vector</a:t>
            </a:r>
          </a:p>
        </p:txBody>
      </p:sp>
      <p:sp>
        <p:nvSpPr>
          <p:cNvPr id="26" name="Rectangle 25"/>
          <p:cNvSpPr/>
          <p:nvPr/>
        </p:nvSpPr>
        <p:spPr>
          <a:xfrm>
            <a:off x="7635240" y="2121408"/>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0" y="212140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One signal, one driving block</a:t>
            </a:r>
          </a:p>
        </p:txBody>
      </p:sp>
      <p:sp>
        <p:nvSpPr>
          <p:cNvPr id="28" name="Rectangle 27"/>
          <p:cNvSpPr/>
          <p:nvPr/>
        </p:nvSpPr>
        <p:spPr>
          <a:xfrm>
            <a:off x="411480" y="240487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404872"/>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'Inferred latch for signal y'</a:t>
            </a:r>
          </a:p>
        </p:txBody>
      </p:sp>
      <p:sp>
        <p:nvSpPr>
          <p:cNvPr id="30" name="Rectangle 29"/>
          <p:cNvSpPr/>
          <p:nvPr/>
        </p:nvSpPr>
        <p:spPr>
          <a:xfrm>
            <a:off x="3611880" y="240487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57600" y="240487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branch of always @(*) leaves y unassigned</a:t>
            </a:r>
          </a:p>
        </p:txBody>
      </p:sp>
      <p:sp>
        <p:nvSpPr>
          <p:cNvPr id="32" name="Rectangle 31"/>
          <p:cNvSpPr/>
          <p:nvPr/>
        </p:nvSpPr>
        <p:spPr>
          <a:xfrm>
            <a:off x="7635240" y="2404872"/>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80960" y="240487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Default assignment at the top of the block</a:t>
            </a:r>
          </a:p>
        </p:txBody>
      </p:sp>
      <p:sp>
        <p:nvSpPr>
          <p:cNvPr id="34" name="Rectangle 33"/>
          <p:cNvSpPr/>
          <p:nvPr/>
        </p:nvSpPr>
        <p:spPr>
          <a:xfrm>
            <a:off x="411480" y="268833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688336"/>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Shift register is one flip-flop</a:t>
            </a:r>
          </a:p>
        </p:txBody>
      </p:sp>
      <p:sp>
        <p:nvSpPr>
          <p:cNvPr id="36" name="Rectangle 35"/>
          <p:cNvSpPr/>
          <p:nvPr/>
        </p:nvSpPr>
        <p:spPr>
          <a:xfrm>
            <a:off x="3611880" y="268833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57600" y="268833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Blocking = used in a clocked block</a:t>
            </a:r>
          </a:p>
        </p:txBody>
      </p:sp>
      <p:sp>
        <p:nvSpPr>
          <p:cNvPr id="38" name="Rectangle 37"/>
          <p:cNvSpPr/>
          <p:nvPr/>
        </p:nvSpPr>
        <p:spPr>
          <a:xfrm>
            <a:off x="7635240" y="2688336"/>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0" y="268833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Use &lt;= in every always @(posedge clk)</a:t>
            </a:r>
          </a:p>
        </p:txBody>
      </p:sp>
      <p:sp>
        <p:nvSpPr>
          <p:cNvPr id="40" name="Rectangle 39"/>
          <p:cNvSpPr/>
          <p:nvPr/>
        </p:nvSpPr>
        <p:spPr>
          <a:xfrm>
            <a:off x="411480" y="297180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2971800"/>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Result wraps at the wrong value</a:t>
            </a:r>
          </a:p>
        </p:txBody>
      </p:sp>
      <p:sp>
        <p:nvSpPr>
          <p:cNvPr id="42" name="Rectangle 41"/>
          <p:cNvSpPr/>
          <p:nvPr/>
        </p:nvSpPr>
        <p:spPr>
          <a:xfrm>
            <a:off x="3611880" y="297180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657600" y="2971800"/>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Width truncation on an expression</a:t>
            </a:r>
          </a:p>
        </p:txBody>
      </p:sp>
      <p:sp>
        <p:nvSpPr>
          <p:cNvPr id="44" name="Rectangle 43"/>
          <p:cNvSpPr/>
          <p:nvPr/>
        </p:nvSpPr>
        <p:spPr>
          <a:xfrm>
            <a:off x="7635240" y="2971800"/>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680960" y="2971800"/>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Make the target one bit wider; run Verilator</a:t>
            </a:r>
          </a:p>
        </p:txBody>
      </p:sp>
      <p:sp>
        <p:nvSpPr>
          <p:cNvPr id="46" name="Rectangle 45"/>
          <p:cNvSpPr/>
          <p:nvPr/>
        </p:nvSpPr>
        <p:spPr>
          <a:xfrm>
            <a:off x="411480" y="3255264"/>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255264"/>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Signal not found in GTKWave</a:t>
            </a:r>
          </a:p>
        </p:txBody>
      </p:sp>
      <p:sp>
        <p:nvSpPr>
          <p:cNvPr id="48" name="Rectangle 47"/>
          <p:cNvSpPr/>
          <p:nvPr/>
        </p:nvSpPr>
        <p:spPr>
          <a:xfrm>
            <a:off x="3611880" y="325526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657600" y="325526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$dumpvars scope too narrow, or the file is stale</a:t>
            </a:r>
          </a:p>
        </p:txBody>
      </p:sp>
      <p:sp>
        <p:nvSpPr>
          <p:cNvPr id="50" name="Rectangle 49"/>
          <p:cNvSpPr/>
          <p:nvPr/>
        </p:nvSpPr>
        <p:spPr>
          <a:xfrm>
            <a:off x="7635240" y="3255264"/>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680960" y="3255264"/>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$dumpvars(0, tb); and re-run before re-opening</a:t>
            </a:r>
          </a:p>
        </p:txBody>
      </p:sp>
      <p:sp>
        <p:nvSpPr>
          <p:cNvPr id="52" name="Rectangle 51"/>
          <p:cNvSpPr/>
          <p:nvPr/>
        </p:nvSpPr>
        <p:spPr>
          <a:xfrm>
            <a:off x="411480" y="3538728"/>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538728"/>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Testbench passes but hardware fails</a:t>
            </a:r>
          </a:p>
        </p:txBody>
      </p:sp>
      <p:sp>
        <p:nvSpPr>
          <p:cNvPr id="54" name="Rectangle 53"/>
          <p:cNvSpPr/>
          <p:nvPr/>
        </p:nvSpPr>
        <p:spPr>
          <a:xfrm>
            <a:off x="3611880" y="3538728"/>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3657600" y="353872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casex, full_case, or an initial block</a:t>
            </a:r>
          </a:p>
        </p:txBody>
      </p:sp>
      <p:sp>
        <p:nvSpPr>
          <p:cNvPr id="56" name="Rectangle 55"/>
          <p:cNvSpPr/>
          <p:nvPr/>
        </p:nvSpPr>
        <p:spPr>
          <a:xfrm>
            <a:off x="7635240" y="3538728"/>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7680960" y="3538728"/>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Remove all three; reset properly</a:t>
            </a:r>
          </a:p>
        </p:txBody>
      </p:sp>
      <p:sp>
        <p:nvSpPr>
          <p:cNvPr id="58" name="Rectangle 57"/>
          <p:cNvSpPr/>
          <p:nvPr/>
        </p:nvSpPr>
        <p:spPr>
          <a:xfrm>
            <a:off x="411480" y="3822192"/>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457200" y="3822192"/>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FSM is stuck in an unknown state</a:t>
            </a:r>
          </a:p>
        </p:txBody>
      </p:sp>
      <p:sp>
        <p:nvSpPr>
          <p:cNvPr id="60" name="Rectangle 59"/>
          <p:cNvSpPr/>
          <p:nvPr/>
        </p:nvSpPr>
        <p:spPr>
          <a:xfrm>
            <a:off x="3611880" y="3822192"/>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3657600" y="382219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No default branch; reset released on an edge</a:t>
            </a:r>
          </a:p>
        </p:txBody>
      </p:sp>
      <p:sp>
        <p:nvSpPr>
          <p:cNvPr id="62" name="Rectangle 61"/>
          <p:cNvSpPr/>
          <p:nvPr/>
        </p:nvSpPr>
        <p:spPr>
          <a:xfrm>
            <a:off x="7635240" y="3822192"/>
            <a:ext cx="4023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680960" y="3822192"/>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default: next = IDLE; release reset between edges</a:t>
            </a:r>
          </a:p>
        </p:txBody>
      </p:sp>
      <p:sp>
        <p:nvSpPr>
          <p:cNvPr id="64" name="Rectangle 63"/>
          <p:cNvSpPr/>
          <p:nvPr/>
        </p:nvSpPr>
        <p:spPr>
          <a:xfrm>
            <a:off x="411480" y="4105656"/>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457200" y="4105656"/>
            <a:ext cx="3108960" cy="283464"/>
          </a:xfrm>
          <a:prstGeom prst="rect">
            <a:avLst/>
          </a:prstGeom>
          <a:noFill/>
        </p:spPr>
        <p:txBody>
          <a:bodyPr wrap="square" lIns="0" rIns="0" tIns="0" bIns="0" anchor="ctr">
            <a:spAutoFit/>
          </a:bodyPr>
          <a:lstStyle/>
          <a:p>
            <a:pPr algn="ctr">
              <a:lnSpc>
                <a:spcPct val="103000"/>
              </a:lnSpc>
            </a:pPr>
            <a:r>
              <a:rPr sz="900" b="1" i="0">
                <a:solidFill>
                  <a:srgbClr val="0E2A47"/>
                </a:solidFill>
                <a:latin typeface="Calibri"/>
              </a:rPr>
              <a:t>Works at one parameter, not another</a:t>
            </a:r>
          </a:p>
        </p:txBody>
      </p:sp>
      <p:sp>
        <p:nvSpPr>
          <p:cNvPr id="66" name="Rectangle 65"/>
          <p:cNvSpPr/>
          <p:nvPr/>
        </p:nvSpPr>
        <p:spPr>
          <a:xfrm>
            <a:off x="3611880" y="4105656"/>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3657600" y="410565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A constant sliced to a width that cannot hold it</a:t>
            </a:r>
          </a:p>
        </p:txBody>
      </p:sp>
      <p:sp>
        <p:nvSpPr>
          <p:cNvPr id="68" name="Rectangle 67"/>
          <p:cNvSpPr/>
          <p:nvPr/>
        </p:nvSpPr>
        <p:spPr>
          <a:xfrm>
            <a:off x="7635240" y="4105656"/>
            <a:ext cx="4023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7680960" y="4105656"/>
            <a:ext cx="3931920" cy="283464"/>
          </a:xfrm>
          <a:prstGeom prst="rect">
            <a:avLst/>
          </a:prstGeom>
          <a:noFill/>
        </p:spPr>
        <p:txBody>
          <a:bodyPr wrap="square" lIns="0" rIns="0" tIns="0" bIns="0" anchor="ctr">
            <a:spAutoFit/>
          </a:bodyPr>
          <a:lstStyle/>
          <a:p>
            <a:pPr algn="ctr">
              <a:lnSpc>
                <a:spcPct val="103000"/>
              </a:lnSpc>
            </a:pPr>
            <a:r>
              <a:rPr sz="900" b="0" i="0">
                <a:solidFill>
                  <a:srgbClr val="33414F"/>
                </a:solidFill>
                <a:latin typeface="Calibri"/>
              </a:rPr>
              <a:t>Compute as integer; slice at the point of use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ASSESSMENT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'Done' Looks Like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79</a:t>
            </a:r>
          </a:p>
        </p:txBody>
      </p:sp>
      <p:sp>
        <p:nvSpPr>
          <p:cNvPr id="9" name="TextBox 8"/>
          <p:cNvSpPr txBox="1"/>
          <p:nvPr/>
        </p:nvSpPr>
        <p:spPr>
          <a:xfrm>
            <a:off x="411480" y="1143000"/>
            <a:ext cx="11247120" cy="548640"/>
          </a:xfrm>
          <a:prstGeom prst="rect">
            <a:avLst/>
          </a:prstGeom>
          <a:noFill/>
        </p:spPr>
        <p:txBody>
          <a:bodyPr wrap="square" lIns="0" rIns="0" tIns="0" bIns="0" anchor="t">
            <a:spAutoFit/>
          </a:bodyPr>
          <a:lstStyle/>
          <a:p>
            <a:pPr algn="l">
              <a:lnSpc>
                <a:spcPct val="103000"/>
              </a:lnSpc>
              <a:spcAft>
                <a:spcPts val="700"/>
              </a:spcAft>
            </a:pPr>
            <a:r>
              <a:rPr sz="1250" b="1" i="0">
                <a:solidFill>
                  <a:srgbClr val="0E2A47"/>
                </a:solidFill>
                <a:latin typeface="Calibri"/>
              </a:rPr>
              <a:t>Assess the hardware understanding, not the typing. </a:t>
            </a:r>
            <a:r>
              <a:rPr sz="1100" b="0" i="0">
                <a:solidFill>
                  <a:srgbClr val="33414F"/>
                </a:solidFill>
                <a:latin typeface="Calibri"/>
              </a:rPr>
              <a:t>A student who can explain what their code became has learned the topic; one whose simulation happens to pass may not have.</a:t>
            </a:r>
          </a:p>
        </p:txBody>
      </p:sp>
      <p:sp>
        <p:nvSpPr>
          <p:cNvPr id="10" name="Rectangle 9"/>
          <p:cNvSpPr/>
          <p:nvPr/>
        </p:nvSpPr>
        <p:spPr>
          <a:xfrm>
            <a:off x="411480" y="1737360"/>
            <a:ext cx="173736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737360"/>
            <a:ext cx="164592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Level</a:t>
            </a:r>
          </a:p>
        </p:txBody>
      </p:sp>
      <p:sp>
        <p:nvSpPr>
          <p:cNvPr id="12" name="Rectangle 11"/>
          <p:cNvSpPr/>
          <p:nvPr/>
        </p:nvSpPr>
        <p:spPr>
          <a:xfrm>
            <a:off x="2148840" y="1737360"/>
            <a:ext cx="9509760" cy="45720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94560" y="1737360"/>
            <a:ext cx="9418320" cy="45720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Evidence</a:t>
            </a:r>
          </a:p>
        </p:txBody>
      </p:sp>
      <p:sp>
        <p:nvSpPr>
          <p:cNvPr id="14" name="Rectangle 13"/>
          <p:cNvSpPr/>
          <p:nvPr/>
        </p:nvSpPr>
        <p:spPr>
          <a:xfrm>
            <a:off x="411480" y="2194560"/>
            <a:ext cx="1737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7200" y="21945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Pass</a:t>
            </a:r>
          </a:p>
        </p:txBody>
      </p:sp>
      <p:sp>
        <p:nvSpPr>
          <p:cNvPr id="16" name="Rectangle 15"/>
          <p:cNvSpPr/>
          <p:nvPr/>
        </p:nvSpPr>
        <p:spPr>
          <a:xfrm>
            <a:off x="2148840" y="2194560"/>
            <a:ext cx="95097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94560" y="21945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Design compiles, lint is clean, the supplied testbench prints PASS, and synthesis reports no inferred latches.</a:t>
            </a:r>
          </a:p>
        </p:txBody>
      </p:sp>
      <p:sp>
        <p:nvSpPr>
          <p:cNvPr id="18" name="Rectangle 17"/>
          <p:cNvSpPr/>
          <p:nvPr/>
        </p:nvSpPr>
        <p:spPr>
          <a:xfrm>
            <a:off x="411480" y="2651760"/>
            <a:ext cx="1737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26517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Good</a:t>
            </a:r>
          </a:p>
        </p:txBody>
      </p:sp>
      <p:sp>
        <p:nvSpPr>
          <p:cNvPr id="20" name="Rectangle 19"/>
          <p:cNvSpPr/>
          <p:nvPr/>
        </p:nvSpPr>
        <p:spPr>
          <a:xfrm>
            <a:off x="2148840" y="2651760"/>
            <a:ext cx="95097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94560" y="26517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the student predicted the flip-flop count correctly and can point to which lines produced them.</a:t>
            </a:r>
          </a:p>
        </p:txBody>
      </p:sp>
      <p:sp>
        <p:nvSpPr>
          <p:cNvPr id="22" name="Rectangle 21"/>
          <p:cNvSpPr/>
          <p:nvPr/>
        </p:nvSpPr>
        <p:spPr>
          <a:xfrm>
            <a:off x="411480" y="3108960"/>
            <a:ext cx="17373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31089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Strong</a:t>
            </a:r>
          </a:p>
        </p:txBody>
      </p:sp>
      <p:sp>
        <p:nvSpPr>
          <p:cNvPr id="24" name="Rectangle 23"/>
          <p:cNvSpPr/>
          <p:nvPr/>
        </p:nvSpPr>
        <p:spPr>
          <a:xfrm>
            <a:off x="2148840" y="3108960"/>
            <a:ext cx="9509760" cy="45720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94560" y="31089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a self-checking testbench of the student's own with a reference model, and a sensible explanation of the timing report.</a:t>
            </a:r>
          </a:p>
        </p:txBody>
      </p:sp>
      <p:sp>
        <p:nvSpPr>
          <p:cNvPr id="26" name="Rectangle 25"/>
          <p:cNvSpPr/>
          <p:nvPr/>
        </p:nvSpPr>
        <p:spPr>
          <a:xfrm>
            <a:off x="411480" y="3566160"/>
            <a:ext cx="17373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7200" y="3566160"/>
            <a:ext cx="1645920" cy="45720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Excellent</a:t>
            </a:r>
          </a:p>
        </p:txBody>
      </p:sp>
      <p:sp>
        <p:nvSpPr>
          <p:cNvPr id="28" name="Rectangle 27"/>
          <p:cNvSpPr/>
          <p:nvPr/>
        </p:nvSpPr>
        <p:spPr>
          <a:xfrm>
            <a:off x="2148840" y="3566160"/>
            <a:ext cx="9509760" cy="45720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94560" y="3566160"/>
            <a:ext cx="9418320" cy="45720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plus: the student found and diagnosed a real bug — theirs or a planted one — and can explain which stage of the flow should have caught it and why it did not.</a:t>
            </a:r>
          </a:p>
        </p:txBody>
      </p:sp>
      <p:sp>
        <p:nvSpPr>
          <p:cNvPr id="30" name="Rounded Rectangle 29"/>
          <p:cNvSpPr/>
          <p:nvPr/>
        </p:nvSpPr>
        <p:spPr>
          <a:xfrm>
            <a:off x="411480" y="4114800"/>
            <a:ext cx="11247120" cy="776224"/>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76072" y="41788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One question to ask every student, every session</a:t>
            </a:r>
          </a:p>
        </p:txBody>
      </p:sp>
      <p:sp>
        <p:nvSpPr>
          <p:cNvPr id="32" name="TextBox 31"/>
          <p:cNvSpPr txBox="1"/>
          <p:nvPr/>
        </p:nvSpPr>
        <p:spPr>
          <a:xfrm>
            <a:off x="576072" y="4453128"/>
            <a:ext cx="10917936" cy="373888"/>
          </a:xfrm>
          <a:prstGeom prst="rect">
            <a:avLst/>
          </a:prstGeom>
          <a:noFill/>
        </p:spPr>
        <p:txBody>
          <a:bodyPr wrap="square" lIns="0" rIns="0" tIns="0" bIns="0" anchor="t">
            <a:spAutoFit/>
          </a:bodyPr>
          <a:lstStyle/>
          <a:p>
            <a:pPr algn="l">
              <a:lnSpc>
                <a:spcPct val="103000"/>
              </a:lnSpc>
              <a:spcAft>
                <a:spcPts val="400"/>
              </a:spcAft>
            </a:pPr>
            <a:r>
              <a:rPr sz="1100" b="1" i="0">
                <a:solidFill>
                  <a:srgbClr val="1B9AAA"/>
                </a:solidFill>
                <a:latin typeface="Calibri"/>
              </a:rPr>
              <a:t>"Point at a line and tell me what it became." </a:t>
            </a:r>
            <a:r>
              <a:rPr sz="1100" b="0" i="0">
                <a:solidFill>
                  <a:srgbClr val="33414F"/>
                </a:solidFill>
                <a:latin typeface="Calibri"/>
              </a:rPr>
              <a:t>If the answer is fluent, they have understood RTL design. If it is 'it assigns y', go back to the inference map.</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GLOSSARY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Terms Used in This Topic — 1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80</a:t>
            </a:r>
          </a:p>
        </p:txBody>
      </p:sp>
      <p:sp>
        <p:nvSpPr>
          <p:cNvPr id="9" name="Rectangle 8"/>
          <p:cNvSpPr/>
          <p:nvPr/>
        </p:nvSpPr>
        <p:spPr>
          <a:xfrm>
            <a:off x="411480" y="1143000"/>
            <a:ext cx="237744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Term</a:t>
            </a:r>
          </a:p>
        </p:txBody>
      </p:sp>
      <p:sp>
        <p:nvSpPr>
          <p:cNvPr id="11" name="Rectangle 10"/>
          <p:cNvSpPr/>
          <p:nvPr/>
        </p:nvSpPr>
        <p:spPr>
          <a:xfrm>
            <a:off x="2788920" y="1143000"/>
            <a:ext cx="88696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87782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Meaning</a:t>
            </a:r>
          </a:p>
        </p:txBody>
      </p:sp>
      <p:sp>
        <p:nvSpPr>
          <p:cNvPr id="13" name="Rectangle 12"/>
          <p:cNvSpPr/>
          <p:nvPr/>
        </p:nvSpPr>
        <p:spPr>
          <a:xfrm>
            <a:off x="411480" y="1472184"/>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200" y="147218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RTL</a:t>
            </a:r>
          </a:p>
        </p:txBody>
      </p:sp>
      <p:sp>
        <p:nvSpPr>
          <p:cNvPr id="15" name="Rectangle 14"/>
          <p:cNvSpPr/>
          <p:nvPr/>
        </p:nvSpPr>
        <p:spPr>
          <a:xfrm>
            <a:off x="2788920" y="1472184"/>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834640" y="147218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Register-transfer level — describing what happens to data between clock edges, without specifying gates.</a:t>
            </a:r>
          </a:p>
        </p:txBody>
      </p:sp>
      <p:sp>
        <p:nvSpPr>
          <p:cNvPr id="17" name="Rectangle 16"/>
          <p:cNvSpPr/>
          <p:nvPr/>
        </p:nvSpPr>
        <p:spPr>
          <a:xfrm>
            <a:off x="411480" y="1801368"/>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80136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Synthesis</a:t>
            </a:r>
          </a:p>
        </p:txBody>
      </p:sp>
      <p:sp>
        <p:nvSpPr>
          <p:cNvPr id="19" name="Rectangle 18"/>
          <p:cNvSpPr/>
          <p:nvPr/>
        </p:nvSpPr>
        <p:spPr>
          <a:xfrm>
            <a:off x="2788920" y="1801368"/>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34640" y="180136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Translating RTL into a gate-level netlist for a target technology.</a:t>
            </a:r>
          </a:p>
        </p:txBody>
      </p:sp>
      <p:sp>
        <p:nvSpPr>
          <p:cNvPr id="21" name="Rectangle 20"/>
          <p:cNvSpPr/>
          <p:nvPr/>
        </p:nvSpPr>
        <p:spPr>
          <a:xfrm>
            <a:off x="411480" y="2130552"/>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2130552"/>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Netlist</a:t>
            </a:r>
          </a:p>
        </p:txBody>
      </p:sp>
      <p:sp>
        <p:nvSpPr>
          <p:cNvPr id="23" name="Rectangle 22"/>
          <p:cNvSpPr/>
          <p:nvPr/>
        </p:nvSpPr>
        <p:spPr>
          <a:xfrm>
            <a:off x="2788920" y="2130552"/>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34640" y="2130552"/>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list of gates and flip-flops and the wires between them — what synthesis outputs.</a:t>
            </a:r>
          </a:p>
        </p:txBody>
      </p:sp>
      <p:sp>
        <p:nvSpPr>
          <p:cNvPr id="25" name="Rectangle 24"/>
          <p:cNvSpPr/>
          <p:nvPr/>
        </p:nvSpPr>
        <p:spPr>
          <a:xfrm>
            <a:off x="411480" y="2459736"/>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2459736"/>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Inference</a:t>
            </a:r>
          </a:p>
        </p:txBody>
      </p:sp>
      <p:sp>
        <p:nvSpPr>
          <p:cNvPr id="27" name="Rectangle 26"/>
          <p:cNvSpPr/>
          <p:nvPr/>
        </p:nvSpPr>
        <p:spPr>
          <a:xfrm>
            <a:off x="2788920" y="2459736"/>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834640" y="2459736"/>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synthesiser recognising a code pattern and producing the corresponding hardware.</a:t>
            </a:r>
          </a:p>
        </p:txBody>
      </p:sp>
      <p:sp>
        <p:nvSpPr>
          <p:cNvPr id="29" name="Rectangle 28"/>
          <p:cNvSpPr/>
          <p:nvPr/>
        </p:nvSpPr>
        <p:spPr>
          <a:xfrm>
            <a:off x="411480" y="2788920"/>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2788920"/>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Latch</a:t>
            </a:r>
          </a:p>
        </p:txBody>
      </p:sp>
      <p:sp>
        <p:nvSpPr>
          <p:cNvPr id="31" name="Rectangle 30"/>
          <p:cNvSpPr/>
          <p:nvPr/>
        </p:nvSpPr>
        <p:spPr>
          <a:xfrm>
            <a:off x="2788920" y="2788920"/>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834640" y="2788920"/>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Level-sensitive storage. Transparent while enabled. In RTL, almost always an accident.</a:t>
            </a:r>
          </a:p>
        </p:txBody>
      </p:sp>
      <p:sp>
        <p:nvSpPr>
          <p:cNvPr id="33" name="Rectangle 32"/>
          <p:cNvSpPr/>
          <p:nvPr/>
        </p:nvSpPr>
        <p:spPr>
          <a:xfrm>
            <a:off x="411480" y="3118104"/>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311810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Flip-flop</a:t>
            </a:r>
          </a:p>
        </p:txBody>
      </p:sp>
      <p:sp>
        <p:nvSpPr>
          <p:cNvPr id="35" name="Rectangle 34"/>
          <p:cNvSpPr/>
          <p:nvPr/>
        </p:nvSpPr>
        <p:spPr>
          <a:xfrm>
            <a:off x="2788920" y="3118104"/>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311810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Edge-triggered storage. Captures its input at one clock edge and holds it until the next.</a:t>
            </a:r>
          </a:p>
        </p:txBody>
      </p:sp>
      <p:sp>
        <p:nvSpPr>
          <p:cNvPr id="37" name="Rectangle 36"/>
          <p:cNvSpPr/>
          <p:nvPr/>
        </p:nvSpPr>
        <p:spPr>
          <a:xfrm>
            <a:off x="411480" y="3447288"/>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7200" y="344728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Blocking (=)</a:t>
            </a:r>
          </a:p>
        </p:txBody>
      </p:sp>
      <p:sp>
        <p:nvSpPr>
          <p:cNvPr id="39" name="Rectangle 38"/>
          <p:cNvSpPr/>
          <p:nvPr/>
        </p:nvSpPr>
        <p:spPr>
          <a:xfrm>
            <a:off x="2788920" y="3447288"/>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834640" y="344728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Assignment that takes effect immediately, before the next statement. Combinational blocks only.</a:t>
            </a:r>
          </a:p>
        </p:txBody>
      </p:sp>
      <p:sp>
        <p:nvSpPr>
          <p:cNvPr id="41" name="Rectangle 40"/>
          <p:cNvSpPr/>
          <p:nvPr/>
        </p:nvSpPr>
        <p:spPr>
          <a:xfrm>
            <a:off x="411480" y="3776472"/>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3776472"/>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Non-blocking (&lt;=)</a:t>
            </a:r>
          </a:p>
        </p:txBody>
      </p:sp>
      <p:sp>
        <p:nvSpPr>
          <p:cNvPr id="43" name="Rectangle 42"/>
          <p:cNvSpPr/>
          <p:nvPr/>
        </p:nvSpPr>
        <p:spPr>
          <a:xfrm>
            <a:off x="2788920" y="3776472"/>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834640" y="3776472"/>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Assignment scheduled to take effect at the end of the time step. Clocked blocks only.</a:t>
            </a:r>
          </a:p>
        </p:txBody>
      </p:sp>
      <p:sp>
        <p:nvSpPr>
          <p:cNvPr id="45" name="Rectangle 44"/>
          <p:cNvSpPr/>
          <p:nvPr/>
        </p:nvSpPr>
        <p:spPr>
          <a:xfrm>
            <a:off x="411480" y="4105656"/>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4105656"/>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Sensitivity list</a:t>
            </a:r>
          </a:p>
        </p:txBody>
      </p:sp>
      <p:sp>
        <p:nvSpPr>
          <p:cNvPr id="47" name="Rectangle 46"/>
          <p:cNvSpPr/>
          <p:nvPr/>
        </p:nvSpPr>
        <p:spPr>
          <a:xfrm>
            <a:off x="2788920" y="4105656"/>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834640" y="4105656"/>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The events that make a procedural block run. @(*) for combinational, @(posedge clk) for clocked.</a:t>
            </a:r>
          </a:p>
        </p:txBody>
      </p:sp>
      <p:sp>
        <p:nvSpPr>
          <p:cNvPr id="49" name="Rectangle 48"/>
          <p:cNvSpPr/>
          <p:nvPr/>
        </p:nvSpPr>
        <p:spPr>
          <a:xfrm>
            <a:off x="411480" y="4434840"/>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4434840"/>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Net / variable</a:t>
            </a:r>
          </a:p>
        </p:txBody>
      </p:sp>
      <p:sp>
        <p:nvSpPr>
          <p:cNvPr id="51" name="Rectangle 50"/>
          <p:cNvSpPr/>
          <p:nvPr/>
        </p:nvSpPr>
        <p:spPr>
          <a:xfrm>
            <a:off x="2788920" y="4434840"/>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834640" y="4434840"/>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wire is a net, driven continuously; reg is a variable, assigned inside a procedural block.</a:t>
            </a:r>
          </a:p>
        </p:txBody>
      </p:sp>
      <p:sp>
        <p:nvSpPr>
          <p:cNvPr id="53" name="Rectangle 52"/>
          <p:cNvSpPr/>
          <p:nvPr/>
        </p:nvSpPr>
        <p:spPr>
          <a:xfrm>
            <a:off x="411480" y="4764024"/>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7200" y="476402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Four-state logic</a:t>
            </a:r>
          </a:p>
        </p:txBody>
      </p:sp>
      <p:sp>
        <p:nvSpPr>
          <p:cNvPr id="55" name="Rectangle 54"/>
          <p:cNvSpPr/>
          <p:nvPr/>
        </p:nvSpPr>
        <p:spPr>
          <a:xfrm>
            <a:off x="2788920" y="4764024"/>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834640" y="476402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0, 1, x (unknown) and z (high impedance).</a:t>
            </a:r>
          </a:p>
        </p:txBody>
      </p:sp>
      <p:sp>
        <p:nvSpPr>
          <p:cNvPr id="57" name="Rectangle 56"/>
          <p:cNvSpPr/>
          <p:nvPr/>
        </p:nvSpPr>
        <p:spPr>
          <a:xfrm>
            <a:off x="411480" y="5093208"/>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509320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Elaboration</a:t>
            </a:r>
          </a:p>
        </p:txBody>
      </p:sp>
      <p:sp>
        <p:nvSpPr>
          <p:cNvPr id="59" name="Rectangle 58"/>
          <p:cNvSpPr/>
          <p:nvPr/>
        </p:nvSpPr>
        <p:spPr>
          <a:xfrm>
            <a:off x="2788920" y="5093208"/>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2834640" y="509320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Building the design hierarchy and resolving parameters and generate blocks, before simulation.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GLOSSARY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Terms Used in This Topic — 2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81</a:t>
            </a:r>
          </a:p>
        </p:txBody>
      </p:sp>
      <p:sp>
        <p:nvSpPr>
          <p:cNvPr id="9" name="Rectangle 8"/>
          <p:cNvSpPr/>
          <p:nvPr/>
        </p:nvSpPr>
        <p:spPr>
          <a:xfrm>
            <a:off x="411480" y="1143000"/>
            <a:ext cx="237744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Term</a:t>
            </a:r>
          </a:p>
        </p:txBody>
      </p:sp>
      <p:sp>
        <p:nvSpPr>
          <p:cNvPr id="11" name="Rectangle 10"/>
          <p:cNvSpPr/>
          <p:nvPr/>
        </p:nvSpPr>
        <p:spPr>
          <a:xfrm>
            <a:off x="2788920" y="1143000"/>
            <a:ext cx="88696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87782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Meaning</a:t>
            </a:r>
          </a:p>
        </p:txBody>
      </p:sp>
      <p:sp>
        <p:nvSpPr>
          <p:cNvPr id="13" name="Rectangle 12"/>
          <p:cNvSpPr/>
          <p:nvPr/>
        </p:nvSpPr>
        <p:spPr>
          <a:xfrm>
            <a:off x="411480" y="1472184"/>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200" y="147218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FSM</a:t>
            </a:r>
          </a:p>
        </p:txBody>
      </p:sp>
      <p:sp>
        <p:nvSpPr>
          <p:cNvPr id="15" name="Rectangle 14"/>
          <p:cNvSpPr/>
          <p:nvPr/>
        </p:nvSpPr>
        <p:spPr>
          <a:xfrm>
            <a:off x="2788920" y="1472184"/>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834640" y="147218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Finite state machine — a state register plus next-state and output logic.</a:t>
            </a:r>
          </a:p>
        </p:txBody>
      </p:sp>
      <p:sp>
        <p:nvSpPr>
          <p:cNvPr id="17" name="Rectangle 16"/>
          <p:cNvSpPr/>
          <p:nvPr/>
        </p:nvSpPr>
        <p:spPr>
          <a:xfrm>
            <a:off x="411480" y="1801368"/>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80136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Moore / Mealy</a:t>
            </a:r>
          </a:p>
        </p:txBody>
      </p:sp>
      <p:sp>
        <p:nvSpPr>
          <p:cNvPr id="19" name="Rectangle 18"/>
          <p:cNvSpPr/>
          <p:nvPr/>
        </p:nvSpPr>
        <p:spPr>
          <a:xfrm>
            <a:off x="2788920" y="1801368"/>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34640" y="180136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Outputs from state alone / from state and inputs.</a:t>
            </a:r>
          </a:p>
        </p:txBody>
      </p:sp>
      <p:sp>
        <p:nvSpPr>
          <p:cNvPr id="21" name="Rectangle 20"/>
          <p:cNvSpPr/>
          <p:nvPr/>
        </p:nvSpPr>
        <p:spPr>
          <a:xfrm>
            <a:off x="411480" y="2130552"/>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2130552"/>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One-hot</a:t>
            </a:r>
          </a:p>
        </p:txBody>
      </p:sp>
      <p:sp>
        <p:nvSpPr>
          <p:cNvPr id="23" name="Rectangle 22"/>
          <p:cNvSpPr/>
          <p:nvPr/>
        </p:nvSpPr>
        <p:spPr>
          <a:xfrm>
            <a:off x="2788920" y="2130552"/>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34640" y="2130552"/>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state encoding using one flip-flop per state, exactly one of which is 1.</a:t>
            </a:r>
          </a:p>
        </p:txBody>
      </p:sp>
      <p:sp>
        <p:nvSpPr>
          <p:cNvPr id="25" name="Rectangle 24"/>
          <p:cNvSpPr/>
          <p:nvPr/>
        </p:nvSpPr>
        <p:spPr>
          <a:xfrm>
            <a:off x="411480" y="2459736"/>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2459736"/>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FSMD</a:t>
            </a:r>
          </a:p>
        </p:txBody>
      </p:sp>
      <p:sp>
        <p:nvSpPr>
          <p:cNvPr id="27" name="Rectangle 26"/>
          <p:cNvSpPr/>
          <p:nvPr/>
        </p:nvSpPr>
        <p:spPr>
          <a:xfrm>
            <a:off x="2788920" y="2459736"/>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834640" y="2459736"/>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Finite state machine with a datapath — a controller plus registers and arithmetic it steers.</a:t>
            </a:r>
          </a:p>
        </p:txBody>
      </p:sp>
      <p:sp>
        <p:nvSpPr>
          <p:cNvPr id="29" name="Rectangle 28"/>
          <p:cNvSpPr/>
          <p:nvPr/>
        </p:nvSpPr>
        <p:spPr>
          <a:xfrm>
            <a:off x="411480" y="2788920"/>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2788920"/>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Metastability</a:t>
            </a:r>
          </a:p>
        </p:txBody>
      </p:sp>
      <p:sp>
        <p:nvSpPr>
          <p:cNvPr id="31" name="Rectangle 30"/>
          <p:cNvSpPr/>
          <p:nvPr/>
        </p:nvSpPr>
        <p:spPr>
          <a:xfrm>
            <a:off x="2788920" y="2788920"/>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834640" y="2788920"/>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flip-flop's output settling unpredictably after a setup or hold violation.</a:t>
            </a:r>
          </a:p>
        </p:txBody>
      </p:sp>
      <p:sp>
        <p:nvSpPr>
          <p:cNvPr id="33" name="Rectangle 32"/>
          <p:cNvSpPr/>
          <p:nvPr/>
        </p:nvSpPr>
        <p:spPr>
          <a:xfrm>
            <a:off x="411480" y="3118104"/>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311810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CDC</a:t>
            </a:r>
          </a:p>
        </p:txBody>
      </p:sp>
      <p:sp>
        <p:nvSpPr>
          <p:cNvPr id="35" name="Rectangle 34"/>
          <p:cNvSpPr/>
          <p:nvPr/>
        </p:nvSpPr>
        <p:spPr>
          <a:xfrm>
            <a:off x="2788920" y="3118104"/>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311810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Clock domain crossing — moving a signal between two unrelated clocks.</a:t>
            </a:r>
          </a:p>
        </p:txBody>
      </p:sp>
      <p:sp>
        <p:nvSpPr>
          <p:cNvPr id="37" name="Rectangle 36"/>
          <p:cNvSpPr/>
          <p:nvPr/>
        </p:nvSpPr>
        <p:spPr>
          <a:xfrm>
            <a:off x="411480" y="3447288"/>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7200" y="344728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Synchroniser</a:t>
            </a:r>
          </a:p>
        </p:txBody>
      </p:sp>
      <p:sp>
        <p:nvSpPr>
          <p:cNvPr id="39" name="Rectangle 38"/>
          <p:cNvSpPr/>
          <p:nvPr/>
        </p:nvSpPr>
        <p:spPr>
          <a:xfrm>
            <a:off x="2788920" y="3447288"/>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2834640" y="344728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Two or more chained flip-flops that give metastability time to decay.</a:t>
            </a:r>
          </a:p>
        </p:txBody>
      </p:sp>
      <p:sp>
        <p:nvSpPr>
          <p:cNvPr id="41" name="Rectangle 40"/>
          <p:cNvSpPr/>
          <p:nvPr/>
        </p:nvSpPr>
        <p:spPr>
          <a:xfrm>
            <a:off x="411480" y="3776472"/>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3776472"/>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Pipelining</a:t>
            </a:r>
          </a:p>
        </p:txBody>
      </p:sp>
      <p:sp>
        <p:nvSpPr>
          <p:cNvPr id="43" name="Rectangle 42"/>
          <p:cNvSpPr/>
          <p:nvPr/>
        </p:nvSpPr>
        <p:spPr>
          <a:xfrm>
            <a:off x="2788920" y="3776472"/>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834640" y="3776472"/>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Inserting registers to shorten the longest combinational path, raising throughput at the cost of latency.</a:t>
            </a:r>
          </a:p>
        </p:txBody>
      </p:sp>
      <p:sp>
        <p:nvSpPr>
          <p:cNvPr id="45" name="Rectangle 44"/>
          <p:cNvSpPr/>
          <p:nvPr/>
        </p:nvSpPr>
        <p:spPr>
          <a:xfrm>
            <a:off x="411480" y="4105656"/>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4105656"/>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Slack / WNS</a:t>
            </a:r>
          </a:p>
        </p:txBody>
      </p:sp>
      <p:sp>
        <p:nvSpPr>
          <p:cNvPr id="47" name="Rectangle 46"/>
          <p:cNvSpPr/>
          <p:nvPr/>
        </p:nvSpPr>
        <p:spPr>
          <a:xfrm>
            <a:off x="2788920" y="4105656"/>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834640" y="4105656"/>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Time left over on a timing path; worst negative slack is the worst such path in the design.</a:t>
            </a:r>
          </a:p>
        </p:txBody>
      </p:sp>
      <p:sp>
        <p:nvSpPr>
          <p:cNvPr id="49" name="Rectangle 48"/>
          <p:cNvSpPr/>
          <p:nvPr/>
        </p:nvSpPr>
        <p:spPr>
          <a:xfrm>
            <a:off x="411480" y="4434840"/>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4434840"/>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Testbench</a:t>
            </a:r>
          </a:p>
        </p:txBody>
      </p:sp>
      <p:sp>
        <p:nvSpPr>
          <p:cNvPr id="51" name="Rectangle 50"/>
          <p:cNvSpPr/>
          <p:nvPr/>
        </p:nvSpPr>
        <p:spPr>
          <a:xfrm>
            <a:off x="2788920" y="4434840"/>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834640" y="4434840"/>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 port-less module that instantiates the design, drives it, and checks the results automatically.</a:t>
            </a:r>
          </a:p>
        </p:txBody>
      </p:sp>
      <p:sp>
        <p:nvSpPr>
          <p:cNvPr id="53" name="Rectangle 52"/>
          <p:cNvSpPr/>
          <p:nvPr/>
        </p:nvSpPr>
        <p:spPr>
          <a:xfrm>
            <a:off x="411480" y="4764024"/>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7200" y="4764024"/>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Scoreboard</a:t>
            </a:r>
          </a:p>
        </p:txBody>
      </p:sp>
      <p:sp>
        <p:nvSpPr>
          <p:cNvPr id="55" name="Rectangle 54"/>
          <p:cNvSpPr/>
          <p:nvPr/>
        </p:nvSpPr>
        <p:spPr>
          <a:xfrm>
            <a:off x="2788920" y="4764024"/>
            <a:ext cx="8869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2834640" y="4764024"/>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An independent model of expected behaviour, written from the specification, that the testbench compares against.</a:t>
            </a:r>
          </a:p>
        </p:txBody>
      </p:sp>
      <p:sp>
        <p:nvSpPr>
          <p:cNvPr id="57" name="Rectangle 56"/>
          <p:cNvSpPr/>
          <p:nvPr/>
        </p:nvSpPr>
        <p:spPr>
          <a:xfrm>
            <a:off x="411480" y="5093208"/>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5093208"/>
            <a:ext cx="2286000" cy="329184"/>
          </a:xfrm>
          <a:prstGeom prst="rect">
            <a:avLst/>
          </a:prstGeom>
          <a:noFill/>
        </p:spPr>
        <p:txBody>
          <a:bodyPr wrap="square" lIns="0" rIns="0" tIns="0" bIns="0" anchor="ctr">
            <a:spAutoFit/>
          </a:bodyPr>
          <a:lstStyle/>
          <a:p>
            <a:pPr algn="ctr">
              <a:lnSpc>
                <a:spcPct val="103000"/>
              </a:lnSpc>
            </a:pPr>
            <a:r>
              <a:rPr sz="950" b="1" i="0">
                <a:solidFill>
                  <a:srgbClr val="0E2A47"/>
                </a:solidFill>
                <a:latin typeface="Calibri"/>
              </a:rPr>
              <a:t>VCD</a:t>
            </a:r>
          </a:p>
        </p:txBody>
      </p:sp>
      <p:sp>
        <p:nvSpPr>
          <p:cNvPr id="59" name="Rectangle 58"/>
          <p:cNvSpPr/>
          <p:nvPr/>
        </p:nvSpPr>
        <p:spPr>
          <a:xfrm>
            <a:off x="2788920" y="5093208"/>
            <a:ext cx="8869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2834640" y="5093208"/>
            <a:ext cx="8778240" cy="329184"/>
          </a:xfrm>
          <a:prstGeom prst="rect">
            <a:avLst/>
          </a:prstGeom>
          <a:noFill/>
        </p:spPr>
        <p:txBody>
          <a:bodyPr wrap="square" lIns="0" rIns="0" tIns="0" bIns="0" anchor="ctr">
            <a:spAutoFit/>
          </a:bodyPr>
          <a:lstStyle/>
          <a:p>
            <a:pPr algn="ctr">
              <a:lnSpc>
                <a:spcPct val="103000"/>
              </a:lnSpc>
            </a:pPr>
            <a:r>
              <a:rPr sz="950" b="0" i="0">
                <a:solidFill>
                  <a:srgbClr val="33414F"/>
                </a:solidFill>
                <a:latin typeface="Calibri"/>
              </a:rPr>
              <a:t>Value Change Dump — the waveform file format $dumpvars writes and GTKWave reads.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4 · RECAP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Ten Things That Matter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4: RTL Design Using HDL</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M2-T4 · 82</a:t>
            </a:r>
          </a:p>
        </p:txBody>
      </p:sp>
      <p:sp>
        <p:nvSpPr>
          <p:cNvPr id="9" name="TextBox 8"/>
          <p:cNvSpPr txBox="1"/>
          <p:nvPr/>
        </p:nvSpPr>
        <p:spPr>
          <a:xfrm>
            <a:off x="411480" y="1143000"/>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0" name="TextBox 9"/>
          <p:cNvSpPr txBox="1"/>
          <p:nvPr/>
        </p:nvSpPr>
        <p:spPr>
          <a:xfrm>
            <a:off x="640080" y="1143000"/>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Verilog describes hardware. Sketch the circuit first, then write the code that describes it.</a:t>
            </a:r>
          </a:p>
        </p:txBody>
      </p:sp>
      <p:sp>
        <p:nvSpPr>
          <p:cNvPr id="11" name="TextBox 10"/>
          <p:cNvSpPr txBox="1"/>
          <p:nvPr/>
        </p:nvSpPr>
        <p:spPr>
          <a:xfrm>
            <a:off x="411480" y="1472184"/>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2" name="TextBox 11"/>
          <p:cNvSpPr txBox="1"/>
          <p:nvPr/>
        </p:nvSpPr>
        <p:spPr>
          <a:xfrm>
            <a:off x="640080" y="1472184"/>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reg is not a register. What you assign it with, and in what block, decides the hardware.</a:t>
            </a:r>
          </a:p>
        </p:txBody>
      </p:sp>
      <p:sp>
        <p:nvSpPr>
          <p:cNvPr id="13" name="TextBox 12"/>
          <p:cNvSpPr txBox="1"/>
          <p:nvPr/>
        </p:nvSpPr>
        <p:spPr>
          <a:xfrm>
            <a:off x="411480" y="1801368"/>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4" name="TextBox 13"/>
          <p:cNvSpPr txBox="1"/>
          <p:nvPr/>
        </p:nvSpPr>
        <p:spPr>
          <a:xfrm>
            <a:off x="640080" y="1801368"/>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Three constructs: </a:t>
            </a:r>
            <a:r>
              <a:rPr sz="1100" b="1" i="0">
                <a:solidFill>
                  <a:srgbClr val="0E2A47"/>
                </a:solidFill>
                <a:latin typeface="Consolas"/>
              </a:rPr>
              <a:t>assign</a:t>
            </a:r>
            <a:r>
              <a:rPr sz="1100" b="0" i="0">
                <a:solidFill>
                  <a:srgbClr val="33414F"/>
                </a:solidFill>
                <a:latin typeface="Calibri"/>
              </a:rPr>
              <a:t>, </a:t>
            </a:r>
            <a:r>
              <a:rPr sz="1100" b="1" i="0">
                <a:solidFill>
                  <a:srgbClr val="0E2A47"/>
                </a:solidFill>
                <a:latin typeface="Consolas"/>
              </a:rPr>
              <a:t>always @(*)</a:t>
            </a:r>
            <a:r>
              <a:rPr sz="1100" b="0" i="0">
                <a:solidFill>
                  <a:srgbClr val="33414F"/>
                </a:solidFill>
                <a:latin typeface="Calibri"/>
              </a:rPr>
              <a:t>, </a:t>
            </a:r>
            <a:r>
              <a:rPr sz="1100" b="1" i="0">
                <a:solidFill>
                  <a:srgbClr val="0E2A47"/>
                </a:solidFill>
                <a:latin typeface="Consolas"/>
              </a:rPr>
              <a:t>always @(posedge clk)</a:t>
            </a:r>
            <a:r>
              <a:rPr sz="1100" b="0" i="0">
                <a:solidFill>
                  <a:srgbClr val="33414F"/>
                </a:solidFill>
                <a:latin typeface="Calibri"/>
              </a:rPr>
              <a:t>. Know what each becomes.</a:t>
            </a:r>
          </a:p>
        </p:txBody>
      </p:sp>
      <p:sp>
        <p:nvSpPr>
          <p:cNvPr id="15" name="TextBox 14"/>
          <p:cNvSpPr txBox="1"/>
          <p:nvPr/>
        </p:nvSpPr>
        <p:spPr>
          <a:xfrm>
            <a:off x="411480" y="2130552"/>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6" name="TextBox 15"/>
          <p:cNvSpPr txBox="1"/>
          <p:nvPr/>
        </p:nvSpPr>
        <p:spPr>
          <a:xfrm>
            <a:off x="640080" y="2130552"/>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 in combinational blocks, &lt;= in clocked blocks. Never mix them for one variable.</a:t>
            </a:r>
          </a:p>
        </p:txBody>
      </p:sp>
      <p:sp>
        <p:nvSpPr>
          <p:cNvPr id="17" name="TextBox 16"/>
          <p:cNvSpPr txBox="1"/>
          <p:nvPr/>
        </p:nvSpPr>
        <p:spPr>
          <a:xfrm>
            <a:off x="411480" y="2459736"/>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18" name="TextBox 17"/>
          <p:cNvSpPr txBox="1"/>
          <p:nvPr/>
        </p:nvSpPr>
        <p:spPr>
          <a:xfrm>
            <a:off x="640080" y="2459736"/>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Assign every output on every path, or you get a latch. Default first, then override.</a:t>
            </a:r>
          </a:p>
        </p:txBody>
      </p:sp>
      <p:sp>
        <p:nvSpPr>
          <p:cNvPr id="19" name="TextBox 18"/>
          <p:cNvSpPr txBox="1"/>
          <p:nvPr/>
        </p:nvSpPr>
        <p:spPr>
          <a:xfrm>
            <a:off x="411480" y="2788920"/>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0" name="TextBox 19"/>
          <p:cNvSpPr txBox="1"/>
          <p:nvPr/>
        </p:nvSpPr>
        <p:spPr>
          <a:xfrm>
            <a:off x="640080" y="2788920"/>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Size every literal. Width truncation is silent, and it is the bug that comes back.</a:t>
            </a:r>
          </a:p>
        </p:txBody>
      </p:sp>
      <p:sp>
        <p:nvSpPr>
          <p:cNvPr id="21" name="TextBox 20"/>
          <p:cNvSpPr txBox="1"/>
          <p:nvPr/>
        </p:nvSpPr>
        <p:spPr>
          <a:xfrm>
            <a:off x="411480" y="3118104"/>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2" name="TextBox 21"/>
          <p:cNvSpPr txBox="1"/>
          <p:nvPr/>
        </p:nvSpPr>
        <p:spPr>
          <a:xfrm>
            <a:off x="640080" y="3118104"/>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Three-block FSMs, with a safe default that recovers from any illegal state.</a:t>
            </a:r>
          </a:p>
        </p:txBody>
      </p:sp>
      <p:sp>
        <p:nvSpPr>
          <p:cNvPr id="23" name="TextBox 22"/>
          <p:cNvSpPr txBox="1"/>
          <p:nvPr/>
        </p:nvSpPr>
        <p:spPr>
          <a:xfrm>
            <a:off x="411480" y="3447288"/>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4" name="TextBox 23"/>
          <p:cNvSpPr txBox="1"/>
          <p:nvPr/>
        </p:nvSpPr>
        <p:spPr>
          <a:xfrm>
            <a:off x="640080" y="3447288"/>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Anything crossing a clock domain goes through two flip-flops — and buses need Gray coding or a handshake.</a:t>
            </a:r>
          </a:p>
        </p:txBody>
      </p:sp>
      <p:sp>
        <p:nvSpPr>
          <p:cNvPr id="25" name="TextBox 24"/>
          <p:cNvSpPr txBox="1"/>
          <p:nvPr/>
        </p:nvSpPr>
        <p:spPr>
          <a:xfrm>
            <a:off x="411480" y="3776472"/>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6" name="TextBox 25"/>
          <p:cNvSpPr txBox="1"/>
          <p:nvPr/>
        </p:nvSpPr>
        <p:spPr>
          <a:xfrm>
            <a:off x="640080" y="3776472"/>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A testbench prints PASS or FAIL. If a human has to read a waveform to decide, it is not a testbench.</a:t>
            </a:r>
          </a:p>
        </p:txBody>
      </p:sp>
      <p:sp>
        <p:nvSpPr>
          <p:cNvPr id="27" name="TextBox 26"/>
          <p:cNvSpPr txBox="1"/>
          <p:nvPr/>
        </p:nvSpPr>
        <p:spPr>
          <a:xfrm>
            <a:off x="411480" y="4105656"/>
            <a:ext cx="182880" cy="329184"/>
          </a:xfrm>
          <a:prstGeom prst="rect">
            <a:avLst/>
          </a:prstGeom>
          <a:noFill/>
        </p:spPr>
        <p:txBody>
          <a:bodyPr wrap="square" lIns="0" rIns="0" tIns="0" bIns="0" anchor="ctr">
            <a:spAutoFit/>
          </a:bodyPr>
          <a:lstStyle/>
          <a:p>
            <a:pPr algn="l">
              <a:lnSpc>
                <a:spcPct val="103000"/>
              </a:lnSpc>
            </a:pPr>
            <a:r>
              <a:rPr sz="920" b="1" i="0">
                <a:solidFill>
                  <a:srgbClr val="1B9AAA"/>
                </a:solidFill>
                <a:latin typeface="Calibri"/>
              </a:rPr>
              <a:t>▪</a:t>
            </a:r>
          </a:p>
        </p:txBody>
      </p:sp>
      <p:sp>
        <p:nvSpPr>
          <p:cNvPr id="28" name="TextBox 27"/>
          <p:cNvSpPr txBox="1"/>
          <p:nvPr/>
        </p:nvSpPr>
        <p:spPr>
          <a:xfrm>
            <a:off x="640080" y="4105656"/>
            <a:ext cx="11018520" cy="329184"/>
          </a:xfrm>
          <a:prstGeom prst="rect">
            <a:avLst/>
          </a:prstGeom>
          <a:noFill/>
        </p:spPr>
        <p:txBody>
          <a:bodyPr wrap="square" lIns="0" rIns="0" tIns="0" bIns="0" anchor="ctr">
            <a:spAutoFit/>
          </a:bodyPr>
          <a:lstStyle/>
          <a:p>
            <a:pPr algn="l">
              <a:lnSpc>
                <a:spcPct val="103000"/>
              </a:lnSpc>
            </a:pPr>
            <a:r>
              <a:rPr sz="1100" b="0" i="0">
                <a:solidFill>
                  <a:srgbClr val="33414F"/>
                </a:solidFill>
                <a:latin typeface="Calibri"/>
              </a:rPr>
              <a:t>Lint, then simulate, then synthesise — and read the synthesis log every single time.</a:t>
            </a:r>
          </a:p>
        </p:txBody>
      </p:sp>
      <p:sp>
        <p:nvSpPr>
          <p:cNvPr id="29" name="Rounded Rectangle 28"/>
          <p:cNvSpPr/>
          <p:nvPr/>
        </p:nvSpPr>
        <p:spPr>
          <a:xfrm>
            <a:off x="411480" y="452628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76072" y="459028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Where this leads</a:t>
            </a:r>
          </a:p>
        </p:txBody>
      </p:sp>
      <p:sp>
        <p:nvSpPr>
          <p:cNvPr id="31" name="TextBox 30"/>
          <p:cNvSpPr txBox="1"/>
          <p:nvPr/>
        </p:nvSpPr>
        <p:spPr>
          <a:xfrm>
            <a:off x="576072" y="486460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Topic 5 takes this RTL into synthesis proper — constraints, optimisation, and reading a timing report until it means something. Everything you build from here on is written in the language you have just learned; the difference is that the clock, the area and the power start to have opinions about it.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0E2A47"/>
                </a:solidFill>
                <a:latin typeface="Calibri"/>
              </a:rPr>
              <a:t>TOPIC 4 · COMPLETE</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RTL Design Using HDL</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Deck · workbook · 22 verified designs · 5 self-checking testbenches · 3 toolchains.</a:t>
            </a:r>
          </a:p>
        </p:txBody>
      </p:sp>
      <p:sp>
        <p:nvSpPr>
          <p:cNvPr id="6" name="Rectangle 5"/>
          <p:cNvSpPr/>
          <p:nvPr/>
        </p:nvSpPr>
        <p:spPr>
          <a:xfrm>
            <a:off x="640080" y="394106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Slides: this deck, for delivery</a:t>
            </a:r>
          </a:p>
        </p:txBody>
      </p:sp>
      <p:sp>
        <p:nvSpPr>
          <p:cNvPr id="8" name="Rectangle 7"/>
          <p:cNvSpPr/>
          <p:nvPr/>
        </p:nvSpPr>
        <p:spPr>
          <a:xfrm>
            <a:off x="640080" y="435254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Workbook: Module2_Topic4_Tutorial_Practice_Workbook.docx — tutorials, exercises and full solutions</a:t>
            </a:r>
          </a:p>
        </p:txBody>
      </p:sp>
      <p:sp>
        <p:nvSpPr>
          <p:cNvPr id="10" name="Rectangle 9"/>
          <p:cNvSpPr/>
          <p:nvPr/>
        </p:nvSpPr>
        <p:spPr>
          <a:xfrm>
            <a:off x="640080" y="476402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 Topic4_Lab/ — rtl/, tb/, scripts/, all verified end to end</a:t>
            </a:r>
          </a:p>
        </p:txBody>
      </p:sp>
      <p:sp>
        <p:nvSpPr>
          <p:cNvPr id="12" name="Rectangle 11"/>
          <p:cNvSpPr/>
          <p:nvPr/>
        </p:nvSpPr>
        <p:spPr>
          <a:xfrm>
            <a:off x="640080" y="5175504"/>
            <a:ext cx="91440" cy="1828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Next: Module 2 Topic 5 — synthesis, constraints and timing closure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4: RTL Design Using HDL</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M2-T4 · 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