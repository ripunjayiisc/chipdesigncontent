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ctagon 1"/>
          <p:cNvSpPr/>
          <p:nvPr/>
        </p:nvSpPr>
        <p:spPr>
          <a:xfrm>
            <a:off x="8595360" y="-2103120"/>
            <a:ext cx="7315200" cy="7315200"/>
          </a:xfrm>
          <a:prstGeom prst="octagon">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966960" y="-822960"/>
            <a:ext cx="4572000" cy="4572000"/>
          </a:xfrm>
          <a:prstGeom prst="ellipse">
            <a:avLst/>
          </a:prstGeom>
          <a:solidFill>
            <a:srgbClr val="0E2A47"/>
          </a:solidFill>
          <a:ln w="1905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7315200" cy="36576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300" b="1" i="0">
                <a:solidFill>
                  <a:srgbClr val="1B9AAA"/>
                </a:solidFill>
                <a:latin typeface="Calibri"/>
              </a:rPr>
              <a:t>TOPIC 2</a:t>
            </a:r>
          </a:p>
        </p:txBody>
      </p:sp>
      <p:sp>
        <p:nvSpPr>
          <p:cNvPr id="5" name="TextBox 4"/>
          <p:cNvSpPr txBox="1"/>
          <p:nvPr/>
        </p:nvSpPr>
        <p:spPr>
          <a:xfrm>
            <a:off x="566928" y="1828800"/>
            <a:ext cx="10424160" cy="100584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3500" b="1" i="0">
                <a:solidFill>
                  <a:srgbClr val="0E2A47"/>
                </a:solidFill>
                <a:latin typeface="Cambria"/>
              </a:rPr>
              <a:t>RTL Design Methodology</a:t>
            </a:r>
          </a:p>
        </p:txBody>
      </p:sp>
      <p:sp>
        <p:nvSpPr>
          <p:cNvPr id="6" name="TextBox 5"/>
          <p:cNvSpPr txBox="1"/>
          <p:nvPr/>
        </p:nvSpPr>
        <p:spPr>
          <a:xfrm>
            <a:off x="640080" y="2926080"/>
            <a:ext cx="9692640" cy="822960"/>
          </a:xfrm>
          <a:prstGeom prst="rect">
            <a:avLst/>
          </a:prstGeom>
          <a:noFill/>
        </p:spPr>
        <p:txBody>
          <a:bodyPr wrap="square" anchor="t" lIns="25400" rIns="25400" tIns="12700" bIns="12700">
            <a:spAutoFit/>
          </a:bodyPr>
          <a:lstStyle/>
          <a:p>
            <a:pPr algn="l">
              <a:lnSpc>
                <a:spcPct val="110000"/>
              </a:lnSpc>
              <a:spcBef>
                <a:spcPts val="0"/>
              </a:spcBef>
              <a:spcAft>
                <a:spcPts val="300"/>
              </a:spcAft>
            </a:pPr>
            <a:r>
              <a:rPr sz="1400" b="0" i="0">
                <a:solidFill>
                  <a:srgbClr val="515C6B"/>
                </a:solidFill>
                <a:latin typeface="Calibri"/>
              </a:rPr>
              <a:t>Basics of RTL  ·  the RTL design process &amp; methodology  ·  Hardware Description Languages (Verilog / VHDL)</a:t>
            </a:r>
          </a:p>
        </p:txBody>
      </p:sp>
      <p:sp>
        <p:nvSpPr>
          <p:cNvPr id="7" name="Rectangle 6"/>
          <p:cNvSpPr/>
          <p:nvPr/>
        </p:nvSpPr>
        <p:spPr>
          <a:xfrm>
            <a:off x="713232" y="3931920"/>
            <a:ext cx="237744" cy="23774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3877056"/>
            <a:ext cx="9966960" cy="36576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250" b="0" i="0">
                <a:solidFill>
                  <a:srgbClr val="1F2A37"/>
                </a:solidFill>
                <a:latin typeface="Calibri"/>
              </a:rPr>
              <a:t>2a · What RTL is — registers, combinational logic, clocking, datapath &amp; control</a:t>
            </a:r>
          </a:p>
        </p:txBody>
      </p:sp>
      <p:sp>
        <p:nvSpPr>
          <p:cNvPr id="9" name="Rectangle 8"/>
          <p:cNvSpPr/>
          <p:nvPr/>
        </p:nvSpPr>
        <p:spPr>
          <a:xfrm>
            <a:off x="713232" y="4389120"/>
            <a:ext cx="237744" cy="23774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4334256"/>
            <a:ext cx="9966960" cy="36576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250" b="0" i="0">
                <a:solidFill>
                  <a:srgbClr val="1F2A37"/>
                </a:solidFill>
                <a:latin typeface="Calibri"/>
              </a:rPr>
              <a:t>2b · The RTL design process &amp; methodology — spec → code → verify → synthesize</a:t>
            </a:r>
          </a:p>
        </p:txBody>
      </p:sp>
      <p:sp>
        <p:nvSpPr>
          <p:cNvPr id="11" name="Rectangle 10"/>
          <p:cNvSpPr/>
          <p:nvPr/>
        </p:nvSpPr>
        <p:spPr>
          <a:xfrm>
            <a:off x="713232" y="4846320"/>
            <a:ext cx="237744" cy="23774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4791456"/>
            <a:ext cx="9966960" cy="36576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250" b="0" i="0">
                <a:solidFill>
                  <a:srgbClr val="1F2A37"/>
                </a:solidFill>
                <a:latin typeface="Calibri"/>
              </a:rPr>
              <a:t>2c · HDLs — Verilog &amp; VHDL, styles, sim vs synthesis, worked code</a:t>
            </a:r>
          </a:p>
        </p:txBody>
      </p:sp>
      <p:sp>
        <p:nvSpPr>
          <p:cNvPr id="13" name="Rectangle 12"/>
          <p:cNvSpPr/>
          <p:nvPr/>
        </p:nvSpPr>
        <p:spPr>
          <a:xfrm>
            <a:off x="713232" y="5303520"/>
            <a:ext cx="237744" cy="23774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5248656"/>
            <a:ext cx="9966960" cy="36576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250" b="0" i="0">
                <a:solidFill>
                  <a:srgbClr val="1F2A37"/>
                </a:solidFill>
                <a:latin typeface="Calibri"/>
              </a:rPr>
              <a:t>Practical examples · Worked FSM · Hands-on tutorials (Verilog &amp; VHDL)</a:t>
            </a:r>
          </a:p>
        </p:txBody>
      </p:sp>
      <p:sp>
        <p:nvSpPr>
          <p:cNvPr id="15" name="TextBox 14"/>
          <p:cNvSpPr txBox="1"/>
          <p:nvPr/>
        </p:nvSpPr>
        <p:spPr>
          <a:xfrm>
            <a:off x="411480" y="6547104"/>
            <a:ext cx="731520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000" b="0" i="0">
                <a:solidFill>
                  <a:srgbClr val="64748B"/>
                </a:solidFill>
                <a:latin typeface="Calibri"/>
              </a:rPr>
              <a:t>Module 2 · RTL Design Methodology</a:t>
            </a:r>
          </a:p>
        </p:txBody>
      </p:sp>
      <p:sp>
        <p:nvSpPr>
          <p:cNvPr id="16" name="TextBox 15"/>
          <p:cNvSpPr txBox="1"/>
          <p:nvPr/>
        </p:nvSpPr>
        <p:spPr>
          <a:xfrm>
            <a:off x="9692640" y="6547104"/>
            <a:ext cx="2103120" cy="237744"/>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1000" b="0" i="0">
                <a:solidFill>
                  <a:srgbClr val="64748B"/>
                </a:solidFill>
                <a:latin typeface="Calibri"/>
              </a:rPr>
              <a:t>NIE/ELE/N0102 · Topic 2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OVERVIEW</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What Is RTL Design? Registers with Logic in Between</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Register-Transfer Level (RTL) is the abstraction at which digital designers actually work. You describe a circuit as a set of registers (storage) and the combinational logic that computes the next value moved into them on every clock edge — not as individual transistors or gates.</a:t>
            </a:r>
          </a:p>
        </p:txBody>
      </p:sp>
      <p:sp>
        <p:nvSpPr>
          <p:cNvPr id="10" name="Rounded Rectangle 9"/>
          <p:cNvSpPr/>
          <p:nvPr/>
        </p:nvSpPr>
        <p:spPr>
          <a:xfrm>
            <a:off x="457200" y="2240280"/>
            <a:ext cx="11292840" cy="96012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331720"/>
            <a:ext cx="10963656" cy="77724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What · Why · How · Scope</a:t>
            </a:r>
          </a:p>
          <a:p>
            <a:pPr algn="l">
              <a:lnSpc>
                <a:spcPct val="103000"/>
              </a:lnSpc>
              <a:spcBef>
                <a:spcPts val="0"/>
              </a:spcBef>
              <a:spcAft>
                <a:spcPts val="200"/>
              </a:spcAft>
            </a:pPr>
            <a:r>
              <a:rPr sz="1100" b="0" i="0">
                <a:solidFill>
                  <a:srgbClr val="1F2A37"/>
                </a:solidFill>
                <a:latin typeface="Calibri"/>
              </a:rPr>
              <a:t>What: describe hardware as data transferred between registers each clock cycle, through combinational logic.   Why: it is compact, readable and — crucially — synthesizable into real gates.   How: written in an HDL (Verilog/VHDL).   Scope: RTL is the front-end design-entry level; tools take it down to gates and layout.</a:t>
            </a:r>
          </a:p>
        </p:txBody>
      </p:sp>
      <p:sp>
        <p:nvSpPr>
          <p:cNvPr id="12" name="Rounded Rectangle 11"/>
          <p:cNvSpPr/>
          <p:nvPr/>
        </p:nvSpPr>
        <p:spPr>
          <a:xfrm>
            <a:off x="457200" y="3337560"/>
            <a:ext cx="7040880" cy="105156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3429000"/>
            <a:ext cx="6711696" cy="86868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Key takeaways</a:t>
            </a:r>
          </a:p>
          <a:p>
            <a:pPr algn="l">
              <a:lnSpc>
                <a:spcPct val="103000"/>
              </a:lnSpc>
              <a:spcBef>
                <a:spcPts val="0"/>
              </a:spcBef>
              <a:spcAft>
                <a:spcPts val="200"/>
              </a:spcAft>
            </a:pPr>
            <a:r>
              <a:rPr sz="1030" b="0" i="0">
                <a:solidFill>
                  <a:srgbClr val="1F2A37"/>
                </a:solidFill>
                <a:latin typeface="Calibri"/>
              </a:rPr>
              <a:t>RTL = registers + combinational logic, evaluated once per clock edge.</a:t>
            </a:r>
          </a:p>
          <a:p>
            <a:pPr algn="l">
              <a:lnSpc>
                <a:spcPct val="103000"/>
              </a:lnSpc>
              <a:spcBef>
                <a:spcPts val="0"/>
              </a:spcBef>
              <a:spcAft>
                <a:spcPts val="200"/>
              </a:spcAft>
            </a:pPr>
            <a:r>
              <a:rPr sz="1030" b="0" i="0">
                <a:solidFill>
                  <a:srgbClr val="1F2A37"/>
                </a:solidFill>
                <a:latin typeface="Calibri"/>
              </a:rPr>
              <a:t>It sits between behavioural (algorithm) and gate-level (netlist).</a:t>
            </a:r>
          </a:p>
          <a:p>
            <a:pPr algn="l">
              <a:lnSpc>
                <a:spcPct val="103000"/>
              </a:lnSpc>
              <a:spcBef>
                <a:spcPts val="0"/>
              </a:spcBef>
              <a:spcAft>
                <a:spcPts val="200"/>
              </a:spcAft>
            </a:pPr>
            <a:r>
              <a:rPr sz="1030" b="0" i="0">
                <a:solidFill>
                  <a:srgbClr val="1F2A37"/>
                </a:solidFill>
                <a:latin typeface="Calibri"/>
              </a:rPr>
              <a:t>RTL is what humans write; synthesis builds the transistors.</a:t>
            </a:r>
          </a:p>
        </p:txBody>
      </p:sp>
      <p:sp>
        <p:nvSpPr>
          <p:cNvPr id="14" name="Rounded Rectangle 13"/>
          <p:cNvSpPr/>
          <p:nvPr/>
        </p:nvSpPr>
        <p:spPr>
          <a:xfrm>
            <a:off x="7635240" y="3337560"/>
            <a:ext cx="4114800" cy="105156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99831" y="3429000"/>
            <a:ext cx="3785615" cy="86868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Interview &amp; industry</a:t>
            </a:r>
          </a:p>
          <a:p>
            <a:pPr algn="l">
              <a:lnSpc>
                <a:spcPct val="103000"/>
              </a:lnSpc>
              <a:spcBef>
                <a:spcPts val="0"/>
              </a:spcBef>
              <a:spcAft>
                <a:spcPts val="200"/>
              </a:spcAft>
            </a:pPr>
            <a:r>
              <a:rPr sz="1030" b="0" i="0">
                <a:solidFill>
                  <a:srgbClr val="1F2A37"/>
                </a:solidFill>
                <a:latin typeface="Calibri"/>
              </a:rPr>
              <a:t>Q: In one line, what does 'RTL' capture?</a:t>
            </a:r>
          </a:p>
          <a:p>
            <a:pPr algn="l">
              <a:lnSpc>
                <a:spcPct val="103000"/>
              </a:lnSpc>
              <a:spcBef>
                <a:spcPts val="0"/>
              </a:spcBef>
              <a:spcAft>
                <a:spcPts val="200"/>
              </a:spcAft>
            </a:pPr>
            <a:r>
              <a:rPr sz="1030" b="0" i="0">
                <a:solidFill>
                  <a:srgbClr val="1F2A37"/>
                </a:solidFill>
                <a:latin typeface="Calibri"/>
              </a:rPr>
              <a:t>A: How data moves between registers each clock cycle, and the logic that transforms it.</a:t>
            </a:r>
          </a:p>
        </p:txBody>
      </p:sp>
      <p:sp>
        <p:nvSpPr>
          <p:cNvPr id="16" name="Rounded Rectangle 15"/>
          <p:cNvSpPr/>
          <p:nvPr/>
        </p:nvSpPr>
        <p:spPr>
          <a:xfrm>
            <a:off x="457200" y="4526280"/>
            <a:ext cx="11292840" cy="105156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4617720"/>
            <a:ext cx="10963656" cy="86868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Running example used throughout this topic</a:t>
            </a:r>
          </a:p>
          <a:p>
            <a:pPr algn="l">
              <a:lnSpc>
                <a:spcPct val="103000"/>
              </a:lnSpc>
              <a:spcBef>
                <a:spcPts val="0"/>
              </a:spcBef>
              <a:spcAft>
                <a:spcPts val="200"/>
              </a:spcAft>
            </a:pPr>
            <a:r>
              <a:rPr sz="1100" b="0" i="0">
                <a:solidFill>
                  <a:srgbClr val="1F2A37"/>
                </a:solidFill>
                <a:latin typeface="Calibri"/>
              </a:rPr>
              <a:t>We reuse one tiny design — a 4-bit binary counter — and grow it into an FSM, to keep every idea (RTL, methodology, HDL, simulation, synthesis) concrete and connected.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BUILD-UP</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Where RTL Sits — The Levels of Design Abstraction</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Digital design is done at different levels of abstraction. Higher levels say what the circuit does; lower levels say exactly how it is built. RTL is the sweet spot: high enough to be human-writable, low enough to be automatically turned into hardware.</a:t>
            </a:r>
          </a:p>
        </p:txBody>
      </p:sp>
      <p:pic>
        <p:nvPicPr>
          <p:cNvPr id="10" name="Picture 9" descr="abstraction_levels.png"/>
          <p:cNvPicPr>
            <a:picLocks noChangeAspect="1"/>
          </p:cNvPicPr>
          <p:nvPr/>
        </p:nvPicPr>
        <p:blipFill>
          <a:blip r:embed="rId2"/>
          <a:stretch>
            <a:fillRect/>
          </a:stretch>
        </p:blipFill>
        <p:spPr>
          <a:xfrm>
            <a:off x="2146085" y="2103120"/>
            <a:ext cx="7899524" cy="3200400"/>
          </a:xfrm>
          <a:prstGeom prst="rect">
            <a:avLst/>
          </a:prstGeom>
        </p:spPr>
      </p:pic>
      <p:sp>
        <p:nvSpPr>
          <p:cNvPr id="11" name="Rounded Rectangle 10"/>
          <p:cNvSpPr/>
          <p:nvPr/>
        </p:nvSpPr>
        <p:spPr>
          <a:xfrm>
            <a:off x="457200" y="5532120"/>
            <a:ext cx="11292840" cy="868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Why abstraction matters</a:t>
            </a:r>
          </a:p>
          <a:p>
            <a:pPr algn="l">
              <a:lnSpc>
                <a:spcPct val="103000"/>
              </a:lnSpc>
              <a:spcBef>
                <a:spcPts val="0"/>
              </a:spcBef>
              <a:spcAft>
                <a:spcPts val="200"/>
              </a:spcAft>
            </a:pPr>
            <a:r>
              <a:rPr sz="1080" b="0" i="0">
                <a:solidFill>
                  <a:srgbClr val="1F2A37"/>
                </a:solidFill>
                <a:latin typeface="Calibri"/>
              </a:rPr>
              <a:t>Designers describe intent at RTL; synthesis tools translate it down to gates and, ultimately, transistors. You get productivity (write behaviour) and control (it maps to real hardware).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CONCEPT</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The Register-Transfer View — Data Moving Each Clock Cycle</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4</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The core mental model: values live in registers; on every clock edge, combinational logic reads the current registers, computes new values, and those new values are latched into registers. 'Register transfer' literally means the transfer of data from register to register through logic.</a:t>
            </a:r>
          </a:p>
        </p:txBody>
      </p:sp>
      <p:pic>
        <p:nvPicPr>
          <p:cNvPr id="10" name="Picture 9" descr="rt_concept.png"/>
          <p:cNvPicPr>
            <a:picLocks noChangeAspect="1"/>
          </p:cNvPicPr>
          <p:nvPr/>
        </p:nvPicPr>
        <p:blipFill>
          <a:blip r:embed="rId2"/>
          <a:stretch>
            <a:fillRect/>
          </a:stretch>
        </p:blipFill>
        <p:spPr>
          <a:xfrm>
            <a:off x="2629166" y="2240280"/>
            <a:ext cx="6933363" cy="2926080"/>
          </a:xfrm>
          <a:prstGeom prst="rect">
            <a:avLst/>
          </a:prstGeom>
        </p:spPr>
      </p:pic>
      <p:sp>
        <p:nvSpPr>
          <p:cNvPr id="11" name="Rounded Rectangle 10"/>
          <p:cNvSpPr/>
          <p:nvPr/>
        </p:nvSpPr>
        <p:spPr>
          <a:xfrm>
            <a:off x="457200" y="5532120"/>
            <a:ext cx="11292840" cy="868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Read it as a sentence</a:t>
            </a:r>
          </a:p>
          <a:p>
            <a:pPr algn="l">
              <a:lnSpc>
                <a:spcPct val="103000"/>
              </a:lnSpc>
              <a:spcBef>
                <a:spcPts val="0"/>
              </a:spcBef>
              <a:spcAft>
                <a:spcPts val="200"/>
              </a:spcAft>
            </a:pPr>
            <a:r>
              <a:rPr sz="1080" b="0" i="0">
                <a:solidFill>
                  <a:srgbClr val="1F2A37"/>
                </a:solidFill>
                <a:latin typeface="Calibri"/>
              </a:rPr>
              <a:t>'On each rising clock edge, R2 gets the function of R1.' Everything in synchronous RTL is a variation of this one pattern — which is exactly why it is so learnable and so synthesizable.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CONCEPT</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Two Kinds of Logic — Combinational vs Sequential</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5</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Every RTL design is built from just two kinds of logic. Knowing which is which — and coding each correctly — is the single most important RTL skill.</a:t>
            </a:r>
          </a:p>
        </p:txBody>
      </p:sp>
      <p:pic>
        <p:nvPicPr>
          <p:cNvPr id="10" name="Picture 9" descr="comb_vs_seq.png"/>
          <p:cNvPicPr>
            <a:picLocks noChangeAspect="1"/>
          </p:cNvPicPr>
          <p:nvPr/>
        </p:nvPicPr>
        <p:blipFill>
          <a:blip r:embed="rId2"/>
          <a:stretch>
            <a:fillRect/>
          </a:stretch>
        </p:blipFill>
        <p:spPr>
          <a:xfrm>
            <a:off x="2763439" y="2148840"/>
            <a:ext cx="6664817" cy="2743200"/>
          </a:xfrm>
          <a:prstGeom prst="rect">
            <a:avLst/>
          </a:prstGeom>
        </p:spPr>
      </p:pic>
      <p:sp>
        <p:nvSpPr>
          <p:cNvPr id="11" name="Rounded Rectangle 10"/>
          <p:cNvSpPr/>
          <p:nvPr/>
        </p:nvSpPr>
        <p:spPr>
          <a:xfrm>
            <a:off x="457200" y="5532120"/>
            <a:ext cx="11292840" cy="868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Rule of thumb</a:t>
            </a:r>
          </a:p>
          <a:p>
            <a:pPr algn="l">
              <a:lnSpc>
                <a:spcPct val="103000"/>
              </a:lnSpc>
              <a:spcBef>
                <a:spcPts val="0"/>
              </a:spcBef>
              <a:spcAft>
                <a:spcPts val="200"/>
              </a:spcAft>
            </a:pPr>
            <a:r>
              <a:rPr sz="1080" b="0" i="0">
                <a:solidFill>
                  <a:srgbClr val="1F2A37"/>
                </a:solidFill>
                <a:latin typeface="Calibri"/>
              </a:rPr>
              <a:t>Combinational = pure function of present inputs (no clock). Sequential = has memory, updates on a clock edge. Registers are the only things that remember; everything else is combinational.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CONCEPT</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Synchronous Design — One Clock, One Edge, One Reset</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6</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Modern RTL is synchronous: a single clock times the whole block, all registers update on the same edge, and a reset puts the design into a known state. This discipline is what makes large chips timeable and reliable.</a:t>
            </a:r>
          </a:p>
        </p:txBody>
      </p:sp>
      <p:sp>
        <p:nvSpPr>
          <p:cNvPr id="10" name="Rounded Rectangle 9"/>
          <p:cNvSpPr/>
          <p:nvPr/>
        </p:nvSpPr>
        <p:spPr>
          <a:xfrm>
            <a:off x="457200" y="2240280"/>
            <a:ext cx="3657600" cy="301752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331720"/>
            <a:ext cx="3328416" cy="283463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Clock</a:t>
            </a:r>
          </a:p>
          <a:p>
            <a:pPr algn="l">
              <a:lnSpc>
                <a:spcPct val="103000"/>
              </a:lnSpc>
              <a:spcBef>
                <a:spcPts val="0"/>
              </a:spcBef>
              <a:spcAft>
                <a:spcPts val="200"/>
              </a:spcAft>
            </a:pPr>
            <a:r>
              <a:rPr sz="1060" b="0" i="0">
                <a:solidFill>
                  <a:srgbClr val="1F2A37"/>
                </a:solidFill>
                <a:latin typeface="Calibri"/>
              </a:rPr>
              <a:t>A periodic signal that paces the design.</a:t>
            </a:r>
          </a:p>
          <a:p>
            <a:pPr algn="l">
              <a:lnSpc>
                <a:spcPct val="103000"/>
              </a:lnSpc>
              <a:spcBef>
                <a:spcPts val="0"/>
              </a:spcBef>
              <a:spcAft>
                <a:spcPts val="200"/>
              </a:spcAft>
            </a:pPr>
            <a:r>
              <a:rPr sz="1060" b="0" i="0">
                <a:solidFill>
                  <a:srgbClr val="1F2A37"/>
                </a:solidFill>
                <a:latin typeface="Calibri"/>
              </a:rPr>
              <a:t>Registers sample on one edge — usually the rising edge (posedge).</a:t>
            </a:r>
          </a:p>
          <a:p>
            <a:pPr algn="l">
              <a:lnSpc>
                <a:spcPct val="103000"/>
              </a:lnSpc>
              <a:spcBef>
                <a:spcPts val="0"/>
              </a:spcBef>
              <a:spcAft>
                <a:spcPts val="200"/>
              </a:spcAft>
            </a:pPr>
            <a:r>
              <a:rPr sz="1060" b="0" i="0">
                <a:solidFill>
                  <a:srgbClr val="1F2A37"/>
                </a:solidFill>
                <a:latin typeface="Calibri"/>
              </a:rPr>
              <a:t>Frequency (e.g. 100 MHz) sets how fast the design runs.</a:t>
            </a:r>
          </a:p>
          <a:p>
            <a:pPr algn="l">
              <a:lnSpc>
                <a:spcPct val="103000"/>
              </a:lnSpc>
              <a:spcBef>
                <a:spcPts val="0"/>
              </a:spcBef>
              <a:spcAft>
                <a:spcPts val="200"/>
              </a:spcAft>
            </a:pPr>
            <a:r>
              <a:rPr sz="1060" b="0" i="0">
                <a:solidFill>
                  <a:srgbClr val="1F2A37"/>
                </a:solidFill>
                <a:latin typeface="Calibri"/>
              </a:rPr>
              <a:t>One clock domain = one shared time base.</a:t>
            </a:r>
          </a:p>
        </p:txBody>
      </p:sp>
      <p:sp>
        <p:nvSpPr>
          <p:cNvPr id="12" name="Rounded Rectangle 11"/>
          <p:cNvSpPr/>
          <p:nvPr/>
        </p:nvSpPr>
        <p:spPr>
          <a:xfrm>
            <a:off x="4251960" y="2240280"/>
            <a:ext cx="3657600" cy="301752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2331720"/>
            <a:ext cx="3328416" cy="283463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Reset</a:t>
            </a:r>
          </a:p>
          <a:p>
            <a:pPr algn="l">
              <a:lnSpc>
                <a:spcPct val="103000"/>
              </a:lnSpc>
              <a:spcBef>
                <a:spcPts val="0"/>
              </a:spcBef>
              <a:spcAft>
                <a:spcPts val="200"/>
              </a:spcAft>
            </a:pPr>
            <a:r>
              <a:rPr sz="1060" b="0" i="0">
                <a:solidFill>
                  <a:srgbClr val="1F2A37"/>
                </a:solidFill>
                <a:latin typeface="Calibri"/>
              </a:rPr>
              <a:t>Forces registers to a known initial value.</a:t>
            </a:r>
          </a:p>
          <a:p>
            <a:pPr algn="l">
              <a:lnSpc>
                <a:spcPct val="103000"/>
              </a:lnSpc>
              <a:spcBef>
                <a:spcPts val="0"/>
              </a:spcBef>
              <a:spcAft>
                <a:spcPts val="200"/>
              </a:spcAft>
            </a:pPr>
            <a:r>
              <a:rPr sz="1060" b="0" i="0">
                <a:solidFill>
                  <a:srgbClr val="1F2A37"/>
                </a:solidFill>
                <a:latin typeface="Calibri"/>
              </a:rPr>
              <a:t>Asynchronous (acts immediately) or synchronous (on the clock edge).</a:t>
            </a:r>
          </a:p>
          <a:p>
            <a:pPr algn="l">
              <a:lnSpc>
                <a:spcPct val="103000"/>
              </a:lnSpc>
              <a:spcBef>
                <a:spcPts val="0"/>
              </a:spcBef>
              <a:spcAft>
                <a:spcPts val="200"/>
              </a:spcAft>
            </a:pPr>
            <a:r>
              <a:rPr sz="1060" b="0" i="0">
                <a:solidFill>
                  <a:srgbClr val="1F2A37"/>
                </a:solidFill>
                <a:latin typeface="Calibri"/>
              </a:rPr>
              <a:t>Active-low 'rst_n' is common (0 = reset).</a:t>
            </a:r>
          </a:p>
          <a:p>
            <a:pPr algn="l">
              <a:lnSpc>
                <a:spcPct val="103000"/>
              </a:lnSpc>
              <a:spcBef>
                <a:spcPts val="0"/>
              </a:spcBef>
              <a:spcAft>
                <a:spcPts val="200"/>
              </a:spcAft>
            </a:pPr>
            <a:r>
              <a:rPr sz="1060" b="0" i="0">
                <a:solidFill>
                  <a:srgbClr val="1F2A37"/>
                </a:solidFill>
                <a:latin typeface="Calibri"/>
              </a:rPr>
              <a:t>Without reset, start-up state is unknown.</a:t>
            </a:r>
          </a:p>
        </p:txBody>
      </p:sp>
      <p:sp>
        <p:nvSpPr>
          <p:cNvPr id="14" name="Rounded Rectangle 13"/>
          <p:cNvSpPr/>
          <p:nvPr/>
        </p:nvSpPr>
        <p:spPr>
          <a:xfrm>
            <a:off x="8092440" y="2240280"/>
            <a:ext cx="3657600" cy="301752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1" y="2331720"/>
            <a:ext cx="3328416" cy="283463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Timing (intuition)</a:t>
            </a:r>
          </a:p>
          <a:p>
            <a:pPr algn="l">
              <a:lnSpc>
                <a:spcPct val="103000"/>
              </a:lnSpc>
              <a:spcBef>
                <a:spcPts val="0"/>
              </a:spcBef>
              <a:spcAft>
                <a:spcPts val="200"/>
              </a:spcAft>
            </a:pPr>
            <a:r>
              <a:rPr sz="1060" b="0" i="0">
                <a:solidFill>
                  <a:srgbClr val="1F2A37"/>
                </a:solidFill>
                <a:latin typeface="Calibri"/>
              </a:rPr>
              <a:t>Logic between two registers must settle within one clock period.</a:t>
            </a:r>
          </a:p>
          <a:p>
            <a:pPr algn="l">
              <a:lnSpc>
                <a:spcPct val="103000"/>
              </a:lnSpc>
              <a:spcBef>
                <a:spcPts val="0"/>
              </a:spcBef>
              <a:spcAft>
                <a:spcPts val="200"/>
              </a:spcAft>
            </a:pPr>
            <a:r>
              <a:rPr sz="1060" b="0" i="0">
                <a:solidFill>
                  <a:srgbClr val="1F2A37"/>
                </a:solidFill>
                <a:latin typeface="Calibri"/>
              </a:rPr>
              <a:t>Setup: data must arrive before the edge.</a:t>
            </a:r>
          </a:p>
          <a:p>
            <a:pPr algn="l">
              <a:lnSpc>
                <a:spcPct val="103000"/>
              </a:lnSpc>
              <a:spcBef>
                <a:spcPts val="0"/>
              </a:spcBef>
              <a:spcAft>
                <a:spcPts val="200"/>
              </a:spcAft>
            </a:pPr>
            <a:r>
              <a:rPr sz="1060" b="0" i="0">
                <a:solidFill>
                  <a:srgbClr val="1F2A37"/>
                </a:solidFill>
                <a:latin typeface="Calibri"/>
              </a:rPr>
              <a:t>Hold: data must stay stable just after it.</a:t>
            </a:r>
          </a:p>
          <a:p>
            <a:pPr algn="l">
              <a:lnSpc>
                <a:spcPct val="103000"/>
              </a:lnSpc>
              <a:spcBef>
                <a:spcPts val="0"/>
              </a:spcBef>
              <a:spcAft>
                <a:spcPts val="200"/>
              </a:spcAft>
            </a:pPr>
            <a:r>
              <a:rPr sz="1060" b="0" i="0">
                <a:solidFill>
                  <a:srgbClr val="1F2A37"/>
                </a:solidFill>
                <a:latin typeface="Calibri"/>
              </a:rPr>
              <a:t>Static Timing Analysis (STA) checks this later — RTL choices decide it.</a:t>
            </a:r>
          </a:p>
        </p:txBody>
      </p:sp>
      <p:sp>
        <p:nvSpPr>
          <p:cNvPr id="16" name="Rounded Rectangle 15"/>
          <p:cNvSpPr/>
          <p:nvPr/>
        </p:nvSpPr>
        <p:spPr>
          <a:xfrm>
            <a:off x="457200" y="5394960"/>
            <a:ext cx="11292840" cy="868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5486400"/>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Golden rule</a:t>
            </a:r>
          </a:p>
          <a:p>
            <a:pPr algn="l">
              <a:lnSpc>
                <a:spcPct val="103000"/>
              </a:lnSpc>
              <a:spcBef>
                <a:spcPts val="0"/>
              </a:spcBef>
              <a:spcAft>
                <a:spcPts val="200"/>
              </a:spcAft>
            </a:pPr>
            <a:r>
              <a:rPr sz="1080" b="0" i="0">
                <a:solidFill>
                  <a:srgbClr val="1F2A37"/>
                </a:solidFill>
                <a:latin typeface="Calibri"/>
              </a:rPr>
              <a:t>Design one clock, one edge, and a clean reset. Avoid gated clocks and latches at RTL — they break timing analysis.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CONCEPT</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Structuring a Design — Datapath + Controller</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7</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Almost every real block is organised into a datapath (the registers, adders, muxes that move and transform data) and a controller (an FSM that decides what the datapath does each cycle). This partition is the backbone of RTL methodology.</a:t>
            </a:r>
          </a:p>
        </p:txBody>
      </p:sp>
      <p:pic>
        <p:nvPicPr>
          <p:cNvPr id="10" name="Picture 9" descr="datapath_control.png"/>
          <p:cNvPicPr>
            <a:picLocks noChangeAspect="1"/>
          </p:cNvPicPr>
          <p:nvPr/>
        </p:nvPicPr>
        <p:blipFill>
          <a:blip r:embed="rId2"/>
          <a:stretch>
            <a:fillRect/>
          </a:stretch>
        </p:blipFill>
        <p:spPr>
          <a:xfrm>
            <a:off x="3234058" y="2148840"/>
            <a:ext cx="5723579" cy="2926080"/>
          </a:xfrm>
          <a:prstGeom prst="rect">
            <a:avLst/>
          </a:prstGeom>
        </p:spPr>
      </p:pic>
      <p:sp>
        <p:nvSpPr>
          <p:cNvPr id="11" name="Rounded Rectangle 10"/>
          <p:cNvSpPr/>
          <p:nvPr/>
        </p:nvSpPr>
        <p:spPr>
          <a:xfrm>
            <a:off x="457200" y="5532120"/>
            <a:ext cx="11292840" cy="868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Why split them</a:t>
            </a:r>
          </a:p>
          <a:p>
            <a:pPr algn="l">
              <a:lnSpc>
                <a:spcPct val="103000"/>
              </a:lnSpc>
              <a:spcBef>
                <a:spcPts val="0"/>
              </a:spcBef>
              <a:spcAft>
                <a:spcPts val="200"/>
              </a:spcAft>
            </a:pPr>
            <a:r>
              <a:rPr sz="1080" b="0" i="0">
                <a:solidFill>
                  <a:srgbClr val="1F2A37"/>
                </a:solidFill>
                <a:latin typeface="Calibri"/>
              </a:rPr>
              <a:t>Separating 'what computes' (datapath) from 'what decides' (controller) makes designs easier to write, verify and reuse — the controller sequences operations; the datapath executes them.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EXAMPLE</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A Minimal RTL Block — One Register, One Adder</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8</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The smallest useful RTL: a register whose next value is computed by combinational logic. Here an accumulator adds its input to itself each cycle.</a:t>
            </a:r>
          </a:p>
        </p:txBody>
      </p:sp>
      <p:sp>
        <p:nvSpPr>
          <p:cNvPr id="10" name="Rounded Rectangle 9"/>
          <p:cNvSpPr/>
          <p:nvPr/>
        </p:nvSpPr>
        <p:spPr>
          <a:xfrm>
            <a:off x="457200" y="2148840"/>
            <a:ext cx="69494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03704"/>
            <a:ext cx="66751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accumulator.v  (RTL)</a:t>
            </a:r>
          </a:p>
        </p:txBody>
      </p:sp>
      <p:sp>
        <p:nvSpPr>
          <p:cNvPr id="12" name="TextBox 11"/>
          <p:cNvSpPr txBox="1"/>
          <p:nvPr/>
        </p:nvSpPr>
        <p:spPr>
          <a:xfrm>
            <a:off x="603504" y="2478024"/>
            <a:ext cx="66751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module accumulator (</a:t>
            </a:r>
          </a:p>
          <a:p>
            <a:pPr>
              <a:lnSpc>
                <a:spcPct val="100000"/>
              </a:lnSpc>
              <a:spcBef>
                <a:spcPts val="0"/>
              </a:spcBef>
              <a:spcAft>
                <a:spcPts val="0"/>
              </a:spcAft>
            </a:pPr>
            <a:r>
              <a:rPr sz="930" b="0" i="0">
                <a:solidFill>
                  <a:srgbClr val="EAF2F7"/>
                </a:solidFill>
                <a:latin typeface="Consolas"/>
              </a:rPr>
              <a:t>  input        clk,</a:t>
            </a:r>
          </a:p>
          <a:p>
            <a:pPr>
              <a:lnSpc>
                <a:spcPct val="100000"/>
              </a:lnSpc>
              <a:spcBef>
                <a:spcPts val="0"/>
              </a:spcBef>
              <a:spcAft>
                <a:spcPts val="0"/>
              </a:spcAft>
            </a:pPr>
            <a:r>
              <a:rPr sz="930" b="0" i="0">
                <a:solidFill>
                  <a:srgbClr val="EAF2F7"/>
                </a:solidFill>
                <a:latin typeface="Consolas"/>
              </a:rPr>
              <a:t>  input        rst_n,</a:t>
            </a:r>
          </a:p>
          <a:p>
            <a:pPr>
              <a:lnSpc>
                <a:spcPct val="100000"/>
              </a:lnSpc>
              <a:spcBef>
                <a:spcPts val="0"/>
              </a:spcBef>
              <a:spcAft>
                <a:spcPts val="0"/>
              </a:spcAft>
            </a:pPr>
            <a:r>
              <a:rPr sz="930" b="0" i="0">
                <a:solidFill>
                  <a:srgbClr val="EAF2F7"/>
                </a:solidFill>
                <a:latin typeface="Consolas"/>
              </a:rPr>
              <a:t>  input  [7:0] din,</a:t>
            </a:r>
          </a:p>
          <a:p>
            <a:pPr>
              <a:lnSpc>
                <a:spcPct val="100000"/>
              </a:lnSpc>
              <a:spcBef>
                <a:spcPts val="0"/>
              </a:spcBef>
              <a:spcAft>
                <a:spcPts val="0"/>
              </a:spcAft>
            </a:pPr>
            <a:r>
              <a:rPr sz="930" b="0" i="0">
                <a:solidFill>
                  <a:srgbClr val="EAF2F7"/>
                </a:solidFill>
                <a:latin typeface="Consolas"/>
              </a:rPr>
              <a:t>  output reg [7:0] sum      // the register</a:t>
            </a:r>
          </a:p>
          <a:p>
            <a:pPr>
              <a:lnSpc>
                <a:spcPct val="100000"/>
              </a:lnSpc>
              <a:spcBef>
                <a:spcPts val="0"/>
              </a:spcBef>
              <a:spcAft>
                <a:spcPts val="0"/>
              </a:spcAft>
            </a:pPr>
            <a:r>
              <a:rPr sz="930" b="0" i="0">
                <a:solidFill>
                  <a:srgbClr val="EAF2F7"/>
                </a:solidFill>
                <a:latin typeface="Consolas"/>
              </a:rPr>
              <a:t>);</a:t>
            </a:r>
          </a:p>
          <a:p>
            <a:pPr>
              <a:lnSpc>
                <a:spcPct val="100000"/>
              </a:lnSpc>
              <a:spcBef>
                <a:spcPts val="0"/>
              </a:spcBef>
              <a:spcAft>
                <a:spcPts val="0"/>
              </a:spcAft>
            </a:pPr>
            <a:r>
              <a:rPr sz="930" b="0" i="0">
                <a:solidFill>
                  <a:srgbClr val="EAF2F7"/>
                </a:solidFill>
                <a:latin typeface="Consolas"/>
              </a:rPr>
              <a:t>  always @(posedge clk or negedge rst_n)</a:t>
            </a:r>
          </a:p>
          <a:p>
            <a:pPr>
              <a:lnSpc>
                <a:spcPct val="100000"/>
              </a:lnSpc>
              <a:spcBef>
                <a:spcPts val="0"/>
              </a:spcBef>
              <a:spcAft>
                <a:spcPts val="0"/>
              </a:spcAft>
            </a:pPr>
            <a:r>
              <a:rPr sz="930" b="0" i="0">
                <a:solidFill>
                  <a:srgbClr val="EAF2F7"/>
                </a:solidFill>
                <a:latin typeface="Consolas"/>
              </a:rPr>
              <a:t>    if (!rst_n) sum &lt;= 8'd0;         // reset</a:t>
            </a:r>
          </a:p>
          <a:p>
            <a:pPr>
              <a:lnSpc>
                <a:spcPct val="100000"/>
              </a:lnSpc>
              <a:spcBef>
                <a:spcPts val="0"/>
              </a:spcBef>
              <a:spcAft>
                <a:spcPts val="0"/>
              </a:spcAft>
            </a:pPr>
            <a:r>
              <a:rPr sz="930" b="0" i="0">
                <a:solidFill>
                  <a:srgbClr val="EAF2F7"/>
                </a:solidFill>
                <a:latin typeface="Consolas"/>
              </a:rPr>
              <a:t>    else        sum &lt;= sum + din;    // register &lt;= comb logic</a:t>
            </a:r>
          </a:p>
          <a:p>
            <a:pPr>
              <a:lnSpc>
                <a:spcPct val="100000"/>
              </a:lnSpc>
              <a:spcBef>
                <a:spcPts val="0"/>
              </a:spcBef>
              <a:spcAft>
                <a:spcPts val="0"/>
              </a:spcAft>
            </a:pPr>
            <a:r>
              <a:rPr sz="930" b="0" i="0">
                <a:solidFill>
                  <a:srgbClr val="EAF2F7"/>
                </a:solidFill>
                <a:latin typeface="Consolas"/>
              </a:rPr>
              <a:t>endmodule</a:t>
            </a:r>
          </a:p>
        </p:txBody>
      </p:sp>
      <p:sp>
        <p:nvSpPr>
          <p:cNvPr id="13" name="Rounded Rectangle 12"/>
          <p:cNvSpPr/>
          <p:nvPr/>
        </p:nvSpPr>
        <p:spPr>
          <a:xfrm>
            <a:off x="7635240" y="2148840"/>
            <a:ext cx="4114800" cy="320040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9831" y="2240280"/>
            <a:ext cx="3785615" cy="30175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Read the RTL</a:t>
            </a:r>
          </a:p>
          <a:p>
            <a:pPr algn="l">
              <a:lnSpc>
                <a:spcPct val="103000"/>
              </a:lnSpc>
              <a:spcBef>
                <a:spcPts val="0"/>
              </a:spcBef>
              <a:spcAft>
                <a:spcPts val="200"/>
              </a:spcAft>
            </a:pPr>
            <a:r>
              <a:rPr sz="1060" b="0" i="0">
                <a:solidFill>
                  <a:srgbClr val="1F2A37"/>
                </a:solidFill>
                <a:latin typeface="Calibri"/>
              </a:rPr>
              <a:t>'sum' is a register (updated on posedge clk).</a:t>
            </a:r>
          </a:p>
          <a:p>
            <a:pPr algn="l">
              <a:lnSpc>
                <a:spcPct val="103000"/>
              </a:lnSpc>
              <a:spcBef>
                <a:spcPts val="0"/>
              </a:spcBef>
              <a:spcAft>
                <a:spcPts val="200"/>
              </a:spcAft>
            </a:pPr>
            <a:r>
              <a:rPr sz="1060" b="0" i="0">
                <a:solidFill>
                  <a:srgbClr val="1F2A37"/>
                </a:solidFill>
                <a:latin typeface="Calibri"/>
              </a:rPr>
              <a:t>'sum + din' is the combinational next-state logic.</a:t>
            </a:r>
          </a:p>
          <a:p>
            <a:pPr algn="l">
              <a:lnSpc>
                <a:spcPct val="103000"/>
              </a:lnSpc>
              <a:spcBef>
                <a:spcPts val="0"/>
              </a:spcBef>
              <a:spcAft>
                <a:spcPts val="200"/>
              </a:spcAft>
            </a:pPr>
            <a:r>
              <a:rPr sz="1060" b="0" i="0">
                <a:solidFill>
                  <a:srgbClr val="1F2A37"/>
                </a:solidFill>
                <a:latin typeface="Calibri"/>
              </a:rPr>
              <a:t>'&lt;=' is a non-blocking assignment — the register-transfer operator.</a:t>
            </a:r>
          </a:p>
          <a:p>
            <a:pPr algn="l">
              <a:lnSpc>
                <a:spcPct val="103000"/>
              </a:lnSpc>
              <a:spcBef>
                <a:spcPts val="0"/>
              </a:spcBef>
              <a:spcAft>
                <a:spcPts val="200"/>
              </a:spcAft>
            </a:pPr>
            <a:r>
              <a:rPr sz="1060" b="0" i="0">
                <a:solidFill>
                  <a:srgbClr val="1F2A37"/>
                </a:solidFill>
                <a:latin typeface="Calibri"/>
              </a:rPr>
              <a:t>On reset, sum = 0; otherwise sum accumulates din every cycle.</a:t>
            </a:r>
          </a:p>
          <a:p>
            <a:pPr algn="l">
              <a:lnSpc>
                <a:spcPct val="103000"/>
              </a:lnSpc>
              <a:spcBef>
                <a:spcPts val="0"/>
              </a:spcBef>
              <a:spcAft>
                <a:spcPts val="200"/>
              </a:spcAft>
            </a:pPr>
            <a:r>
              <a:rPr sz="1060" b="0" i="0">
                <a:solidFill>
                  <a:srgbClr val="1F2A37"/>
                </a:solidFill>
                <a:latin typeface="Calibri"/>
              </a:rPr>
              <a:t>This one block already shows the whole RTL pattern.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RUNNING EXAMPLE</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The 4-Bit Counter as RTL — Code and Waveform</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9</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Our running example. The counter is a register whose next-state logic is simply 'add one'. Watch how the RTL and the waveform correspond.</a:t>
            </a:r>
          </a:p>
        </p:txBody>
      </p:sp>
      <p:sp>
        <p:nvSpPr>
          <p:cNvPr id="10" name="Rounded Rectangle 9"/>
          <p:cNvSpPr/>
          <p:nvPr/>
        </p:nvSpPr>
        <p:spPr>
          <a:xfrm>
            <a:off x="457200" y="2103120"/>
            <a:ext cx="5486400" cy="246888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157984"/>
            <a:ext cx="521208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counter4.v</a:t>
            </a:r>
          </a:p>
        </p:txBody>
      </p:sp>
      <p:sp>
        <p:nvSpPr>
          <p:cNvPr id="12" name="TextBox 11"/>
          <p:cNvSpPr txBox="1"/>
          <p:nvPr/>
        </p:nvSpPr>
        <p:spPr>
          <a:xfrm>
            <a:off x="603504" y="2432303"/>
            <a:ext cx="5212080" cy="209397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module counter4 (</a:t>
            </a:r>
          </a:p>
          <a:p>
            <a:pPr>
              <a:lnSpc>
                <a:spcPct val="100000"/>
              </a:lnSpc>
              <a:spcBef>
                <a:spcPts val="0"/>
              </a:spcBef>
              <a:spcAft>
                <a:spcPts val="0"/>
              </a:spcAft>
            </a:pPr>
            <a:r>
              <a:rPr sz="930" b="0" i="0">
                <a:solidFill>
                  <a:srgbClr val="EAF2F7"/>
                </a:solidFill>
                <a:latin typeface="Consolas"/>
              </a:rPr>
              <a:t>  input            clk,</a:t>
            </a:r>
          </a:p>
          <a:p>
            <a:pPr>
              <a:lnSpc>
                <a:spcPct val="100000"/>
              </a:lnSpc>
              <a:spcBef>
                <a:spcPts val="0"/>
              </a:spcBef>
              <a:spcAft>
                <a:spcPts val="0"/>
              </a:spcAft>
            </a:pPr>
            <a:r>
              <a:rPr sz="930" b="0" i="0">
                <a:solidFill>
                  <a:srgbClr val="EAF2F7"/>
                </a:solidFill>
                <a:latin typeface="Consolas"/>
              </a:rPr>
              <a:t>  input            rst_n,</a:t>
            </a:r>
          </a:p>
          <a:p>
            <a:pPr>
              <a:lnSpc>
                <a:spcPct val="100000"/>
              </a:lnSpc>
              <a:spcBef>
                <a:spcPts val="0"/>
              </a:spcBef>
              <a:spcAft>
                <a:spcPts val="0"/>
              </a:spcAft>
            </a:pPr>
            <a:r>
              <a:rPr sz="930" b="0" i="0">
                <a:solidFill>
                  <a:srgbClr val="EAF2F7"/>
                </a:solidFill>
                <a:latin typeface="Consolas"/>
              </a:rPr>
              <a:t>  output reg [3:0] count</a:t>
            </a:r>
          </a:p>
          <a:p>
            <a:pPr>
              <a:lnSpc>
                <a:spcPct val="100000"/>
              </a:lnSpc>
              <a:spcBef>
                <a:spcPts val="0"/>
              </a:spcBef>
              <a:spcAft>
                <a:spcPts val="0"/>
              </a:spcAft>
            </a:pPr>
            <a:r>
              <a:rPr sz="930" b="0" i="0">
                <a:solidFill>
                  <a:srgbClr val="EAF2F7"/>
                </a:solidFill>
                <a:latin typeface="Consolas"/>
              </a:rPr>
              <a:t>);</a:t>
            </a:r>
          </a:p>
          <a:p>
            <a:pPr>
              <a:lnSpc>
                <a:spcPct val="100000"/>
              </a:lnSpc>
              <a:spcBef>
                <a:spcPts val="0"/>
              </a:spcBef>
              <a:spcAft>
                <a:spcPts val="0"/>
              </a:spcAft>
            </a:pPr>
            <a:r>
              <a:rPr sz="930" b="0" i="0">
                <a:solidFill>
                  <a:srgbClr val="EAF2F7"/>
                </a:solidFill>
                <a:latin typeface="Consolas"/>
              </a:rPr>
              <a:t>  always @(posedge clk or negedge rst_n)</a:t>
            </a:r>
          </a:p>
          <a:p>
            <a:pPr>
              <a:lnSpc>
                <a:spcPct val="100000"/>
              </a:lnSpc>
              <a:spcBef>
                <a:spcPts val="0"/>
              </a:spcBef>
              <a:spcAft>
                <a:spcPts val="0"/>
              </a:spcAft>
            </a:pPr>
            <a:r>
              <a:rPr sz="930" b="0" i="0">
                <a:solidFill>
                  <a:srgbClr val="EAF2F7"/>
                </a:solidFill>
                <a:latin typeface="Consolas"/>
              </a:rPr>
              <a:t>    if (!rst_n) count &lt;= 4'b0000;</a:t>
            </a:r>
          </a:p>
          <a:p>
            <a:pPr>
              <a:lnSpc>
                <a:spcPct val="100000"/>
              </a:lnSpc>
              <a:spcBef>
                <a:spcPts val="0"/>
              </a:spcBef>
              <a:spcAft>
                <a:spcPts val="0"/>
              </a:spcAft>
            </a:pPr>
            <a:r>
              <a:rPr sz="930" b="0" i="0">
                <a:solidFill>
                  <a:srgbClr val="EAF2F7"/>
                </a:solidFill>
                <a:latin typeface="Consolas"/>
              </a:rPr>
              <a:t>    else        count &lt;= count + 1'b1;</a:t>
            </a:r>
          </a:p>
          <a:p>
            <a:pPr>
              <a:lnSpc>
                <a:spcPct val="100000"/>
              </a:lnSpc>
              <a:spcBef>
                <a:spcPts val="0"/>
              </a:spcBef>
              <a:spcAft>
                <a:spcPts val="0"/>
              </a:spcAft>
            </a:pPr>
            <a:r>
              <a:rPr sz="930" b="0" i="0">
                <a:solidFill>
                  <a:srgbClr val="EAF2F7"/>
                </a:solidFill>
                <a:latin typeface="Consolas"/>
              </a:rPr>
              <a:t>endmodule</a:t>
            </a:r>
          </a:p>
        </p:txBody>
      </p:sp>
      <p:pic>
        <p:nvPicPr>
          <p:cNvPr id="13" name="Picture 12" descr="counter_wave.png"/>
          <p:cNvPicPr>
            <a:picLocks noChangeAspect="1"/>
          </p:cNvPicPr>
          <p:nvPr/>
        </p:nvPicPr>
        <p:blipFill>
          <a:blip r:embed="rId2"/>
          <a:stretch>
            <a:fillRect/>
          </a:stretch>
        </p:blipFill>
        <p:spPr>
          <a:xfrm>
            <a:off x="6126480" y="2148840"/>
            <a:ext cx="5577840" cy="1844363"/>
          </a:xfrm>
          <a:prstGeom prst="rect">
            <a:avLst/>
          </a:prstGeom>
        </p:spPr>
      </p:pic>
      <p:sp>
        <p:nvSpPr>
          <p:cNvPr id="14" name="Rounded Rectangle 13"/>
          <p:cNvSpPr/>
          <p:nvPr/>
        </p:nvSpPr>
        <p:spPr>
          <a:xfrm>
            <a:off x="457200" y="5074920"/>
            <a:ext cx="11292840" cy="91440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166359"/>
            <a:ext cx="10963656" cy="7315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C77514"/>
                </a:solidFill>
                <a:latin typeface="Calibri"/>
              </a:rPr>
              <a:t>RTL ↔ behaviour</a:t>
            </a:r>
          </a:p>
          <a:p>
            <a:pPr algn="l">
              <a:lnSpc>
                <a:spcPct val="103000"/>
              </a:lnSpc>
              <a:spcBef>
                <a:spcPts val="0"/>
              </a:spcBef>
              <a:spcAft>
                <a:spcPts val="200"/>
              </a:spcAft>
            </a:pPr>
            <a:r>
              <a:rPr sz="1080" b="0" i="0">
                <a:solidFill>
                  <a:srgbClr val="1F2A37"/>
                </a:solidFill>
                <a:latin typeface="Calibri"/>
              </a:rPr>
              <a:t>After reset releases, 'count' increments by one every rising clock edge and wraps 15 → 0. The register holds the value; the '+1' is the combinational next-state logic.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WHY RTL</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Why Design at RTL and Not at Gate Level?</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10</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Before RTL, engineers drew gate schematics by hand. RTL changed the industry by raising the abstraction — the same reason we write C instead of assembly.</a:t>
            </a:r>
          </a:p>
        </p:txBody>
      </p:sp>
      <p:sp>
        <p:nvSpPr>
          <p:cNvPr id="10" name="Rounded Rectangle 9"/>
          <p:cNvSpPr/>
          <p:nvPr/>
        </p:nvSpPr>
        <p:spPr>
          <a:xfrm>
            <a:off x="457200" y="2240280"/>
            <a:ext cx="3657600" cy="29260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331720"/>
            <a:ext cx="3328416" cy="27432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Productivity</a:t>
            </a:r>
          </a:p>
          <a:p>
            <a:pPr algn="l">
              <a:lnSpc>
                <a:spcPct val="103000"/>
              </a:lnSpc>
              <a:spcBef>
                <a:spcPts val="0"/>
              </a:spcBef>
              <a:spcAft>
                <a:spcPts val="200"/>
              </a:spcAft>
            </a:pPr>
            <a:r>
              <a:rPr sz="1100" b="0" i="0">
                <a:solidFill>
                  <a:srgbClr val="1F2A37"/>
                </a:solidFill>
                <a:latin typeface="Calibri"/>
              </a:rPr>
              <a:t>One line of RTL can become hundreds of gates.</a:t>
            </a:r>
          </a:p>
          <a:p>
            <a:pPr algn="l">
              <a:lnSpc>
                <a:spcPct val="103000"/>
              </a:lnSpc>
              <a:spcBef>
                <a:spcPts val="0"/>
              </a:spcBef>
              <a:spcAft>
                <a:spcPts val="200"/>
              </a:spcAft>
            </a:pPr>
            <a:r>
              <a:rPr sz="1100" b="0" i="0">
                <a:solidFill>
                  <a:srgbClr val="1F2A37"/>
                </a:solidFill>
                <a:latin typeface="Calibri"/>
              </a:rPr>
              <a:t>Describe behaviour, not wiring.</a:t>
            </a:r>
          </a:p>
          <a:p>
            <a:pPr algn="l">
              <a:lnSpc>
                <a:spcPct val="103000"/>
              </a:lnSpc>
              <a:spcBef>
                <a:spcPts val="0"/>
              </a:spcBef>
              <a:spcAft>
                <a:spcPts val="200"/>
              </a:spcAft>
            </a:pPr>
            <a:r>
              <a:rPr sz="1100" b="0" i="0">
                <a:solidFill>
                  <a:srgbClr val="1F2A37"/>
                </a:solidFill>
                <a:latin typeface="Calibri"/>
              </a:rPr>
              <a:t>Faster to write, read and change.</a:t>
            </a:r>
          </a:p>
        </p:txBody>
      </p:sp>
      <p:sp>
        <p:nvSpPr>
          <p:cNvPr id="12" name="Rounded Rectangle 11"/>
          <p:cNvSpPr/>
          <p:nvPr/>
        </p:nvSpPr>
        <p:spPr>
          <a:xfrm>
            <a:off x="4251960" y="2240280"/>
            <a:ext cx="3657600" cy="292608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2331720"/>
            <a:ext cx="3328416" cy="27432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Portability &amp; reuse</a:t>
            </a:r>
          </a:p>
          <a:p>
            <a:pPr algn="l">
              <a:lnSpc>
                <a:spcPct val="103000"/>
              </a:lnSpc>
              <a:spcBef>
                <a:spcPts val="0"/>
              </a:spcBef>
              <a:spcAft>
                <a:spcPts val="200"/>
              </a:spcAft>
            </a:pPr>
            <a:r>
              <a:rPr sz="1100" b="0" i="0">
                <a:solidFill>
                  <a:srgbClr val="1F2A37"/>
                </a:solidFill>
                <a:latin typeface="Calibri"/>
              </a:rPr>
              <a:t>Same RTL synthesizes to ASIC or FPGA.</a:t>
            </a:r>
          </a:p>
          <a:p>
            <a:pPr algn="l">
              <a:lnSpc>
                <a:spcPct val="103000"/>
              </a:lnSpc>
              <a:spcBef>
                <a:spcPts val="0"/>
              </a:spcBef>
              <a:spcAft>
                <a:spcPts val="200"/>
              </a:spcAft>
            </a:pPr>
            <a:r>
              <a:rPr sz="1100" b="0" i="0">
                <a:solidFill>
                  <a:srgbClr val="1F2A37"/>
                </a:solidFill>
                <a:latin typeface="Calibri"/>
              </a:rPr>
              <a:t>Retarget to a new technology by re-synthesizing.</a:t>
            </a:r>
          </a:p>
          <a:p>
            <a:pPr algn="l">
              <a:lnSpc>
                <a:spcPct val="103000"/>
              </a:lnSpc>
              <a:spcBef>
                <a:spcPts val="0"/>
              </a:spcBef>
              <a:spcAft>
                <a:spcPts val="200"/>
              </a:spcAft>
            </a:pPr>
            <a:r>
              <a:rPr sz="1100" b="0" i="0">
                <a:solidFill>
                  <a:srgbClr val="1F2A37"/>
                </a:solidFill>
                <a:latin typeface="Calibri"/>
              </a:rPr>
              <a:t>Parameterized RTL becomes reusable IP.</a:t>
            </a:r>
          </a:p>
        </p:txBody>
      </p:sp>
      <p:sp>
        <p:nvSpPr>
          <p:cNvPr id="14" name="Rounded Rectangle 13"/>
          <p:cNvSpPr/>
          <p:nvPr/>
        </p:nvSpPr>
        <p:spPr>
          <a:xfrm>
            <a:off x="8092440" y="2240280"/>
            <a:ext cx="3657600" cy="292608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1" y="2331720"/>
            <a:ext cx="3328416" cy="27432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Verifiability</a:t>
            </a:r>
          </a:p>
          <a:p>
            <a:pPr algn="l">
              <a:lnSpc>
                <a:spcPct val="103000"/>
              </a:lnSpc>
              <a:spcBef>
                <a:spcPts val="0"/>
              </a:spcBef>
              <a:spcAft>
                <a:spcPts val="200"/>
              </a:spcAft>
            </a:pPr>
            <a:r>
              <a:rPr sz="1100" b="0" i="0">
                <a:solidFill>
                  <a:srgbClr val="1F2A37"/>
                </a:solidFill>
                <a:latin typeface="Calibri"/>
              </a:rPr>
              <a:t>Simulate and check behaviour early.</a:t>
            </a:r>
          </a:p>
          <a:p>
            <a:pPr algn="l">
              <a:lnSpc>
                <a:spcPct val="103000"/>
              </a:lnSpc>
              <a:spcBef>
                <a:spcPts val="0"/>
              </a:spcBef>
              <a:spcAft>
                <a:spcPts val="200"/>
              </a:spcAft>
            </a:pPr>
            <a:r>
              <a:rPr sz="1100" b="0" i="0">
                <a:solidFill>
                  <a:srgbClr val="1F2A37"/>
                </a:solidFill>
                <a:latin typeface="Calibri"/>
              </a:rPr>
              <a:t>Bugs are far cheaper to fix at RTL than in silicon.</a:t>
            </a:r>
          </a:p>
          <a:p>
            <a:pPr algn="l">
              <a:lnSpc>
                <a:spcPct val="103000"/>
              </a:lnSpc>
              <a:spcBef>
                <a:spcPts val="0"/>
              </a:spcBef>
              <a:spcAft>
                <a:spcPts val="200"/>
              </a:spcAft>
            </a:pPr>
            <a:r>
              <a:rPr sz="1100" b="0" i="0">
                <a:solidFill>
                  <a:srgbClr val="1F2A37"/>
                </a:solidFill>
                <a:latin typeface="Calibri"/>
              </a:rPr>
              <a:t>Tools optimise timing/area/power for you.</a:t>
            </a:r>
          </a:p>
        </p:txBody>
      </p:sp>
      <p:sp>
        <p:nvSpPr>
          <p:cNvPr id="16" name="Rounded Rectangle 15"/>
          <p:cNvSpPr/>
          <p:nvPr/>
        </p:nvSpPr>
        <p:spPr>
          <a:xfrm>
            <a:off x="457200" y="5303520"/>
            <a:ext cx="11292840" cy="82296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5394959"/>
            <a:ext cx="10963656" cy="64008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Bottom line</a:t>
            </a:r>
          </a:p>
          <a:p>
            <a:pPr algn="l">
              <a:lnSpc>
                <a:spcPct val="103000"/>
              </a:lnSpc>
              <a:spcBef>
                <a:spcPts val="0"/>
              </a:spcBef>
              <a:spcAft>
                <a:spcPts val="200"/>
              </a:spcAft>
            </a:pPr>
            <a:r>
              <a:rPr sz="1080" b="0" i="0">
                <a:solidFill>
                  <a:srgbClr val="1F2A37"/>
                </a:solidFill>
                <a:latin typeface="Calibri"/>
              </a:rPr>
              <a:t>RTL lets a small team design a billion-transistor chip — by describing intent and letting synthesis build the gates.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PRACTICAL EXAMPLE 1</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Numerical — Reasoning About a Synchronous Counter</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11</a:t>
            </a:r>
          </a:p>
        </p:txBody>
      </p:sp>
      <p:sp>
        <p:nvSpPr>
          <p:cNvPr id="9" name="Rounded Rectangle 8"/>
          <p:cNvSpPr/>
          <p:nvPr/>
        </p:nvSpPr>
        <p:spPr>
          <a:xfrm>
            <a:off x="457200" y="1234440"/>
            <a:ext cx="5486400" cy="3977639"/>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325880"/>
            <a:ext cx="5157216" cy="379475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Problem</a:t>
            </a:r>
          </a:p>
          <a:p>
            <a:pPr algn="l">
              <a:lnSpc>
                <a:spcPct val="103000"/>
              </a:lnSpc>
              <a:spcBef>
                <a:spcPts val="0"/>
              </a:spcBef>
              <a:spcAft>
                <a:spcPts val="200"/>
              </a:spcAft>
            </a:pPr>
            <a:r>
              <a:rPr sz="1150" b="0" i="0">
                <a:solidFill>
                  <a:srgbClr val="1F2A37"/>
                </a:solidFill>
                <a:latin typeface="Calibri"/>
              </a:rPr>
              <a:t>An 8-bit counter is clocked at 50 MHz and increments every cycle after reset.</a:t>
            </a:r>
          </a:p>
          <a:p>
            <a:pPr algn="l">
              <a:lnSpc>
                <a:spcPct val="103000"/>
              </a:lnSpc>
              <a:spcBef>
                <a:spcPts val="0"/>
              </a:spcBef>
              <a:spcAft>
                <a:spcPts val="200"/>
              </a:spcAft>
            </a:pPr>
            <a:r>
              <a:rPr sz="1150" b="0" i="0">
                <a:solidFill>
                  <a:srgbClr val="1F2A37"/>
                </a:solidFill>
                <a:latin typeface="Calibri"/>
              </a:rPr>
              <a:t>(a) What is the clock period?</a:t>
            </a:r>
          </a:p>
          <a:p>
            <a:pPr algn="l">
              <a:lnSpc>
                <a:spcPct val="103000"/>
              </a:lnSpc>
              <a:spcBef>
                <a:spcPts val="0"/>
              </a:spcBef>
              <a:spcAft>
                <a:spcPts val="200"/>
              </a:spcAft>
            </a:pPr>
            <a:r>
              <a:rPr sz="1150" b="0" i="0">
                <a:solidFill>
                  <a:srgbClr val="1F2A37"/>
                </a:solidFill>
                <a:latin typeface="Calibri"/>
              </a:rPr>
              <a:t>(b) How many values before it wraps around?</a:t>
            </a:r>
          </a:p>
          <a:p>
            <a:pPr algn="l">
              <a:lnSpc>
                <a:spcPct val="103000"/>
              </a:lnSpc>
              <a:spcBef>
                <a:spcPts val="0"/>
              </a:spcBef>
              <a:spcAft>
                <a:spcPts val="200"/>
              </a:spcAft>
            </a:pPr>
            <a:r>
              <a:rPr sz="1150" b="0" i="0">
                <a:solidFill>
                  <a:srgbClr val="1F2A37"/>
                </a:solidFill>
                <a:latin typeface="Calibri"/>
              </a:rPr>
              <a:t>(c) How long (in µs) does one full wrap take?</a:t>
            </a:r>
          </a:p>
          <a:p>
            <a:pPr algn="l">
              <a:lnSpc>
                <a:spcPct val="103000"/>
              </a:lnSpc>
              <a:spcBef>
                <a:spcPts val="0"/>
              </a:spcBef>
              <a:spcAft>
                <a:spcPts val="200"/>
              </a:spcAft>
            </a:pPr>
            <a:r>
              <a:rPr sz="1150" b="0" i="0">
                <a:solidFill>
                  <a:srgbClr val="1F2A37"/>
                </a:solidFill>
                <a:latin typeface="Calibri"/>
              </a:rPr>
              <a:t>(d) It is an up-counter with a synchronous reset — on which edge does 'count' actually change?</a:t>
            </a:r>
          </a:p>
        </p:txBody>
      </p:sp>
      <p:sp>
        <p:nvSpPr>
          <p:cNvPr id="11" name="Rounded Rectangle 10"/>
          <p:cNvSpPr/>
          <p:nvPr/>
        </p:nvSpPr>
        <p:spPr>
          <a:xfrm>
            <a:off x="6080760" y="1234440"/>
            <a:ext cx="5669280" cy="3977639"/>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45352" y="1325880"/>
            <a:ext cx="5340096" cy="379475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Solution</a:t>
            </a:r>
          </a:p>
          <a:p>
            <a:pPr algn="l">
              <a:lnSpc>
                <a:spcPct val="103000"/>
              </a:lnSpc>
              <a:spcBef>
                <a:spcPts val="0"/>
              </a:spcBef>
              <a:spcAft>
                <a:spcPts val="200"/>
              </a:spcAft>
            </a:pPr>
            <a:r>
              <a:rPr sz="1100" b="0" i="0">
                <a:solidFill>
                  <a:srgbClr val="1F2A37"/>
                </a:solidFill>
                <a:latin typeface="Calibri"/>
              </a:rPr>
              <a:t>(a) Period = 1 / 50 MHz = 20 ns.</a:t>
            </a:r>
          </a:p>
          <a:p>
            <a:pPr algn="l">
              <a:lnSpc>
                <a:spcPct val="103000"/>
              </a:lnSpc>
              <a:spcBef>
                <a:spcPts val="0"/>
              </a:spcBef>
              <a:spcAft>
                <a:spcPts val="200"/>
              </a:spcAft>
            </a:pPr>
            <a:r>
              <a:rPr sz="1100" b="0" i="0">
                <a:solidFill>
                  <a:srgbClr val="1F2A37"/>
                </a:solidFill>
                <a:latin typeface="Calibri"/>
              </a:rPr>
              <a:t>(b) 8 bits → 2^8 = 256 distinct values (0…255).</a:t>
            </a:r>
          </a:p>
          <a:p>
            <a:pPr algn="l">
              <a:lnSpc>
                <a:spcPct val="103000"/>
              </a:lnSpc>
              <a:spcBef>
                <a:spcPts val="0"/>
              </a:spcBef>
              <a:spcAft>
                <a:spcPts val="200"/>
              </a:spcAft>
            </a:pPr>
            <a:r>
              <a:rPr sz="1100" b="0" i="0">
                <a:solidFill>
                  <a:srgbClr val="1F2A37"/>
                </a:solidFill>
                <a:latin typeface="Calibri"/>
              </a:rPr>
              <a:t>(c) One wrap = 256 × 20 ns = 5120 ns = 5.12 µs.</a:t>
            </a:r>
          </a:p>
          <a:p>
            <a:pPr algn="l">
              <a:lnSpc>
                <a:spcPct val="103000"/>
              </a:lnSpc>
              <a:spcBef>
                <a:spcPts val="0"/>
              </a:spcBef>
              <a:spcAft>
                <a:spcPts val="200"/>
              </a:spcAft>
            </a:pPr>
            <a:r>
              <a:rPr sz="1100" b="0" i="0">
                <a:solidFill>
                  <a:srgbClr val="1F2A37"/>
                </a:solidFill>
                <a:latin typeface="Calibri"/>
              </a:rPr>
              <a:t>(d) Values change only on the rising clock edge (posedge); a synchronous reset also acts on that edge.</a:t>
            </a:r>
          </a:p>
          <a:p>
            <a:pPr algn="l">
              <a:lnSpc>
                <a:spcPct val="103000"/>
              </a:lnSpc>
              <a:spcBef>
                <a:spcPts val="0"/>
              </a:spcBef>
              <a:spcAft>
                <a:spcPts val="200"/>
              </a:spcAft>
            </a:pPr>
            <a:r>
              <a:rPr sz="1100" b="0" i="0">
                <a:solidFill>
                  <a:srgbClr val="1F2A37"/>
                </a:solidFill>
                <a:latin typeface="Calibri"/>
              </a:rPr>
              <a:t>Takeaway: RTL timing = (number of cycles) × (clock period). Counting cycles is how you reason about hardware.</a:t>
            </a:r>
          </a:p>
        </p:txBody>
      </p:sp>
      <p:sp>
        <p:nvSpPr>
          <p:cNvPr id="13" name="Rounded Rectangle 12"/>
          <p:cNvSpPr/>
          <p:nvPr/>
        </p:nvSpPr>
        <p:spPr>
          <a:xfrm>
            <a:off x="457200" y="5349240"/>
            <a:ext cx="11292840" cy="77724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5440679"/>
            <a:ext cx="10963656" cy="59435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C77514"/>
                </a:solidFill>
                <a:latin typeface="Calibri"/>
              </a:rPr>
              <a:t>Try it yourself</a:t>
            </a:r>
          </a:p>
          <a:p>
            <a:pPr algn="l">
              <a:lnSpc>
                <a:spcPct val="103000"/>
              </a:lnSpc>
              <a:spcBef>
                <a:spcPts val="0"/>
              </a:spcBef>
              <a:spcAft>
                <a:spcPts val="200"/>
              </a:spcAft>
            </a:pPr>
            <a:r>
              <a:rPr sz="1080" b="0" i="0">
                <a:solidFill>
                  <a:srgbClr val="1F2A37"/>
                </a:solidFill>
                <a:latin typeface="Calibri"/>
              </a:rPr>
              <a:t>A 12-bit counter at 100 MHz — how long is one full wrap? (Answer: 4096 × 10 ns = 40.96 µs.)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2A · RECAP</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Basics of RTL — What You Should Now Know</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12</a:t>
            </a:r>
          </a:p>
        </p:txBody>
      </p:sp>
      <p:sp>
        <p:nvSpPr>
          <p:cNvPr id="9" name="Rounded Rectangle 8"/>
          <p:cNvSpPr/>
          <p:nvPr/>
        </p:nvSpPr>
        <p:spPr>
          <a:xfrm>
            <a:off x="457200" y="1280160"/>
            <a:ext cx="5577840" cy="402336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371600"/>
            <a:ext cx="5248655" cy="384048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You can now explain</a:t>
            </a:r>
          </a:p>
          <a:p>
            <a:pPr algn="l">
              <a:lnSpc>
                <a:spcPct val="103000"/>
              </a:lnSpc>
              <a:spcBef>
                <a:spcPts val="0"/>
              </a:spcBef>
              <a:spcAft>
                <a:spcPts val="200"/>
              </a:spcAft>
            </a:pPr>
            <a:r>
              <a:rPr sz="1130" b="0" i="0">
                <a:solidFill>
                  <a:srgbClr val="1F2A37"/>
                </a:solidFill>
                <a:latin typeface="Calibri"/>
              </a:rPr>
              <a:t>RTL = registers + combinational logic, per clock edge.</a:t>
            </a:r>
          </a:p>
          <a:p>
            <a:pPr algn="l">
              <a:lnSpc>
                <a:spcPct val="103000"/>
              </a:lnSpc>
              <a:spcBef>
                <a:spcPts val="0"/>
              </a:spcBef>
              <a:spcAft>
                <a:spcPts val="200"/>
              </a:spcAft>
            </a:pPr>
            <a:r>
              <a:rPr sz="1130" b="0" i="0">
                <a:solidFill>
                  <a:srgbClr val="1F2A37"/>
                </a:solidFill>
                <a:latin typeface="Calibri"/>
              </a:rPr>
              <a:t>The register-transfer view (R2 ← f(R1) each cycle).</a:t>
            </a:r>
          </a:p>
          <a:p>
            <a:pPr algn="l">
              <a:lnSpc>
                <a:spcPct val="103000"/>
              </a:lnSpc>
              <a:spcBef>
                <a:spcPts val="0"/>
              </a:spcBef>
              <a:spcAft>
                <a:spcPts val="200"/>
              </a:spcAft>
            </a:pPr>
            <a:r>
              <a:rPr sz="1130" b="0" i="0">
                <a:solidFill>
                  <a:srgbClr val="1F2A37"/>
                </a:solidFill>
                <a:latin typeface="Calibri"/>
              </a:rPr>
              <a:t>Combinational vs sequential logic.</a:t>
            </a:r>
          </a:p>
          <a:p>
            <a:pPr algn="l">
              <a:lnSpc>
                <a:spcPct val="103000"/>
              </a:lnSpc>
              <a:spcBef>
                <a:spcPts val="0"/>
              </a:spcBef>
              <a:spcAft>
                <a:spcPts val="200"/>
              </a:spcAft>
            </a:pPr>
            <a:r>
              <a:rPr sz="1130" b="0" i="0">
                <a:solidFill>
                  <a:srgbClr val="1F2A37"/>
                </a:solidFill>
                <a:latin typeface="Calibri"/>
              </a:rPr>
              <a:t>Synchronous design: one clock, one edge, clean reset.</a:t>
            </a:r>
          </a:p>
          <a:p>
            <a:pPr algn="l">
              <a:lnSpc>
                <a:spcPct val="103000"/>
              </a:lnSpc>
              <a:spcBef>
                <a:spcPts val="0"/>
              </a:spcBef>
              <a:spcAft>
                <a:spcPts val="200"/>
              </a:spcAft>
            </a:pPr>
            <a:r>
              <a:rPr sz="1130" b="0" i="0">
                <a:solidFill>
                  <a:srgbClr val="1F2A37"/>
                </a:solidFill>
                <a:latin typeface="Calibri"/>
              </a:rPr>
              <a:t>Datapath + controller structuring.</a:t>
            </a:r>
          </a:p>
          <a:p>
            <a:pPr algn="l">
              <a:lnSpc>
                <a:spcPct val="103000"/>
              </a:lnSpc>
              <a:spcBef>
                <a:spcPts val="0"/>
              </a:spcBef>
              <a:spcAft>
                <a:spcPts val="200"/>
              </a:spcAft>
            </a:pPr>
            <a:r>
              <a:rPr sz="1130" b="0" i="0">
                <a:solidFill>
                  <a:srgbClr val="1F2A37"/>
                </a:solidFill>
                <a:latin typeface="Calibri"/>
              </a:rPr>
              <a:t>Why RTL (productivity, portability, verifiability).</a:t>
            </a:r>
          </a:p>
        </p:txBody>
      </p:sp>
      <p:sp>
        <p:nvSpPr>
          <p:cNvPr id="11" name="Rounded Rectangle 10"/>
          <p:cNvSpPr/>
          <p:nvPr/>
        </p:nvSpPr>
        <p:spPr>
          <a:xfrm>
            <a:off x="6172200" y="1280160"/>
            <a:ext cx="5577840" cy="402336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1371600"/>
            <a:ext cx="5248655" cy="384048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Common interview questions</a:t>
            </a:r>
          </a:p>
          <a:p>
            <a:pPr algn="l">
              <a:lnSpc>
                <a:spcPct val="103000"/>
              </a:lnSpc>
              <a:spcBef>
                <a:spcPts val="0"/>
              </a:spcBef>
              <a:spcAft>
                <a:spcPts val="200"/>
              </a:spcAft>
            </a:pPr>
            <a:r>
              <a:rPr sz="1130" b="0" i="0">
                <a:solidFill>
                  <a:srgbClr val="1F2A37"/>
                </a:solidFill>
                <a:latin typeface="Calibri"/>
              </a:rPr>
              <a:t>What is RTL, in one sentence?</a:t>
            </a:r>
          </a:p>
          <a:p>
            <a:pPr algn="l">
              <a:lnSpc>
                <a:spcPct val="103000"/>
              </a:lnSpc>
              <a:spcBef>
                <a:spcPts val="0"/>
              </a:spcBef>
              <a:spcAft>
                <a:spcPts val="200"/>
              </a:spcAft>
            </a:pPr>
            <a:r>
              <a:rPr sz="1130" b="0" i="0">
                <a:solidFill>
                  <a:srgbClr val="1F2A37"/>
                </a:solidFill>
                <a:latin typeface="Calibri"/>
              </a:rPr>
              <a:t>Difference between combinational and sequential logic?</a:t>
            </a:r>
          </a:p>
          <a:p>
            <a:pPr algn="l">
              <a:lnSpc>
                <a:spcPct val="103000"/>
              </a:lnSpc>
              <a:spcBef>
                <a:spcPts val="0"/>
              </a:spcBef>
              <a:spcAft>
                <a:spcPts val="200"/>
              </a:spcAft>
            </a:pPr>
            <a:r>
              <a:rPr sz="1130" b="0" i="0">
                <a:solidFill>
                  <a:srgbClr val="1F2A37"/>
                </a:solidFill>
                <a:latin typeface="Calibri"/>
              </a:rPr>
              <a:t>What does '&lt;=' mean and where is it used?</a:t>
            </a:r>
          </a:p>
          <a:p>
            <a:pPr algn="l">
              <a:lnSpc>
                <a:spcPct val="103000"/>
              </a:lnSpc>
              <a:spcBef>
                <a:spcPts val="0"/>
              </a:spcBef>
              <a:spcAft>
                <a:spcPts val="200"/>
              </a:spcAft>
            </a:pPr>
            <a:r>
              <a:rPr sz="1130" b="0" i="0">
                <a:solidFill>
                  <a:srgbClr val="1F2A37"/>
                </a:solidFill>
                <a:latin typeface="Calibri"/>
              </a:rPr>
              <a:t>What is a clock domain? Why avoid latches?</a:t>
            </a:r>
          </a:p>
          <a:p>
            <a:pPr algn="l">
              <a:lnSpc>
                <a:spcPct val="103000"/>
              </a:lnSpc>
              <a:spcBef>
                <a:spcPts val="0"/>
              </a:spcBef>
              <a:spcAft>
                <a:spcPts val="200"/>
              </a:spcAft>
            </a:pPr>
            <a:r>
              <a:rPr sz="1130" b="0" i="0">
                <a:solidFill>
                  <a:srgbClr val="1F2A37"/>
                </a:solidFill>
                <a:latin typeface="Calibri"/>
              </a:rPr>
              <a:t>What is the datapath/controller split?</a:t>
            </a:r>
          </a:p>
          <a:p>
            <a:pPr algn="l">
              <a:lnSpc>
                <a:spcPct val="103000"/>
              </a:lnSpc>
              <a:spcBef>
                <a:spcPts val="0"/>
              </a:spcBef>
              <a:spcAft>
                <a:spcPts val="200"/>
              </a:spcAft>
            </a:pPr>
            <a:r>
              <a:rPr sz="1130" b="0" i="0">
                <a:solidFill>
                  <a:srgbClr val="1F2A37"/>
                </a:solidFill>
                <a:latin typeface="Calibri"/>
              </a:rPr>
              <a:t>Why is a reset needed?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OVERVIEW</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The RTL Design Methodology — Spec to Signed-Off Netlist</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13</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'Methodology' means the disciplined sequence a designer follows to turn a specification into correct, synthesizable RTL and then into gates. Each step feeds the next; problems loop back for a fix-and-re-iterate.</a:t>
            </a:r>
          </a:p>
        </p:txBody>
      </p:sp>
      <p:pic>
        <p:nvPicPr>
          <p:cNvPr id="10" name="Picture 9" descr="rtl_flow.png"/>
          <p:cNvPicPr>
            <a:picLocks noChangeAspect="1"/>
          </p:cNvPicPr>
          <p:nvPr/>
        </p:nvPicPr>
        <p:blipFill>
          <a:blip r:embed="rId2"/>
          <a:stretch>
            <a:fillRect/>
          </a:stretch>
        </p:blipFill>
        <p:spPr>
          <a:xfrm>
            <a:off x="4455444" y="1417320"/>
            <a:ext cx="3280807" cy="3977639"/>
          </a:xfrm>
          <a:prstGeom prst="rect">
            <a:avLst/>
          </a:prstGeom>
        </p:spPr>
      </p:pic>
      <p:sp>
        <p:nvSpPr>
          <p:cNvPr id="11" name="Rounded Rectangle 10"/>
          <p:cNvSpPr/>
          <p:nvPr/>
        </p:nvSpPr>
        <p:spPr>
          <a:xfrm>
            <a:off x="457200" y="5532120"/>
            <a:ext cx="11292840" cy="868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The front-end you own</a:t>
            </a:r>
          </a:p>
          <a:p>
            <a:pPr algn="l">
              <a:lnSpc>
                <a:spcPct val="103000"/>
              </a:lnSpc>
              <a:spcBef>
                <a:spcPts val="0"/>
              </a:spcBef>
              <a:spcAft>
                <a:spcPts val="200"/>
              </a:spcAft>
            </a:pPr>
            <a:r>
              <a:rPr sz="1080" b="0" i="0">
                <a:solidFill>
                  <a:srgbClr val="1F2A37"/>
                </a:solidFill>
                <a:latin typeface="Calibri"/>
              </a:rPr>
              <a:t>As an RTL/Chip-Design Associate you live in the orange steps — coding, simulating, linting — and hand a clean, synthesizable design to synthesis.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STEP 1</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Step 1 — Specification &amp; Micro-Architecture</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14</a:t>
            </a:r>
          </a:p>
        </p:txBody>
      </p:sp>
      <p:sp>
        <p:nvSpPr>
          <p:cNvPr id="9" name="TextBox 8"/>
          <p:cNvSpPr txBox="1"/>
          <p:nvPr/>
        </p:nvSpPr>
        <p:spPr>
          <a:xfrm>
            <a:off x="457200" y="1188720"/>
            <a:ext cx="11292840" cy="96012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Before any code, pin down what the block must do and sketch how it will be built — the registers, datapath and control needed to meet performance, area and power.</a:t>
            </a:r>
          </a:p>
        </p:txBody>
      </p:sp>
      <p:sp>
        <p:nvSpPr>
          <p:cNvPr id="10" name="Rounded Rectangle 9"/>
          <p:cNvSpPr/>
          <p:nvPr/>
        </p:nvSpPr>
        <p:spPr>
          <a:xfrm>
            <a:off x="457200" y="2286000"/>
            <a:ext cx="3657600" cy="297180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Capture the spec</a:t>
            </a:r>
          </a:p>
          <a:p>
            <a:pPr algn="l">
              <a:lnSpc>
                <a:spcPct val="103000"/>
              </a:lnSpc>
              <a:spcBef>
                <a:spcPts val="0"/>
              </a:spcBef>
              <a:spcAft>
                <a:spcPts val="200"/>
              </a:spcAft>
            </a:pPr>
            <a:r>
              <a:rPr sz="1060" b="0" i="0">
                <a:solidFill>
                  <a:srgbClr val="1F2A37"/>
                </a:solidFill>
                <a:latin typeface="Calibri"/>
              </a:rPr>
              <a:t>Function, interfaces, protocols.</a:t>
            </a:r>
          </a:p>
          <a:p>
            <a:pPr algn="l">
              <a:lnSpc>
                <a:spcPct val="103000"/>
              </a:lnSpc>
              <a:spcBef>
                <a:spcPts val="0"/>
              </a:spcBef>
              <a:spcAft>
                <a:spcPts val="200"/>
              </a:spcAft>
            </a:pPr>
            <a:r>
              <a:rPr sz="1060" b="0" i="0">
                <a:solidFill>
                  <a:srgbClr val="1F2A37"/>
                </a:solidFill>
                <a:latin typeface="Calibri"/>
              </a:rPr>
              <a:t>Performance (clock, throughput).</a:t>
            </a:r>
          </a:p>
          <a:p>
            <a:pPr algn="l">
              <a:lnSpc>
                <a:spcPct val="103000"/>
              </a:lnSpc>
              <a:spcBef>
                <a:spcPts val="0"/>
              </a:spcBef>
              <a:spcAft>
                <a:spcPts val="200"/>
              </a:spcAft>
            </a:pPr>
            <a:r>
              <a:rPr sz="1060" b="0" i="0">
                <a:solidFill>
                  <a:srgbClr val="1F2A37"/>
                </a:solidFill>
                <a:latin typeface="Calibri"/>
              </a:rPr>
              <a:t>Area &amp; power budgets.</a:t>
            </a:r>
          </a:p>
          <a:p>
            <a:pPr algn="l">
              <a:lnSpc>
                <a:spcPct val="103000"/>
              </a:lnSpc>
              <a:spcBef>
                <a:spcPts val="0"/>
              </a:spcBef>
              <a:spcAft>
                <a:spcPts val="200"/>
              </a:spcAft>
            </a:pPr>
            <a:r>
              <a:rPr sz="1060" b="0" i="0">
                <a:solidFill>
                  <a:srgbClr val="1F2A37"/>
                </a:solidFill>
                <a:latin typeface="Calibri"/>
              </a:rPr>
              <a:t>Corner cases &amp; error behaviour.</a:t>
            </a:r>
          </a:p>
        </p:txBody>
      </p:sp>
      <p:sp>
        <p:nvSpPr>
          <p:cNvPr id="12" name="Rounded Rectangle 11"/>
          <p:cNvSpPr/>
          <p:nvPr/>
        </p:nvSpPr>
        <p:spPr>
          <a:xfrm>
            <a:off x="4251960" y="2286000"/>
            <a:ext cx="3657600" cy="297180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Micro-architecture</a:t>
            </a:r>
          </a:p>
          <a:p>
            <a:pPr algn="l">
              <a:lnSpc>
                <a:spcPct val="103000"/>
              </a:lnSpc>
              <a:spcBef>
                <a:spcPts val="0"/>
              </a:spcBef>
              <a:spcAft>
                <a:spcPts val="200"/>
              </a:spcAft>
            </a:pPr>
            <a:r>
              <a:rPr sz="1060" b="0" i="0">
                <a:solidFill>
                  <a:srgbClr val="1F2A37"/>
                </a:solidFill>
                <a:latin typeface="Calibri"/>
              </a:rPr>
              <a:t>Block diagram of datapath + FSM.</a:t>
            </a:r>
          </a:p>
          <a:p>
            <a:pPr algn="l">
              <a:lnSpc>
                <a:spcPct val="103000"/>
              </a:lnSpc>
              <a:spcBef>
                <a:spcPts val="0"/>
              </a:spcBef>
              <a:spcAft>
                <a:spcPts val="200"/>
              </a:spcAft>
            </a:pPr>
            <a:r>
              <a:rPr sz="1060" b="0" i="0">
                <a:solidFill>
                  <a:srgbClr val="1F2A37"/>
                </a:solidFill>
                <a:latin typeface="Calibri"/>
              </a:rPr>
              <a:t>Pipeline stages / cycle budget.</a:t>
            </a:r>
          </a:p>
          <a:p>
            <a:pPr algn="l">
              <a:lnSpc>
                <a:spcPct val="103000"/>
              </a:lnSpc>
              <a:spcBef>
                <a:spcPts val="0"/>
              </a:spcBef>
              <a:spcAft>
                <a:spcPts val="200"/>
              </a:spcAft>
            </a:pPr>
            <a:r>
              <a:rPr sz="1060" b="0" i="0">
                <a:solidFill>
                  <a:srgbClr val="1F2A37"/>
                </a:solidFill>
                <a:latin typeface="Calibri"/>
              </a:rPr>
              <a:t>Register and memory plan.</a:t>
            </a:r>
          </a:p>
          <a:p>
            <a:pPr algn="l">
              <a:lnSpc>
                <a:spcPct val="103000"/>
              </a:lnSpc>
              <a:spcBef>
                <a:spcPts val="0"/>
              </a:spcBef>
              <a:spcAft>
                <a:spcPts val="200"/>
              </a:spcAft>
            </a:pPr>
            <a:r>
              <a:rPr sz="1060" b="0" i="0">
                <a:solidFill>
                  <a:srgbClr val="1F2A37"/>
                </a:solidFill>
                <a:latin typeface="Calibri"/>
              </a:rPr>
              <a:t>Decide reused IP.</a:t>
            </a:r>
          </a:p>
        </p:txBody>
      </p:sp>
      <p:sp>
        <p:nvSpPr>
          <p:cNvPr id="14" name="Rounded Rectangle 13"/>
          <p:cNvSpPr/>
          <p:nvPr/>
        </p:nvSpPr>
        <p:spPr>
          <a:xfrm>
            <a:off x="8092440" y="2286000"/>
            <a:ext cx="3657600" cy="297180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1"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Deliverable</a:t>
            </a:r>
          </a:p>
          <a:p>
            <a:pPr algn="l">
              <a:lnSpc>
                <a:spcPct val="103000"/>
              </a:lnSpc>
              <a:spcBef>
                <a:spcPts val="0"/>
              </a:spcBef>
              <a:spcAft>
                <a:spcPts val="200"/>
              </a:spcAft>
            </a:pPr>
            <a:r>
              <a:rPr sz="1060" b="0" i="0">
                <a:solidFill>
                  <a:srgbClr val="1F2A37"/>
                </a:solidFill>
                <a:latin typeface="Calibri"/>
              </a:rPr>
              <a:t>A short design doc + block diagram.</a:t>
            </a:r>
          </a:p>
          <a:p>
            <a:pPr algn="l">
              <a:lnSpc>
                <a:spcPct val="103000"/>
              </a:lnSpc>
              <a:spcBef>
                <a:spcPts val="0"/>
              </a:spcBef>
              <a:spcAft>
                <a:spcPts val="200"/>
              </a:spcAft>
            </a:pPr>
            <a:r>
              <a:rPr sz="1060" b="0" i="0">
                <a:solidFill>
                  <a:srgbClr val="1F2A37"/>
                </a:solidFill>
                <a:latin typeface="Calibri"/>
              </a:rPr>
              <a:t>Interface (port) definition.</a:t>
            </a:r>
          </a:p>
          <a:p>
            <a:pPr algn="l">
              <a:lnSpc>
                <a:spcPct val="103000"/>
              </a:lnSpc>
              <a:spcBef>
                <a:spcPts val="0"/>
              </a:spcBef>
              <a:spcAft>
                <a:spcPts val="200"/>
              </a:spcAft>
            </a:pPr>
            <a:r>
              <a:rPr sz="1060" b="0" i="0">
                <a:solidFill>
                  <a:srgbClr val="1F2A37"/>
                </a:solidFill>
                <a:latin typeface="Calibri"/>
              </a:rPr>
              <a:t>A cycle-by-cycle plan.</a:t>
            </a:r>
          </a:p>
          <a:p>
            <a:pPr algn="l">
              <a:lnSpc>
                <a:spcPct val="103000"/>
              </a:lnSpc>
              <a:spcBef>
                <a:spcPts val="0"/>
              </a:spcBef>
              <a:spcAft>
                <a:spcPts val="200"/>
              </a:spcAft>
            </a:pPr>
            <a:r>
              <a:rPr sz="1060" b="0" i="0">
                <a:solidFill>
                  <a:srgbClr val="1F2A37"/>
                </a:solidFill>
                <a:latin typeface="Calibri"/>
              </a:rPr>
              <a:t>This is the 'contract' the RTL implements.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STEP 2</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Step 2 — RTL Coding (the Synthesizable Subset)</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15</a:t>
            </a:r>
          </a:p>
        </p:txBody>
      </p:sp>
      <p:sp>
        <p:nvSpPr>
          <p:cNvPr id="9" name="TextBox 8"/>
          <p:cNvSpPr txBox="1"/>
          <p:nvPr/>
        </p:nvSpPr>
        <p:spPr>
          <a:xfrm>
            <a:off x="457200" y="1188720"/>
            <a:ext cx="11292840" cy="96012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Translate the micro-architecture into HDL, using only constructs that synthesis understands. Good RTL is a direct, readable description of hardware — not a software program.</a:t>
            </a:r>
          </a:p>
        </p:txBody>
      </p:sp>
      <p:sp>
        <p:nvSpPr>
          <p:cNvPr id="10" name="Rounded Rectangle 9"/>
          <p:cNvSpPr/>
          <p:nvPr/>
        </p:nvSpPr>
        <p:spPr>
          <a:xfrm>
            <a:off x="457200" y="2286000"/>
            <a:ext cx="3657600" cy="297180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Code the hardware</a:t>
            </a:r>
          </a:p>
          <a:p>
            <a:pPr algn="l">
              <a:lnSpc>
                <a:spcPct val="103000"/>
              </a:lnSpc>
              <a:spcBef>
                <a:spcPts val="0"/>
              </a:spcBef>
              <a:spcAft>
                <a:spcPts val="200"/>
              </a:spcAft>
            </a:pPr>
            <a:r>
              <a:rPr sz="1060" b="0" i="0">
                <a:solidFill>
                  <a:srgbClr val="1F2A37"/>
                </a:solidFill>
                <a:latin typeface="Calibri"/>
              </a:rPr>
              <a:t>Sequential logic in clocked always/process.</a:t>
            </a:r>
          </a:p>
          <a:p>
            <a:pPr algn="l">
              <a:lnSpc>
                <a:spcPct val="103000"/>
              </a:lnSpc>
              <a:spcBef>
                <a:spcPts val="0"/>
              </a:spcBef>
              <a:spcAft>
                <a:spcPts val="200"/>
              </a:spcAft>
            </a:pPr>
            <a:r>
              <a:rPr sz="1060" b="0" i="0">
                <a:solidFill>
                  <a:srgbClr val="1F2A37"/>
                </a:solidFill>
                <a:latin typeface="Calibri"/>
              </a:rPr>
              <a:t>Combinational logic in always@* / assign.</a:t>
            </a:r>
          </a:p>
          <a:p>
            <a:pPr algn="l">
              <a:lnSpc>
                <a:spcPct val="103000"/>
              </a:lnSpc>
              <a:spcBef>
                <a:spcPts val="0"/>
              </a:spcBef>
              <a:spcAft>
                <a:spcPts val="200"/>
              </a:spcAft>
            </a:pPr>
            <a:r>
              <a:rPr sz="1060" b="0" i="0">
                <a:solidFill>
                  <a:srgbClr val="1F2A37"/>
                </a:solidFill>
                <a:latin typeface="Calibri"/>
              </a:rPr>
              <a:t>One register set per module intent.</a:t>
            </a:r>
          </a:p>
          <a:p>
            <a:pPr algn="l">
              <a:lnSpc>
                <a:spcPct val="103000"/>
              </a:lnSpc>
              <a:spcBef>
                <a:spcPts val="0"/>
              </a:spcBef>
              <a:spcAft>
                <a:spcPts val="200"/>
              </a:spcAft>
            </a:pPr>
            <a:r>
              <a:rPr sz="1060" b="0" i="0">
                <a:solidFill>
                  <a:srgbClr val="1F2A37"/>
                </a:solidFill>
                <a:latin typeface="Calibri"/>
              </a:rPr>
              <a:t>Meaningful names, small modules.</a:t>
            </a:r>
          </a:p>
        </p:txBody>
      </p:sp>
      <p:sp>
        <p:nvSpPr>
          <p:cNvPr id="12" name="Rounded Rectangle 11"/>
          <p:cNvSpPr/>
          <p:nvPr/>
        </p:nvSpPr>
        <p:spPr>
          <a:xfrm>
            <a:off x="4251960" y="2286000"/>
            <a:ext cx="3657600" cy="297180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Stay synthesizable</a:t>
            </a:r>
          </a:p>
          <a:p>
            <a:pPr algn="l">
              <a:lnSpc>
                <a:spcPct val="103000"/>
              </a:lnSpc>
              <a:spcBef>
                <a:spcPts val="0"/>
              </a:spcBef>
              <a:spcAft>
                <a:spcPts val="200"/>
              </a:spcAft>
            </a:pPr>
            <a:r>
              <a:rPr sz="1060" b="0" i="0">
                <a:solidFill>
                  <a:srgbClr val="1F2A37"/>
                </a:solidFill>
                <a:latin typeface="Calibri"/>
              </a:rPr>
              <a:t>No #delays, no $display in the design.</a:t>
            </a:r>
          </a:p>
          <a:p>
            <a:pPr algn="l">
              <a:lnSpc>
                <a:spcPct val="103000"/>
              </a:lnSpc>
              <a:spcBef>
                <a:spcPts val="0"/>
              </a:spcBef>
              <a:spcAft>
                <a:spcPts val="200"/>
              </a:spcAft>
            </a:pPr>
            <a:r>
              <a:rPr sz="1060" b="0" i="0">
                <a:solidFill>
                  <a:srgbClr val="1F2A37"/>
                </a:solidFill>
                <a:latin typeface="Calibri"/>
              </a:rPr>
              <a:t>No initial blocks for hardware state.</a:t>
            </a:r>
          </a:p>
          <a:p>
            <a:pPr algn="l">
              <a:lnSpc>
                <a:spcPct val="103000"/>
              </a:lnSpc>
              <a:spcBef>
                <a:spcPts val="0"/>
              </a:spcBef>
              <a:spcAft>
                <a:spcPts val="200"/>
              </a:spcAft>
            </a:pPr>
            <a:r>
              <a:rPr sz="1060" b="0" i="0">
                <a:solidFill>
                  <a:srgbClr val="1F2A37"/>
                </a:solidFill>
                <a:latin typeface="Calibri"/>
              </a:rPr>
              <a:t>Avoid unintended latches.</a:t>
            </a:r>
          </a:p>
          <a:p>
            <a:pPr algn="l">
              <a:lnSpc>
                <a:spcPct val="103000"/>
              </a:lnSpc>
              <a:spcBef>
                <a:spcPts val="0"/>
              </a:spcBef>
              <a:spcAft>
                <a:spcPts val="200"/>
              </a:spcAft>
            </a:pPr>
            <a:r>
              <a:rPr sz="1060" b="0" i="0">
                <a:solidFill>
                  <a:srgbClr val="1F2A37"/>
                </a:solidFill>
                <a:latin typeface="Calibri"/>
              </a:rPr>
              <a:t>Reset every state element.</a:t>
            </a:r>
          </a:p>
        </p:txBody>
      </p:sp>
      <p:sp>
        <p:nvSpPr>
          <p:cNvPr id="14" name="Rounded Rectangle 13"/>
          <p:cNvSpPr/>
          <p:nvPr/>
        </p:nvSpPr>
        <p:spPr>
          <a:xfrm>
            <a:off x="8092440" y="2286000"/>
            <a:ext cx="3657600" cy="297180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1"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Golden rules</a:t>
            </a:r>
          </a:p>
          <a:p>
            <a:pPr algn="l">
              <a:lnSpc>
                <a:spcPct val="103000"/>
              </a:lnSpc>
              <a:spcBef>
                <a:spcPts val="0"/>
              </a:spcBef>
              <a:spcAft>
                <a:spcPts val="200"/>
              </a:spcAft>
            </a:pPr>
            <a:r>
              <a:rPr sz="1060" b="0" i="0">
                <a:solidFill>
                  <a:srgbClr val="1F2A37"/>
                </a:solidFill>
                <a:latin typeface="Calibri"/>
              </a:rPr>
              <a:t>Non-blocking (&lt;=) for sequential.</a:t>
            </a:r>
          </a:p>
          <a:p>
            <a:pPr algn="l">
              <a:lnSpc>
                <a:spcPct val="103000"/>
              </a:lnSpc>
              <a:spcBef>
                <a:spcPts val="0"/>
              </a:spcBef>
              <a:spcAft>
                <a:spcPts val="200"/>
              </a:spcAft>
            </a:pPr>
            <a:r>
              <a:rPr sz="1060" b="0" i="0">
                <a:solidFill>
                  <a:srgbClr val="1F2A37"/>
                </a:solidFill>
                <a:latin typeface="Calibri"/>
              </a:rPr>
              <a:t>Blocking (=) for combinational.</a:t>
            </a:r>
          </a:p>
          <a:p>
            <a:pPr algn="l">
              <a:lnSpc>
                <a:spcPct val="103000"/>
              </a:lnSpc>
              <a:spcBef>
                <a:spcPts val="0"/>
              </a:spcBef>
              <a:spcAft>
                <a:spcPts val="200"/>
              </a:spcAft>
            </a:pPr>
            <a:r>
              <a:rPr sz="1060" b="0" i="0">
                <a:solidFill>
                  <a:srgbClr val="1F2A37"/>
                </a:solidFill>
                <a:latin typeface="Calibri"/>
              </a:rPr>
              <a:t>Never mix them in one block.</a:t>
            </a:r>
          </a:p>
          <a:p>
            <a:pPr algn="l">
              <a:lnSpc>
                <a:spcPct val="103000"/>
              </a:lnSpc>
              <a:spcBef>
                <a:spcPts val="0"/>
              </a:spcBef>
              <a:spcAft>
                <a:spcPts val="200"/>
              </a:spcAft>
            </a:pPr>
            <a:r>
              <a:rPr sz="1060" b="0" i="0">
                <a:solidFill>
                  <a:srgbClr val="1F2A37"/>
                </a:solidFill>
                <a:latin typeface="Calibri"/>
              </a:rPr>
              <a:t>Complete your if/case (else/default).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STEP 3</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Step 3 — Functional Verification (Simulate the RTL)</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16</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You must prove the RTL does what the spec says before spending effort on synthesis. A testbench applies stimulus to the design (the DUT) and checks the outputs — in simulation, not hardware.</a:t>
            </a:r>
          </a:p>
        </p:txBody>
      </p:sp>
      <p:pic>
        <p:nvPicPr>
          <p:cNvPr id="10" name="Picture 9" descr="testbench.png"/>
          <p:cNvPicPr>
            <a:picLocks noChangeAspect="1"/>
          </p:cNvPicPr>
          <p:nvPr/>
        </p:nvPicPr>
        <p:blipFill>
          <a:blip r:embed="rId2"/>
          <a:stretch>
            <a:fillRect/>
          </a:stretch>
        </p:blipFill>
        <p:spPr>
          <a:xfrm>
            <a:off x="2805299" y="2148840"/>
            <a:ext cx="6581096" cy="2834640"/>
          </a:xfrm>
          <a:prstGeom prst="rect">
            <a:avLst/>
          </a:prstGeom>
        </p:spPr>
      </p:pic>
      <p:sp>
        <p:nvSpPr>
          <p:cNvPr id="11" name="Rounded Rectangle 10"/>
          <p:cNvSpPr/>
          <p:nvPr/>
        </p:nvSpPr>
        <p:spPr>
          <a:xfrm>
            <a:off x="457200" y="5532120"/>
            <a:ext cx="11292840" cy="868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What a testbench does</a:t>
            </a:r>
          </a:p>
          <a:p>
            <a:pPr algn="l">
              <a:lnSpc>
                <a:spcPct val="103000"/>
              </a:lnSpc>
              <a:spcBef>
                <a:spcPts val="0"/>
              </a:spcBef>
              <a:spcAft>
                <a:spcPts val="200"/>
              </a:spcAft>
            </a:pPr>
            <a:r>
              <a:rPr sz="1080" b="0" i="0">
                <a:solidFill>
                  <a:srgbClr val="1F2A37"/>
                </a:solidFill>
                <a:latin typeface="Calibri"/>
              </a:rPr>
              <a:t>Generate a clock and reset, drive inputs, and compare outputs against expected values (self-checking). Waveforms (GTKWave) let you see exactly what happened, cycle by cycle.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STEP 4</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Step 4 — Linting &amp; Code Review</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17</a:t>
            </a:r>
          </a:p>
        </p:txBody>
      </p:sp>
      <p:sp>
        <p:nvSpPr>
          <p:cNvPr id="9" name="TextBox 8"/>
          <p:cNvSpPr txBox="1"/>
          <p:nvPr/>
        </p:nvSpPr>
        <p:spPr>
          <a:xfrm>
            <a:off x="457200" y="1188720"/>
            <a:ext cx="11292840" cy="96012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Automated linting and a human review catch a large class of bugs before simulation and synthesis — cheaply and early.</a:t>
            </a:r>
          </a:p>
        </p:txBody>
      </p:sp>
      <p:sp>
        <p:nvSpPr>
          <p:cNvPr id="10" name="Rounded Rectangle 9"/>
          <p:cNvSpPr/>
          <p:nvPr/>
        </p:nvSpPr>
        <p:spPr>
          <a:xfrm>
            <a:off x="457200" y="2286000"/>
            <a:ext cx="3657600" cy="297180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Lint checks</a:t>
            </a:r>
          </a:p>
          <a:p>
            <a:pPr algn="l">
              <a:lnSpc>
                <a:spcPct val="103000"/>
              </a:lnSpc>
              <a:spcBef>
                <a:spcPts val="0"/>
              </a:spcBef>
              <a:spcAft>
                <a:spcPts val="200"/>
              </a:spcAft>
            </a:pPr>
            <a:r>
              <a:rPr sz="1060" b="0" i="0">
                <a:solidFill>
                  <a:srgbClr val="1F2A37"/>
                </a:solidFill>
                <a:latin typeface="Calibri"/>
              </a:rPr>
              <a:t>Unintended latches.</a:t>
            </a:r>
          </a:p>
          <a:p>
            <a:pPr algn="l">
              <a:lnSpc>
                <a:spcPct val="103000"/>
              </a:lnSpc>
              <a:spcBef>
                <a:spcPts val="0"/>
              </a:spcBef>
              <a:spcAft>
                <a:spcPts val="200"/>
              </a:spcAft>
            </a:pPr>
            <a:r>
              <a:rPr sz="1060" b="0" i="0">
                <a:solidFill>
                  <a:srgbClr val="1F2A37"/>
                </a:solidFill>
                <a:latin typeface="Calibri"/>
              </a:rPr>
              <a:t>Incomplete sensitivity lists.</a:t>
            </a:r>
          </a:p>
          <a:p>
            <a:pPr algn="l">
              <a:lnSpc>
                <a:spcPct val="103000"/>
              </a:lnSpc>
              <a:spcBef>
                <a:spcPts val="0"/>
              </a:spcBef>
              <a:spcAft>
                <a:spcPts val="200"/>
              </a:spcAft>
            </a:pPr>
            <a:r>
              <a:rPr sz="1060" b="0" i="0">
                <a:solidFill>
                  <a:srgbClr val="1F2A37"/>
                </a:solidFill>
                <a:latin typeface="Calibri"/>
              </a:rPr>
              <a:t>Width mismatches, unused signals.</a:t>
            </a:r>
          </a:p>
          <a:p>
            <a:pPr algn="l">
              <a:lnSpc>
                <a:spcPct val="103000"/>
              </a:lnSpc>
              <a:spcBef>
                <a:spcPts val="0"/>
              </a:spcBef>
              <a:spcAft>
                <a:spcPts val="200"/>
              </a:spcAft>
            </a:pPr>
            <a:r>
              <a:rPr sz="1060" b="0" i="0">
                <a:solidFill>
                  <a:srgbClr val="1F2A37"/>
                </a:solidFill>
                <a:latin typeface="Calibri"/>
              </a:rPr>
              <a:t>Multiple drivers on a net.</a:t>
            </a:r>
          </a:p>
        </p:txBody>
      </p:sp>
      <p:sp>
        <p:nvSpPr>
          <p:cNvPr id="12" name="Rounded Rectangle 11"/>
          <p:cNvSpPr/>
          <p:nvPr/>
        </p:nvSpPr>
        <p:spPr>
          <a:xfrm>
            <a:off x="4251960" y="2286000"/>
            <a:ext cx="3657600" cy="297180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Code review</a:t>
            </a:r>
          </a:p>
          <a:p>
            <a:pPr algn="l">
              <a:lnSpc>
                <a:spcPct val="103000"/>
              </a:lnSpc>
              <a:spcBef>
                <a:spcPts val="0"/>
              </a:spcBef>
              <a:spcAft>
                <a:spcPts val="200"/>
              </a:spcAft>
            </a:pPr>
            <a:r>
              <a:rPr sz="1060" b="0" i="0">
                <a:solidFill>
                  <a:srgbClr val="1F2A37"/>
                </a:solidFill>
                <a:latin typeface="Calibri"/>
              </a:rPr>
              <a:t>Readability &amp; naming.</a:t>
            </a:r>
          </a:p>
          <a:p>
            <a:pPr algn="l">
              <a:lnSpc>
                <a:spcPct val="103000"/>
              </a:lnSpc>
              <a:spcBef>
                <a:spcPts val="0"/>
              </a:spcBef>
              <a:spcAft>
                <a:spcPts val="200"/>
              </a:spcAft>
            </a:pPr>
            <a:r>
              <a:rPr sz="1060" b="0" i="0">
                <a:solidFill>
                  <a:srgbClr val="1F2A37"/>
                </a:solidFill>
                <a:latin typeface="Calibri"/>
              </a:rPr>
              <a:t>Reset &amp; clock correctness.</a:t>
            </a:r>
          </a:p>
          <a:p>
            <a:pPr algn="l">
              <a:lnSpc>
                <a:spcPct val="103000"/>
              </a:lnSpc>
              <a:spcBef>
                <a:spcPts val="0"/>
              </a:spcBef>
              <a:spcAft>
                <a:spcPts val="200"/>
              </a:spcAft>
            </a:pPr>
            <a:r>
              <a:rPr sz="1060" b="0" i="0">
                <a:solidFill>
                  <a:srgbClr val="1F2A37"/>
                </a:solidFill>
                <a:latin typeface="Calibri"/>
              </a:rPr>
              <a:t>Spec conformance.</a:t>
            </a:r>
          </a:p>
          <a:p>
            <a:pPr algn="l">
              <a:lnSpc>
                <a:spcPct val="103000"/>
              </a:lnSpc>
              <a:spcBef>
                <a:spcPts val="0"/>
              </a:spcBef>
              <a:spcAft>
                <a:spcPts val="200"/>
              </a:spcAft>
            </a:pPr>
            <a:r>
              <a:rPr sz="1060" b="0" i="0">
                <a:solidFill>
                  <a:srgbClr val="1F2A37"/>
                </a:solidFill>
                <a:latin typeface="Calibri"/>
              </a:rPr>
              <a:t>Reusability &amp; comments.</a:t>
            </a:r>
          </a:p>
        </p:txBody>
      </p:sp>
      <p:sp>
        <p:nvSpPr>
          <p:cNvPr id="14" name="Rounded Rectangle 13"/>
          <p:cNvSpPr/>
          <p:nvPr/>
        </p:nvSpPr>
        <p:spPr>
          <a:xfrm>
            <a:off x="8092440" y="2286000"/>
            <a:ext cx="3657600" cy="297180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1"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Why it pays</a:t>
            </a:r>
          </a:p>
          <a:p>
            <a:pPr algn="l">
              <a:lnSpc>
                <a:spcPct val="103000"/>
              </a:lnSpc>
              <a:spcBef>
                <a:spcPts val="0"/>
              </a:spcBef>
              <a:spcAft>
                <a:spcPts val="200"/>
              </a:spcAft>
            </a:pPr>
            <a:r>
              <a:rPr sz="1060" b="0" i="0">
                <a:solidFill>
                  <a:srgbClr val="1F2A37"/>
                </a:solidFill>
                <a:latin typeface="Calibri"/>
              </a:rPr>
              <a:t>A latch found by lint costs seconds; found in silicon it costs months.</a:t>
            </a:r>
          </a:p>
          <a:p>
            <a:pPr algn="l">
              <a:lnSpc>
                <a:spcPct val="103000"/>
              </a:lnSpc>
              <a:spcBef>
                <a:spcPts val="0"/>
              </a:spcBef>
              <a:spcAft>
                <a:spcPts val="200"/>
              </a:spcAft>
            </a:pPr>
            <a:r>
              <a:rPr sz="1060" b="0" i="0">
                <a:solidFill>
                  <a:srgbClr val="1F2A37"/>
                </a:solidFill>
                <a:latin typeface="Calibri"/>
              </a:rPr>
              <a:t>'Clean lint' is an industry gate before sign-off.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STEP 5</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Step 5 — Logic Synthesis (RTL → Gate Netlist)</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18</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Synthesis is the automatic translation of your RTL into a netlist of real gates from a standard-cell library, optimised to meet the timing, area and power constraints you provide.</a:t>
            </a:r>
          </a:p>
        </p:txBody>
      </p:sp>
      <p:pic>
        <p:nvPicPr>
          <p:cNvPr id="10" name="Picture 9" descr="synthesis.png"/>
          <p:cNvPicPr>
            <a:picLocks noChangeAspect="1"/>
          </p:cNvPicPr>
          <p:nvPr/>
        </p:nvPicPr>
        <p:blipFill>
          <a:blip r:embed="rId2"/>
          <a:stretch>
            <a:fillRect/>
          </a:stretch>
        </p:blipFill>
        <p:spPr>
          <a:xfrm>
            <a:off x="2479165" y="2148840"/>
            <a:ext cx="7233364" cy="2834640"/>
          </a:xfrm>
          <a:prstGeom prst="rect">
            <a:avLst/>
          </a:prstGeom>
        </p:spPr>
      </p:pic>
      <p:sp>
        <p:nvSpPr>
          <p:cNvPr id="11" name="Rounded Rectangle 10"/>
          <p:cNvSpPr/>
          <p:nvPr/>
        </p:nvSpPr>
        <p:spPr>
          <a:xfrm>
            <a:off x="457200" y="5532120"/>
            <a:ext cx="11292840" cy="86868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2A9D5C"/>
                </a:solidFill>
                <a:latin typeface="Calibri"/>
              </a:rPr>
              <a:t>What synthesis produces</a:t>
            </a:r>
          </a:p>
          <a:p>
            <a:pPr algn="l">
              <a:lnSpc>
                <a:spcPct val="103000"/>
              </a:lnSpc>
              <a:spcBef>
                <a:spcPts val="0"/>
              </a:spcBef>
              <a:spcAft>
                <a:spcPts val="200"/>
              </a:spcAft>
            </a:pPr>
            <a:r>
              <a:rPr sz="1080" b="0" i="0">
                <a:solidFill>
                  <a:srgbClr val="1F2A37"/>
                </a:solidFill>
                <a:latin typeface="Calibri"/>
              </a:rPr>
              <a:t>A gate-level netlist — flip-flops and combinational cells wired together — functionally identical to your RTL. Open-source Yosys or commercial tools (Design Compiler, Genus) do this.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STEP 6</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Step 6 — Gate-Level Sim · STA · Sign-Off</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19</a:t>
            </a:r>
          </a:p>
        </p:txBody>
      </p:sp>
      <p:sp>
        <p:nvSpPr>
          <p:cNvPr id="9" name="TextBox 8"/>
          <p:cNvSpPr txBox="1"/>
          <p:nvPr/>
        </p:nvSpPr>
        <p:spPr>
          <a:xfrm>
            <a:off x="457200" y="1188720"/>
            <a:ext cx="11292840" cy="96012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After synthesis, confirm the gates still behave correctly and that timing closes. These back-end-facing steps close the loop from RTL to a manufacturable design.</a:t>
            </a:r>
          </a:p>
        </p:txBody>
      </p:sp>
      <p:sp>
        <p:nvSpPr>
          <p:cNvPr id="10" name="Rounded Rectangle 9"/>
          <p:cNvSpPr/>
          <p:nvPr/>
        </p:nvSpPr>
        <p:spPr>
          <a:xfrm>
            <a:off x="457200" y="2286000"/>
            <a:ext cx="3657600" cy="297180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Gate-level simulation</a:t>
            </a:r>
          </a:p>
          <a:p>
            <a:pPr algn="l">
              <a:lnSpc>
                <a:spcPct val="103000"/>
              </a:lnSpc>
              <a:spcBef>
                <a:spcPts val="0"/>
              </a:spcBef>
              <a:spcAft>
                <a:spcPts val="200"/>
              </a:spcAft>
            </a:pPr>
            <a:r>
              <a:rPr sz="1060" b="0" i="0">
                <a:solidFill>
                  <a:srgbClr val="1F2A37"/>
                </a:solidFill>
                <a:latin typeface="Calibri"/>
              </a:rPr>
              <a:t>Re-run tests on the netlist.</a:t>
            </a:r>
          </a:p>
          <a:p>
            <a:pPr algn="l">
              <a:lnSpc>
                <a:spcPct val="103000"/>
              </a:lnSpc>
              <a:spcBef>
                <a:spcPts val="0"/>
              </a:spcBef>
              <a:spcAft>
                <a:spcPts val="200"/>
              </a:spcAft>
            </a:pPr>
            <a:r>
              <a:rPr sz="1060" b="0" i="0">
                <a:solidFill>
                  <a:srgbClr val="1F2A37"/>
                </a:solidFill>
                <a:latin typeface="Calibri"/>
              </a:rPr>
              <a:t>Catches synthesis mismatches.</a:t>
            </a:r>
          </a:p>
          <a:p>
            <a:pPr algn="l">
              <a:lnSpc>
                <a:spcPct val="103000"/>
              </a:lnSpc>
              <a:spcBef>
                <a:spcPts val="0"/>
              </a:spcBef>
              <a:spcAft>
                <a:spcPts val="200"/>
              </a:spcAft>
            </a:pPr>
            <a:r>
              <a:rPr sz="1060" b="0" i="0">
                <a:solidFill>
                  <a:srgbClr val="1F2A37"/>
                </a:solidFill>
                <a:latin typeface="Calibri"/>
              </a:rPr>
              <a:t>Optional but valuable.</a:t>
            </a:r>
          </a:p>
        </p:txBody>
      </p:sp>
      <p:sp>
        <p:nvSpPr>
          <p:cNvPr id="12" name="Rounded Rectangle 11"/>
          <p:cNvSpPr/>
          <p:nvPr/>
        </p:nvSpPr>
        <p:spPr>
          <a:xfrm>
            <a:off x="4251960" y="2286000"/>
            <a:ext cx="3657600" cy="297180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16552"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Static Timing Analysis</a:t>
            </a:r>
          </a:p>
          <a:p>
            <a:pPr algn="l">
              <a:lnSpc>
                <a:spcPct val="103000"/>
              </a:lnSpc>
              <a:spcBef>
                <a:spcPts val="0"/>
              </a:spcBef>
              <a:spcAft>
                <a:spcPts val="200"/>
              </a:spcAft>
            </a:pPr>
            <a:r>
              <a:rPr sz="1060" b="0" i="0">
                <a:solidFill>
                  <a:srgbClr val="1F2A37"/>
                </a:solidFill>
                <a:latin typeface="Calibri"/>
              </a:rPr>
              <a:t>Checks every path meets setup/hold.</a:t>
            </a:r>
          </a:p>
          <a:p>
            <a:pPr algn="l">
              <a:lnSpc>
                <a:spcPct val="103000"/>
              </a:lnSpc>
              <a:spcBef>
                <a:spcPts val="0"/>
              </a:spcBef>
              <a:spcAft>
                <a:spcPts val="200"/>
              </a:spcAft>
            </a:pPr>
            <a:r>
              <a:rPr sz="1060" b="0" i="0">
                <a:solidFill>
                  <a:srgbClr val="1F2A37"/>
                </a:solidFill>
                <a:latin typeface="Calibri"/>
              </a:rPr>
              <a:t>No test vectors needed.</a:t>
            </a:r>
          </a:p>
          <a:p>
            <a:pPr algn="l">
              <a:lnSpc>
                <a:spcPct val="103000"/>
              </a:lnSpc>
              <a:spcBef>
                <a:spcPts val="0"/>
              </a:spcBef>
              <a:spcAft>
                <a:spcPts val="200"/>
              </a:spcAft>
            </a:pPr>
            <a:r>
              <a:rPr sz="1060" b="0" i="0">
                <a:solidFill>
                  <a:srgbClr val="1F2A37"/>
                </a:solidFill>
                <a:latin typeface="Calibri"/>
              </a:rPr>
              <a:t>Fails → fix RTL/constraints.</a:t>
            </a:r>
          </a:p>
        </p:txBody>
      </p:sp>
      <p:sp>
        <p:nvSpPr>
          <p:cNvPr id="14" name="Rounded Rectangle 13"/>
          <p:cNvSpPr/>
          <p:nvPr/>
        </p:nvSpPr>
        <p:spPr>
          <a:xfrm>
            <a:off x="8092440" y="2286000"/>
            <a:ext cx="3657600" cy="297180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1" y="2377440"/>
            <a:ext cx="3328416" cy="27889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Sign-off</a:t>
            </a:r>
          </a:p>
          <a:p>
            <a:pPr algn="l">
              <a:lnSpc>
                <a:spcPct val="103000"/>
              </a:lnSpc>
              <a:spcBef>
                <a:spcPts val="0"/>
              </a:spcBef>
              <a:spcAft>
                <a:spcPts val="200"/>
              </a:spcAft>
            </a:pPr>
            <a:r>
              <a:rPr sz="1060" b="0" i="0">
                <a:solidFill>
                  <a:srgbClr val="1F2A37"/>
                </a:solidFill>
                <a:latin typeface="Calibri"/>
              </a:rPr>
              <a:t>Timing, area, power all met.</a:t>
            </a:r>
          </a:p>
          <a:p>
            <a:pPr algn="l">
              <a:lnSpc>
                <a:spcPct val="103000"/>
              </a:lnSpc>
              <a:spcBef>
                <a:spcPts val="0"/>
              </a:spcBef>
              <a:spcAft>
                <a:spcPts val="200"/>
              </a:spcAft>
            </a:pPr>
            <a:r>
              <a:rPr sz="1060" b="0" i="0">
                <a:solidFill>
                  <a:srgbClr val="1F2A37"/>
                </a:solidFill>
                <a:latin typeface="Calibri"/>
              </a:rPr>
              <a:t>Clean lint &amp; coverage.</a:t>
            </a:r>
          </a:p>
          <a:p>
            <a:pPr algn="l">
              <a:lnSpc>
                <a:spcPct val="103000"/>
              </a:lnSpc>
              <a:spcBef>
                <a:spcPts val="0"/>
              </a:spcBef>
              <a:spcAft>
                <a:spcPts val="200"/>
              </a:spcAft>
            </a:pPr>
            <a:r>
              <a:rPr sz="1060" b="0" i="0">
                <a:solidFill>
                  <a:srgbClr val="1F2A37"/>
                </a:solidFill>
                <a:latin typeface="Calibri"/>
              </a:rPr>
              <a:t>Hand off to physical design.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METHODOLOGY</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Coding for Synthesis — The DOs</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20</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Methodology is mostly a set of habits that keep RTL synthesizable and predictable. Learn these as reflexes.</a:t>
            </a:r>
          </a:p>
        </p:txBody>
      </p:sp>
      <p:sp>
        <p:nvSpPr>
          <p:cNvPr id="10" name="Rounded Rectangle 9"/>
          <p:cNvSpPr/>
          <p:nvPr/>
        </p:nvSpPr>
        <p:spPr>
          <a:xfrm>
            <a:off x="457200" y="2194560"/>
            <a:ext cx="5577840" cy="310896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286000"/>
            <a:ext cx="5248655" cy="292607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Always DO</a:t>
            </a:r>
          </a:p>
          <a:p>
            <a:pPr algn="l">
              <a:lnSpc>
                <a:spcPct val="103000"/>
              </a:lnSpc>
              <a:spcBef>
                <a:spcPts val="0"/>
              </a:spcBef>
              <a:spcAft>
                <a:spcPts val="200"/>
              </a:spcAft>
            </a:pPr>
            <a:r>
              <a:rPr sz="1130" b="0" i="0">
                <a:solidFill>
                  <a:srgbClr val="1F2A37"/>
                </a:solidFill>
                <a:latin typeface="Calibri"/>
              </a:rPr>
              <a:t>Use non-blocking (&lt;=) in clocked blocks.</a:t>
            </a:r>
          </a:p>
          <a:p>
            <a:pPr algn="l">
              <a:lnSpc>
                <a:spcPct val="103000"/>
              </a:lnSpc>
              <a:spcBef>
                <a:spcPts val="0"/>
              </a:spcBef>
              <a:spcAft>
                <a:spcPts val="200"/>
              </a:spcAft>
            </a:pPr>
            <a:r>
              <a:rPr sz="1130" b="0" i="0">
                <a:solidFill>
                  <a:srgbClr val="1F2A37"/>
                </a:solidFill>
                <a:latin typeface="Calibri"/>
              </a:rPr>
              <a:t>Use blocking (=) in combinational blocks.</a:t>
            </a:r>
          </a:p>
          <a:p>
            <a:pPr algn="l">
              <a:lnSpc>
                <a:spcPct val="103000"/>
              </a:lnSpc>
              <a:spcBef>
                <a:spcPts val="0"/>
              </a:spcBef>
              <a:spcAft>
                <a:spcPts val="200"/>
              </a:spcAft>
            </a:pPr>
            <a:r>
              <a:rPr sz="1130" b="0" i="0">
                <a:solidFill>
                  <a:srgbClr val="1F2A37"/>
                </a:solidFill>
                <a:latin typeface="Calibri"/>
              </a:rPr>
              <a:t>Give every combinational output a default value.</a:t>
            </a:r>
          </a:p>
          <a:p>
            <a:pPr algn="l">
              <a:lnSpc>
                <a:spcPct val="103000"/>
              </a:lnSpc>
              <a:spcBef>
                <a:spcPts val="0"/>
              </a:spcBef>
              <a:spcAft>
                <a:spcPts val="200"/>
              </a:spcAft>
            </a:pPr>
            <a:r>
              <a:rPr sz="1130" b="0" i="0">
                <a:solidFill>
                  <a:srgbClr val="1F2A37"/>
                </a:solidFill>
                <a:latin typeface="Calibri"/>
              </a:rPr>
              <a:t>Complete every if with else, every case with default.</a:t>
            </a:r>
          </a:p>
          <a:p>
            <a:pPr algn="l">
              <a:lnSpc>
                <a:spcPct val="103000"/>
              </a:lnSpc>
              <a:spcBef>
                <a:spcPts val="0"/>
              </a:spcBef>
              <a:spcAft>
                <a:spcPts val="200"/>
              </a:spcAft>
            </a:pPr>
            <a:r>
              <a:rPr sz="1130" b="0" i="0">
                <a:solidFill>
                  <a:srgbClr val="1F2A37"/>
                </a:solidFill>
                <a:latin typeface="Calibri"/>
              </a:rPr>
              <a:t>Reset all sequential state.</a:t>
            </a:r>
          </a:p>
          <a:p>
            <a:pPr algn="l">
              <a:lnSpc>
                <a:spcPct val="103000"/>
              </a:lnSpc>
              <a:spcBef>
                <a:spcPts val="0"/>
              </a:spcBef>
              <a:spcAft>
                <a:spcPts val="200"/>
              </a:spcAft>
            </a:pPr>
            <a:r>
              <a:rPr sz="1130" b="0" i="0">
                <a:solidFill>
                  <a:srgbClr val="1F2A37"/>
                </a:solidFill>
                <a:latin typeface="Calibri"/>
              </a:rPr>
              <a:t>Keep one clock and one reset per block.</a:t>
            </a:r>
          </a:p>
        </p:txBody>
      </p:sp>
      <p:sp>
        <p:nvSpPr>
          <p:cNvPr id="12" name="Rounded Rectangle 11"/>
          <p:cNvSpPr/>
          <p:nvPr/>
        </p:nvSpPr>
        <p:spPr>
          <a:xfrm>
            <a:off x="6172200" y="2194560"/>
            <a:ext cx="5577840" cy="310896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18504" y="224942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Good sequential + combinational</a:t>
            </a:r>
          </a:p>
        </p:txBody>
      </p:sp>
      <p:sp>
        <p:nvSpPr>
          <p:cNvPr id="14" name="TextBox 13"/>
          <p:cNvSpPr txBox="1"/>
          <p:nvPr/>
        </p:nvSpPr>
        <p:spPr>
          <a:xfrm>
            <a:off x="6318504" y="2523744"/>
            <a:ext cx="5303520" cy="273405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 sequential: non-blocking</a:t>
            </a:r>
          </a:p>
          <a:p>
            <a:pPr>
              <a:lnSpc>
                <a:spcPct val="100000"/>
              </a:lnSpc>
              <a:spcBef>
                <a:spcPts val="0"/>
              </a:spcBef>
              <a:spcAft>
                <a:spcPts val="0"/>
              </a:spcAft>
            </a:pPr>
            <a:r>
              <a:rPr sz="930" b="0" i="0">
                <a:solidFill>
                  <a:srgbClr val="EAF2F7"/>
                </a:solidFill>
                <a:latin typeface="Consolas"/>
              </a:rPr>
              <a:t>always @(posedge clk or negedge rst_n)</a:t>
            </a:r>
          </a:p>
          <a:p>
            <a:pPr>
              <a:lnSpc>
                <a:spcPct val="100000"/>
              </a:lnSpc>
              <a:spcBef>
                <a:spcPts val="0"/>
              </a:spcBef>
              <a:spcAft>
                <a:spcPts val="0"/>
              </a:spcAft>
            </a:pPr>
            <a:r>
              <a:rPr sz="930" b="0" i="0">
                <a:solidFill>
                  <a:srgbClr val="EAF2F7"/>
                </a:solidFill>
                <a:latin typeface="Consolas"/>
              </a:rPr>
              <a:t>  if (!rst_n) q &lt;= 1'b0;</a:t>
            </a:r>
          </a:p>
          <a:p>
            <a:pPr>
              <a:lnSpc>
                <a:spcPct val="100000"/>
              </a:lnSpc>
              <a:spcBef>
                <a:spcPts val="0"/>
              </a:spcBef>
              <a:spcAft>
                <a:spcPts val="0"/>
              </a:spcAft>
            </a:pPr>
            <a:r>
              <a:rPr sz="930" b="0" i="0">
                <a:solidFill>
                  <a:srgbClr val="EAF2F7"/>
                </a:solidFill>
                <a:latin typeface="Consolas"/>
              </a:rPr>
              <a:t>  else        q &lt;= d;</a:t>
            </a:r>
          </a:p>
          <a:p>
            <a:pPr>
              <a:lnSpc>
                <a:spcPct val="100000"/>
              </a:lnSpc>
              <a:spcBef>
                <a:spcPts val="0"/>
              </a:spcBef>
              <a:spcAft>
                <a:spcPts val="0"/>
              </a:spcAft>
            </a:pPr>
            <a:r>
              <a:rPr sz="930" b="0" i="0">
                <a:solidFill>
                  <a:srgbClr val="EAF2F7"/>
                </a:solidFill>
                <a:latin typeface="Consolas"/>
              </a:rPr>
              <a:t> </a:t>
            </a:r>
          </a:p>
          <a:p>
            <a:pPr>
              <a:lnSpc>
                <a:spcPct val="100000"/>
              </a:lnSpc>
              <a:spcBef>
                <a:spcPts val="0"/>
              </a:spcBef>
              <a:spcAft>
                <a:spcPts val="0"/>
              </a:spcAft>
            </a:pPr>
            <a:r>
              <a:rPr sz="930" b="0" i="0">
                <a:solidFill>
                  <a:srgbClr val="EAF2F7"/>
                </a:solidFill>
                <a:latin typeface="Consolas"/>
              </a:rPr>
              <a:t>// combinational: blocking + default</a:t>
            </a:r>
          </a:p>
          <a:p>
            <a:pPr>
              <a:lnSpc>
                <a:spcPct val="100000"/>
              </a:lnSpc>
              <a:spcBef>
                <a:spcPts val="0"/>
              </a:spcBef>
              <a:spcAft>
                <a:spcPts val="0"/>
              </a:spcAft>
            </a:pPr>
            <a:r>
              <a:rPr sz="930" b="0" i="0">
                <a:solidFill>
                  <a:srgbClr val="EAF2F7"/>
                </a:solidFill>
                <a:latin typeface="Consolas"/>
              </a:rPr>
              <a:t>always @* begin</a:t>
            </a:r>
          </a:p>
          <a:p>
            <a:pPr>
              <a:lnSpc>
                <a:spcPct val="100000"/>
              </a:lnSpc>
              <a:spcBef>
                <a:spcPts val="0"/>
              </a:spcBef>
              <a:spcAft>
                <a:spcPts val="0"/>
              </a:spcAft>
            </a:pPr>
            <a:r>
              <a:rPr sz="930" b="0" i="0">
                <a:solidFill>
                  <a:srgbClr val="EAF2F7"/>
                </a:solidFill>
                <a:latin typeface="Consolas"/>
              </a:rPr>
              <a:t>  y = 1'b0;            // default</a:t>
            </a:r>
          </a:p>
          <a:p>
            <a:pPr>
              <a:lnSpc>
                <a:spcPct val="100000"/>
              </a:lnSpc>
              <a:spcBef>
                <a:spcPts val="0"/>
              </a:spcBef>
              <a:spcAft>
                <a:spcPts val="0"/>
              </a:spcAft>
            </a:pPr>
            <a:r>
              <a:rPr sz="930" b="0" i="0">
                <a:solidFill>
                  <a:srgbClr val="EAF2F7"/>
                </a:solidFill>
                <a:latin typeface="Consolas"/>
              </a:rPr>
              <a:t>  if (sel) y = a;</a:t>
            </a:r>
          </a:p>
          <a:p>
            <a:pPr>
              <a:lnSpc>
                <a:spcPct val="100000"/>
              </a:lnSpc>
              <a:spcBef>
                <a:spcPts val="0"/>
              </a:spcBef>
              <a:spcAft>
                <a:spcPts val="0"/>
              </a:spcAft>
            </a:pPr>
            <a:r>
              <a:rPr sz="930" b="0" i="0">
                <a:solidFill>
                  <a:srgbClr val="EAF2F7"/>
                </a:solidFill>
                <a:latin typeface="Consolas"/>
              </a:rPr>
              <a:t>end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METHODOLOGY</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Coding for Synthesis — The DON'Ts (and Why)</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21</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Most beginner RTL bugs come from a handful of anti-patterns. Each one either won't synthesize, or synthesizes into something you didn't intend.</a:t>
            </a:r>
          </a:p>
        </p:txBody>
      </p:sp>
      <p:sp>
        <p:nvSpPr>
          <p:cNvPr id="10" name="Rounded Rectangle 9"/>
          <p:cNvSpPr/>
          <p:nvPr/>
        </p:nvSpPr>
        <p:spPr>
          <a:xfrm>
            <a:off x="457200" y="2194560"/>
            <a:ext cx="5577840" cy="310896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286000"/>
            <a:ext cx="5248655" cy="292607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Avoid</a:t>
            </a:r>
          </a:p>
          <a:p>
            <a:pPr algn="l">
              <a:lnSpc>
                <a:spcPct val="103000"/>
              </a:lnSpc>
              <a:spcBef>
                <a:spcPts val="0"/>
              </a:spcBef>
              <a:spcAft>
                <a:spcPts val="200"/>
              </a:spcAft>
            </a:pPr>
            <a:r>
              <a:rPr sz="1130" b="0" i="0">
                <a:solidFill>
                  <a:srgbClr val="1F2A37"/>
                </a:solidFill>
                <a:latin typeface="Calibri"/>
              </a:rPr>
              <a:t>Incomplete if/case → unintended latch.</a:t>
            </a:r>
          </a:p>
          <a:p>
            <a:pPr algn="l">
              <a:lnSpc>
                <a:spcPct val="103000"/>
              </a:lnSpc>
              <a:spcBef>
                <a:spcPts val="0"/>
              </a:spcBef>
              <a:spcAft>
                <a:spcPts val="200"/>
              </a:spcAft>
            </a:pPr>
            <a:r>
              <a:rPr sz="1130" b="0" i="0">
                <a:solidFill>
                  <a:srgbClr val="1F2A37"/>
                </a:solidFill>
                <a:latin typeface="Calibri"/>
              </a:rPr>
              <a:t>Mixing = and &lt;= in one always block.</a:t>
            </a:r>
          </a:p>
          <a:p>
            <a:pPr algn="l">
              <a:lnSpc>
                <a:spcPct val="103000"/>
              </a:lnSpc>
              <a:spcBef>
                <a:spcPts val="0"/>
              </a:spcBef>
              <a:spcAft>
                <a:spcPts val="200"/>
              </a:spcAft>
            </a:pPr>
            <a:r>
              <a:rPr sz="1130" b="0" i="0">
                <a:solidFill>
                  <a:srgbClr val="1F2A37"/>
                </a:solidFill>
                <a:latin typeface="Calibri"/>
              </a:rPr>
              <a:t>Reading and writing the same reg with = across cycles.</a:t>
            </a:r>
          </a:p>
          <a:p>
            <a:pPr algn="l">
              <a:lnSpc>
                <a:spcPct val="103000"/>
              </a:lnSpc>
              <a:spcBef>
                <a:spcPts val="0"/>
              </a:spcBef>
              <a:spcAft>
                <a:spcPts val="200"/>
              </a:spcAft>
            </a:pPr>
            <a:r>
              <a:rPr sz="1130" b="0" i="0">
                <a:solidFill>
                  <a:srgbClr val="1F2A37"/>
                </a:solidFill>
                <a:latin typeface="Calibri"/>
              </a:rPr>
              <a:t>#delays / $display inside the design.</a:t>
            </a:r>
          </a:p>
          <a:p>
            <a:pPr algn="l">
              <a:lnSpc>
                <a:spcPct val="103000"/>
              </a:lnSpc>
              <a:spcBef>
                <a:spcPts val="0"/>
              </a:spcBef>
              <a:spcAft>
                <a:spcPts val="200"/>
              </a:spcAft>
            </a:pPr>
            <a:r>
              <a:rPr sz="1130" b="0" i="0">
                <a:solidFill>
                  <a:srgbClr val="1F2A37"/>
                </a:solidFill>
                <a:latin typeface="Calibri"/>
              </a:rPr>
              <a:t>initial blocks to set hardware state (use reset).</a:t>
            </a:r>
          </a:p>
          <a:p>
            <a:pPr algn="l">
              <a:lnSpc>
                <a:spcPct val="103000"/>
              </a:lnSpc>
              <a:spcBef>
                <a:spcPts val="0"/>
              </a:spcBef>
              <a:spcAft>
                <a:spcPts val="200"/>
              </a:spcAft>
            </a:pPr>
            <a:r>
              <a:rPr sz="1130" b="0" i="0">
                <a:solidFill>
                  <a:srgbClr val="1F2A37"/>
                </a:solidFill>
                <a:latin typeface="Calibri"/>
              </a:rPr>
              <a:t>Gated / derived clocks at RTL.</a:t>
            </a:r>
          </a:p>
        </p:txBody>
      </p:sp>
      <p:sp>
        <p:nvSpPr>
          <p:cNvPr id="12" name="Rounded Rectangle 11"/>
          <p:cNvSpPr/>
          <p:nvPr/>
        </p:nvSpPr>
        <p:spPr>
          <a:xfrm>
            <a:off x="6172200" y="2194560"/>
            <a:ext cx="5577840" cy="310896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18504" y="224942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Latch bug vs fix</a:t>
            </a:r>
          </a:p>
        </p:txBody>
      </p:sp>
      <p:sp>
        <p:nvSpPr>
          <p:cNvPr id="14" name="TextBox 13"/>
          <p:cNvSpPr txBox="1"/>
          <p:nvPr/>
        </p:nvSpPr>
        <p:spPr>
          <a:xfrm>
            <a:off x="6318504" y="2523744"/>
            <a:ext cx="5303520" cy="273405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 BUG: no else -&gt; y remembers (latch!)</a:t>
            </a:r>
          </a:p>
          <a:p>
            <a:pPr>
              <a:lnSpc>
                <a:spcPct val="100000"/>
              </a:lnSpc>
              <a:spcBef>
                <a:spcPts val="0"/>
              </a:spcBef>
              <a:spcAft>
                <a:spcPts val="0"/>
              </a:spcAft>
            </a:pPr>
            <a:r>
              <a:rPr sz="930" b="0" i="0">
                <a:solidFill>
                  <a:srgbClr val="EAF2F7"/>
                </a:solidFill>
                <a:latin typeface="Consolas"/>
              </a:rPr>
              <a:t>always @* if (sel) y = a;</a:t>
            </a:r>
          </a:p>
          <a:p>
            <a:pPr>
              <a:lnSpc>
                <a:spcPct val="100000"/>
              </a:lnSpc>
              <a:spcBef>
                <a:spcPts val="0"/>
              </a:spcBef>
              <a:spcAft>
                <a:spcPts val="0"/>
              </a:spcAft>
            </a:pPr>
            <a:r>
              <a:rPr sz="930" b="0" i="0">
                <a:solidFill>
                  <a:srgbClr val="EAF2F7"/>
                </a:solidFill>
                <a:latin typeface="Consolas"/>
              </a:rPr>
              <a:t> </a:t>
            </a:r>
          </a:p>
          <a:p>
            <a:pPr>
              <a:lnSpc>
                <a:spcPct val="100000"/>
              </a:lnSpc>
              <a:spcBef>
                <a:spcPts val="0"/>
              </a:spcBef>
              <a:spcAft>
                <a:spcPts val="0"/>
              </a:spcAft>
            </a:pPr>
            <a:r>
              <a:rPr sz="930" b="0" i="0">
                <a:solidFill>
                  <a:srgbClr val="EAF2F7"/>
                </a:solidFill>
                <a:latin typeface="Consolas"/>
              </a:rPr>
              <a:t>// FIX: default (or else) -&gt; pure comb</a:t>
            </a:r>
          </a:p>
          <a:p>
            <a:pPr>
              <a:lnSpc>
                <a:spcPct val="100000"/>
              </a:lnSpc>
              <a:spcBef>
                <a:spcPts val="0"/>
              </a:spcBef>
              <a:spcAft>
                <a:spcPts val="0"/>
              </a:spcAft>
            </a:pPr>
            <a:r>
              <a:rPr sz="930" b="0" i="0">
                <a:solidFill>
                  <a:srgbClr val="EAF2F7"/>
                </a:solidFill>
                <a:latin typeface="Consolas"/>
              </a:rPr>
              <a:t>always @* begin</a:t>
            </a:r>
          </a:p>
          <a:p>
            <a:pPr>
              <a:lnSpc>
                <a:spcPct val="100000"/>
              </a:lnSpc>
              <a:spcBef>
                <a:spcPts val="0"/>
              </a:spcBef>
              <a:spcAft>
                <a:spcPts val="0"/>
              </a:spcAft>
            </a:pPr>
            <a:r>
              <a:rPr sz="930" b="0" i="0">
                <a:solidFill>
                  <a:srgbClr val="EAF2F7"/>
                </a:solidFill>
                <a:latin typeface="Consolas"/>
              </a:rPr>
              <a:t>  y = 1'b0;</a:t>
            </a:r>
          </a:p>
          <a:p>
            <a:pPr>
              <a:lnSpc>
                <a:spcPct val="100000"/>
              </a:lnSpc>
              <a:spcBef>
                <a:spcPts val="0"/>
              </a:spcBef>
              <a:spcAft>
                <a:spcPts val="0"/>
              </a:spcAft>
            </a:pPr>
            <a:r>
              <a:rPr sz="930" b="0" i="0">
                <a:solidFill>
                  <a:srgbClr val="EAF2F7"/>
                </a:solidFill>
                <a:latin typeface="Consolas"/>
              </a:rPr>
              <a:t>  if (sel) y = a;</a:t>
            </a:r>
          </a:p>
          <a:p>
            <a:pPr>
              <a:lnSpc>
                <a:spcPct val="100000"/>
              </a:lnSpc>
              <a:spcBef>
                <a:spcPts val="0"/>
              </a:spcBef>
              <a:spcAft>
                <a:spcPts val="0"/>
              </a:spcAft>
            </a:pPr>
            <a:r>
              <a:rPr sz="930" b="0" i="0">
                <a:solidFill>
                  <a:srgbClr val="EAF2F7"/>
                </a:solidFill>
                <a:latin typeface="Consolas"/>
              </a:rPr>
              <a:t>end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FSM METHODOLOGY</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Finite-State Machines — the Controller Pattern</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22</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The controller in most designs is a finite-state machine (FSM): a small set of named states with rules for moving between them. FSMs are the standard methodology for sequencing behaviour.</a:t>
            </a:r>
          </a:p>
        </p:txBody>
      </p:sp>
      <p:pic>
        <p:nvPicPr>
          <p:cNvPr id="10" name="Picture 9" descr="fsm_moore.png"/>
          <p:cNvPicPr>
            <a:picLocks noChangeAspect="1"/>
          </p:cNvPicPr>
          <p:nvPr/>
        </p:nvPicPr>
        <p:blipFill>
          <a:blip r:embed="rId2"/>
          <a:stretch>
            <a:fillRect/>
          </a:stretch>
        </p:blipFill>
        <p:spPr>
          <a:xfrm>
            <a:off x="2552258" y="1554480"/>
            <a:ext cx="7087179" cy="3566160"/>
          </a:xfrm>
          <a:prstGeom prst="rect">
            <a:avLst/>
          </a:prstGeom>
        </p:spPr>
      </p:pic>
      <p:sp>
        <p:nvSpPr>
          <p:cNvPr id="11" name="Rounded Rectangle 10"/>
          <p:cNvSpPr/>
          <p:nvPr/>
        </p:nvSpPr>
        <p:spPr>
          <a:xfrm>
            <a:off x="457200" y="5532120"/>
            <a:ext cx="11292840" cy="868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How to code an FSM</a:t>
            </a:r>
          </a:p>
          <a:p>
            <a:pPr algn="l">
              <a:lnSpc>
                <a:spcPct val="103000"/>
              </a:lnSpc>
              <a:spcBef>
                <a:spcPts val="0"/>
              </a:spcBef>
              <a:spcAft>
                <a:spcPts val="200"/>
              </a:spcAft>
            </a:pPr>
            <a:r>
              <a:rPr sz="1080" b="0" i="0">
                <a:solidFill>
                  <a:srgbClr val="1F2A37"/>
                </a:solidFill>
                <a:latin typeface="Calibri"/>
              </a:rPr>
              <a:t>Three pieces: a state register (sequential), next-state logic (combinational), and output logic. Use symbolic state names and a case statement — never magic numbers.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FSM METHODOLOGY</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Two FSM Styles — Moore vs Mealy</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23</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FSMs come in two flavours, differing only in how outputs are produced. Choosing correctly is a classic design decision — and a very common interview question.</a:t>
            </a:r>
          </a:p>
        </p:txBody>
      </p:sp>
      <p:pic>
        <p:nvPicPr>
          <p:cNvPr id="10" name="Picture 9" descr="mealy_moore.png"/>
          <p:cNvPicPr>
            <a:picLocks noChangeAspect="1"/>
          </p:cNvPicPr>
          <p:nvPr/>
        </p:nvPicPr>
        <p:blipFill>
          <a:blip r:embed="rId2"/>
          <a:stretch>
            <a:fillRect/>
          </a:stretch>
        </p:blipFill>
        <p:spPr>
          <a:xfrm>
            <a:off x="2461423" y="2148840"/>
            <a:ext cx="7268848" cy="2743200"/>
          </a:xfrm>
          <a:prstGeom prst="rect">
            <a:avLst/>
          </a:prstGeom>
        </p:spPr>
      </p:pic>
      <p:sp>
        <p:nvSpPr>
          <p:cNvPr id="11" name="Rounded Rectangle 10"/>
          <p:cNvSpPr/>
          <p:nvPr/>
        </p:nvSpPr>
        <p:spPr>
          <a:xfrm>
            <a:off x="457200" y="5532120"/>
            <a:ext cx="11292840" cy="86868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2A9D5C"/>
                </a:solidFill>
                <a:latin typeface="Calibri"/>
              </a:rPr>
              <a:t>Rule of thumb</a:t>
            </a:r>
          </a:p>
          <a:p>
            <a:pPr algn="l">
              <a:lnSpc>
                <a:spcPct val="103000"/>
              </a:lnSpc>
              <a:spcBef>
                <a:spcPts val="0"/>
              </a:spcBef>
              <a:spcAft>
                <a:spcPts val="200"/>
              </a:spcAft>
            </a:pPr>
            <a:r>
              <a:rPr sz="1080" b="0" i="0">
                <a:solidFill>
                  <a:srgbClr val="1F2A37"/>
                </a:solidFill>
                <a:latin typeface="Calibri"/>
              </a:rPr>
              <a:t>Prefer Moore for clean, glitch-free, registered outputs; use Mealy when you must react in the same cycle and want fewer states. Both use the same three-block coding pattern.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WORKED EXAMPLE</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Applying the Methodology — From Counter to 'Count-and-Flag'</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24</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Let us apply the whole methodology to a small extension of the running example: a counter that raises a 'tick' output for one cycle every time it wraps.</a:t>
            </a:r>
          </a:p>
        </p:txBody>
      </p:sp>
      <p:sp>
        <p:nvSpPr>
          <p:cNvPr id="10" name="Rounded Rectangle 9"/>
          <p:cNvSpPr/>
          <p:nvPr/>
        </p:nvSpPr>
        <p:spPr>
          <a:xfrm>
            <a:off x="457200" y="2148840"/>
            <a:ext cx="5577840" cy="3154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240280"/>
            <a:ext cx="5248655" cy="2971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Methodology steps</a:t>
            </a:r>
          </a:p>
          <a:p>
            <a:pPr algn="l">
              <a:lnSpc>
                <a:spcPct val="103000"/>
              </a:lnSpc>
              <a:spcBef>
                <a:spcPts val="0"/>
              </a:spcBef>
              <a:spcAft>
                <a:spcPts val="200"/>
              </a:spcAft>
            </a:pPr>
            <a:r>
              <a:rPr sz="1070" b="0" i="0">
                <a:solidFill>
                  <a:srgbClr val="1F2A37"/>
                </a:solidFill>
                <a:latin typeface="Calibri"/>
              </a:rPr>
              <a:t>1. Spec: count 0→15; pulse 'tick' high for one cycle at 15→0.</a:t>
            </a:r>
          </a:p>
          <a:p>
            <a:pPr algn="l">
              <a:lnSpc>
                <a:spcPct val="103000"/>
              </a:lnSpc>
              <a:spcBef>
                <a:spcPts val="0"/>
              </a:spcBef>
              <a:spcAft>
                <a:spcPts val="200"/>
              </a:spcAft>
            </a:pPr>
            <a:r>
              <a:rPr sz="1070" b="0" i="0">
                <a:solidFill>
                  <a:srgbClr val="1F2A37"/>
                </a:solidFill>
                <a:latin typeface="Calibri"/>
              </a:rPr>
              <a:t>2. Micro-arch: 4-bit register + comparator (comb) + output register.</a:t>
            </a:r>
          </a:p>
          <a:p>
            <a:pPr algn="l">
              <a:lnSpc>
                <a:spcPct val="103000"/>
              </a:lnSpc>
              <a:spcBef>
                <a:spcPts val="0"/>
              </a:spcBef>
              <a:spcAft>
                <a:spcPts val="200"/>
              </a:spcAft>
            </a:pPr>
            <a:r>
              <a:rPr sz="1070" b="0" i="0">
                <a:solidFill>
                  <a:srgbClr val="1F2A37"/>
                </a:solidFill>
                <a:latin typeface="Calibri"/>
              </a:rPr>
              <a:t>3. RTL: clocked counter; tick = (count == 4'd15).</a:t>
            </a:r>
          </a:p>
          <a:p>
            <a:pPr algn="l">
              <a:lnSpc>
                <a:spcPct val="103000"/>
              </a:lnSpc>
              <a:spcBef>
                <a:spcPts val="0"/>
              </a:spcBef>
              <a:spcAft>
                <a:spcPts val="200"/>
              </a:spcAft>
            </a:pPr>
            <a:r>
              <a:rPr sz="1070" b="0" i="0">
                <a:solidFill>
                  <a:srgbClr val="1F2A37"/>
                </a:solidFill>
                <a:latin typeface="Calibri"/>
              </a:rPr>
              <a:t>4. Verify: testbench checks tick pulses once per 16 cycles.</a:t>
            </a:r>
          </a:p>
          <a:p>
            <a:pPr algn="l">
              <a:lnSpc>
                <a:spcPct val="103000"/>
              </a:lnSpc>
              <a:spcBef>
                <a:spcPts val="0"/>
              </a:spcBef>
              <a:spcAft>
                <a:spcPts val="200"/>
              </a:spcAft>
            </a:pPr>
            <a:r>
              <a:rPr sz="1070" b="0" i="0">
                <a:solidFill>
                  <a:srgbClr val="1F2A37"/>
                </a:solidFill>
                <a:latin typeface="Calibri"/>
              </a:rPr>
              <a:t>5. Lint: complete reset, no latch.</a:t>
            </a:r>
          </a:p>
          <a:p>
            <a:pPr algn="l">
              <a:lnSpc>
                <a:spcPct val="103000"/>
              </a:lnSpc>
              <a:spcBef>
                <a:spcPts val="0"/>
              </a:spcBef>
              <a:spcAft>
                <a:spcPts val="200"/>
              </a:spcAft>
            </a:pPr>
            <a:r>
              <a:rPr sz="1070" b="0" i="0">
                <a:solidFill>
                  <a:srgbClr val="1F2A37"/>
                </a:solidFill>
                <a:latin typeface="Calibri"/>
              </a:rPr>
              <a:t>6. Synthesize: ~4 DFFs + incrementer + comparator.</a:t>
            </a:r>
          </a:p>
        </p:txBody>
      </p:sp>
      <p:sp>
        <p:nvSpPr>
          <p:cNvPr id="12" name="Rounded Rectangle 11"/>
          <p:cNvSpPr/>
          <p:nvPr/>
        </p:nvSpPr>
        <p:spPr>
          <a:xfrm>
            <a:off x="6172200" y="2148840"/>
            <a:ext cx="5577840" cy="315468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18504" y="220370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count_tick.v</a:t>
            </a:r>
          </a:p>
        </p:txBody>
      </p:sp>
      <p:sp>
        <p:nvSpPr>
          <p:cNvPr id="14" name="TextBox 13"/>
          <p:cNvSpPr txBox="1"/>
          <p:nvPr/>
        </p:nvSpPr>
        <p:spPr>
          <a:xfrm>
            <a:off x="6318504" y="2478024"/>
            <a:ext cx="5303520" cy="277977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module count_tick (</a:t>
            </a:r>
          </a:p>
          <a:p>
            <a:pPr>
              <a:lnSpc>
                <a:spcPct val="100000"/>
              </a:lnSpc>
              <a:spcBef>
                <a:spcPts val="0"/>
              </a:spcBef>
              <a:spcAft>
                <a:spcPts val="0"/>
              </a:spcAft>
            </a:pPr>
            <a:r>
              <a:rPr sz="930" b="0" i="0">
                <a:solidFill>
                  <a:srgbClr val="EAF2F7"/>
                </a:solidFill>
                <a:latin typeface="Consolas"/>
              </a:rPr>
              <a:t>  input clk, rst_n,</a:t>
            </a:r>
          </a:p>
          <a:p>
            <a:pPr>
              <a:lnSpc>
                <a:spcPct val="100000"/>
              </a:lnSpc>
              <a:spcBef>
                <a:spcPts val="0"/>
              </a:spcBef>
              <a:spcAft>
                <a:spcPts val="0"/>
              </a:spcAft>
            </a:pPr>
            <a:r>
              <a:rPr sz="930" b="0" i="0">
                <a:solidFill>
                  <a:srgbClr val="EAF2F7"/>
                </a:solidFill>
                <a:latin typeface="Consolas"/>
              </a:rPr>
              <a:t>  output reg [3:0] count,</a:t>
            </a:r>
          </a:p>
          <a:p>
            <a:pPr>
              <a:lnSpc>
                <a:spcPct val="100000"/>
              </a:lnSpc>
              <a:spcBef>
                <a:spcPts val="0"/>
              </a:spcBef>
              <a:spcAft>
                <a:spcPts val="0"/>
              </a:spcAft>
            </a:pPr>
            <a:r>
              <a:rPr sz="930" b="0" i="0">
                <a:solidFill>
                  <a:srgbClr val="EAF2F7"/>
                </a:solidFill>
                <a:latin typeface="Consolas"/>
              </a:rPr>
              <a:t>  output tick               // comb output</a:t>
            </a:r>
          </a:p>
          <a:p>
            <a:pPr>
              <a:lnSpc>
                <a:spcPct val="100000"/>
              </a:lnSpc>
              <a:spcBef>
                <a:spcPts val="0"/>
              </a:spcBef>
              <a:spcAft>
                <a:spcPts val="0"/>
              </a:spcAft>
            </a:pPr>
            <a:r>
              <a:rPr sz="930" b="0" i="0">
                <a:solidFill>
                  <a:srgbClr val="EAF2F7"/>
                </a:solidFill>
                <a:latin typeface="Consolas"/>
              </a:rPr>
              <a:t>);</a:t>
            </a:r>
          </a:p>
          <a:p>
            <a:pPr>
              <a:lnSpc>
                <a:spcPct val="100000"/>
              </a:lnSpc>
              <a:spcBef>
                <a:spcPts val="0"/>
              </a:spcBef>
              <a:spcAft>
                <a:spcPts val="0"/>
              </a:spcAft>
            </a:pPr>
            <a:r>
              <a:rPr sz="930" b="0" i="0">
                <a:solidFill>
                  <a:srgbClr val="EAF2F7"/>
                </a:solidFill>
                <a:latin typeface="Consolas"/>
              </a:rPr>
              <a:t>  assign tick = (count == 4'd15);</a:t>
            </a:r>
          </a:p>
          <a:p>
            <a:pPr>
              <a:lnSpc>
                <a:spcPct val="100000"/>
              </a:lnSpc>
              <a:spcBef>
                <a:spcPts val="0"/>
              </a:spcBef>
              <a:spcAft>
                <a:spcPts val="0"/>
              </a:spcAft>
            </a:pPr>
            <a:r>
              <a:rPr sz="930" b="0" i="0">
                <a:solidFill>
                  <a:srgbClr val="EAF2F7"/>
                </a:solidFill>
                <a:latin typeface="Consolas"/>
              </a:rPr>
              <a:t>  always @(posedge clk or negedge rst_n)</a:t>
            </a:r>
          </a:p>
          <a:p>
            <a:pPr>
              <a:lnSpc>
                <a:spcPct val="100000"/>
              </a:lnSpc>
              <a:spcBef>
                <a:spcPts val="0"/>
              </a:spcBef>
              <a:spcAft>
                <a:spcPts val="0"/>
              </a:spcAft>
            </a:pPr>
            <a:r>
              <a:rPr sz="930" b="0" i="0">
                <a:solidFill>
                  <a:srgbClr val="EAF2F7"/>
                </a:solidFill>
                <a:latin typeface="Consolas"/>
              </a:rPr>
              <a:t>    if (!rst_n) count &lt;= 4'd0;</a:t>
            </a:r>
          </a:p>
          <a:p>
            <a:pPr>
              <a:lnSpc>
                <a:spcPct val="100000"/>
              </a:lnSpc>
              <a:spcBef>
                <a:spcPts val="0"/>
              </a:spcBef>
              <a:spcAft>
                <a:spcPts val="0"/>
              </a:spcAft>
            </a:pPr>
            <a:r>
              <a:rPr sz="930" b="0" i="0">
                <a:solidFill>
                  <a:srgbClr val="EAF2F7"/>
                </a:solidFill>
                <a:latin typeface="Consolas"/>
              </a:rPr>
              <a:t>    else        count &lt;= count + 1'b1;</a:t>
            </a:r>
          </a:p>
          <a:p>
            <a:pPr>
              <a:lnSpc>
                <a:spcPct val="100000"/>
              </a:lnSpc>
              <a:spcBef>
                <a:spcPts val="0"/>
              </a:spcBef>
              <a:spcAft>
                <a:spcPts val="0"/>
              </a:spcAft>
            </a:pPr>
            <a:r>
              <a:rPr sz="930" b="0" i="0">
                <a:solidFill>
                  <a:srgbClr val="EAF2F7"/>
                </a:solidFill>
                <a:latin typeface="Consolas"/>
              </a:rPr>
              <a:t>endmodule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PRACTICAL EXAMPLE 2</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Design Task — A '101' Sequence Detector (FSM)</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25</a:t>
            </a:r>
          </a:p>
        </p:txBody>
      </p:sp>
      <p:sp>
        <p:nvSpPr>
          <p:cNvPr id="9" name="Rounded Rectangle 8"/>
          <p:cNvSpPr/>
          <p:nvPr/>
        </p:nvSpPr>
        <p:spPr>
          <a:xfrm>
            <a:off x="457200" y="1234440"/>
            <a:ext cx="5486400" cy="3977639"/>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325880"/>
            <a:ext cx="5157216" cy="379475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Problem</a:t>
            </a:r>
          </a:p>
          <a:p>
            <a:pPr algn="l">
              <a:lnSpc>
                <a:spcPct val="103000"/>
              </a:lnSpc>
              <a:spcBef>
                <a:spcPts val="0"/>
              </a:spcBef>
              <a:spcAft>
                <a:spcPts val="200"/>
              </a:spcAft>
            </a:pPr>
            <a:r>
              <a:rPr sz="1130" b="0" i="0">
                <a:solidFill>
                  <a:srgbClr val="1F2A37"/>
                </a:solidFill>
                <a:latin typeface="Calibri"/>
              </a:rPr>
              <a:t>Design an FSM that outputs '1' whenever the serial input bit-stream contains the pattern 1-0-1 (overlapping allowed).</a:t>
            </a:r>
          </a:p>
          <a:p>
            <a:pPr algn="l">
              <a:lnSpc>
                <a:spcPct val="103000"/>
              </a:lnSpc>
              <a:spcBef>
                <a:spcPts val="0"/>
              </a:spcBef>
              <a:spcAft>
                <a:spcPts val="200"/>
              </a:spcAft>
            </a:pPr>
            <a:r>
              <a:rPr sz="1130" b="0" i="0">
                <a:solidFill>
                  <a:srgbClr val="1F2A37"/>
                </a:solidFill>
                <a:latin typeface="Calibri"/>
              </a:rPr>
              <a:t>(a) How many states are needed?</a:t>
            </a:r>
          </a:p>
          <a:p>
            <a:pPr algn="l">
              <a:lnSpc>
                <a:spcPct val="103000"/>
              </a:lnSpc>
              <a:spcBef>
                <a:spcPts val="0"/>
              </a:spcBef>
              <a:spcAft>
                <a:spcPts val="200"/>
              </a:spcAft>
            </a:pPr>
            <a:r>
              <a:rPr sz="1130" b="0" i="0">
                <a:solidFill>
                  <a:srgbClr val="1F2A37"/>
                </a:solidFill>
                <a:latin typeface="Calibri"/>
              </a:rPr>
              <a:t>(b) Name them and give the transitions.</a:t>
            </a:r>
          </a:p>
          <a:p>
            <a:pPr algn="l">
              <a:lnSpc>
                <a:spcPct val="103000"/>
              </a:lnSpc>
              <a:spcBef>
                <a:spcPts val="0"/>
              </a:spcBef>
              <a:spcAft>
                <a:spcPts val="200"/>
              </a:spcAft>
            </a:pPr>
            <a:r>
              <a:rPr sz="1130" b="0" i="0">
                <a:solidFill>
                  <a:srgbClr val="1F2A37"/>
                </a:solidFill>
                <a:latin typeface="Calibri"/>
              </a:rPr>
              <a:t>(c) Is a Moore or Mealy output more natural?</a:t>
            </a:r>
          </a:p>
          <a:p>
            <a:pPr algn="l">
              <a:lnSpc>
                <a:spcPct val="103000"/>
              </a:lnSpc>
              <a:spcBef>
                <a:spcPts val="0"/>
              </a:spcBef>
              <a:spcAft>
                <a:spcPts val="200"/>
              </a:spcAft>
            </a:pPr>
            <a:r>
              <a:rPr sz="1130" b="0" i="0">
                <a:solidFill>
                  <a:srgbClr val="1F2A37"/>
                </a:solidFill>
                <a:latin typeface="Calibri"/>
              </a:rPr>
              <a:t>(d) Sketch the RTL structure (three blocks).</a:t>
            </a:r>
          </a:p>
        </p:txBody>
      </p:sp>
      <p:sp>
        <p:nvSpPr>
          <p:cNvPr id="11" name="Rounded Rectangle 10"/>
          <p:cNvSpPr/>
          <p:nvPr/>
        </p:nvSpPr>
        <p:spPr>
          <a:xfrm>
            <a:off x="6080760" y="1234440"/>
            <a:ext cx="5669280" cy="3977639"/>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45352" y="1325880"/>
            <a:ext cx="5340096" cy="379475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Solution outline</a:t>
            </a:r>
          </a:p>
          <a:p>
            <a:pPr algn="l">
              <a:lnSpc>
                <a:spcPct val="103000"/>
              </a:lnSpc>
              <a:spcBef>
                <a:spcPts val="0"/>
              </a:spcBef>
              <a:spcAft>
                <a:spcPts val="200"/>
              </a:spcAft>
            </a:pPr>
            <a:r>
              <a:rPr sz="1080" b="0" i="0">
                <a:solidFill>
                  <a:srgbClr val="1F2A37"/>
                </a:solidFill>
                <a:latin typeface="Calibri"/>
              </a:rPr>
              <a:t>(a) 3–4 states: S0 (none), S1 (saw 1), S2 (saw 10), detect on 101.</a:t>
            </a:r>
          </a:p>
          <a:p>
            <a:pPr algn="l">
              <a:lnSpc>
                <a:spcPct val="103000"/>
              </a:lnSpc>
              <a:spcBef>
                <a:spcPts val="0"/>
              </a:spcBef>
              <a:spcAft>
                <a:spcPts val="200"/>
              </a:spcAft>
            </a:pPr>
            <a:r>
              <a:rPr sz="1080" b="0" i="0">
                <a:solidFill>
                  <a:srgbClr val="1F2A37"/>
                </a:solidFill>
                <a:latin typeface="Calibri"/>
              </a:rPr>
              <a:t>(b) S0-1→S1; S1-0→S2; S2-1→S1 &amp; output 1; reset to S0 on mismatch.</a:t>
            </a:r>
          </a:p>
          <a:p>
            <a:pPr algn="l">
              <a:lnSpc>
                <a:spcPct val="103000"/>
              </a:lnSpc>
              <a:spcBef>
                <a:spcPts val="0"/>
              </a:spcBef>
              <a:spcAft>
                <a:spcPts val="200"/>
              </a:spcAft>
            </a:pPr>
            <a:r>
              <a:rPr sz="1080" b="0" i="0">
                <a:solidFill>
                  <a:srgbClr val="1F2A37"/>
                </a:solidFill>
                <a:latin typeface="Calibri"/>
              </a:rPr>
              <a:t>(c) Mealy detects in the same cycle with fewer states; Moore registers the output.</a:t>
            </a:r>
          </a:p>
          <a:p>
            <a:pPr algn="l">
              <a:lnSpc>
                <a:spcPct val="103000"/>
              </a:lnSpc>
              <a:spcBef>
                <a:spcPts val="0"/>
              </a:spcBef>
              <a:spcAft>
                <a:spcPts val="200"/>
              </a:spcAft>
            </a:pPr>
            <a:r>
              <a:rPr sz="1080" b="0" i="0">
                <a:solidFill>
                  <a:srgbClr val="1F2A37"/>
                </a:solidFill>
                <a:latin typeface="Calibri"/>
              </a:rPr>
              <a:t>(d) state register + next-state case + output logic.</a:t>
            </a:r>
          </a:p>
          <a:p>
            <a:pPr algn="l">
              <a:lnSpc>
                <a:spcPct val="103000"/>
              </a:lnSpc>
              <a:spcBef>
                <a:spcPts val="0"/>
              </a:spcBef>
              <a:spcAft>
                <a:spcPts val="200"/>
              </a:spcAft>
            </a:pPr>
            <a:r>
              <a:rPr sz="1080" b="0" i="0">
                <a:solidFill>
                  <a:srgbClr val="1F2A37"/>
                </a:solidFill>
                <a:latin typeface="Calibri"/>
              </a:rPr>
              <a:t>This is the datapath/controller method in miniature.</a:t>
            </a:r>
          </a:p>
        </p:txBody>
      </p:sp>
      <p:sp>
        <p:nvSpPr>
          <p:cNvPr id="13" name="Rounded Rectangle 12"/>
          <p:cNvSpPr/>
          <p:nvPr/>
        </p:nvSpPr>
        <p:spPr>
          <a:xfrm>
            <a:off x="457200" y="5349240"/>
            <a:ext cx="11292840" cy="77724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5440679"/>
            <a:ext cx="10963656" cy="59435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C77514"/>
                </a:solidFill>
                <a:latin typeface="Calibri"/>
              </a:rPr>
              <a:t>Try it yourself</a:t>
            </a:r>
          </a:p>
          <a:p>
            <a:pPr algn="l">
              <a:lnSpc>
                <a:spcPct val="103000"/>
              </a:lnSpc>
              <a:spcBef>
                <a:spcPts val="0"/>
              </a:spcBef>
              <a:spcAft>
                <a:spcPts val="200"/>
              </a:spcAft>
            </a:pPr>
            <a:r>
              <a:rPr sz="1080" b="0" i="0">
                <a:solidFill>
                  <a:srgbClr val="1F2A37"/>
                </a:solidFill>
                <a:latin typeface="Calibri"/>
              </a:rPr>
              <a:t>Extend to detect '1011'. How many states now, and where does overlap change the transitions?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2B · RECAP</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RTL Methodology — What You Should Now Know</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26</a:t>
            </a:r>
          </a:p>
        </p:txBody>
      </p:sp>
      <p:sp>
        <p:nvSpPr>
          <p:cNvPr id="9" name="Rounded Rectangle 8"/>
          <p:cNvSpPr/>
          <p:nvPr/>
        </p:nvSpPr>
        <p:spPr>
          <a:xfrm>
            <a:off x="457200" y="1280160"/>
            <a:ext cx="5577840" cy="402336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371600"/>
            <a:ext cx="5248655" cy="384048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The process</a:t>
            </a:r>
          </a:p>
          <a:p>
            <a:pPr algn="l">
              <a:lnSpc>
                <a:spcPct val="103000"/>
              </a:lnSpc>
              <a:spcBef>
                <a:spcPts val="0"/>
              </a:spcBef>
              <a:spcAft>
                <a:spcPts val="200"/>
              </a:spcAft>
            </a:pPr>
            <a:r>
              <a:rPr sz="1130" b="0" i="0">
                <a:solidFill>
                  <a:srgbClr val="1F2A37"/>
                </a:solidFill>
                <a:latin typeface="Calibri"/>
              </a:rPr>
              <a:t>Spec &amp; micro-architecture → RTL coding → simulation → lint → synthesis → STA/sign-off.</a:t>
            </a:r>
          </a:p>
          <a:p>
            <a:pPr algn="l">
              <a:lnSpc>
                <a:spcPct val="103000"/>
              </a:lnSpc>
              <a:spcBef>
                <a:spcPts val="0"/>
              </a:spcBef>
              <a:spcAft>
                <a:spcPts val="200"/>
              </a:spcAft>
            </a:pPr>
            <a:r>
              <a:rPr sz="1130" b="0" i="0">
                <a:solidFill>
                  <a:srgbClr val="1F2A37"/>
                </a:solidFill>
                <a:latin typeface="Calibri"/>
              </a:rPr>
              <a:t>Fix-and-re-iterate at every step.</a:t>
            </a:r>
          </a:p>
          <a:p>
            <a:pPr algn="l">
              <a:lnSpc>
                <a:spcPct val="103000"/>
              </a:lnSpc>
              <a:spcBef>
                <a:spcPts val="0"/>
              </a:spcBef>
              <a:spcAft>
                <a:spcPts val="200"/>
              </a:spcAft>
            </a:pPr>
            <a:r>
              <a:rPr sz="1130" b="0" i="0">
                <a:solidFill>
                  <a:srgbClr val="1F2A37"/>
                </a:solidFill>
                <a:latin typeface="Calibri"/>
              </a:rPr>
              <a:t>Datapath + controller (FSM) structuring.</a:t>
            </a:r>
          </a:p>
          <a:p>
            <a:pPr algn="l">
              <a:lnSpc>
                <a:spcPct val="103000"/>
              </a:lnSpc>
              <a:spcBef>
                <a:spcPts val="0"/>
              </a:spcBef>
              <a:spcAft>
                <a:spcPts val="200"/>
              </a:spcAft>
            </a:pPr>
            <a:r>
              <a:rPr sz="1130" b="0" i="0">
                <a:solidFill>
                  <a:srgbClr val="1F2A37"/>
                </a:solidFill>
                <a:latin typeface="Calibri"/>
              </a:rPr>
              <a:t>Moore vs Mealy FSM choice.</a:t>
            </a:r>
          </a:p>
          <a:p>
            <a:pPr algn="l">
              <a:lnSpc>
                <a:spcPct val="103000"/>
              </a:lnSpc>
              <a:spcBef>
                <a:spcPts val="0"/>
              </a:spcBef>
              <a:spcAft>
                <a:spcPts val="200"/>
              </a:spcAft>
            </a:pPr>
            <a:r>
              <a:rPr sz="1130" b="0" i="0">
                <a:solidFill>
                  <a:srgbClr val="1F2A37"/>
                </a:solidFill>
                <a:latin typeface="Calibri"/>
              </a:rPr>
              <a:t>Design reuse via parameterization.</a:t>
            </a:r>
          </a:p>
        </p:txBody>
      </p:sp>
      <p:sp>
        <p:nvSpPr>
          <p:cNvPr id="11" name="Rounded Rectangle 10"/>
          <p:cNvSpPr/>
          <p:nvPr/>
        </p:nvSpPr>
        <p:spPr>
          <a:xfrm>
            <a:off x="6172200" y="1280160"/>
            <a:ext cx="5577840" cy="402336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1371600"/>
            <a:ext cx="5248655" cy="384048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The habits</a:t>
            </a:r>
          </a:p>
          <a:p>
            <a:pPr algn="l">
              <a:lnSpc>
                <a:spcPct val="103000"/>
              </a:lnSpc>
              <a:spcBef>
                <a:spcPts val="0"/>
              </a:spcBef>
              <a:spcAft>
                <a:spcPts val="200"/>
              </a:spcAft>
            </a:pPr>
            <a:r>
              <a:rPr sz="1130" b="0" i="0">
                <a:solidFill>
                  <a:srgbClr val="1F2A37"/>
                </a:solidFill>
                <a:latin typeface="Calibri"/>
              </a:rPr>
              <a:t>Non-blocking for sequential, blocking for combinational.</a:t>
            </a:r>
          </a:p>
          <a:p>
            <a:pPr algn="l">
              <a:lnSpc>
                <a:spcPct val="103000"/>
              </a:lnSpc>
              <a:spcBef>
                <a:spcPts val="0"/>
              </a:spcBef>
              <a:spcAft>
                <a:spcPts val="200"/>
              </a:spcAft>
            </a:pPr>
            <a:r>
              <a:rPr sz="1130" b="0" i="0">
                <a:solidFill>
                  <a:srgbClr val="1F2A37"/>
                </a:solidFill>
                <a:latin typeface="Calibri"/>
              </a:rPr>
              <a:t>Defaults + complete if/case (no latches).</a:t>
            </a:r>
          </a:p>
          <a:p>
            <a:pPr algn="l">
              <a:lnSpc>
                <a:spcPct val="103000"/>
              </a:lnSpc>
              <a:spcBef>
                <a:spcPts val="0"/>
              </a:spcBef>
              <a:spcAft>
                <a:spcPts val="200"/>
              </a:spcAft>
            </a:pPr>
            <a:r>
              <a:rPr sz="1130" b="0" i="0">
                <a:solidFill>
                  <a:srgbClr val="1F2A37"/>
                </a:solidFill>
                <a:latin typeface="Calibri"/>
              </a:rPr>
              <a:t>Reset every register.</a:t>
            </a:r>
          </a:p>
          <a:p>
            <a:pPr algn="l">
              <a:lnSpc>
                <a:spcPct val="103000"/>
              </a:lnSpc>
              <a:spcBef>
                <a:spcPts val="0"/>
              </a:spcBef>
              <a:spcAft>
                <a:spcPts val="200"/>
              </a:spcAft>
            </a:pPr>
            <a:r>
              <a:rPr sz="1130" b="0" i="0">
                <a:solidFill>
                  <a:srgbClr val="1F2A37"/>
                </a:solidFill>
                <a:latin typeface="Calibri"/>
              </a:rPr>
              <a:t>One clock, one reset per block.</a:t>
            </a:r>
          </a:p>
          <a:p>
            <a:pPr algn="l">
              <a:lnSpc>
                <a:spcPct val="103000"/>
              </a:lnSpc>
              <a:spcBef>
                <a:spcPts val="0"/>
              </a:spcBef>
              <a:spcAft>
                <a:spcPts val="200"/>
              </a:spcAft>
            </a:pPr>
            <a:r>
              <a:rPr sz="1130" b="0" i="0">
                <a:solidFill>
                  <a:srgbClr val="1F2A37"/>
                </a:solidFill>
                <a:latin typeface="Calibri"/>
              </a:rPr>
              <a:t>Clean lint before synthesis.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2C · OVERVIEW</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Hardware Description Languages — Describing Circuits in Text</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27</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RTL is written in a Hardware Description Language (HDL). Unlike a programming language, an HDL describes hardware that all runs in parallel — and the same text can be both simulated and synthesized. The two dominant HDLs are Verilog and VHDL.</a:t>
            </a:r>
          </a:p>
        </p:txBody>
      </p:sp>
      <p:pic>
        <p:nvPicPr>
          <p:cNvPr id="10" name="Picture 9" descr="hdl_styles.png"/>
          <p:cNvPicPr>
            <a:picLocks noChangeAspect="1"/>
          </p:cNvPicPr>
          <p:nvPr/>
        </p:nvPicPr>
        <p:blipFill>
          <a:blip r:embed="rId2"/>
          <a:stretch>
            <a:fillRect/>
          </a:stretch>
        </p:blipFill>
        <p:spPr>
          <a:xfrm>
            <a:off x="2595832" y="2148840"/>
            <a:ext cx="7000030" cy="2743200"/>
          </a:xfrm>
          <a:prstGeom prst="rect">
            <a:avLst/>
          </a:prstGeom>
        </p:spPr>
      </p:pic>
      <p:sp>
        <p:nvSpPr>
          <p:cNvPr id="11" name="Rounded Rectangle 10"/>
          <p:cNvSpPr/>
          <p:nvPr/>
        </p:nvSpPr>
        <p:spPr>
          <a:xfrm>
            <a:off x="457200" y="5532120"/>
            <a:ext cx="11292840" cy="8686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Three ways to describe the same hardware</a:t>
            </a:r>
          </a:p>
          <a:p>
            <a:pPr algn="l">
              <a:lnSpc>
                <a:spcPct val="103000"/>
              </a:lnSpc>
              <a:spcBef>
                <a:spcPts val="0"/>
              </a:spcBef>
              <a:spcAft>
                <a:spcPts val="200"/>
              </a:spcAft>
            </a:pPr>
            <a:r>
              <a:rPr sz="1080" b="0" i="0">
                <a:solidFill>
                  <a:srgbClr val="1F2A37"/>
                </a:solidFill>
                <a:latin typeface="Calibri"/>
              </a:rPr>
              <a:t>HDLs let you write behaviourally (what it does), in dataflow (equations), or structurally (wire up sub-blocks). RTL mostly mixes behavioural + dataflow.</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2C · COMPARE</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Verilog vs VHDL — Same Job, Different Flavour</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28</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Verilog and VHDL are both IEEE-standard HDLs that can describe the same hardware. They differ in style and typing, not in capability. As a Chip-Design Associate you should be able to read both and write at least one fluently.</a:t>
            </a:r>
          </a:p>
        </p:txBody>
      </p:sp>
      <p:pic>
        <p:nvPicPr>
          <p:cNvPr id="10" name="Picture 9" descr="verilog_vhdl.png"/>
          <p:cNvPicPr>
            <a:picLocks noChangeAspect="1"/>
          </p:cNvPicPr>
          <p:nvPr/>
        </p:nvPicPr>
        <p:blipFill>
          <a:blip r:embed="rId2"/>
          <a:stretch>
            <a:fillRect/>
          </a:stretch>
        </p:blipFill>
        <p:spPr>
          <a:xfrm>
            <a:off x="2763439" y="2148840"/>
            <a:ext cx="6664817" cy="2743200"/>
          </a:xfrm>
          <a:prstGeom prst="rect">
            <a:avLst/>
          </a:prstGeom>
        </p:spPr>
      </p:pic>
      <p:sp>
        <p:nvSpPr>
          <p:cNvPr id="11" name="Rounded Rectangle 10"/>
          <p:cNvSpPr/>
          <p:nvPr/>
        </p:nvSpPr>
        <p:spPr>
          <a:xfrm>
            <a:off x="457200" y="5532120"/>
            <a:ext cx="11292840" cy="86868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5623559"/>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2A9D5C"/>
                </a:solidFill>
                <a:latin typeface="Calibri"/>
              </a:rPr>
              <a:t>Which to learn first</a:t>
            </a:r>
          </a:p>
          <a:p>
            <a:pPr algn="l">
              <a:lnSpc>
                <a:spcPct val="103000"/>
              </a:lnSpc>
              <a:spcBef>
                <a:spcPts val="0"/>
              </a:spcBef>
              <a:spcAft>
                <a:spcPts val="200"/>
              </a:spcAft>
            </a:pPr>
            <a:r>
              <a:rPr sz="1080" b="0" i="0">
                <a:solidFill>
                  <a:srgbClr val="1F2A37"/>
                </a:solidFill>
                <a:latin typeface="Calibri"/>
              </a:rPr>
              <a:t>Verilog (and its superset SystemVerilog) dominates ASIC design and the semiconductor industry; VHDL is strong in FPGA, aerospace and defence. This course leads with Verilog.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2C · VERILOG</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Verilog Basics — Module, Ports, Data Types</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29</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A Verilog design is a hierarchy of modules. A module has a name, a port list (its interface) and a body. Nets ('wire') carry combinational values; variables ('reg') hold values assigned in procedural blocks.</a:t>
            </a:r>
          </a:p>
        </p:txBody>
      </p:sp>
      <p:sp>
        <p:nvSpPr>
          <p:cNvPr id="10" name="Rounded Rectangle 9"/>
          <p:cNvSpPr/>
          <p:nvPr/>
        </p:nvSpPr>
        <p:spPr>
          <a:xfrm>
            <a:off x="457200" y="2148840"/>
            <a:ext cx="69494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03704"/>
            <a:ext cx="66751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module skeleton + types</a:t>
            </a:r>
          </a:p>
        </p:txBody>
      </p:sp>
      <p:sp>
        <p:nvSpPr>
          <p:cNvPr id="12" name="TextBox 11"/>
          <p:cNvSpPr txBox="1"/>
          <p:nvPr/>
        </p:nvSpPr>
        <p:spPr>
          <a:xfrm>
            <a:off x="603504" y="2478024"/>
            <a:ext cx="66751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module block_name (</a:t>
            </a:r>
          </a:p>
          <a:p>
            <a:pPr>
              <a:lnSpc>
                <a:spcPct val="100000"/>
              </a:lnSpc>
              <a:spcBef>
                <a:spcPts val="0"/>
              </a:spcBef>
              <a:spcAft>
                <a:spcPts val="0"/>
              </a:spcAft>
            </a:pPr>
            <a:r>
              <a:rPr sz="930" b="0" i="0">
                <a:solidFill>
                  <a:srgbClr val="EAF2F7"/>
                </a:solidFill>
                <a:latin typeface="Consolas"/>
              </a:rPr>
              <a:t>  input             clk,</a:t>
            </a:r>
          </a:p>
          <a:p>
            <a:pPr>
              <a:lnSpc>
                <a:spcPct val="100000"/>
              </a:lnSpc>
              <a:spcBef>
                <a:spcPts val="0"/>
              </a:spcBef>
              <a:spcAft>
                <a:spcPts val="0"/>
              </a:spcAft>
            </a:pPr>
            <a:r>
              <a:rPr sz="930" b="0" i="0">
                <a:solidFill>
                  <a:srgbClr val="EAF2F7"/>
                </a:solidFill>
                <a:latin typeface="Consolas"/>
              </a:rPr>
              <a:t>  input             rst_n,</a:t>
            </a:r>
          </a:p>
          <a:p>
            <a:pPr>
              <a:lnSpc>
                <a:spcPct val="100000"/>
              </a:lnSpc>
              <a:spcBef>
                <a:spcPts val="0"/>
              </a:spcBef>
              <a:spcAft>
                <a:spcPts val="0"/>
              </a:spcAft>
            </a:pPr>
            <a:r>
              <a:rPr sz="930" b="0" i="0">
                <a:solidFill>
                  <a:srgbClr val="EAF2F7"/>
                </a:solidFill>
                <a:latin typeface="Consolas"/>
              </a:rPr>
              <a:t>  input      [7:0]  a, b,     // 8-bit inputs</a:t>
            </a:r>
          </a:p>
          <a:p>
            <a:pPr>
              <a:lnSpc>
                <a:spcPct val="100000"/>
              </a:lnSpc>
              <a:spcBef>
                <a:spcPts val="0"/>
              </a:spcBef>
              <a:spcAft>
                <a:spcPts val="0"/>
              </a:spcAft>
            </a:pPr>
            <a:r>
              <a:rPr sz="930" b="0" i="0">
                <a:solidFill>
                  <a:srgbClr val="EAF2F7"/>
                </a:solidFill>
                <a:latin typeface="Consolas"/>
              </a:rPr>
              <a:t>  output reg [7:0]  y,        // registered output</a:t>
            </a:r>
          </a:p>
          <a:p>
            <a:pPr>
              <a:lnSpc>
                <a:spcPct val="100000"/>
              </a:lnSpc>
              <a:spcBef>
                <a:spcPts val="0"/>
              </a:spcBef>
              <a:spcAft>
                <a:spcPts val="0"/>
              </a:spcAft>
            </a:pPr>
            <a:r>
              <a:rPr sz="930" b="0" i="0">
                <a:solidFill>
                  <a:srgbClr val="EAF2F7"/>
                </a:solidFill>
                <a:latin typeface="Consolas"/>
              </a:rPr>
              <a:t>  output            valid     // wire output</a:t>
            </a:r>
          </a:p>
          <a:p>
            <a:pPr>
              <a:lnSpc>
                <a:spcPct val="100000"/>
              </a:lnSpc>
              <a:spcBef>
                <a:spcPts val="0"/>
              </a:spcBef>
              <a:spcAft>
                <a:spcPts val="0"/>
              </a:spcAft>
            </a:pPr>
            <a:r>
              <a:rPr sz="930" b="0" i="0">
                <a:solidFill>
                  <a:srgbClr val="EAF2F7"/>
                </a:solidFill>
                <a:latin typeface="Consolas"/>
              </a:rPr>
              <a:t>);</a:t>
            </a:r>
          </a:p>
          <a:p>
            <a:pPr>
              <a:lnSpc>
                <a:spcPct val="100000"/>
              </a:lnSpc>
              <a:spcBef>
                <a:spcPts val="0"/>
              </a:spcBef>
              <a:spcAft>
                <a:spcPts val="0"/>
              </a:spcAft>
            </a:pPr>
            <a:r>
              <a:rPr sz="930" b="0" i="0">
                <a:solidFill>
                  <a:srgbClr val="EAF2F7"/>
                </a:solidFill>
                <a:latin typeface="Consolas"/>
              </a:rPr>
              <a:t>  wire [7:0] sum;             // combinational net</a:t>
            </a:r>
          </a:p>
          <a:p>
            <a:pPr>
              <a:lnSpc>
                <a:spcPct val="100000"/>
              </a:lnSpc>
              <a:spcBef>
                <a:spcPts val="0"/>
              </a:spcBef>
              <a:spcAft>
                <a:spcPts val="0"/>
              </a:spcAft>
            </a:pPr>
            <a:r>
              <a:rPr sz="930" b="0" i="0">
                <a:solidFill>
                  <a:srgbClr val="EAF2F7"/>
                </a:solidFill>
                <a:latin typeface="Consolas"/>
              </a:rPr>
              <a:t>  assign sum = a + b;         // continuous assign</a:t>
            </a:r>
          </a:p>
          <a:p>
            <a:pPr>
              <a:lnSpc>
                <a:spcPct val="100000"/>
              </a:lnSpc>
              <a:spcBef>
                <a:spcPts val="0"/>
              </a:spcBef>
              <a:spcAft>
                <a:spcPts val="0"/>
              </a:spcAft>
            </a:pPr>
            <a:r>
              <a:rPr sz="930" b="0" i="0">
                <a:solidFill>
                  <a:srgbClr val="EAF2F7"/>
                </a:solidFill>
                <a:latin typeface="Consolas"/>
              </a:rPr>
              <a:t>  // ... procedural blocks (always) go here ...</a:t>
            </a:r>
          </a:p>
          <a:p>
            <a:pPr>
              <a:lnSpc>
                <a:spcPct val="100000"/>
              </a:lnSpc>
              <a:spcBef>
                <a:spcPts val="0"/>
              </a:spcBef>
              <a:spcAft>
                <a:spcPts val="0"/>
              </a:spcAft>
            </a:pPr>
            <a:r>
              <a:rPr sz="930" b="0" i="0">
                <a:solidFill>
                  <a:srgbClr val="EAF2F7"/>
                </a:solidFill>
                <a:latin typeface="Consolas"/>
              </a:rPr>
              <a:t>endmodule</a:t>
            </a:r>
          </a:p>
        </p:txBody>
      </p:sp>
      <p:sp>
        <p:nvSpPr>
          <p:cNvPr id="13" name="Rounded Rectangle 12"/>
          <p:cNvSpPr/>
          <p:nvPr/>
        </p:nvSpPr>
        <p:spPr>
          <a:xfrm>
            <a:off x="7635240" y="2148840"/>
            <a:ext cx="4114800" cy="320040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9831" y="2240280"/>
            <a:ext cx="3785615" cy="30175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Key ideas</a:t>
            </a:r>
          </a:p>
          <a:p>
            <a:pPr algn="l">
              <a:lnSpc>
                <a:spcPct val="103000"/>
              </a:lnSpc>
              <a:spcBef>
                <a:spcPts val="0"/>
              </a:spcBef>
              <a:spcAft>
                <a:spcPts val="200"/>
              </a:spcAft>
            </a:pPr>
            <a:r>
              <a:rPr sz="1040" b="0" i="0">
                <a:solidFill>
                  <a:srgbClr val="1F2A37"/>
                </a:solidFill>
                <a:latin typeface="Calibri"/>
              </a:rPr>
              <a:t>module = a reusable hardware block.</a:t>
            </a:r>
          </a:p>
          <a:p>
            <a:pPr algn="l">
              <a:lnSpc>
                <a:spcPct val="103000"/>
              </a:lnSpc>
              <a:spcBef>
                <a:spcPts val="0"/>
              </a:spcBef>
              <a:spcAft>
                <a:spcPts val="200"/>
              </a:spcAft>
            </a:pPr>
            <a:r>
              <a:rPr sz="1040" b="0" i="0">
                <a:solidFill>
                  <a:srgbClr val="1F2A37"/>
                </a:solidFill>
                <a:latin typeface="Calibri"/>
              </a:rPr>
              <a:t>Ports: input / output / inout.</a:t>
            </a:r>
          </a:p>
          <a:p>
            <a:pPr algn="l">
              <a:lnSpc>
                <a:spcPct val="103000"/>
              </a:lnSpc>
              <a:spcBef>
                <a:spcPts val="0"/>
              </a:spcBef>
              <a:spcAft>
                <a:spcPts val="200"/>
              </a:spcAft>
            </a:pPr>
            <a:r>
              <a:rPr sz="1040" b="0" i="0">
                <a:solidFill>
                  <a:srgbClr val="1F2A37"/>
                </a:solidFill>
                <a:latin typeface="Calibri"/>
              </a:rPr>
              <a:t>[7:0] declares an 8-bit bus.</a:t>
            </a:r>
          </a:p>
          <a:p>
            <a:pPr algn="l">
              <a:lnSpc>
                <a:spcPct val="103000"/>
              </a:lnSpc>
              <a:spcBef>
                <a:spcPts val="0"/>
              </a:spcBef>
              <a:spcAft>
                <a:spcPts val="200"/>
              </a:spcAft>
            </a:pPr>
            <a:r>
              <a:rPr sz="1040" b="0" i="0">
                <a:solidFill>
                  <a:srgbClr val="1F2A37"/>
                </a:solidFill>
                <a:latin typeface="Calibri"/>
              </a:rPr>
              <a:t>wire — driven by assign / gates.</a:t>
            </a:r>
          </a:p>
          <a:p>
            <a:pPr algn="l">
              <a:lnSpc>
                <a:spcPct val="103000"/>
              </a:lnSpc>
              <a:spcBef>
                <a:spcPts val="0"/>
              </a:spcBef>
              <a:spcAft>
                <a:spcPts val="200"/>
              </a:spcAft>
            </a:pPr>
            <a:r>
              <a:rPr sz="1040" b="0" i="0">
                <a:solidFill>
                  <a:srgbClr val="1F2A37"/>
                </a:solidFill>
                <a:latin typeface="Calibri"/>
              </a:rPr>
              <a:t>reg — assigned inside always.</a:t>
            </a:r>
          </a:p>
          <a:p>
            <a:pPr algn="l">
              <a:lnSpc>
                <a:spcPct val="103000"/>
              </a:lnSpc>
              <a:spcBef>
                <a:spcPts val="0"/>
              </a:spcBef>
              <a:spcAft>
                <a:spcPts val="200"/>
              </a:spcAft>
            </a:pPr>
            <a:r>
              <a:rPr sz="1040" b="0" i="0">
                <a:solidFill>
                  <a:srgbClr val="1F2A37"/>
                </a:solidFill>
                <a:latin typeface="Calibri"/>
              </a:rPr>
              <a:t>Numbers: 8'd5, 4'b1010, 8'hFF.</a:t>
            </a:r>
          </a:p>
          <a:p>
            <a:pPr algn="l">
              <a:lnSpc>
                <a:spcPct val="103000"/>
              </a:lnSpc>
              <a:spcBef>
                <a:spcPts val="0"/>
              </a:spcBef>
              <a:spcAft>
                <a:spcPts val="200"/>
              </a:spcAft>
            </a:pPr>
            <a:r>
              <a:rPr sz="1040" b="0" i="0">
                <a:solidFill>
                  <a:srgbClr val="1F2A37"/>
                </a:solidFill>
                <a:latin typeface="Calibri"/>
              </a:rPr>
              <a:t>Comments: // line,  /* block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2C · VERILOG</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Verilog — Combinational Logic</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30</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Combinational logic is written with continuous assignments (assign) or a combinational always block (always @*). It has no memory: outputs are a pure function of current inputs.</a:t>
            </a:r>
          </a:p>
        </p:txBody>
      </p:sp>
      <p:sp>
        <p:nvSpPr>
          <p:cNvPr id="10" name="Rounded Rectangle 9"/>
          <p:cNvSpPr/>
          <p:nvPr/>
        </p:nvSpPr>
        <p:spPr>
          <a:xfrm>
            <a:off x="457200" y="2148840"/>
            <a:ext cx="5577840" cy="315468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0370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three combinational styles</a:t>
            </a:r>
          </a:p>
        </p:txBody>
      </p:sp>
      <p:sp>
        <p:nvSpPr>
          <p:cNvPr id="12" name="TextBox 11"/>
          <p:cNvSpPr txBox="1"/>
          <p:nvPr/>
        </p:nvSpPr>
        <p:spPr>
          <a:xfrm>
            <a:off x="603504" y="2478024"/>
            <a:ext cx="5303520" cy="277977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 1) dataflow (assign)</a:t>
            </a:r>
          </a:p>
          <a:p>
            <a:pPr>
              <a:lnSpc>
                <a:spcPct val="100000"/>
              </a:lnSpc>
              <a:spcBef>
                <a:spcPts val="0"/>
              </a:spcBef>
              <a:spcAft>
                <a:spcPts val="0"/>
              </a:spcAft>
            </a:pPr>
            <a:r>
              <a:rPr sz="930" b="0" i="0">
                <a:solidFill>
                  <a:srgbClr val="EAF2F7"/>
                </a:solidFill>
                <a:latin typeface="Consolas"/>
              </a:rPr>
              <a:t>assign y = a &amp; b;</a:t>
            </a:r>
          </a:p>
          <a:p>
            <a:pPr>
              <a:lnSpc>
                <a:spcPct val="100000"/>
              </a:lnSpc>
              <a:spcBef>
                <a:spcPts val="0"/>
              </a:spcBef>
              <a:spcAft>
                <a:spcPts val="0"/>
              </a:spcAft>
            </a:pPr>
            <a:r>
              <a:rPr sz="930" b="0" i="0">
                <a:solidFill>
                  <a:srgbClr val="EAF2F7"/>
                </a:solidFill>
                <a:latin typeface="Consolas"/>
              </a:rPr>
              <a:t>assign sum = a + b;</a:t>
            </a:r>
          </a:p>
          <a:p>
            <a:pPr>
              <a:lnSpc>
                <a:spcPct val="100000"/>
              </a:lnSpc>
              <a:spcBef>
                <a:spcPts val="0"/>
              </a:spcBef>
              <a:spcAft>
                <a:spcPts val="0"/>
              </a:spcAft>
            </a:pPr>
            <a:r>
              <a:rPr sz="930" b="0" i="0">
                <a:solidFill>
                  <a:srgbClr val="EAF2F7"/>
                </a:solidFill>
                <a:latin typeface="Consolas"/>
              </a:rPr>
              <a:t> </a:t>
            </a:r>
          </a:p>
          <a:p>
            <a:pPr>
              <a:lnSpc>
                <a:spcPct val="100000"/>
              </a:lnSpc>
              <a:spcBef>
                <a:spcPts val="0"/>
              </a:spcBef>
              <a:spcAft>
                <a:spcPts val="0"/>
              </a:spcAft>
            </a:pPr>
            <a:r>
              <a:rPr sz="930" b="0" i="0">
                <a:solidFill>
                  <a:srgbClr val="EAF2F7"/>
                </a:solidFill>
                <a:latin typeface="Consolas"/>
              </a:rPr>
              <a:t>// 2) conditional (mux)</a:t>
            </a:r>
          </a:p>
          <a:p>
            <a:pPr>
              <a:lnSpc>
                <a:spcPct val="100000"/>
              </a:lnSpc>
              <a:spcBef>
                <a:spcPts val="0"/>
              </a:spcBef>
              <a:spcAft>
                <a:spcPts val="0"/>
              </a:spcAft>
            </a:pPr>
            <a:r>
              <a:rPr sz="930" b="0" i="0">
                <a:solidFill>
                  <a:srgbClr val="EAF2F7"/>
                </a:solidFill>
                <a:latin typeface="Consolas"/>
              </a:rPr>
              <a:t>assign y = sel ? a : b;</a:t>
            </a:r>
          </a:p>
          <a:p>
            <a:pPr>
              <a:lnSpc>
                <a:spcPct val="100000"/>
              </a:lnSpc>
              <a:spcBef>
                <a:spcPts val="0"/>
              </a:spcBef>
              <a:spcAft>
                <a:spcPts val="0"/>
              </a:spcAft>
            </a:pPr>
            <a:r>
              <a:rPr sz="930" b="0" i="0">
                <a:solidFill>
                  <a:srgbClr val="EAF2F7"/>
                </a:solidFill>
                <a:latin typeface="Consolas"/>
              </a:rPr>
              <a:t> </a:t>
            </a:r>
          </a:p>
          <a:p>
            <a:pPr>
              <a:lnSpc>
                <a:spcPct val="100000"/>
              </a:lnSpc>
              <a:spcBef>
                <a:spcPts val="0"/>
              </a:spcBef>
              <a:spcAft>
                <a:spcPts val="0"/>
              </a:spcAft>
            </a:pPr>
            <a:r>
              <a:rPr sz="930" b="0" i="0">
                <a:solidFill>
                  <a:srgbClr val="EAF2F7"/>
                </a:solidFill>
                <a:latin typeface="Consolas"/>
              </a:rPr>
              <a:t>// 3) always @* with default (safe)</a:t>
            </a:r>
          </a:p>
          <a:p>
            <a:pPr>
              <a:lnSpc>
                <a:spcPct val="100000"/>
              </a:lnSpc>
              <a:spcBef>
                <a:spcPts val="0"/>
              </a:spcBef>
              <a:spcAft>
                <a:spcPts val="0"/>
              </a:spcAft>
            </a:pPr>
            <a:r>
              <a:rPr sz="930" b="0" i="0">
                <a:solidFill>
                  <a:srgbClr val="EAF2F7"/>
                </a:solidFill>
                <a:latin typeface="Consolas"/>
              </a:rPr>
              <a:t>always @* begin</a:t>
            </a:r>
          </a:p>
          <a:p>
            <a:pPr>
              <a:lnSpc>
                <a:spcPct val="100000"/>
              </a:lnSpc>
              <a:spcBef>
                <a:spcPts val="0"/>
              </a:spcBef>
              <a:spcAft>
                <a:spcPts val="0"/>
              </a:spcAft>
            </a:pPr>
            <a:r>
              <a:rPr sz="930" b="0" i="0">
                <a:solidFill>
                  <a:srgbClr val="EAF2F7"/>
                </a:solidFill>
                <a:latin typeface="Consolas"/>
              </a:rPr>
              <a:t>  y = 8'd0;             // default -&gt; no latch</a:t>
            </a:r>
          </a:p>
          <a:p>
            <a:pPr>
              <a:lnSpc>
                <a:spcPct val="100000"/>
              </a:lnSpc>
              <a:spcBef>
                <a:spcPts val="0"/>
              </a:spcBef>
              <a:spcAft>
                <a:spcPts val="0"/>
              </a:spcAft>
            </a:pPr>
            <a:r>
              <a:rPr sz="930" b="0" i="0">
                <a:solidFill>
                  <a:srgbClr val="EAF2F7"/>
                </a:solidFill>
                <a:latin typeface="Consolas"/>
              </a:rPr>
              <a:t>  case (sel)</a:t>
            </a:r>
          </a:p>
          <a:p>
            <a:pPr>
              <a:lnSpc>
                <a:spcPct val="100000"/>
              </a:lnSpc>
              <a:spcBef>
                <a:spcPts val="0"/>
              </a:spcBef>
              <a:spcAft>
                <a:spcPts val="0"/>
              </a:spcAft>
            </a:pPr>
            <a:r>
              <a:rPr sz="930" b="0" i="0">
                <a:solidFill>
                  <a:srgbClr val="EAF2F7"/>
                </a:solidFill>
                <a:latin typeface="Consolas"/>
              </a:rPr>
              <a:t>    2'b00: y = a;</a:t>
            </a:r>
          </a:p>
          <a:p>
            <a:pPr>
              <a:lnSpc>
                <a:spcPct val="100000"/>
              </a:lnSpc>
              <a:spcBef>
                <a:spcPts val="0"/>
              </a:spcBef>
              <a:spcAft>
                <a:spcPts val="0"/>
              </a:spcAft>
            </a:pPr>
            <a:r>
              <a:rPr sz="930" b="0" i="0">
                <a:solidFill>
                  <a:srgbClr val="EAF2F7"/>
                </a:solidFill>
                <a:latin typeface="Consolas"/>
              </a:rPr>
              <a:t>    2'b01: y = b;</a:t>
            </a:r>
          </a:p>
          <a:p>
            <a:pPr>
              <a:lnSpc>
                <a:spcPct val="100000"/>
              </a:lnSpc>
              <a:spcBef>
                <a:spcPts val="0"/>
              </a:spcBef>
              <a:spcAft>
                <a:spcPts val="0"/>
              </a:spcAft>
            </a:pPr>
            <a:r>
              <a:rPr sz="930" b="0" i="0">
                <a:solidFill>
                  <a:srgbClr val="EAF2F7"/>
                </a:solidFill>
                <a:latin typeface="Consolas"/>
              </a:rPr>
              <a:t>    default: y = 8'd0;</a:t>
            </a:r>
          </a:p>
          <a:p>
            <a:pPr>
              <a:lnSpc>
                <a:spcPct val="100000"/>
              </a:lnSpc>
              <a:spcBef>
                <a:spcPts val="0"/>
              </a:spcBef>
              <a:spcAft>
                <a:spcPts val="0"/>
              </a:spcAft>
            </a:pPr>
            <a:r>
              <a:rPr sz="930" b="0" i="0">
                <a:solidFill>
                  <a:srgbClr val="EAF2F7"/>
                </a:solidFill>
                <a:latin typeface="Consolas"/>
              </a:rPr>
              <a:t>  endcase</a:t>
            </a:r>
          </a:p>
          <a:p>
            <a:pPr>
              <a:lnSpc>
                <a:spcPct val="100000"/>
              </a:lnSpc>
              <a:spcBef>
                <a:spcPts val="0"/>
              </a:spcBef>
              <a:spcAft>
                <a:spcPts val="0"/>
              </a:spcAft>
            </a:pPr>
            <a:r>
              <a:rPr sz="930" b="0" i="0">
                <a:solidFill>
                  <a:srgbClr val="EAF2F7"/>
                </a:solidFill>
                <a:latin typeface="Consolas"/>
              </a:rPr>
              <a:t>end</a:t>
            </a:r>
          </a:p>
        </p:txBody>
      </p:sp>
      <p:sp>
        <p:nvSpPr>
          <p:cNvPr id="13" name="Rounded Rectangle 12"/>
          <p:cNvSpPr/>
          <p:nvPr/>
        </p:nvSpPr>
        <p:spPr>
          <a:xfrm>
            <a:off x="6172200" y="2148840"/>
            <a:ext cx="5577840" cy="315468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2240280"/>
            <a:ext cx="5248655" cy="2971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Rules for combinational</a:t>
            </a:r>
          </a:p>
          <a:p>
            <a:pPr algn="l">
              <a:lnSpc>
                <a:spcPct val="103000"/>
              </a:lnSpc>
              <a:spcBef>
                <a:spcPts val="0"/>
              </a:spcBef>
              <a:spcAft>
                <a:spcPts val="200"/>
              </a:spcAft>
            </a:pPr>
            <a:r>
              <a:rPr sz="1100" b="0" i="0">
                <a:solidFill>
                  <a:srgbClr val="1F2A37"/>
                </a:solidFill>
                <a:latin typeface="Calibri"/>
              </a:rPr>
              <a:t>Use blocking '=' assignments.</a:t>
            </a:r>
          </a:p>
          <a:p>
            <a:pPr algn="l">
              <a:lnSpc>
                <a:spcPct val="103000"/>
              </a:lnSpc>
              <a:spcBef>
                <a:spcPts val="0"/>
              </a:spcBef>
              <a:spcAft>
                <a:spcPts val="200"/>
              </a:spcAft>
            </a:pPr>
            <a:r>
              <a:rPr sz="1100" b="0" i="0">
                <a:solidFill>
                  <a:srgbClr val="1F2A37"/>
                </a:solidFill>
                <a:latin typeface="Calibri"/>
              </a:rPr>
              <a:t>List all inputs — or use '@*' to do it automatically.</a:t>
            </a:r>
          </a:p>
          <a:p>
            <a:pPr algn="l">
              <a:lnSpc>
                <a:spcPct val="103000"/>
              </a:lnSpc>
              <a:spcBef>
                <a:spcPts val="0"/>
              </a:spcBef>
              <a:spcAft>
                <a:spcPts val="200"/>
              </a:spcAft>
            </a:pPr>
            <a:r>
              <a:rPr sz="1100" b="0" i="0">
                <a:solidFill>
                  <a:srgbClr val="1F2A37"/>
                </a:solidFill>
                <a:latin typeface="Calibri"/>
              </a:rPr>
              <a:t>Give every output a default value.</a:t>
            </a:r>
          </a:p>
          <a:p>
            <a:pPr algn="l">
              <a:lnSpc>
                <a:spcPct val="103000"/>
              </a:lnSpc>
              <a:spcBef>
                <a:spcPts val="0"/>
              </a:spcBef>
              <a:spcAft>
                <a:spcPts val="200"/>
              </a:spcAft>
            </a:pPr>
            <a:r>
              <a:rPr sz="1100" b="0" i="0">
                <a:solidFill>
                  <a:srgbClr val="1F2A37"/>
                </a:solidFill>
                <a:latin typeface="Calibri"/>
              </a:rPr>
              <a:t>Complete every case (default) and if (else).</a:t>
            </a:r>
          </a:p>
          <a:p>
            <a:pPr algn="l">
              <a:lnSpc>
                <a:spcPct val="103000"/>
              </a:lnSpc>
              <a:spcBef>
                <a:spcPts val="0"/>
              </a:spcBef>
              <a:spcAft>
                <a:spcPts val="200"/>
              </a:spcAft>
            </a:pPr>
            <a:r>
              <a:rPr sz="1100" b="0" i="0">
                <a:solidFill>
                  <a:srgbClr val="1F2A37"/>
                </a:solidFill>
                <a:latin typeface="Calibri"/>
              </a:rPr>
              <a:t>No clock, no '&lt;='.</a:t>
            </a:r>
          </a:p>
          <a:p>
            <a:pPr algn="l">
              <a:lnSpc>
                <a:spcPct val="103000"/>
              </a:lnSpc>
              <a:spcBef>
                <a:spcPts val="0"/>
              </a:spcBef>
              <a:spcAft>
                <a:spcPts val="200"/>
              </a:spcAft>
            </a:pPr>
            <a:r>
              <a:rPr sz="1100" b="0" i="0">
                <a:solidFill>
                  <a:srgbClr val="1F2A37"/>
                </a:solidFill>
                <a:latin typeface="Calibri"/>
              </a:rPr>
              <a:t>Miss any of these → an accidental latch.</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2C · VERILOG</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Verilog — Sequential Logic (Registers)</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31</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Sequential logic lives in a clocked always block. It uses non-blocking '&lt;=' assignments so that all registers update together, exactly like real flip-flops sampling on the clock edge.</a:t>
            </a:r>
          </a:p>
        </p:txBody>
      </p:sp>
      <p:sp>
        <p:nvSpPr>
          <p:cNvPr id="10" name="Rounded Rectangle 9"/>
          <p:cNvSpPr/>
          <p:nvPr/>
        </p:nvSpPr>
        <p:spPr>
          <a:xfrm>
            <a:off x="457200" y="2148840"/>
            <a:ext cx="5577840" cy="315468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0370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register patterns</a:t>
            </a:r>
          </a:p>
        </p:txBody>
      </p:sp>
      <p:sp>
        <p:nvSpPr>
          <p:cNvPr id="12" name="TextBox 11"/>
          <p:cNvSpPr txBox="1"/>
          <p:nvPr/>
        </p:nvSpPr>
        <p:spPr>
          <a:xfrm>
            <a:off x="603504" y="2478024"/>
            <a:ext cx="5303520" cy="277977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 D flip-flop with async active-low reset</a:t>
            </a:r>
          </a:p>
          <a:p>
            <a:pPr>
              <a:lnSpc>
                <a:spcPct val="100000"/>
              </a:lnSpc>
              <a:spcBef>
                <a:spcPts val="0"/>
              </a:spcBef>
              <a:spcAft>
                <a:spcPts val="0"/>
              </a:spcAft>
            </a:pPr>
            <a:r>
              <a:rPr sz="930" b="0" i="0">
                <a:solidFill>
                  <a:srgbClr val="EAF2F7"/>
                </a:solidFill>
                <a:latin typeface="Consolas"/>
              </a:rPr>
              <a:t>always @(posedge clk or negedge rst_n)</a:t>
            </a:r>
          </a:p>
          <a:p>
            <a:pPr>
              <a:lnSpc>
                <a:spcPct val="100000"/>
              </a:lnSpc>
              <a:spcBef>
                <a:spcPts val="0"/>
              </a:spcBef>
              <a:spcAft>
                <a:spcPts val="0"/>
              </a:spcAft>
            </a:pPr>
            <a:r>
              <a:rPr sz="930" b="0" i="0">
                <a:solidFill>
                  <a:srgbClr val="EAF2F7"/>
                </a:solidFill>
                <a:latin typeface="Consolas"/>
              </a:rPr>
              <a:t>  if (!rst_n) q &lt;= 1'b0;</a:t>
            </a:r>
          </a:p>
          <a:p>
            <a:pPr>
              <a:lnSpc>
                <a:spcPct val="100000"/>
              </a:lnSpc>
              <a:spcBef>
                <a:spcPts val="0"/>
              </a:spcBef>
              <a:spcAft>
                <a:spcPts val="0"/>
              </a:spcAft>
            </a:pPr>
            <a:r>
              <a:rPr sz="930" b="0" i="0">
                <a:solidFill>
                  <a:srgbClr val="EAF2F7"/>
                </a:solidFill>
                <a:latin typeface="Consolas"/>
              </a:rPr>
              <a:t>  else        q &lt;= d;</a:t>
            </a:r>
          </a:p>
          <a:p>
            <a:pPr>
              <a:lnSpc>
                <a:spcPct val="100000"/>
              </a:lnSpc>
              <a:spcBef>
                <a:spcPts val="0"/>
              </a:spcBef>
              <a:spcAft>
                <a:spcPts val="0"/>
              </a:spcAft>
            </a:pPr>
            <a:r>
              <a:rPr sz="930" b="0" i="0">
                <a:solidFill>
                  <a:srgbClr val="EAF2F7"/>
                </a:solidFill>
                <a:latin typeface="Consolas"/>
              </a:rPr>
              <a:t> </a:t>
            </a:r>
          </a:p>
          <a:p>
            <a:pPr>
              <a:lnSpc>
                <a:spcPct val="100000"/>
              </a:lnSpc>
              <a:spcBef>
                <a:spcPts val="0"/>
              </a:spcBef>
              <a:spcAft>
                <a:spcPts val="0"/>
              </a:spcAft>
            </a:pPr>
            <a:r>
              <a:rPr sz="930" b="0" i="0">
                <a:solidFill>
                  <a:srgbClr val="EAF2F7"/>
                </a:solidFill>
                <a:latin typeface="Consolas"/>
              </a:rPr>
              <a:t>// enabled register</a:t>
            </a:r>
          </a:p>
          <a:p>
            <a:pPr>
              <a:lnSpc>
                <a:spcPct val="100000"/>
              </a:lnSpc>
              <a:spcBef>
                <a:spcPts val="0"/>
              </a:spcBef>
              <a:spcAft>
                <a:spcPts val="0"/>
              </a:spcAft>
            </a:pPr>
            <a:r>
              <a:rPr sz="930" b="0" i="0">
                <a:solidFill>
                  <a:srgbClr val="EAF2F7"/>
                </a:solidFill>
                <a:latin typeface="Consolas"/>
              </a:rPr>
              <a:t>always @(posedge clk)</a:t>
            </a:r>
          </a:p>
          <a:p>
            <a:pPr>
              <a:lnSpc>
                <a:spcPct val="100000"/>
              </a:lnSpc>
              <a:spcBef>
                <a:spcPts val="0"/>
              </a:spcBef>
              <a:spcAft>
                <a:spcPts val="0"/>
              </a:spcAft>
            </a:pPr>
            <a:r>
              <a:rPr sz="930" b="0" i="0">
                <a:solidFill>
                  <a:srgbClr val="EAF2F7"/>
                </a:solidFill>
                <a:latin typeface="Consolas"/>
              </a:rPr>
              <a:t>  if (en) q &lt;= d;</a:t>
            </a:r>
          </a:p>
          <a:p>
            <a:pPr>
              <a:lnSpc>
                <a:spcPct val="100000"/>
              </a:lnSpc>
              <a:spcBef>
                <a:spcPts val="0"/>
              </a:spcBef>
              <a:spcAft>
                <a:spcPts val="0"/>
              </a:spcAft>
            </a:pPr>
            <a:r>
              <a:rPr sz="930" b="0" i="0">
                <a:solidFill>
                  <a:srgbClr val="EAF2F7"/>
                </a:solidFill>
                <a:latin typeface="Consolas"/>
              </a:rPr>
              <a:t> </a:t>
            </a:r>
          </a:p>
          <a:p>
            <a:pPr>
              <a:lnSpc>
                <a:spcPct val="100000"/>
              </a:lnSpc>
              <a:spcBef>
                <a:spcPts val="0"/>
              </a:spcBef>
              <a:spcAft>
                <a:spcPts val="0"/>
              </a:spcAft>
            </a:pPr>
            <a:r>
              <a:rPr sz="930" b="0" i="0">
                <a:solidFill>
                  <a:srgbClr val="EAF2F7"/>
                </a:solidFill>
                <a:latin typeface="Consolas"/>
              </a:rPr>
              <a:t>// counter</a:t>
            </a:r>
          </a:p>
          <a:p>
            <a:pPr>
              <a:lnSpc>
                <a:spcPct val="100000"/>
              </a:lnSpc>
              <a:spcBef>
                <a:spcPts val="0"/>
              </a:spcBef>
              <a:spcAft>
                <a:spcPts val="0"/>
              </a:spcAft>
            </a:pPr>
            <a:r>
              <a:rPr sz="930" b="0" i="0">
                <a:solidFill>
                  <a:srgbClr val="EAF2F7"/>
                </a:solidFill>
                <a:latin typeface="Consolas"/>
              </a:rPr>
              <a:t>always @(posedge clk or negedge rst_n)</a:t>
            </a:r>
          </a:p>
          <a:p>
            <a:pPr>
              <a:lnSpc>
                <a:spcPct val="100000"/>
              </a:lnSpc>
              <a:spcBef>
                <a:spcPts val="0"/>
              </a:spcBef>
              <a:spcAft>
                <a:spcPts val="0"/>
              </a:spcAft>
            </a:pPr>
            <a:r>
              <a:rPr sz="930" b="0" i="0">
                <a:solidFill>
                  <a:srgbClr val="EAF2F7"/>
                </a:solidFill>
                <a:latin typeface="Consolas"/>
              </a:rPr>
              <a:t>  if (!rst_n) cnt &lt;= 0;</a:t>
            </a:r>
          </a:p>
          <a:p>
            <a:pPr>
              <a:lnSpc>
                <a:spcPct val="100000"/>
              </a:lnSpc>
              <a:spcBef>
                <a:spcPts val="0"/>
              </a:spcBef>
              <a:spcAft>
                <a:spcPts val="0"/>
              </a:spcAft>
            </a:pPr>
            <a:r>
              <a:rPr sz="930" b="0" i="0">
                <a:solidFill>
                  <a:srgbClr val="EAF2F7"/>
                </a:solidFill>
                <a:latin typeface="Consolas"/>
              </a:rPr>
              <a:t>  else        cnt &lt;= cnt + 1;</a:t>
            </a:r>
          </a:p>
        </p:txBody>
      </p:sp>
      <p:sp>
        <p:nvSpPr>
          <p:cNvPr id="13" name="Rounded Rectangle 12"/>
          <p:cNvSpPr/>
          <p:nvPr/>
        </p:nvSpPr>
        <p:spPr>
          <a:xfrm>
            <a:off x="6172200" y="2148840"/>
            <a:ext cx="5577840" cy="315468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2240280"/>
            <a:ext cx="5248655" cy="2971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Rules for sequential</a:t>
            </a:r>
          </a:p>
          <a:p>
            <a:pPr algn="l">
              <a:lnSpc>
                <a:spcPct val="103000"/>
              </a:lnSpc>
              <a:spcBef>
                <a:spcPts val="0"/>
              </a:spcBef>
              <a:spcAft>
                <a:spcPts val="200"/>
              </a:spcAft>
            </a:pPr>
            <a:r>
              <a:rPr sz="1100" b="0" i="0">
                <a:solidFill>
                  <a:srgbClr val="1F2A37"/>
                </a:solidFill>
                <a:latin typeface="Calibri"/>
              </a:rPr>
              <a:t>Sensitivity list = clock edge (and async reset).</a:t>
            </a:r>
          </a:p>
          <a:p>
            <a:pPr algn="l">
              <a:lnSpc>
                <a:spcPct val="103000"/>
              </a:lnSpc>
              <a:spcBef>
                <a:spcPts val="0"/>
              </a:spcBef>
              <a:spcAft>
                <a:spcPts val="200"/>
              </a:spcAft>
            </a:pPr>
            <a:r>
              <a:rPr sz="1100" b="0" i="0">
                <a:solidFill>
                  <a:srgbClr val="1F2A37"/>
                </a:solidFill>
                <a:latin typeface="Calibri"/>
              </a:rPr>
              <a:t>Use non-blocking '&lt;=' only.</a:t>
            </a:r>
          </a:p>
          <a:p>
            <a:pPr algn="l">
              <a:lnSpc>
                <a:spcPct val="103000"/>
              </a:lnSpc>
              <a:spcBef>
                <a:spcPts val="0"/>
              </a:spcBef>
              <a:spcAft>
                <a:spcPts val="200"/>
              </a:spcAft>
            </a:pPr>
            <a:r>
              <a:rPr sz="1100" b="0" i="0">
                <a:solidFill>
                  <a:srgbClr val="1F2A37"/>
                </a:solidFill>
                <a:latin typeface="Calibri"/>
              </a:rPr>
              <a:t>Reset every register to a known value.</a:t>
            </a:r>
          </a:p>
          <a:p>
            <a:pPr algn="l">
              <a:lnSpc>
                <a:spcPct val="103000"/>
              </a:lnSpc>
              <a:spcBef>
                <a:spcPts val="0"/>
              </a:spcBef>
              <a:spcAft>
                <a:spcPts val="200"/>
              </a:spcAft>
            </a:pPr>
            <a:r>
              <a:rPr sz="1100" b="0" i="0">
                <a:solidFill>
                  <a:srgbClr val="1F2A37"/>
                </a:solidFill>
                <a:latin typeface="Calibri"/>
              </a:rPr>
              <a:t>Don't compute long combinational chains here — keep logic in @* blocks and register the result.</a:t>
            </a:r>
          </a:p>
          <a:p>
            <a:pPr algn="l">
              <a:lnSpc>
                <a:spcPct val="103000"/>
              </a:lnSpc>
              <a:spcBef>
                <a:spcPts val="0"/>
              </a:spcBef>
              <a:spcAft>
                <a:spcPts val="200"/>
              </a:spcAft>
            </a:pPr>
            <a:r>
              <a:rPr sz="1100" b="0" i="0">
                <a:solidFill>
                  <a:srgbClr val="1F2A37"/>
                </a:solidFill>
                <a:latin typeface="Calibri"/>
              </a:rPr>
              <a:t>One clock edge per block.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2C · VHDL</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VHDL Basics — Entity &amp; Architecture</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32</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VHDL splits a design into an entity (the interface — like a module's port list) and one or more architectures (the implementation). It is strongly typed and more verbose than Verilog, which catches some errors at compile time.</a:t>
            </a:r>
          </a:p>
        </p:txBody>
      </p:sp>
      <p:sp>
        <p:nvSpPr>
          <p:cNvPr id="10" name="Rounded Rectangle 9"/>
          <p:cNvSpPr/>
          <p:nvPr/>
        </p:nvSpPr>
        <p:spPr>
          <a:xfrm>
            <a:off x="457200" y="2148840"/>
            <a:ext cx="69494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203704"/>
            <a:ext cx="66751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counter in VHDL</a:t>
            </a:r>
          </a:p>
        </p:txBody>
      </p:sp>
      <p:sp>
        <p:nvSpPr>
          <p:cNvPr id="12" name="TextBox 11"/>
          <p:cNvSpPr txBox="1"/>
          <p:nvPr/>
        </p:nvSpPr>
        <p:spPr>
          <a:xfrm>
            <a:off x="603504" y="2478024"/>
            <a:ext cx="66751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library IEEE;</a:t>
            </a:r>
          </a:p>
          <a:p>
            <a:pPr>
              <a:lnSpc>
                <a:spcPct val="100000"/>
              </a:lnSpc>
              <a:spcBef>
                <a:spcPts val="0"/>
              </a:spcBef>
              <a:spcAft>
                <a:spcPts val="0"/>
              </a:spcAft>
            </a:pPr>
            <a:r>
              <a:rPr sz="930" b="0" i="0">
                <a:solidFill>
                  <a:srgbClr val="EAF2F7"/>
                </a:solidFill>
                <a:latin typeface="Consolas"/>
              </a:rPr>
              <a:t>use IEEE.STD_LOGIC_1164.ALL;</a:t>
            </a:r>
          </a:p>
          <a:p>
            <a:pPr>
              <a:lnSpc>
                <a:spcPct val="100000"/>
              </a:lnSpc>
              <a:spcBef>
                <a:spcPts val="0"/>
              </a:spcBef>
              <a:spcAft>
                <a:spcPts val="0"/>
              </a:spcAft>
            </a:pPr>
            <a:r>
              <a:rPr sz="930" b="0" i="0">
                <a:solidFill>
                  <a:srgbClr val="EAF2F7"/>
                </a:solidFill>
                <a:latin typeface="Consolas"/>
              </a:rPr>
              <a:t>use IEEE.NUMERIC_STD.ALL;</a:t>
            </a:r>
          </a:p>
          <a:p>
            <a:pPr>
              <a:lnSpc>
                <a:spcPct val="100000"/>
              </a:lnSpc>
              <a:spcBef>
                <a:spcPts val="0"/>
              </a:spcBef>
              <a:spcAft>
                <a:spcPts val="0"/>
              </a:spcAft>
            </a:pPr>
            <a:r>
              <a:rPr sz="930" b="0" i="0">
                <a:solidFill>
                  <a:srgbClr val="EAF2F7"/>
                </a:solidFill>
                <a:latin typeface="Consolas"/>
              </a:rPr>
              <a:t> </a:t>
            </a:r>
          </a:p>
          <a:p>
            <a:pPr>
              <a:lnSpc>
                <a:spcPct val="100000"/>
              </a:lnSpc>
              <a:spcBef>
                <a:spcPts val="0"/>
              </a:spcBef>
              <a:spcAft>
                <a:spcPts val="0"/>
              </a:spcAft>
            </a:pPr>
            <a:r>
              <a:rPr sz="930" b="0" i="0">
                <a:solidFill>
                  <a:srgbClr val="EAF2F7"/>
                </a:solidFill>
                <a:latin typeface="Consolas"/>
              </a:rPr>
              <a:t>entity counter4 is</a:t>
            </a:r>
          </a:p>
          <a:p>
            <a:pPr>
              <a:lnSpc>
                <a:spcPct val="100000"/>
              </a:lnSpc>
              <a:spcBef>
                <a:spcPts val="0"/>
              </a:spcBef>
              <a:spcAft>
                <a:spcPts val="0"/>
              </a:spcAft>
            </a:pPr>
            <a:r>
              <a:rPr sz="930" b="0" i="0">
                <a:solidFill>
                  <a:srgbClr val="EAF2F7"/>
                </a:solidFill>
                <a:latin typeface="Consolas"/>
              </a:rPr>
              <a:t>  port( clk, rst_n : in  std_logic;</a:t>
            </a:r>
          </a:p>
          <a:p>
            <a:pPr>
              <a:lnSpc>
                <a:spcPct val="100000"/>
              </a:lnSpc>
              <a:spcBef>
                <a:spcPts val="0"/>
              </a:spcBef>
              <a:spcAft>
                <a:spcPts val="0"/>
              </a:spcAft>
            </a:pPr>
            <a:r>
              <a:rPr sz="930" b="0" i="0">
                <a:solidFill>
                  <a:srgbClr val="EAF2F7"/>
                </a:solidFill>
                <a:latin typeface="Consolas"/>
              </a:rPr>
              <a:t>        count      : out unsigned(3 downto 0) );</a:t>
            </a:r>
          </a:p>
          <a:p>
            <a:pPr>
              <a:lnSpc>
                <a:spcPct val="100000"/>
              </a:lnSpc>
              <a:spcBef>
                <a:spcPts val="0"/>
              </a:spcBef>
              <a:spcAft>
                <a:spcPts val="0"/>
              </a:spcAft>
            </a:pPr>
            <a:r>
              <a:rPr sz="930" b="0" i="0">
                <a:solidFill>
                  <a:srgbClr val="EAF2F7"/>
                </a:solidFill>
                <a:latin typeface="Consolas"/>
              </a:rPr>
              <a:t>end entity;</a:t>
            </a:r>
          </a:p>
          <a:p>
            <a:pPr>
              <a:lnSpc>
                <a:spcPct val="100000"/>
              </a:lnSpc>
              <a:spcBef>
                <a:spcPts val="0"/>
              </a:spcBef>
              <a:spcAft>
                <a:spcPts val="0"/>
              </a:spcAft>
            </a:pPr>
            <a:r>
              <a:rPr sz="930" b="0" i="0">
                <a:solidFill>
                  <a:srgbClr val="EAF2F7"/>
                </a:solidFill>
                <a:latin typeface="Consolas"/>
              </a:rPr>
              <a:t> </a:t>
            </a:r>
          </a:p>
          <a:p>
            <a:pPr>
              <a:lnSpc>
                <a:spcPct val="100000"/>
              </a:lnSpc>
              <a:spcBef>
                <a:spcPts val="0"/>
              </a:spcBef>
              <a:spcAft>
                <a:spcPts val="0"/>
              </a:spcAft>
            </a:pPr>
            <a:r>
              <a:rPr sz="930" b="0" i="0">
                <a:solidFill>
                  <a:srgbClr val="EAF2F7"/>
                </a:solidFill>
                <a:latin typeface="Consolas"/>
              </a:rPr>
              <a:t>architecture rtl of counter4 is</a:t>
            </a:r>
          </a:p>
          <a:p>
            <a:pPr>
              <a:lnSpc>
                <a:spcPct val="100000"/>
              </a:lnSpc>
              <a:spcBef>
                <a:spcPts val="0"/>
              </a:spcBef>
              <a:spcAft>
                <a:spcPts val="0"/>
              </a:spcAft>
            </a:pPr>
            <a:r>
              <a:rPr sz="930" b="0" i="0">
                <a:solidFill>
                  <a:srgbClr val="EAF2F7"/>
                </a:solidFill>
                <a:latin typeface="Consolas"/>
              </a:rPr>
              <a:t>  signal cnt : unsigned(3 downto 0);</a:t>
            </a:r>
          </a:p>
          <a:p>
            <a:pPr>
              <a:lnSpc>
                <a:spcPct val="100000"/>
              </a:lnSpc>
              <a:spcBef>
                <a:spcPts val="0"/>
              </a:spcBef>
              <a:spcAft>
                <a:spcPts val="0"/>
              </a:spcAft>
            </a:pPr>
            <a:r>
              <a:rPr sz="930" b="0" i="0">
                <a:solidFill>
                  <a:srgbClr val="EAF2F7"/>
                </a:solidFill>
                <a:latin typeface="Consolas"/>
              </a:rPr>
              <a:t>begin</a:t>
            </a:r>
          </a:p>
          <a:p>
            <a:pPr>
              <a:lnSpc>
                <a:spcPct val="100000"/>
              </a:lnSpc>
              <a:spcBef>
                <a:spcPts val="0"/>
              </a:spcBef>
              <a:spcAft>
                <a:spcPts val="0"/>
              </a:spcAft>
            </a:pPr>
            <a:r>
              <a:rPr sz="930" b="0" i="0">
                <a:solidFill>
                  <a:srgbClr val="EAF2F7"/>
                </a:solidFill>
                <a:latin typeface="Consolas"/>
              </a:rPr>
              <a:t>  process(clk, rst_n) begin</a:t>
            </a:r>
          </a:p>
          <a:p>
            <a:pPr>
              <a:lnSpc>
                <a:spcPct val="100000"/>
              </a:lnSpc>
              <a:spcBef>
                <a:spcPts val="0"/>
              </a:spcBef>
              <a:spcAft>
                <a:spcPts val="0"/>
              </a:spcAft>
            </a:pPr>
            <a:r>
              <a:rPr sz="930" b="0" i="0">
                <a:solidFill>
                  <a:srgbClr val="EAF2F7"/>
                </a:solidFill>
                <a:latin typeface="Consolas"/>
              </a:rPr>
              <a:t>    if rst_n = '0' then cnt &lt;= (others =&gt; '0');</a:t>
            </a:r>
          </a:p>
          <a:p>
            <a:pPr>
              <a:lnSpc>
                <a:spcPct val="100000"/>
              </a:lnSpc>
              <a:spcBef>
                <a:spcPts val="0"/>
              </a:spcBef>
              <a:spcAft>
                <a:spcPts val="0"/>
              </a:spcAft>
            </a:pPr>
            <a:r>
              <a:rPr sz="930" b="0" i="0">
                <a:solidFill>
                  <a:srgbClr val="EAF2F7"/>
                </a:solidFill>
                <a:latin typeface="Consolas"/>
              </a:rPr>
              <a:t>    elsif rising_edge(clk) then cnt &lt;= cnt + 1;</a:t>
            </a:r>
          </a:p>
          <a:p>
            <a:pPr>
              <a:lnSpc>
                <a:spcPct val="100000"/>
              </a:lnSpc>
              <a:spcBef>
                <a:spcPts val="0"/>
              </a:spcBef>
              <a:spcAft>
                <a:spcPts val="0"/>
              </a:spcAft>
            </a:pPr>
            <a:r>
              <a:rPr sz="930" b="0" i="0">
                <a:solidFill>
                  <a:srgbClr val="EAF2F7"/>
                </a:solidFill>
                <a:latin typeface="Consolas"/>
              </a:rPr>
              <a:t>    end if;</a:t>
            </a:r>
          </a:p>
          <a:p>
            <a:pPr>
              <a:lnSpc>
                <a:spcPct val="100000"/>
              </a:lnSpc>
              <a:spcBef>
                <a:spcPts val="0"/>
              </a:spcBef>
              <a:spcAft>
                <a:spcPts val="0"/>
              </a:spcAft>
            </a:pPr>
            <a:r>
              <a:rPr sz="930" b="0" i="0">
                <a:solidFill>
                  <a:srgbClr val="EAF2F7"/>
                </a:solidFill>
                <a:latin typeface="Consolas"/>
              </a:rPr>
              <a:t>  end process;</a:t>
            </a:r>
          </a:p>
          <a:p>
            <a:pPr>
              <a:lnSpc>
                <a:spcPct val="100000"/>
              </a:lnSpc>
              <a:spcBef>
                <a:spcPts val="0"/>
              </a:spcBef>
              <a:spcAft>
                <a:spcPts val="0"/>
              </a:spcAft>
            </a:pPr>
            <a:r>
              <a:rPr sz="930" b="0" i="0">
                <a:solidFill>
                  <a:srgbClr val="EAF2F7"/>
                </a:solidFill>
                <a:latin typeface="Consolas"/>
              </a:rPr>
              <a:t>  count &lt;= cnt;</a:t>
            </a:r>
          </a:p>
          <a:p>
            <a:pPr>
              <a:lnSpc>
                <a:spcPct val="100000"/>
              </a:lnSpc>
              <a:spcBef>
                <a:spcPts val="0"/>
              </a:spcBef>
              <a:spcAft>
                <a:spcPts val="0"/>
              </a:spcAft>
            </a:pPr>
            <a:r>
              <a:rPr sz="930" b="0" i="0">
                <a:solidFill>
                  <a:srgbClr val="EAF2F7"/>
                </a:solidFill>
                <a:latin typeface="Consolas"/>
              </a:rPr>
              <a:t>end architecture;</a:t>
            </a:r>
          </a:p>
        </p:txBody>
      </p:sp>
      <p:sp>
        <p:nvSpPr>
          <p:cNvPr id="13" name="Rounded Rectangle 12"/>
          <p:cNvSpPr/>
          <p:nvPr/>
        </p:nvSpPr>
        <p:spPr>
          <a:xfrm>
            <a:off x="7635240" y="2148840"/>
            <a:ext cx="4114800" cy="320040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9831" y="2240280"/>
            <a:ext cx="3785615" cy="30175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Map to Verilog</a:t>
            </a:r>
          </a:p>
          <a:p>
            <a:pPr algn="l">
              <a:lnSpc>
                <a:spcPct val="103000"/>
              </a:lnSpc>
              <a:spcBef>
                <a:spcPts val="0"/>
              </a:spcBef>
              <a:spcAft>
                <a:spcPts val="200"/>
              </a:spcAft>
            </a:pPr>
            <a:r>
              <a:rPr sz="1040" b="0" i="0">
                <a:solidFill>
                  <a:srgbClr val="1F2A37"/>
                </a:solidFill>
                <a:latin typeface="Calibri"/>
              </a:rPr>
              <a:t>entity  ≈ module port list.</a:t>
            </a:r>
          </a:p>
          <a:p>
            <a:pPr algn="l">
              <a:lnSpc>
                <a:spcPct val="103000"/>
              </a:lnSpc>
              <a:spcBef>
                <a:spcPts val="0"/>
              </a:spcBef>
              <a:spcAft>
                <a:spcPts val="200"/>
              </a:spcAft>
            </a:pPr>
            <a:r>
              <a:rPr sz="1040" b="0" i="0">
                <a:solidFill>
                  <a:srgbClr val="1F2A37"/>
                </a:solidFill>
                <a:latin typeface="Calibri"/>
              </a:rPr>
              <a:t>architecture ≈ module body.</a:t>
            </a:r>
          </a:p>
          <a:p>
            <a:pPr algn="l">
              <a:lnSpc>
                <a:spcPct val="103000"/>
              </a:lnSpc>
              <a:spcBef>
                <a:spcPts val="0"/>
              </a:spcBef>
              <a:spcAft>
                <a:spcPts val="200"/>
              </a:spcAft>
            </a:pPr>
            <a:r>
              <a:rPr sz="1040" b="0" i="0">
                <a:solidFill>
                  <a:srgbClr val="1F2A37"/>
                </a:solidFill>
                <a:latin typeface="Calibri"/>
              </a:rPr>
              <a:t>signal ≈ wire/reg.</a:t>
            </a:r>
          </a:p>
          <a:p>
            <a:pPr algn="l">
              <a:lnSpc>
                <a:spcPct val="103000"/>
              </a:lnSpc>
              <a:spcBef>
                <a:spcPts val="0"/>
              </a:spcBef>
              <a:spcAft>
                <a:spcPts val="200"/>
              </a:spcAft>
            </a:pPr>
            <a:r>
              <a:rPr sz="1040" b="0" i="0">
                <a:solidFill>
                  <a:srgbClr val="1F2A37"/>
                </a:solidFill>
                <a:latin typeface="Calibri"/>
              </a:rPr>
              <a:t>process ≈ always block.</a:t>
            </a:r>
          </a:p>
          <a:p>
            <a:pPr algn="l">
              <a:lnSpc>
                <a:spcPct val="103000"/>
              </a:lnSpc>
              <a:spcBef>
                <a:spcPts val="0"/>
              </a:spcBef>
              <a:spcAft>
                <a:spcPts val="200"/>
              </a:spcAft>
            </a:pPr>
            <a:r>
              <a:rPr sz="1040" b="0" i="0">
                <a:solidFill>
                  <a:srgbClr val="1F2A37"/>
                </a:solidFill>
                <a:latin typeface="Calibri"/>
              </a:rPr>
              <a:t>rising_edge(clk) ≈ posedge clk.</a:t>
            </a:r>
          </a:p>
          <a:p>
            <a:pPr algn="l">
              <a:lnSpc>
                <a:spcPct val="103000"/>
              </a:lnSpc>
              <a:spcBef>
                <a:spcPts val="0"/>
              </a:spcBef>
              <a:spcAft>
                <a:spcPts val="200"/>
              </a:spcAft>
            </a:pPr>
            <a:r>
              <a:rPr sz="1040" b="0" i="0">
                <a:solidFill>
                  <a:srgbClr val="1F2A37"/>
                </a:solidFill>
                <a:latin typeface="Calibri"/>
              </a:rPr>
              <a:t>&lt;=  is the signal-assign (like Verilog non-blocking).</a:t>
            </a:r>
          </a:p>
          <a:p>
            <a:pPr algn="l">
              <a:lnSpc>
                <a:spcPct val="103000"/>
              </a:lnSpc>
              <a:spcBef>
                <a:spcPts val="0"/>
              </a:spcBef>
              <a:spcAft>
                <a:spcPts val="200"/>
              </a:spcAft>
            </a:pPr>
            <a:r>
              <a:rPr sz="1040" b="0" i="0">
                <a:solidFill>
                  <a:srgbClr val="1F2A37"/>
                </a:solidFill>
                <a:latin typeface="Calibri"/>
              </a:rPr>
              <a:t>Strong typing: unsigned, std_logic.</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2C · SIDE BY SIDE</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Same Counter — Verilog vs VHDL</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33</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The identical hardware, described in both languages. Read them together: the structure is the same; only the syntax differs.</a:t>
            </a:r>
          </a:p>
        </p:txBody>
      </p:sp>
      <p:sp>
        <p:nvSpPr>
          <p:cNvPr id="10" name="Rounded Rectangle 9"/>
          <p:cNvSpPr/>
          <p:nvPr/>
        </p:nvSpPr>
        <p:spPr>
          <a:xfrm>
            <a:off x="457200" y="2103120"/>
            <a:ext cx="55778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15798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Verilog</a:t>
            </a:r>
          </a:p>
        </p:txBody>
      </p:sp>
      <p:sp>
        <p:nvSpPr>
          <p:cNvPr id="12" name="TextBox 11"/>
          <p:cNvSpPr txBox="1"/>
          <p:nvPr/>
        </p:nvSpPr>
        <p:spPr>
          <a:xfrm>
            <a:off x="603504" y="2432303"/>
            <a:ext cx="53035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module counter4(</a:t>
            </a:r>
          </a:p>
          <a:p>
            <a:pPr>
              <a:lnSpc>
                <a:spcPct val="100000"/>
              </a:lnSpc>
              <a:spcBef>
                <a:spcPts val="0"/>
              </a:spcBef>
              <a:spcAft>
                <a:spcPts val="0"/>
              </a:spcAft>
            </a:pPr>
            <a:r>
              <a:rPr sz="930" b="0" i="0">
                <a:solidFill>
                  <a:srgbClr val="EAF2F7"/>
                </a:solidFill>
                <a:latin typeface="Consolas"/>
              </a:rPr>
              <a:t>  input clk, rst_n,</a:t>
            </a:r>
          </a:p>
          <a:p>
            <a:pPr>
              <a:lnSpc>
                <a:spcPct val="100000"/>
              </a:lnSpc>
              <a:spcBef>
                <a:spcPts val="0"/>
              </a:spcBef>
              <a:spcAft>
                <a:spcPts val="0"/>
              </a:spcAft>
            </a:pPr>
            <a:r>
              <a:rPr sz="930" b="0" i="0">
                <a:solidFill>
                  <a:srgbClr val="EAF2F7"/>
                </a:solidFill>
                <a:latin typeface="Consolas"/>
              </a:rPr>
              <a:t>  output reg [3:0] count);</a:t>
            </a:r>
          </a:p>
          <a:p>
            <a:pPr>
              <a:lnSpc>
                <a:spcPct val="100000"/>
              </a:lnSpc>
              <a:spcBef>
                <a:spcPts val="0"/>
              </a:spcBef>
              <a:spcAft>
                <a:spcPts val="0"/>
              </a:spcAft>
            </a:pPr>
            <a:r>
              <a:rPr sz="930" b="0" i="0">
                <a:solidFill>
                  <a:srgbClr val="EAF2F7"/>
                </a:solidFill>
                <a:latin typeface="Consolas"/>
              </a:rPr>
              <a:t>  always @(posedge clk or negedge rst_n)</a:t>
            </a:r>
          </a:p>
          <a:p>
            <a:pPr>
              <a:lnSpc>
                <a:spcPct val="100000"/>
              </a:lnSpc>
              <a:spcBef>
                <a:spcPts val="0"/>
              </a:spcBef>
              <a:spcAft>
                <a:spcPts val="0"/>
              </a:spcAft>
            </a:pPr>
            <a:r>
              <a:rPr sz="930" b="0" i="0">
                <a:solidFill>
                  <a:srgbClr val="EAF2F7"/>
                </a:solidFill>
                <a:latin typeface="Consolas"/>
              </a:rPr>
              <a:t>    if (!rst_n) count &lt;= 4'b0;</a:t>
            </a:r>
          </a:p>
          <a:p>
            <a:pPr>
              <a:lnSpc>
                <a:spcPct val="100000"/>
              </a:lnSpc>
              <a:spcBef>
                <a:spcPts val="0"/>
              </a:spcBef>
              <a:spcAft>
                <a:spcPts val="0"/>
              </a:spcAft>
            </a:pPr>
            <a:r>
              <a:rPr sz="930" b="0" i="0">
                <a:solidFill>
                  <a:srgbClr val="EAF2F7"/>
                </a:solidFill>
                <a:latin typeface="Consolas"/>
              </a:rPr>
              <a:t>    else        count &lt;= count + 1'b1;</a:t>
            </a:r>
          </a:p>
          <a:p>
            <a:pPr>
              <a:lnSpc>
                <a:spcPct val="100000"/>
              </a:lnSpc>
              <a:spcBef>
                <a:spcPts val="0"/>
              </a:spcBef>
              <a:spcAft>
                <a:spcPts val="0"/>
              </a:spcAft>
            </a:pPr>
            <a:r>
              <a:rPr sz="930" b="0" i="0">
                <a:solidFill>
                  <a:srgbClr val="EAF2F7"/>
                </a:solidFill>
                <a:latin typeface="Consolas"/>
              </a:rPr>
              <a:t>endmodule</a:t>
            </a:r>
          </a:p>
        </p:txBody>
      </p:sp>
      <p:sp>
        <p:nvSpPr>
          <p:cNvPr id="13" name="Rounded Rectangle 12"/>
          <p:cNvSpPr/>
          <p:nvPr/>
        </p:nvSpPr>
        <p:spPr>
          <a:xfrm>
            <a:off x="6172200" y="2103120"/>
            <a:ext cx="55778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215798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VHDL</a:t>
            </a:r>
          </a:p>
        </p:txBody>
      </p:sp>
      <p:sp>
        <p:nvSpPr>
          <p:cNvPr id="15" name="TextBox 14"/>
          <p:cNvSpPr txBox="1"/>
          <p:nvPr/>
        </p:nvSpPr>
        <p:spPr>
          <a:xfrm>
            <a:off x="6318504" y="2432303"/>
            <a:ext cx="53035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process(clk, rst_n) begin</a:t>
            </a:r>
          </a:p>
          <a:p>
            <a:pPr>
              <a:lnSpc>
                <a:spcPct val="100000"/>
              </a:lnSpc>
              <a:spcBef>
                <a:spcPts val="0"/>
              </a:spcBef>
              <a:spcAft>
                <a:spcPts val="0"/>
              </a:spcAft>
            </a:pPr>
            <a:r>
              <a:rPr sz="930" b="0" i="0">
                <a:solidFill>
                  <a:srgbClr val="EAF2F7"/>
                </a:solidFill>
                <a:latin typeface="Consolas"/>
              </a:rPr>
              <a:t>  if rst_n = '0' then</a:t>
            </a:r>
          </a:p>
          <a:p>
            <a:pPr>
              <a:lnSpc>
                <a:spcPct val="100000"/>
              </a:lnSpc>
              <a:spcBef>
                <a:spcPts val="0"/>
              </a:spcBef>
              <a:spcAft>
                <a:spcPts val="0"/>
              </a:spcAft>
            </a:pPr>
            <a:r>
              <a:rPr sz="930" b="0" i="0">
                <a:solidFill>
                  <a:srgbClr val="EAF2F7"/>
                </a:solidFill>
                <a:latin typeface="Consolas"/>
              </a:rPr>
              <a:t>    cnt &lt;= (others =&gt; '0');</a:t>
            </a:r>
          </a:p>
          <a:p>
            <a:pPr>
              <a:lnSpc>
                <a:spcPct val="100000"/>
              </a:lnSpc>
              <a:spcBef>
                <a:spcPts val="0"/>
              </a:spcBef>
              <a:spcAft>
                <a:spcPts val="0"/>
              </a:spcAft>
            </a:pPr>
            <a:r>
              <a:rPr sz="930" b="0" i="0">
                <a:solidFill>
                  <a:srgbClr val="EAF2F7"/>
                </a:solidFill>
                <a:latin typeface="Consolas"/>
              </a:rPr>
              <a:t>  elsif rising_edge(clk) then</a:t>
            </a:r>
          </a:p>
          <a:p>
            <a:pPr>
              <a:lnSpc>
                <a:spcPct val="100000"/>
              </a:lnSpc>
              <a:spcBef>
                <a:spcPts val="0"/>
              </a:spcBef>
              <a:spcAft>
                <a:spcPts val="0"/>
              </a:spcAft>
            </a:pPr>
            <a:r>
              <a:rPr sz="930" b="0" i="0">
                <a:solidFill>
                  <a:srgbClr val="EAF2F7"/>
                </a:solidFill>
                <a:latin typeface="Consolas"/>
              </a:rPr>
              <a:t>    cnt &lt;= cnt + 1;</a:t>
            </a:r>
          </a:p>
          <a:p>
            <a:pPr>
              <a:lnSpc>
                <a:spcPct val="100000"/>
              </a:lnSpc>
              <a:spcBef>
                <a:spcPts val="0"/>
              </a:spcBef>
              <a:spcAft>
                <a:spcPts val="0"/>
              </a:spcAft>
            </a:pPr>
            <a:r>
              <a:rPr sz="930" b="0" i="0">
                <a:solidFill>
                  <a:srgbClr val="EAF2F7"/>
                </a:solidFill>
                <a:latin typeface="Consolas"/>
              </a:rPr>
              <a:t>  end if;</a:t>
            </a:r>
          </a:p>
          <a:p>
            <a:pPr>
              <a:lnSpc>
                <a:spcPct val="100000"/>
              </a:lnSpc>
              <a:spcBef>
                <a:spcPts val="0"/>
              </a:spcBef>
              <a:spcAft>
                <a:spcPts val="0"/>
              </a:spcAft>
            </a:pPr>
            <a:r>
              <a:rPr sz="930" b="0" i="0">
                <a:solidFill>
                  <a:srgbClr val="EAF2F7"/>
                </a:solidFill>
                <a:latin typeface="Consolas"/>
              </a:rPr>
              <a:t>end process;</a:t>
            </a:r>
          </a:p>
          <a:p>
            <a:pPr>
              <a:lnSpc>
                <a:spcPct val="100000"/>
              </a:lnSpc>
              <a:spcBef>
                <a:spcPts val="0"/>
              </a:spcBef>
              <a:spcAft>
                <a:spcPts val="0"/>
              </a:spcAft>
            </a:pPr>
            <a:r>
              <a:rPr sz="930" b="0" i="0">
                <a:solidFill>
                  <a:srgbClr val="EAF2F7"/>
                </a:solidFill>
                <a:latin typeface="Consolas"/>
              </a:rPr>
              <a:t>count &lt;= cnt;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2C · CONCEPT</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Two Worlds in One File — Simulation vs Synthesis</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34</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A key HDL idea: the same language expresses both the hardware (synthesizable) and the test environment (simulation-only). You must know which constructs belong to which world.</a:t>
            </a:r>
          </a:p>
        </p:txBody>
      </p:sp>
      <p:sp>
        <p:nvSpPr>
          <p:cNvPr id="10" name="Rounded Rectangle 9"/>
          <p:cNvSpPr/>
          <p:nvPr/>
        </p:nvSpPr>
        <p:spPr>
          <a:xfrm>
            <a:off x="457200" y="2194560"/>
            <a:ext cx="5577840" cy="310896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2286000"/>
            <a:ext cx="5248655" cy="292607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Synthesizable (hardware)</a:t>
            </a:r>
          </a:p>
          <a:p>
            <a:pPr algn="l">
              <a:lnSpc>
                <a:spcPct val="103000"/>
              </a:lnSpc>
              <a:spcBef>
                <a:spcPts val="0"/>
              </a:spcBef>
              <a:spcAft>
                <a:spcPts val="200"/>
              </a:spcAft>
            </a:pPr>
            <a:r>
              <a:rPr sz="1130" b="0" i="0">
                <a:solidFill>
                  <a:srgbClr val="1F2A37"/>
                </a:solidFill>
                <a:latin typeface="Calibri"/>
              </a:rPr>
              <a:t>always @(posedge clk) …</a:t>
            </a:r>
          </a:p>
          <a:p>
            <a:pPr algn="l">
              <a:lnSpc>
                <a:spcPct val="103000"/>
              </a:lnSpc>
              <a:spcBef>
                <a:spcPts val="0"/>
              </a:spcBef>
              <a:spcAft>
                <a:spcPts val="200"/>
              </a:spcAft>
            </a:pPr>
            <a:r>
              <a:rPr sz="1130" b="0" i="0">
                <a:solidFill>
                  <a:srgbClr val="1F2A37"/>
                </a:solidFill>
                <a:latin typeface="Calibri"/>
              </a:rPr>
              <a:t>assign, case, if/else, arithmetic.</a:t>
            </a:r>
          </a:p>
          <a:p>
            <a:pPr algn="l">
              <a:lnSpc>
                <a:spcPct val="103000"/>
              </a:lnSpc>
              <a:spcBef>
                <a:spcPts val="0"/>
              </a:spcBef>
              <a:spcAft>
                <a:spcPts val="200"/>
              </a:spcAft>
            </a:pPr>
            <a:r>
              <a:rPr sz="1130" b="0" i="0">
                <a:solidFill>
                  <a:srgbClr val="1F2A37"/>
                </a:solidFill>
                <a:latin typeface="Calibri"/>
              </a:rPr>
              <a:t>reg / wire, parameters.</a:t>
            </a:r>
          </a:p>
          <a:p>
            <a:pPr algn="l">
              <a:lnSpc>
                <a:spcPct val="103000"/>
              </a:lnSpc>
              <a:spcBef>
                <a:spcPts val="0"/>
              </a:spcBef>
              <a:spcAft>
                <a:spcPts val="200"/>
              </a:spcAft>
            </a:pPr>
            <a:r>
              <a:rPr sz="1130" b="0" i="0">
                <a:solidFill>
                  <a:srgbClr val="1F2A37"/>
                </a:solidFill>
                <a:latin typeface="Calibri"/>
              </a:rPr>
              <a:t>Reset logic.</a:t>
            </a:r>
          </a:p>
          <a:p>
            <a:pPr algn="l">
              <a:lnSpc>
                <a:spcPct val="103000"/>
              </a:lnSpc>
              <a:spcBef>
                <a:spcPts val="0"/>
              </a:spcBef>
              <a:spcAft>
                <a:spcPts val="200"/>
              </a:spcAft>
            </a:pPr>
            <a:r>
              <a:rPr sz="1130" b="0" i="0">
                <a:solidFill>
                  <a:srgbClr val="1F2A37"/>
                </a:solidFill>
                <a:latin typeface="Calibri"/>
              </a:rPr>
              <a:t>→ becomes real gates.</a:t>
            </a:r>
          </a:p>
        </p:txBody>
      </p:sp>
      <p:sp>
        <p:nvSpPr>
          <p:cNvPr id="12" name="Rounded Rectangle 11"/>
          <p:cNvSpPr/>
          <p:nvPr/>
        </p:nvSpPr>
        <p:spPr>
          <a:xfrm>
            <a:off x="6172200" y="2194560"/>
            <a:ext cx="5577840" cy="310896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36792" y="2286000"/>
            <a:ext cx="5248655" cy="292607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Simulation-only (testbench)</a:t>
            </a:r>
          </a:p>
          <a:p>
            <a:pPr algn="l">
              <a:lnSpc>
                <a:spcPct val="103000"/>
              </a:lnSpc>
              <a:spcBef>
                <a:spcPts val="0"/>
              </a:spcBef>
              <a:spcAft>
                <a:spcPts val="200"/>
              </a:spcAft>
            </a:pPr>
            <a:r>
              <a:rPr sz="1130" b="0" i="0">
                <a:solidFill>
                  <a:srgbClr val="1F2A37"/>
                </a:solidFill>
                <a:latin typeface="Calibri"/>
              </a:rPr>
              <a:t>initial begin … end</a:t>
            </a:r>
          </a:p>
          <a:p>
            <a:pPr algn="l">
              <a:lnSpc>
                <a:spcPct val="103000"/>
              </a:lnSpc>
              <a:spcBef>
                <a:spcPts val="0"/>
              </a:spcBef>
              <a:spcAft>
                <a:spcPts val="200"/>
              </a:spcAft>
            </a:pPr>
            <a:r>
              <a:rPr sz="1130" b="0" i="0">
                <a:solidFill>
                  <a:srgbClr val="1F2A37"/>
                </a:solidFill>
                <a:latin typeface="Calibri"/>
              </a:rPr>
              <a:t>#delays (e.g. #5 clk = ~clk;)</a:t>
            </a:r>
          </a:p>
          <a:p>
            <a:pPr algn="l">
              <a:lnSpc>
                <a:spcPct val="103000"/>
              </a:lnSpc>
              <a:spcBef>
                <a:spcPts val="0"/>
              </a:spcBef>
              <a:spcAft>
                <a:spcPts val="200"/>
              </a:spcAft>
            </a:pPr>
            <a:r>
              <a:rPr sz="1130" b="0" i="0">
                <a:solidFill>
                  <a:srgbClr val="1F2A37"/>
                </a:solidFill>
                <a:latin typeface="Calibri"/>
              </a:rPr>
              <a:t>$display, $monitor, $finish.</a:t>
            </a:r>
          </a:p>
          <a:p>
            <a:pPr algn="l">
              <a:lnSpc>
                <a:spcPct val="103000"/>
              </a:lnSpc>
              <a:spcBef>
                <a:spcPts val="0"/>
              </a:spcBef>
              <a:spcAft>
                <a:spcPts val="200"/>
              </a:spcAft>
            </a:pPr>
            <a:r>
              <a:rPr sz="1130" b="0" i="0">
                <a:solidFill>
                  <a:srgbClr val="1F2A37"/>
                </a:solidFill>
                <a:latin typeface="Calibri"/>
              </a:rPr>
              <a:t>$dumpfile / $dumpvars (waveform).</a:t>
            </a:r>
          </a:p>
          <a:p>
            <a:pPr algn="l">
              <a:lnSpc>
                <a:spcPct val="103000"/>
              </a:lnSpc>
              <a:spcBef>
                <a:spcPts val="0"/>
              </a:spcBef>
              <a:spcAft>
                <a:spcPts val="200"/>
              </a:spcAft>
            </a:pPr>
            <a:r>
              <a:rPr sz="1130" b="0" i="0">
                <a:solidFill>
                  <a:srgbClr val="1F2A37"/>
                </a:solidFill>
                <a:latin typeface="Calibri"/>
              </a:rPr>
              <a:t>→ never in the design module.</a:t>
            </a:r>
          </a:p>
        </p:txBody>
      </p:sp>
      <p:sp>
        <p:nvSpPr>
          <p:cNvPr id="14" name="Rounded Rectangle 13"/>
          <p:cNvSpPr/>
          <p:nvPr/>
        </p:nvSpPr>
        <p:spPr>
          <a:xfrm>
            <a:off x="457200" y="5394960"/>
            <a:ext cx="11292840" cy="82296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5486400"/>
            <a:ext cx="10963656" cy="64008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The guardrail</a:t>
            </a:r>
          </a:p>
          <a:p>
            <a:pPr algn="l">
              <a:lnSpc>
                <a:spcPct val="103000"/>
              </a:lnSpc>
              <a:spcBef>
                <a:spcPts val="0"/>
              </a:spcBef>
              <a:spcAft>
                <a:spcPts val="200"/>
              </a:spcAft>
            </a:pPr>
            <a:r>
              <a:rPr sz="1080" b="0" i="0">
                <a:solidFill>
                  <a:srgbClr val="1F2A37"/>
                </a:solidFill>
                <a:latin typeface="Calibri"/>
              </a:rPr>
              <a:t>If it has a #delay, an initial block, or a $task, it belongs in the testbench — not in the synthesizable design.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2C · VERIFICATION</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The Testbench — How We Simulate RTL</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35</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A testbench is itself HDL, but it is not hardware. It instantiates the design (the DUT), generates a clock and reset, applies stimulus, and checks results. Waveforms let you watch every signal.</a:t>
            </a:r>
          </a:p>
        </p:txBody>
      </p:sp>
      <p:sp>
        <p:nvSpPr>
          <p:cNvPr id="10" name="Rounded Rectangle 9"/>
          <p:cNvSpPr/>
          <p:nvPr/>
        </p:nvSpPr>
        <p:spPr>
          <a:xfrm>
            <a:off x="457200" y="2103120"/>
            <a:ext cx="69494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157984"/>
            <a:ext cx="66751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counter4_tb.v  (simulation only)</a:t>
            </a:r>
          </a:p>
        </p:txBody>
      </p:sp>
      <p:sp>
        <p:nvSpPr>
          <p:cNvPr id="12" name="TextBox 11"/>
          <p:cNvSpPr txBox="1"/>
          <p:nvPr/>
        </p:nvSpPr>
        <p:spPr>
          <a:xfrm>
            <a:off x="603504" y="2432303"/>
            <a:ext cx="66751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`timescale 1ns/1ps</a:t>
            </a:r>
          </a:p>
          <a:p>
            <a:pPr>
              <a:lnSpc>
                <a:spcPct val="100000"/>
              </a:lnSpc>
              <a:spcBef>
                <a:spcPts val="0"/>
              </a:spcBef>
              <a:spcAft>
                <a:spcPts val="0"/>
              </a:spcAft>
            </a:pPr>
            <a:r>
              <a:rPr sz="930" b="0" i="0">
                <a:solidFill>
                  <a:srgbClr val="EAF2F7"/>
                </a:solidFill>
                <a:latin typeface="Consolas"/>
              </a:rPr>
              <a:t>module counter4_tb;</a:t>
            </a:r>
          </a:p>
          <a:p>
            <a:pPr>
              <a:lnSpc>
                <a:spcPct val="100000"/>
              </a:lnSpc>
              <a:spcBef>
                <a:spcPts val="0"/>
              </a:spcBef>
              <a:spcAft>
                <a:spcPts val="0"/>
              </a:spcAft>
            </a:pPr>
            <a:r>
              <a:rPr sz="930" b="0" i="0">
                <a:solidFill>
                  <a:srgbClr val="EAF2F7"/>
                </a:solidFill>
                <a:latin typeface="Consolas"/>
              </a:rPr>
              <a:t>  reg clk=0, rst_n=0; wire [3:0] count;</a:t>
            </a:r>
          </a:p>
          <a:p>
            <a:pPr>
              <a:lnSpc>
                <a:spcPct val="100000"/>
              </a:lnSpc>
              <a:spcBef>
                <a:spcPts val="0"/>
              </a:spcBef>
              <a:spcAft>
                <a:spcPts val="0"/>
              </a:spcAft>
            </a:pPr>
            <a:r>
              <a:rPr sz="930" b="0" i="0">
                <a:solidFill>
                  <a:srgbClr val="EAF2F7"/>
                </a:solidFill>
                <a:latin typeface="Consolas"/>
              </a:rPr>
              <a:t>  counter4 dut(.clk(clk), .rst_n(rst_n), .count(count));</a:t>
            </a:r>
          </a:p>
          <a:p>
            <a:pPr>
              <a:lnSpc>
                <a:spcPct val="100000"/>
              </a:lnSpc>
              <a:spcBef>
                <a:spcPts val="0"/>
              </a:spcBef>
              <a:spcAft>
                <a:spcPts val="0"/>
              </a:spcAft>
            </a:pPr>
            <a:r>
              <a:rPr sz="930" b="0" i="0">
                <a:solidFill>
                  <a:srgbClr val="EAF2F7"/>
                </a:solidFill>
                <a:latin typeface="Consolas"/>
              </a:rPr>
              <a:t>  always #5 clk = ~clk;                 // 100 MHz clock</a:t>
            </a:r>
          </a:p>
          <a:p>
            <a:pPr>
              <a:lnSpc>
                <a:spcPct val="100000"/>
              </a:lnSpc>
              <a:spcBef>
                <a:spcPts val="0"/>
              </a:spcBef>
              <a:spcAft>
                <a:spcPts val="0"/>
              </a:spcAft>
            </a:pPr>
            <a:r>
              <a:rPr sz="930" b="0" i="0">
                <a:solidFill>
                  <a:srgbClr val="EAF2F7"/>
                </a:solidFill>
                <a:latin typeface="Consolas"/>
              </a:rPr>
              <a:t>  initial begin</a:t>
            </a:r>
          </a:p>
          <a:p>
            <a:pPr>
              <a:lnSpc>
                <a:spcPct val="100000"/>
              </a:lnSpc>
              <a:spcBef>
                <a:spcPts val="0"/>
              </a:spcBef>
              <a:spcAft>
                <a:spcPts val="0"/>
              </a:spcAft>
            </a:pPr>
            <a:r>
              <a:rPr sz="930" b="0" i="0">
                <a:solidFill>
                  <a:srgbClr val="EAF2F7"/>
                </a:solidFill>
                <a:latin typeface="Consolas"/>
              </a:rPr>
              <a:t>    $dumpfile("c.vcd"); $dumpvars(0, counter4_tb);</a:t>
            </a:r>
          </a:p>
          <a:p>
            <a:pPr>
              <a:lnSpc>
                <a:spcPct val="100000"/>
              </a:lnSpc>
              <a:spcBef>
                <a:spcPts val="0"/>
              </a:spcBef>
              <a:spcAft>
                <a:spcPts val="0"/>
              </a:spcAft>
            </a:pPr>
            <a:r>
              <a:rPr sz="930" b="0" i="0">
                <a:solidFill>
                  <a:srgbClr val="EAF2F7"/>
                </a:solidFill>
                <a:latin typeface="Consolas"/>
              </a:rPr>
              <a:t>    #12 rst_n = 1;                       // release reset</a:t>
            </a:r>
          </a:p>
          <a:p>
            <a:pPr>
              <a:lnSpc>
                <a:spcPct val="100000"/>
              </a:lnSpc>
              <a:spcBef>
                <a:spcPts val="0"/>
              </a:spcBef>
              <a:spcAft>
                <a:spcPts val="0"/>
              </a:spcAft>
            </a:pPr>
            <a:r>
              <a:rPr sz="930" b="0" i="0">
                <a:solidFill>
                  <a:srgbClr val="EAF2F7"/>
                </a:solidFill>
                <a:latin typeface="Consolas"/>
              </a:rPr>
              <a:t>    #200 $finish;                        // stop</a:t>
            </a:r>
          </a:p>
          <a:p>
            <a:pPr>
              <a:lnSpc>
                <a:spcPct val="100000"/>
              </a:lnSpc>
              <a:spcBef>
                <a:spcPts val="0"/>
              </a:spcBef>
              <a:spcAft>
                <a:spcPts val="0"/>
              </a:spcAft>
            </a:pPr>
            <a:r>
              <a:rPr sz="930" b="0" i="0">
                <a:solidFill>
                  <a:srgbClr val="EAF2F7"/>
                </a:solidFill>
                <a:latin typeface="Consolas"/>
              </a:rPr>
              <a:t>  end</a:t>
            </a:r>
          </a:p>
          <a:p>
            <a:pPr>
              <a:lnSpc>
                <a:spcPct val="100000"/>
              </a:lnSpc>
              <a:spcBef>
                <a:spcPts val="0"/>
              </a:spcBef>
              <a:spcAft>
                <a:spcPts val="0"/>
              </a:spcAft>
            </a:pPr>
            <a:r>
              <a:rPr sz="930" b="0" i="0">
                <a:solidFill>
                  <a:srgbClr val="EAF2F7"/>
                </a:solidFill>
                <a:latin typeface="Consolas"/>
              </a:rPr>
              <a:t>endmodule</a:t>
            </a:r>
          </a:p>
        </p:txBody>
      </p:sp>
      <p:sp>
        <p:nvSpPr>
          <p:cNvPr id="13" name="Rounded Rectangle 12"/>
          <p:cNvSpPr/>
          <p:nvPr/>
        </p:nvSpPr>
        <p:spPr>
          <a:xfrm>
            <a:off x="7635240" y="2103120"/>
            <a:ext cx="4114800" cy="320040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99831" y="2194560"/>
            <a:ext cx="3785615" cy="30175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Anatomy</a:t>
            </a:r>
          </a:p>
          <a:p>
            <a:pPr algn="l">
              <a:lnSpc>
                <a:spcPct val="103000"/>
              </a:lnSpc>
              <a:spcBef>
                <a:spcPts val="0"/>
              </a:spcBef>
              <a:spcAft>
                <a:spcPts val="200"/>
              </a:spcAft>
            </a:pPr>
            <a:r>
              <a:rPr sz="1040" b="0" i="0">
                <a:solidFill>
                  <a:srgbClr val="1F2A37"/>
                </a:solidFill>
                <a:latin typeface="Calibri"/>
              </a:rPr>
              <a:t>Declare clk/rst as reg (driven by TB).</a:t>
            </a:r>
          </a:p>
          <a:p>
            <a:pPr algn="l">
              <a:lnSpc>
                <a:spcPct val="103000"/>
              </a:lnSpc>
              <a:spcBef>
                <a:spcPts val="0"/>
              </a:spcBef>
              <a:spcAft>
                <a:spcPts val="200"/>
              </a:spcAft>
            </a:pPr>
            <a:r>
              <a:rPr sz="1040" b="0" i="0">
                <a:solidFill>
                  <a:srgbClr val="1F2A37"/>
                </a:solidFill>
                <a:latin typeface="Calibri"/>
              </a:rPr>
              <a:t>Instantiate DUT by name (.port(sig)).</a:t>
            </a:r>
          </a:p>
          <a:p>
            <a:pPr algn="l">
              <a:lnSpc>
                <a:spcPct val="103000"/>
              </a:lnSpc>
              <a:spcBef>
                <a:spcPts val="0"/>
              </a:spcBef>
              <a:spcAft>
                <a:spcPts val="200"/>
              </a:spcAft>
            </a:pPr>
            <a:r>
              <a:rPr sz="1040" b="0" i="0">
                <a:solidFill>
                  <a:srgbClr val="1F2A37"/>
                </a:solidFill>
                <a:latin typeface="Calibri"/>
              </a:rPr>
              <a:t>'always #5' toggles the clock.</a:t>
            </a:r>
          </a:p>
          <a:p>
            <a:pPr algn="l">
              <a:lnSpc>
                <a:spcPct val="103000"/>
              </a:lnSpc>
              <a:spcBef>
                <a:spcPts val="0"/>
              </a:spcBef>
              <a:spcAft>
                <a:spcPts val="200"/>
              </a:spcAft>
            </a:pPr>
            <a:r>
              <a:rPr sz="1040" b="0" i="0">
                <a:solidFill>
                  <a:srgbClr val="1F2A37"/>
                </a:solidFill>
                <a:latin typeface="Calibri"/>
              </a:rPr>
              <a:t>'initial' runs once at t=0.</a:t>
            </a:r>
          </a:p>
          <a:p>
            <a:pPr algn="l">
              <a:lnSpc>
                <a:spcPct val="103000"/>
              </a:lnSpc>
              <a:spcBef>
                <a:spcPts val="0"/>
              </a:spcBef>
              <a:spcAft>
                <a:spcPts val="200"/>
              </a:spcAft>
            </a:pPr>
            <a:r>
              <a:rPr sz="1040" b="0" i="0">
                <a:solidFill>
                  <a:srgbClr val="1F2A37"/>
                </a:solidFill>
                <a:latin typeface="Calibri"/>
              </a:rPr>
              <a:t>$dumpvars records a .vcd waveform.</a:t>
            </a:r>
          </a:p>
          <a:p>
            <a:pPr algn="l">
              <a:lnSpc>
                <a:spcPct val="103000"/>
              </a:lnSpc>
              <a:spcBef>
                <a:spcPts val="0"/>
              </a:spcBef>
              <a:spcAft>
                <a:spcPts val="200"/>
              </a:spcAft>
            </a:pPr>
            <a:r>
              <a:rPr sz="1040" b="0" i="0">
                <a:solidFill>
                  <a:srgbClr val="1F2A37"/>
                </a:solidFill>
                <a:latin typeface="Calibri"/>
              </a:rPr>
              <a:t>$finish ends the simulation.</a:t>
            </a:r>
          </a:p>
          <a:p>
            <a:pPr algn="l">
              <a:lnSpc>
                <a:spcPct val="103000"/>
              </a:lnSpc>
              <a:spcBef>
                <a:spcPts val="0"/>
              </a:spcBef>
              <a:spcAft>
                <a:spcPts val="200"/>
              </a:spcAft>
            </a:pPr>
            <a:r>
              <a:rPr sz="1040" b="0" i="0">
                <a:solidFill>
                  <a:srgbClr val="1F2A37"/>
                </a:solidFill>
                <a:latin typeface="Calibri"/>
              </a:rPr>
              <a:t>Open c.vcd in GTKWave to view.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 · TUTORIAL T1</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Hands-On T1 — A Combinational 2:1 Multiplexer</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36</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Objective: write, simulate and inspect a purely combinational block. Industry relevance: the mux is the most common combinational primitive in any datapath.</a:t>
            </a:r>
          </a:p>
        </p:txBody>
      </p:sp>
      <p:sp>
        <p:nvSpPr>
          <p:cNvPr id="10" name="Rounded Rectangle 9"/>
          <p:cNvSpPr/>
          <p:nvPr/>
        </p:nvSpPr>
        <p:spPr>
          <a:xfrm>
            <a:off x="457200" y="2103120"/>
            <a:ext cx="55778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15798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mux2.v</a:t>
            </a:r>
          </a:p>
        </p:txBody>
      </p:sp>
      <p:sp>
        <p:nvSpPr>
          <p:cNvPr id="12" name="TextBox 11"/>
          <p:cNvSpPr txBox="1"/>
          <p:nvPr/>
        </p:nvSpPr>
        <p:spPr>
          <a:xfrm>
            <a:off x="603504" y="2432303"/>
            <a:ext cx="53035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module mux2 #(parameter W=8) (</a:t>
            </a:r>
          </a:p>
          <a:p>
            <a:pPr>
              <a:lnSpc>
                <a:spcPct val="100000"/>
              </a:lnSpc>
              <a:spcBef>
                <a:spcPts val="0"/>
              </a:spcBef>
              <a:spcAft>
                <a:spcPts val="0"/>
              </a:spcAft>
            </a:pPr>
            <a:r>
              <a:rPr sz="930" b="0" i="0">
                <a:solidFill>
                  <a:srgbClr val="EAF2F7"/>
                </a:solidFill>
                <a:latin typeface="Consolas"/>
              </a:rPr>
              <a:t>  input      [W-1:0] a, b,</a:t>
            </a:r>
          </a:p>
          <a:p>
            <a:pPr>
              <a:lnSpc>
                <a:spcPct val="100000"/>
              </a:lnSpc>
              <a:spcBef>
                <a:spcPts val="0"/>
              </a:spcBef>
              <a:spcAft>
                <a:spcPts val="0"/>
              </a:spcAft>
            </a:pPr>
            <a:r>
              <a:rPr sz="930" b="0" i="0">
                <a:solidFill>
                  <a:srgbClr val="EAF2F7"/>
                </a:solidFill>
                <a:latin typeface="Consolas"/>
              </a:rPr>
              <a:t>  input              sel,</a:t>
            </a:r>
          </a:p>
          <a:p>
            <a:pPr>
              <a:lnSpc>
                <a:spcPct val="100000"/>
              </a:lnSpc>
              <a:spcBef>
                <a:spcPts val="0"/>
              </a:spcBef>
              <a:spcAft>
                <a:spcPts val="0"/>
              </a:spcAft>
            </a:pPr>
            <a:r>
              <a:rPr sz="930" b="0" i="0">
                <a:solidFill>
                  <a:srgbClr val="EAF2F7"/>
                </a:solidFill>
                <a:latin typeface="Consolas"/>
              </a:rPr>
              <a:t>  output     [W-1:0] y</a:t>
            </a:r>
          </a:p>
          <a:p>
            <a:pPr>
              <a:lnSpc>
                <a:spcPct val="100000"/>
              </a:lnSpc>
              <a:spcBef>
                <a:spcPts val="0"/>
              </a:spcBef>
              <a:spcAft>
                <a:spcPts val="0"/>
              </a:spcAft>
            </a:pPr>
            <a:r>
              <a:rPr sz="930" b="0" i="0">
                <a:solidFill>
                  <a:srgbClr val="EAF2F7"/>
                </a:solidFill>
                <a:latin typeface="Consolas"/>
              </a:rPr>
              <a:t>);</a:t>
            </a:r>
          </a:p>
          <a:p>
            <a:pPr>
              <a:lnSpc>
                <a:spcPct val="100000"/>
              </a:lnSpc>
              <a:spcBef>
                <a:spcPts val="0"/>
              </a:spcBef>
              <a:spcAft>
                <a:spcPts val="0"/>
              </a:spcAft>
            </a:pPr>
            <a:r>
              <a:rPr sz="930" b="0" i="0">
                <a:solidFill>
                  <a:srgbClr val="EAF2F7"/>
                </a:solidFill>
                <a:latin typeface="Consolas"/>
              </a:rPr>
              <a:t>  assign y = sel ? b : a;   // combinational</a:t>
            </a:r>
          </a:p>
          <a:p>
            <a:pPr>
              <a:lnSpc>
                <a:spcPct val="100000"/>
              </a:lnSpc>
              <a:spcBef>
                <a:spcPts val="0"/>
              </a:spcBef>
              <a:spcAft>
                <a:spcPts val="0"/>
              </a:spcAft>
            </a:pPr>
            <a:r>
              <a:rPr sz="930" b="0" i="0">
                <a:solidFill>
                  <a:srgbClr val="EAF2F7"/>
                </a:solidFill>
                <a:latin typeface="Consolas"/>
              </a:rPr>
              <a:t>endmodule</a:t>
            </a:r>
          </a:p>
        </p:txBody>
      </p:sp>
      <p:sp>
        <p:nvSpPr>
          <p:cNvPr id="13" name="Rounded Rectangle 12"/>
          <p:cNvSpPr/>
          <p:nvPr/>
        </p:nvSpPr>
        <p:spPr>
          <a:xfrm>
            <a:off x="6172200" y="2103120"/>
            <a:ext cx="55778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215798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mux2_tb.v  +  run</a:t>
            </a:r>
          </a:p>
        </p:txBody>
      </p:sp>
      <p:sp>
        <p:nvSpPr>
          <p:cNvPr id="15" name="TextBox 14"/>
          <p:cNvSpPr txBox="1"/>
          <p:nvPr/>
        </p:nvSpPr>
        <p:spPr>
          <a:xfrm>
            <a:off x="6318504" y="2432303"/>
            <a:ext cx="53035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module mux2_tb; reg [7:0] a,b; reg sel; wire [7:0] y;</a:t>
            </a:r>
          </a:p>
          <a:p>
            <a:pPr>
              <a:lnSpc>
                <a:spcPct val="100000"/>
              </a:lnSpc>
              <a:spcBef>
                <a:spcPts val="0"/>
              </a:spcBef>
              <a:spcAft>
                <a:spcPts val="0"/>
              </a:spcAft>
            </a:pPr>
            <a:r>
              <a:rPr sz="930" b="0" i="0">
                <a:solidFill>
                  <a:srgbClr val="EAF2F7"/>
                </a:solidFill>
                <a:latin typeface="Consolas"/>
              </a:rPr>
              <a:t>  mux2 dut(.a(a),.b(b),.sel(sel),.y(y));</a:t>
            </a:r>
          </a:p>
          <a:p>
            <a:pPr>
              <a:lnSpc>
                <a:spcPct val="100000"/>
              </a:lnSpc>
              <a:spcBef>
                <a:spcPts val="0"/>
              </a:spcBef>
              <a:spcAft>
                <a:spcPts val="0"/>
              </a:spcAft>
            </a:pPr>
            <a:r>
              <a:rPr sz="930" b="0" i="0">
                <a:solidFill>
                  <a:srgbClr val="EAF2F7"/>
                </a:solidFill>
                <a:latin typeface="Consolas"/>
              </a:rPr>
              <a:t>  initial begin</a:t>
            </a:r>
          </a:p>
          <a:p>
            <a:pPr>
              <a:lnSpc>
                <a:spcPct val="100000"/>
              </a:lnSpc>
              <a:spcBef>
                <a:spcPts val="0"/>
              </a:spcBef>
              <a:spcAft>
                <a:spcPts val="0"/>
              </a:spcAft>
            </a:pPr>
            <a:r>
              <a:rPr sz="930" b="0" i="0">
                <a:solidFill>
                  <a:srgbClr val="EAF2F7"/>
                </a:solidFill>
                <a:latin typeface="Consolas"/>
              </a:rPr>
              <a:t>    a=8'hAA; b=8'h55;</a:t>
            </a:r>
          </a:p>
          <a:p>
            <a:pPr>
              <a:lnSpc>
                <a:spcPct val="100000"/>
              </a:lnSpc>
              <a:spcBef>
                <a:spcPts val="0"/>
              </a:spcBef>
              <a:spcAft>
                <a:spcPts val="0"/>
              </a:spcAft>
            </a:pPr>
            <a:r>
              <a:rPr sz="930" b="0" i="0">
                <a:solidFill>
                  <a:srgbClr val="EAF2F7"/>
                </a:solidFill>
                <a:latin typeface="Consolas"/>
              </a:rPr>
              <a:t>    sel=0; #5 $display("sel0 y=%h",y);</a:t>
            </a:r>
          </a:p>
          <a:p>
            <a:pPr>
              <a:lnSpc>
                <a:spcPct val="100000"/>
              </a:lnSpc>
              <a:spcBef>
                <a:spcPts val="0"/>
              </a:spcBef>
              <a:spcAft>
                <a:spcPts val="0"/>
              </a:spcAft>
            </a:pPr>
            <a:r>
              <a:rPr sz="930" b="0" i="0">
                <a:solidFill>
                  <a:srgbClr val="EAF2F7"/>
                </a:solidFill>
                <a:latin typeface="Consolas"/>
              </a:rPr>
              <a:t>    sel=1; #5 $display("sel1 y=%h",y);</a:t>
            </a:r>
          </a:p>
          <a:p>
            <a:pPr>
              <a:lnSpc>
                <a:spcPct val="100000"/>
              </a:lnSpc>
              <a:spcBef>
                <a:spcPts val="0"/>
              </a:spcBef>
              <a:spcAft>
                <a:spcPts val="0"/>
              </a:spcAft>
            </a:pPr>
            <a:r>
              <a:rPr sz="930" b="0" i="0">
                <a:solidFill>
                  <a:srgbClr val="EAF2F7"/>
                </a:solidFill>
                <a:latin typeface="Consolas"/>
              </a:rPr>
              <a:t>    $finish;</a:t>
            </a:r>
          </a:p>
          <a:p>
            <a:pPr>
              <a:lnSpc>
                <a:spcPct val="100000"/>
              </a:lnSpc>
              <a:spcBef>
                <a:spcPts val="0"/>
              </a:spcBef>
              <a:spcAft>
                <a:spcPts val="0"/>
              </a:spcAft>
            </a:pPr>
            <a:r>
              <a:rPr sz="930" b="0" i="0">
                <a:solidFill>
                  <a:srgbClr val="EAF2F7"/>
                </a:solidFill>
                <a:latin typeface="Consolas"/>
              </a:rPr>
              <a:t>  end</a:t>
            </a:r>
          </a:p>
          <a:p>
            <a:pPr>
              <a:lnSpc>
                <a:spcPct val="100000"/>
              </a:lnSpc>
              <a:spcBef>
                <a:spcPts val="0"/>
              </a:spcBef>
              <a:spcAft>
                <a:spcPts val="0"/>
              </a:spcAft>
            </a:pPr>
            <a:r>
              <a:rPr sz="930" b="0" i="0">
                <a:solidFill>
                  <a:srgbClr val="EAF2F7"/>
                </a:solidFill>
                <a:latin typeface="Consolas"/>
              </a:rPr>
              <a:t>endmodule</a:t>
            </a:r>
          </a:p>
          <a:p>
            <a:pPr>
              <a:lnSpc>
                <a:spcPct val="100000"/>
              </a:lnSpc>
              <a:spcBef>
                <a:spcPts val="0"/>
              </a:spcBef>
              <a:spcAft>
                <a:spcPts val="0"/>
              </a:spcAft>
            </a:pPr>
            <a:r>
              <a:rPr sz="930" b="0" i="0">
                <a:solidFill>
                  <a:srgbClr val="EAF2F7"/>
                </a:solidFill>
                <a:latin typeface="Consolas"/>
              </a:rPr>
              <a:t>// iverilog -o m.vvp mux2_tb.v mux2.v &amp;&amp; vvp m.vvp</a:t>
            </a:r>
          </a:p>
          <a:p>
            <a:pPr>
              <a:lnSpc>
                <a:spcPct val="100000"/>
              </a:lnSpc>
              <a:spcBef>
                <a:spcPts val="0"/>
              </a:spcBef>
              <a:spcAft>
                <a:spcPts val="0"/>
              </a:spcAft>
            </a:pPr>
            <a:r>
              <a:rPr sz="930" b="0" i="0">
                <a:solidFill>
                  <a:srgbClr val="EAF2F7"/>
                </a:solidFill>
                <a:latin typeface="Consolas"/>
              </a:rPr>
              <a:t>// expect: sel0 y=aa   sel1 y=55</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 · TUTORIAL T2</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Hands-On T2 — Sequential: Run the Counter End-to-End</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37</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Objective: take the running 4-bit counter through the full front-end flow — compile, simulate, view the waveform, and synthesize — on free tools.</a:t>
            </a:r>
          </a:p>
        </p:txBody>
      </p:sp>
      <p:sp>
        <p:nvSpPr>
          <p:cNvPr id="10" name="Rounded Rectangle 9"/>
          <p:cNvSpPr/>
          <p:nvPr/>
        </p:nvSpPr>
        <p:spPr>
          <a:xfrm>
            <a:off x="457200" y="2103120"/>
            <a:ext cx="55778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15798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simulate + view</a:t>
            </a:r>
          </a:p>
        </p:txBody>
      </p:sp>
      <p:sp>
        <p:nvSpPr>
          <p:cNvPr id="12" name="TextBox 11"/>
          <p:cNvSpPr txBox="1"/>
          <p:nvPr/>
        </p:nvSpPr>
        <p:spPr>
          <a:xfrm>
            <a:off x="603504" y="2432303"/>
            <a:ext cx="53035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 1) compile design + testbench</a:t>
            </a:r>
          </a:p>
          <a:p>
            <a:pPr>
              <a:lnSpc>
                <a:spcPct val="100000"/>
              </a:lnSpc>
              <a:spcBef>
                <a:spcPts val="0"/>
              </a:spcBef>
              <a:spcAft>
                <a:spcPts val="0"/>
              </a:spcAft>
            </a:pPr>
            <a:r>
              <a:rPr sz="930" b="0" i="0">
                <a:solidFill>
                  <a:srgbClr val="EAF2F7"/>
                </a:solidFill>
                <a:latin typeface="Consolas"/>
              </a:rPr>
              <a:t>iverilog -o c.vvp counter4_tb.v counter4.v</a:t>
            </a:r>
          </a:p>
          <a:p>
            <a:pPr>
              <a:lnSpc>
                <a:spcPct val="100000"/>
              </a:lnSpc>
              <a:spcBef>
                <a:spcPts val="0"/>
              </a:spcBef>
              <a:spcAft>
                <a:spcPts val="0"/>
              </a:spcAft>
            </a:pPr>
            <a:r>
              <a:rPr sz="930" b="0" i="0">
                <a:solidFill>
                  <a:srgbClr val="EAF2F7"/>
                </a:solidFill>
                <a:latin typeface="Consolas"/>
              </a:rPr>
              <a:t># 2) run the simulation</a:t>
            </a:r>
          </a:p>
          <a:p>
            <a:pPr>
              <a:lnSpc>
                <a:spcPct val="100000"/>
              </a:lnSpc>
              <a:spcBef>
                <a:spcPts val="0"/>
              </a:spcBef>
              <a:spcAft>
                <a:spcPts val="0"/>
              </a:spcAft>
            </a:pPr>
            <a:r>
              <a:rPr sz="930" b="0" i="0">
                <a:solidFill>
                  <a:srgbClr val="EAF2F7"/>
                </a:solidFill>
                <a:latin typeface="Consolas"/>
              </a:rPr>
              <a:t>vvp c.vvp</a:t>
            </a:r>
          </a:p>
          <a:p>
            <a:pPr>
              <a:lnSpc>
                <a:spcPct val="100000"/>
              </a:lnSpc>
              <a:spcBef>
                <a:spcPts val="0"/>
              </a:spcBef>
              <a:spcAft>
                <a:spcPts val="0"/>
              </a:spcAft>
            </a:pPr>
            <a:r>
              <a:rPr sz="930" b="0" i="0">
                <a:solidFill>
                  <a:srgbClr val="EAF2F7"/>
                </a:solidFill>
                <a:latin typeface="Consolas"/>
              </a:rPr>
              <a:t># 3) view the waveform</a:t>
            </a:r>
          </a:p>
          <a:p>
            <a:pPr>
              <a:lnSpc>
                <a:spcPct val="100000"/>
              </a:lnSpc>
              <a:spcBef>
                <a:spcPts val="0"/>
              </a:spcBef>
              <a:spcAft>
                <a:spcPts val="0"/>
              </a:spcAft>
            </a:pPr>
            <a:r>
              <a:rPr sz="930" b="0" i="0">
                <a:solidFill>
                  <a:srgbClr val="EAF2F7"/>
                </a:solidFill>
                <a:latin typeface="Consolas"/>
              </a:rPr>
              <a:t>gtkwave c.vcd &amp;</a:t>
            </a:r>
          </a:p>
          <a:p>
            <a:pPr>
              <a:lnSpc>
                <a:spcPct val="100000"/>
              </a:lnSpc>
              <a:spcBef>
                <a:spcPts val="0"/>
              </a:spcBef>
              <a:spcAft>
                <a:spcPts val="0"/>
              </a:spcAft>
            </a:pPr>
            <a:r>
              <a:rPr sz="930" b="0" i="0">
                <a:solidFill>
                  <a:srgbClr val="EAF2F7"/>
                </a:solidFill>
                <a:latin typeface="Consolas"/>
              </a:rPr>
              <a:t># expect: count 0,1,2,...,15,0,... after reset</a:t>
            </a:r>
          </a:p>
        </p:txBody>
      </p:sp>
      <p:sp>
        <p:nvSpPr>
          <p:cNvPr id="13" name="Rounded Rectangle 12"/>
          <p:cNvSpPr/>
          <p:nvPr/>
        </p:nvSpPr>
        <p:spPr>
          <a:xfrm>
            <a:off x="6172200" y="2103120"/>
            <a:ext cx="557784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2157984"/>
            <a:ext cx="530352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synthesize (Yosys)</a:t>
            </a:r>
          </a:p>
        </p:txBody>
      </p:sp>
      <p:sp>
        <p:nvSpPr>
          <p:cNvPr id="15" name="TextBox 14"/>
          <p:cNvSpPr txBox="1"/>
          <p:nvPr/>
        </p:nvSpPr>
        <p:spPr>
          <a:xfrm>
            <a:off x="6318504" y="2432303"/>
            <a:ext cx="530352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yosys -p "read_verilog counter4.v; \</a:t>
            </a:r>
          </a:p>
          <a:p>
            <a:pPr>
              <a:lnSpc>
                <a:spcPct val="100000"/>
              </a:lnSpc>
              <a:spcBef>
                <a:spcPts val="0"/>
              </a:spcBef>
              <a:spcAft>
                <a:spcPts val="0"/>
              </a:spcAft>
            </a:pPr>
            <a:r>
              <a:rPr sz="930" b="0" i="0">
                <a:solidFill>
                  <a:srgbClr val="EAF2F7"/>
                </a:solidFill>
                <a:latin typeface="Consolas"/>
              </a:rPr>
              <a:t>         synth -top counter4; stat"</a:t>
            </a:r>
          </a:p>
          <a:p>
            <a:pPr>
              <a:lnSpc>
                <a:spcPct val="100000"/>
              </a:lnSpc>
              <a:spcBef>
                <a:spcPts val="0"/>
              </a:spcBef>
              <a:spcAft>
                <a:spcPts val="0"/>
              </a:spcAft>
            </a:pPr>
            <a:r>
              <a:rPr sz="930" b="0" i="0">
                <a:solidFill>
                  <a:srgbClr val="EAF2F7"/>
                </a:solidFill>
                <a:latin typeface="Consolas"/>
              </a:rPr>
              <a:t># expect in 'stat':</a:t>
            </a:r>
          </a:p>
          <a:p>
            <a:pPr>
              <a:lnSpc>
                <a:spcPct val="100000"/>
              </a:lnSpc>
              <a:spcBef>
                <a:spcPts val="0"/>
              </a:spcBef>
              <a:spcAft>
                <a:spcPts val="0"/>
              </a:spcAft>
            </a:pPr>
            <a:r>
              <a:rPr sz="930" b="0" i="0">
                <a:solidFill>
                  <a:srgbClr val="EAF2F7"/>
                </a:solidFill>
                <a:latin typeface="Consolas"/>
              </a:rPr>
              <a:t>#   ~4 D flip-flops</a:t>
            </a:r>
          </a:p>
          <a:p>
            <a:pPr>
              <a:lnSpc>
                <a:spcPct val="100000"/>
              </a:lnSpc>
              <a:spcBef>
                <a:spcPts val="0"/>
              </a:spcBef>
              <a:spcAft>
                <a:spcPts val="0"/>
              </a:spcAft>
            </a:pPr>
            <a:r>
              <a:rPr sz="930" b="0" i="0">
                <a:solidFill>
                  <a:srgbClr val="EAF2F7"/>
                </a:solidFill>
                <a:latin typeface="Consolas"/>
              </a:rPr>
              <a:t>#   a 4-bit incrementer (adder)</a:t>
            </a:r>
          </a:p>
          <a:p>
            <a:pPr>
              <a:lnSpc>
                <a:spcPct val="100000"/>
              </a:lnSpc>
              <a:spcBef>
                <a:spcPts val="0"/>
              </a:spcBef>
              <a:spcAft>
                <a:spcPts val="0"/>
              </a:spcAft>
            </a:pPr>
            <a:r>
              <a:rPr sz="930" b="0" i="0">
                <a:solidFill>
                  <a:srgbClr val="EAF2F7"/>
                </a:solidFill>
                <a:latin typeface="Consolas"/>
              </a:rPr>
              <a:t># -&gt; RTL became a real gate netlist</a:t>
            </a:r>
          </a:p>
        </p:txBody>
      </p:sp>
      <p:sp>
        <p:nvSpPr>
          <p:cNvPr id="16" name="Rounded Rectangle 15"/>
          <p:cNvSpPr/>
          <p:nvPr/>
        </p:nvSpPr>
        <p:spPr>
          <a:xfrm>
            <a:off x="457200" y="5394960"/>
            <a:ext cx="11292840" cy="86868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5486400"/>
            <a:ext cx="10963656" cy="6858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2A9D5C"/>
                </a:solidFill>
                <a:latin typeface="Calibri"/>
              </a:rPr>
              <a:t>Checkpoint &amp; guardrail</a:t>
            </a:r>
          </a:p>
          <a:p>
            <a:pPr algn="l">
              <a:lnSpc>
                <a:spcPct val="103000"/>
              </a:lnSpc>
              <a:spcBef>
                <a:spcPts val="0"/>
              </a:spcBef>
              <a:spcAft>
                <a:spcPts val="200"/>
              </a:spcAft>
            </a:pPr>
            <a:r>
              <a:rPr sz="1080" b="0" i="0">
                <a:solidFill>
                  <a:srgbClr val="1F2A37"/>
                </a:solidFill>
                <a:latin typeface="Calibri"/>
              </a:rPr>
              <a:t>The waveform must show a clean count after reset; 'stat' must list ~4 DFFs. Remember: $dumpfile/$dumpvars and #delays live only in the testbench — never in counter4.v.</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 · TUTORIAL T3</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Hands-On T3 — An FSM: Traffic-Light Controller</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38</a:t>
            </a:r>
          </a:p>
        </p:txBody>
      </p:sp>
      <p:sp>
        <p:nvSpPr>
          <p:cNvPr id="9" name="TextBox 8"/>
          <p:cNvSpPr txBox="1"/>
          <p:nvPr/>
        </p:nvSpPr>
        <p:spPr>
          <a:xfrm>
            <a:off x="457200" y="1188720"/>
            <a:ext cx="11292840" cy="914400"/>
          </a:xfrm>
          <a:prstGeom prst="rect">
            <a:avLst/>
          </a:prstGeom>
          <a:noFill/>
        </p:spPr>
        <p:txBody>
          <a:bodyPr wrap="square" anchor="t" lIns="25400" rIns="25400" tIns="12700" bIns="12700">
            <a:spAutoFit/>
          </a:bodyPr>
          <a:lstStyle/>
          <a:p>
            <a:pPr algn="l">
              <a:lnSpc>
                <a:spcPct val="106000"/>
              </a:lnSpc>
              <a:spcBef>
                <a:spcPts val="0"/>
              </a:spcBef>
              <a:spcAft>
                <a:spcPts val="300"/>
              </a:spcAft>
            </a:pPr>
            <a:r>
              <a:rPr sz="1300" b="0" i="0">
                <a:solidFill>
                  <a:srgbClr val="1F2A37"/>
                </a:solidFill>
                <a:latin typeface="Calibri"/>
              </a:rPr>
              <a:t>Objective: build a Moore FSM using the three-block methodology (state register, next-state logic, output logic). This ties together everything in Topic 2.</a:t>
            </a:r>
          </a:p>
        </p:txBody>
      </p:sp>
      <p:sp>
        <p:nvSpPr>
          <p:cNvPr id="10" name="Rounded Rectangle 9"/>
          <p:cNvSpPr/>
          <p:nvPr/>
        </p:nvSpPr>
        <p:spPr>
          <a:xfrm>
            <a:off x="457200" y="2103120"/>
            <a:ext cx="7040880" cy="3200400"/>
          </a:xfrm>
          <a:prstGeom prst="round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3504" y="2157984"/>
            <a:ext cx="6766560" cy="237744"/>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50" b="1" i="0">
                <a:solidFill>
                  <a:srgbClr val="1B9AAA"/>
                </a:solidFill>
                <a:latin typeface="Consolas"/>
              </a:rPr>
              <a:t>traffic.v  (Moore FSM)</a:t>
            </a:r>
          </a:p>
        </p:txBody>
      </p:sp>
      <p:sp>
        <p:nvSpPr>
          <p:cNvPr id="12" name="TextBox 11"/>
          <p:cNvSpPr txBox="1"/>
          <p:nvPr/>
        </p:nvSpPr>
        <p:spPr>
          <a:xfrm>
            <a:off x="603504" y="2432303"/>
            <a:ext cx="6766560" cy="2825496"/>
          </a:xfrm>
          <a:prstGeom prst="rect">
            <a:avLst/>
          </a:prstGeom>
          <a:noFill/>
        </p:spPr>
        <p:txBody>
          <a:bodyPr wrap="square" lIns="12700" tIns="12700" bIns="12700" rIns="12700">
            <a:spAutoFit/>
          </a:bodyPr>
          <a:lstStyle/>
          <a:p>
            <a:pPr>
              <a:lnSpc>
                <a:spcPct val="100000"/>
              </a:lnSpc>
              <a:spcBef>
                <a:spcPts val="0"/>
              </a:spcBef>
              <a:spcAft>
                <a:spcPts val="0"/>
              </a:spcAft>
            </a:pPr>
            <a:r>
              <a:rPr sz="930" b="0" i="0">
                <a:solidFill>
                  <a:srgbClr val="EAF2F7"/>
                </a:solidFill>
                <a:latin typeface="Consolas"/>
              </a:rPr>
              <a:t>module traffic (input clk, rst_n, input tick,</a:t>
            </a:r>
          </a:p>
          <a:p>
            <a:pPr>
              <a:lnSpc>
                <a:spcPct val="100000"/>
              </a:lnSpc>
              <a:spcBef>
                <a:spcPts val="0"/>
              </a:spcBef>
              <a:spcAft>
                <a:spcPts val="0"/>
              </a:spcAft>
            </a:pPr>
            <a:r>
              <a:rPr sz="930" b="0" i="0">
                <a:solidFill>
                  <a:srgbClr val="EAF2F7"/>
                </a:solidFill>
                <a:latin typeface="Consolas"/>
              </a:rPr>
              <a:t>                output reg [1:0] light);   // 00 R,01 G,10 Y</a:t>
            </a:r>
          </a:p>
          <a:p>
            <a:pPr>
              <a:lnSpc>
                <a:spcPct val="100000"/>
              </a:lnSpc>
              <a:spcBef>
                <a:spcPts val="0"/>
              </a:spcBef>
              <a:spcAft>
                <a:spcPts val="0"/>
              </a:spcAft>
            </a:pPr>
            <a:r>
              <a:rPr sz="930" b="0" i="0">
                <a:solidFill>
                  <a:srgbClr val="EAF2F7"/>
                </a:solidFill>
                <a:latin typeface="Consolas"/>
              </a:rPr>
              <a:t>  localparam RED=2'd0, GREEN=2'd1, YEL=2'd2;</a:t>
            </a:r>
          </a:p>
          <a:p>
            <a:pPr>
              <a:lnSpc>
                <a:spcPct val="100000"/>
              </a:lnSpc>
              <a:spcBef>
                <a:spcPts val="0"/>
              </a:spcBef>
              <a:spcAft>
                <a:spcPts val="0"/>
              </a:spcAft>
            </a:pPr>
            <a:r>
              <a:rPr sz="930" b="0" i="0">
                <a:solidFill>
                  <a:srgbClr val="EAF2F7"/>
                </a:solidFill>
                <a:latin typeface="Consolas"/>
              </a:rPr>
              <a:t>  reg [1:0] state, nxt;</a:t>
            </a:r>
          </a:p>
          <a:p>
            <a:pPr>
              <a:lnSpc>
                <a:spcPct val="100000"/>
              </a:lnSpc>
              <a:spcBef>
                <a:spcPts val="0"/>
              </a:spcBef>
              <a:spcAft>
                <a:spcPts val="0"/>
              </a:spcAft>
            </a:pPr>
            <a:r>
              <a:rPr sz="930" b="0" i="0">
                <a:solidFill>
                  <a:srgbClr val="EAF2F7"/>
                </a:solidFill>
                <a:latin typeface="Consolas"/>
              </a:rPr>
              <a:t>  // 1) state register (sequential)</a:t>
            </a:r>
          </a:p>
          <a:p>
            <a:pPr>
              <a:lnSpc>
                <a:spcPct val="100000"/>
              </a:lnSpc>
              <a:spcBef>
                <a:spcPts val="0"/>
              </a:spcBef>
              <a:spcAft>
                <a:spcPts val="0"/>
              </a:spcAft>
            </a:pPr>
            <a:r>
              <a:rPr sz="930" b="0" i="0">
                <a:solidFill>
                  <a:srgbClr val="EAF2F7"/>
                </a:solidFill>
                <a:latin typeface="Consolas"/>
              </a:rPr>
              <a:t>  always @(posedge clk or negedge rst_n)</a:t>
            </a:r>
          </a:p>
          <a:p>
            <a:pPr>
              <a:lnSpc>
                <a:spcPct val="100000"/>
              </a:lnSpc>
              <a:spcBef>
                <a:spcPts val="0"/>
              </a:spcBef>
              <a:spcAft>
                <a:spcPts val="0"/>
              </a:spcAft>
            </a:pPr>
            <a:r>
              <a:rPr sz="930" b="0" i="0">
                <a:solidFill>
                  <a:srgbClr val="EAF2F7"/>
                </a:solidFill>
                <a:latin typeface="Consolas"/>
              </a:rPr>
              <a:t>    if (!rst_n) state &lt;= RED; else state &lt;= nxt;</a:t>
            </a:r>
          </a:p>
          <a:p>
            <a:pPr>
              <a:lnSpc>
                <a:spcPct val="100000"/>
              </a:lnSpc>
              <a:spcBef>
                <a:spcPts val="0"/>
              </a:spcBef>
              <a:spcAft>
                <a:spcPts val="0"/>
              </a:spcAft>
            </a:pPr>
            <a:r>
              <a:rPr sz="930" b="0" i="0">
                <a:solidFill>
                  <a:srgbClr val="EAF2F7"/>
                </a:solidFill>
                <a:latin typeface="Consolas"/>
              </a:rPr>
              <a:t>  // 2) next-state logic (combinational)</a:t>
            </a:r>
          </a:p>
          <a:p>
            <a:pPr>
              <a:lnSpc>
                <a:spcPct val="100000"/>
              </a:lnSpc>
              <a:spcBef>
                <a:spcPts val="0"/>
              </a:spcBef>
              <a:spcAft>
                <a:spcPts val="0"/>
              </a:spcAft>
            </a:pPr>
            <a:r>
              <a:rPr sz="930" b="0" i="0">
                <a:solidFill>
                  <a:srgbClr val="EAF2F7"/>
                </a:solidFill>
                <a:latin typeface="Consolas"/>
              </a:rPr>
              <a:t>  always @* begin nxt = state;</a:t>
            </a:r>
          </a:p>
          <a:p>
            <a:pPr>
              <a:lnSpc>
                <a:spcPct val="100000"/>
              </a:lnSpc>
              <a:spcBef>
                <a:spcPts val="0"/>
              </a:spcBef>
              <a:spcAft>
                <a:spcPts val="0"/>
              </a:spcAft>
            </a:pPr>
            <a:r>
              <a:rPr sz="930" b="0" i="0">
                <a:solidFill>
                  <a:srgbClr val="EAF2F7"/>
                </a:solidFill>
                <a:latin typeface="Consolas"/>
              </a:rPr>
              <a:t>    if (tick) case (state)</a:t>
            </a:r>
          </a:p>
          <a:p>
            <a:pPr>
              <a:lnSpc>
                <a:spcPct val="100000"/>
              </a:lnSpc>
              <a:spcBef>
                <a:spcPts val="0"/>
              </a:spcBef>
              <a:spcAft>
                <a:spcPts val="0"/>
              </a:spcAft>
            </a:pPr>
            <a:r>
              <a:rPr sz="930" b="0" i="0">
                <a:solidFill>
                  <a:srgbClr val="EAF2F7"/>
                </a:solidFill>
                <a:latin typeface="Consolas"/>
              </a:rPr>
              <a:t>      RED: nxt=GREEN; GREEN: nxt=YEL; YEL: nxt=RED; endcase</a:t>
            </a:r>
          </a:p>
          <a:p>
            <a:pPr>
              <a:lnSpc>
                <a:spcPct val="100000"/>
              </a:lnSpc>
              <a:spcBef>
                <a:spcPts val="0"/>
              </a:spcBef>
              <a:spcAft>
                <a:spcPts val="0"/>
              </a:spcAft>
            </a:pPr>
            <a:r>
              <a:rPr sz="930" b="0" i="0">
                <a:solidFill>
                  <a:srgbClr val="EAF2F7"/>
                </a:solidFill>
                <a:latin typeface="Consolas"/>
              </a:rPr>
              <a:t>  end</a:t>
            </a:r>
          </a:p>
          <a:p>
            <a:pPr>
              <a:lnSpc>
                <a:spcPct val="100000"/>
              </a:lnSpc>
              <a:spcBef>
                <a:spcPts val="0"/>
              </a:spcBef>
              <a:spcAft>
                <a:spcPts val="0"/>
              </a:spcAft>
            </a:pPr>
            <a:r>
              <a:rPr sz="930" b="0" i="0">
                <a:solidFill>
                  <a:srgbClr val="EAF2F7"/>
                </a:solidFill>
                <a:latin typeface="Consolas"/>
              </a:rPr>
              <a:t>  // 3) output logic (Moore)</a:t>
            </a:r>
          </a:p>
          <a:p>
            <a:pPr>
              <a:lnSpc>
                <a:spcPct val="100000"/>
              </a:lnSpc>
              <a:spcBef>
                <a:spcPts val="0"/>
              </a:spcBef>
              <a:spcAft>
                <a:spcPts val="0"/>
              </a:spcAft>
            </a:pPr>
            <a:r>
              <a:rPr sz="930" b="0" i="0">
                <a:solidFill>
                  <a:srgbClr val="EAF2F7"/>
                </a:solidFill>
                <a:latin typeface="Consolas"/>
              </a:rPr>
              <a:t>  always @* light = state;</a:t>
            </a:r>
          </a:p>
          <a:p>
            <a:pPr>
              <a:lnSpc>
                <a:spcPct val="100000"/>
              </a:lnSpc>
              <a:spcBef>
                <a:spcPts val="0"/>
              </a:spcBef>
              <a:spcAft>
                <a:spcPts val="0"/>
              </a:spcAft>
            </a:pPr>
            <a:r>
              <a:rPr sz="930" b="0" i="0">
                <a:solidFill>
                  <a:srgbClr val="EAF2F7"/>
                </a:solidFill>
                <a:latin typeface="Consolas"/>
              </a:rPr>
              <a:t>endmodule</a:t>
            </a:r>
          </a:p>
        </p:txBody>
      </p:sp>
      <p:sp>
        <p:nvSpPr>
          <p:cNvPr id="13" name="Rounded Rectangle 12"/>
          <p:cNvSpPr/>
          <p:nvPr/>
        </p:nvSpPr>
        <p:spPr>
          <a:xfrm>
            <a:off x="7726679" y="2103120"/>
            <a:ext cx="4023360" cy="320040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91271" y="2194560"/>
            <a:ext cx="3694176" cy="301752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Learning outcomes</a:t>
            </a:r>
          </a:p>
          <a:p>
            <a:pPr algn="l">
              <a:lnSpc>
                <a:spcPct val="103000"/>
              </a:lnSpc>
              <a:spcBef>
                <a:spcPts val="0"/>
              </a:spcBef>
              <a:spcAft>
                <a:spcPts val="200"/>
              </a:spcAft>
            </a:pPr>
            <a:r>
              <a:rPr sz="1030" b="0" i="0">
                <a:solidFill>
                  <a:srgbClr val="1F2A37"/>
                </a:solidFill>
                <a:latin typeface="Calibri"/>
              </a:rPr>
              <a:t>Three-block FSM pattern in real code.</a:t>
            </a:r>
          </a:p>
          <a:p>
            <a:pPr algn="l">
              <a:lnSpc>
                <a:spcPct val="103000"/>
              </a:lnSpc>
              <a:spcBef>
                <a:spcPts val="0"/>
              </a:spcBef>
              <a:spcAft>
                <a:spcPts val="200"/>
              </a:spcAft>
            </a:pPr>
            <a:r>
              <a:rPr sz="1030" b="0" i="0">
                <a:solidFill>
                  <a:srgbClr val="1F2A37"/>
                </a:solidFill>
                <a:latin typeface="Calibri"/>
              </a:rPr>
              <a:t>Symbolic states (localparam).</a:t>
            </a:r>
          </a:p>
          <a:p>
            <a:pPr algn="l">
              <a:lnSpc>
                <a:spcPct val="103000"/>
              </a:lnSpc>
              <a:spcBef>
                <a:spcPts val="0"/>
              </a:spcBef>
              <a:spcAft>
                <a:spcPts val="200"/>
              </a:spcAft>
            </a:pPr>
            <a:r>
              <a:rPr sz="1030" b="0" i="0">
                <a:solidFill>
                  <a:srgbClr val="1F2A37"/>
                </a:solidFill>
                <a:latin typeface="Calibri"/>
              </a:rPr>
              <a:t>Sequential state reg + combinational next-state.</a:t>
            </a:r>
          </a:p>
          <a:p>
            <a:pPr algn="l">
              <a:lnSpc>
                <a:spcPct val="103000"/>
              </a:lnSpc>
              <a:spcBef>
                <a:spcPts val="0"/>
              </a:spcBef>
              <a:spcAft>
                <a:spcPts val="200"/>
              </a:spcAft>
            </a:pPr>
            <a:r>
              <a:rPr sz="1030" b="0" i="0">
                <a:solidFill>
                  <a:srgbClr val="1F2A37"/>
                </a:solidFill>
                <a:latin typeface="Calibri"/>
              </a:rPr>
              <a:t>Moore output = f(state).</a:t>
            </a:r>
          </a:p>
          <a:p>
            <a:pPr algn="l">
              <a:lnSpc>
                <a:spcPct val="103000"/>
              </a:lnSpc>
              <a:spcBef>
                <a:spcPts val="0"/>
              </a:spcBef>
              <a:spcAft>
                <a:spcPts val="200"/>
              </a:spcAft>
            </a:pPr>
            <a:r>
              <a:rPr sz="1030" b="0" i="0">
                <a:solidFill>
                  <a:srgbClr val="1F2A37"/>
                </a:solidFill>
                <a:latin typeface="Calibri"/>
              </a:rPr>
              <a:t>Extend: add a counter so 'tick' fires every N cycles.</a:t>
            </a:r>
          </a:p>
          <a:p>
            <a:pPr algn="l">
              <a:lnSpc>
                <a:spcPct val="103000"/>
              </a:lnSpc>
              <a:spcBef>
                <a:spcPts val="0"/>
              </a:spcBef>
              <a:spcAft>
                <a:spcPts val="200"/>
              </a:spcAft>
            </a:pPr>
            <a:r>
              <a:rPr sz="1030" b="0" i="0">
                <a:solidFill>
                  <a:srgbClr val="1F2A37"/>
                </a:solidFill>
                <a:latin typeface="Calibri"/>
              </a:rPr>
              <a:t>Write a testbench and view the state on a waveform.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 · GLOSSARY</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Key Terms &amp; Acronyms (Topic 2)</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39</a:t>
            </a:r>
          </a:p>
        </p:txBody>
      </p:sp>
      <p:sp>
        <p:nvSpPr>
          <p:cNvPr id="9" name="Rounded Rectangle 8"/>
          <p:cNvSpPr/>
          <p:nvPr/>
        </p:nvSpPr>
        <p:spPr>
          <a:xfrm>
            <a:off x="457200" y="1280160"/>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371600"/>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RTL</a:t>
            </a:r>
          </a:p>
          <a:p>
            <a:pPr algn="l">
              <a:lnSpc>
                <a:spcPct val="103000"/>
              </a:lnSpc>
              <a:spcBef>
                <a:spcPts val="0"/>
              </a:spcBef>
              <a:spcAft>
                <a:spcPts val="200"/>
              </a:spcAft>
            </a:pPr>
            <a:r>
              <a:rPr sz="960" b="0" i="0">
                <a:solidFill>
                  <a:srgbClr val="1F2A37"/>
                </a:solidFill>
                <a:latin typeface="Calibri"/>
              </a:rPr>
              <a:t>Register-Transfer Level — registers + logic per clock</a:t>
            </a:r>
          </a:p>
        </p:txBody>
      </p:sp>
      <p:sp>
        <p:nvSpPr>
          <p:cNvPr id="11" name="Rounded Rectangle 10"/>
          <p:cNvSpPr/>
          <p:nvPr/>
        </p:nvSpPr>
        <p:spPr>
          <a:xfrm>
            <a:off x="457200" y="1778507"/>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869948"/>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HDL</a:t>
            </a:r>
          </a:p>
          <a:p>
            <a:pPr algn="l">
              <a:lnSpc>
                <a:spcPct val="103000"/>
              </a:lnSpc>
              <a:spcBef>
                <a:spcPts val="0"/>
              </a:spcBef>
              <a:spcAft>
                <a:spcPts val="200"/>
              </a:spcAft>
            </a:pPr>
            <a:r>
              <a:rPr sz="960" b="0" i="0">
                <a:solidFill>
                  <a:srgbClr val="1F2A37"/>
                </a:solidFill>
                <a:latin typeface="Calibri"/>
              </a:rPr>
              <a:t>Hardware Description Language (Verilog, VHDL)</a:t>
            </a:r>
          </a:p>
        </p:txBody>
      </p:sp>
      <p:sp>
        <p:nvSpPr>
          <p:cNvPr id="13" name="Rounded Rectangle 12"/>
          <p:cNvSpPr/>
          <p:nvPr/>
        </p:nvSpPr>
        <p:spPr>
          <a:xfrm>
            <a:off x="457200" y="2276856"/>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368296"/>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Combinational</a:t>
            </a:r>
          </a:p>
          <a:p>
            <a:pPr algn="l">
              <a:lnSpc>
                <a:spcPct val="103000"/>
              </a:lnSpc>
              <a:spcBef>
                <a:spcPts val="0"/>
              </a:spcBef>
              <a:spcAft>
                <a:spcPts val="200"/>
              </a:spcAft>
            </a:pPr>
            <a:r>
              <a:rPr sz="960" b="0" i="0">
                <a:solidFill>
                  <a:srgbClr val="1F2A37"/>
                </a:solidFill>
                <a:latin typeface="Calibri"/>
              </a:rPr>
              <a:t>logic with no memory — output = f(inputs)</a:t>
            </a:r>
          </a:p>
        </p:txBody>
      </p:sp>
      <p:sp>
        <p:nvSpPr>
          <p:cNvPr id="15" name="Rounded Rectangle 14"/>
          <p:cNvSpPr/>
          <p:nvPr/>
        </p:nvSpPr>
        <p:spPr>
          <a:xfrm>
            <a:off x="457200" y="2775203"/>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2866644"/>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Sequential</a:t>
            </a:r>
          </a:p>
          <a:p>
            <a:pPr algn="l">
              <a:lnSpc>
                <a:spcPct val="103000"/>
              </a:lnSpc>
              <a:spcBef>
                <a:spcPts val="0"/>
              </a:spcBef>
              <a:spcAft>
                <a:spcPts val="200"/>
              </a:spcAft>
            </a:pPr>
            <a:r>
              <a:rPr sz="960" b="0" i="0">
                <a:solidFill>
                  <a:srgbClr val="1F2A37"/>
                </a:solidFill>
                <a:latin typeface="Calibri"/>
              </a:rPr>
              <a:t>logic with memory — updates on a clock edge</a:t>
            </a:r>
          </a:p>
        </p:txBody>
      </p:sp>
      <p:sp>
        <p:nvSpPr>
          <p:cNvPr id="17" name="Rounded Rectangle 16"/>
          <p:cNvSpPr/>
          <p:nvPr/>
        </p:nvSpPr>
        <p:spPr>
          <a:xfrm>
            <a:off x="457200" y="3273551"/>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3364991"/>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Register / FF</a:t>
            </a:r>
          </a:p>
          <a:p>
            <a:pPr algn="l">
              <a:lnSpc>
                <a:spcPct val="103000"/>
              </a:lnSpc>
              <a:spcBef>
                <a:spcPts val="0"/>
              </a:spcBef>
              <a:spcAft>
                <a:spcPts val="200"/>
              </a:spcAft>
            </a:pPr>
            <a:r>
              <a:rPr sz="960" b="0" i="0">
                <a:solidFill>
                  <a:srgbClr val="1F2A37"/>
                </a:solidFill>
                <a:latin typeface="Calibri"/>
              </a:rPr>
              <a:t>storage element that samples on the clock edge</a:t>
            </a:r>
          </a:p>
        </p:txBody>
      </p:sp>
      <p:sp>
        <p:nvSpPr>
          <p:cNvPr id="19" name="Rounded Rectangle 18"/>
          <p:cNvSpPr/>
          <p:nvPr/>
        </p:nvSpPr>
        <p:spPr>
          <a:xfrm>
            <a:off x="457200" y="3771900"/>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3863339"/>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Synchronous</a:t>
            </a:r>
          </a:p>
          <a:p>
            <a:pPr algn="l">
              <a:lnSpc>
                <a:spcPct val="103000"/>
              </a:lnSpc>
              <a:spcBef>
                <a:spcPts val="0"/>
              </a:spcBef>
              <a:spcAft>
                <a:spcPts val="200"/>
              </a:spcAft>
            </a:pPr>
            <a:r>
              <a:rPr sz="960" b="0" i="0">
                <a:solidFill>
                  <a:srgbClr val="1F2A37"/>
                </a:solidFill>
                <a:latin typeface="Calibri"/>
              </a:rPr>
              <a:t>one clock times all registers</a:t>
            </a:r>
          </a:p>
        </p:txBody>
      </p:sp>
      <p:sp>
        <p:nvSpPr>
          <p:cNvPr id="21" name="Rounded Rectangle 20"/>
          <p:cNvSpPr/>
          <p:nvPr/>
        </p:nvSpPr>
        <p:spPr>
          <a:xfrm>
            <a:off x="457200" y="4270248"/>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1792" y="4361688"/>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Datapath</a:t>
            </a:r>
          </a:p>
          <a:p>
            <a:pPr algn="l">
              <a:lnSpc>
                <a:spcPct val="103000"/>
              </a:lnSpc>
              <a:spcBef>
                <a:spcPts val="0"/>
              </a:spcBef>
              <a:spcAft>
                <a:spcPts val="200"/>
              </a:spcAft>
            </a:pPr>
            <a:r>
              <a:rPr sz="960" b="0" i="0">
                <a:solidFill>
                  <a:srgbClr val="1F2A37"/>
                </a:solidFill>
                <a:latin typeface="Calibri"/>
              </a:rPr>
              <a:t>registers, adders, muxes that move/transform data</a:t>
            </a:r>
          </a:p>
        </p:txBody>
      </p:sp>
      <p:sp>
        <p:nvSpPr>
          <p:cNvPr id="23" name="Rounded Rectangle 22"/>
          <p:cNvSpPr/>
          <p:nvPr/>
        </p:nvSpPr>
        <p:spPr>
          <a:xfrm>
            <a:off x="457200" y="4768596"/>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4860036"/>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Controller / FSM</a:t>
            </a:r>
          </a:p>
          <a:p>
            <a:pPr algn="l">
              <a:lnSpc>
                <a:spcPct val="103000"/>
              </a:lnSpc>
              <a:spcBef>
                <a:spcPts val="0"/>
              </a:spcBef>
              <a:spcAft>
                <a:spcPts val="200"/>
              </a:spcAft>
            </a:pPr>
            <a:r>
              <a:rPr sz="960" b="0" i="0">
                <a:solidFill>
                  <a:srgbClr val="1F2A37"/>
                </a:solidFill>
                <a:latin typeface="Calibri"/>
              </a:rPr>
              <a:t>state machine that sequences the datapath</a:t>
            </a:r>
          </a:p>
        </p:txBody>
      </p:sp>
      <p:sp>
        <p:nvSpPr>
          <p:cNvPr id="25" name="Rounded Rectangle 24"/>
          <p:cNvSpPr/>
          <p:nvPr/>
        </p:nvSpPr>
        <p:spPr>
          <a:xfrm>
            <a:off x="6263640" y="1280160"/>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28231" y="1371600"/>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Moore / Mealy</a:t>
            </a:r>
          </a:p>
          <a:p>
            <a:pPr algn="l">
              <a:lnSpc>
                <a:spcPct val="103000"/>
              </a:lnSpc>
              <a:spcBef>
                <a:spcPts val="0"/>
              </a:spcBef>
              <a:spcAft>
                <a:spcPts val="200"/>
              </a:spcAft>
            </a:pPr>
            <a:r>
              <a:rPr sz="960" b="0" i="0">
                <a:solidFill>
                  <a:srgbClr val="1F2A37"/>
                </a:solidFill>
                <a:latin typeface="Calibri"/>
              </a:rPr>
              <a:t>FSM output = f(state) / f(state,input)</a:t>
            </a:r>
          </a:p>
        </p:txBody>
      </p:sp>
      <p:sp>
        <p:nvSpPr>
          <p:cNvPr id="27" name="Rounded Rectangle 26"/>
          <p:cNvSpPr/>
          <p:nvPr/>
        </p:nvSpPr>
        <p:spPr>
          <a:xfrm>
            <a:off x="6263640" y="1778507"/>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1" y="1869948"/>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Blocking (=)</a:t>
            </a:r>
          </a:p>
          <a:p>
            <a:pPr algn="l">
              <a:lnSpc>
                <a:spcPct val="103000"/>
              </a:lnSpc>
              <a:spcBef>
                <a:spcPts val="0"/>
              </a:spcBef>
              <a:spcAft>
                <a:spcPts val="200"/>
              </a:spcAft>
            </a:pPr>
            <a:r>
              <a:rPr sz="960" b="0" i="0">
                <a:solidFill>
                  <a:srgbClr val="1F2A37"/>
                </a:solidFill>
                <a:latin typeface="Calibri"/>
              </a:rPr>
              <a:t>procedural assign for combinational logic</a:t>
            </a:r>
          </a:p>
        </p:txBody>
      </p:sp>
      <p:sp>
        <p:nvSpPr>
          <p:cNvPr id="29" name="Rounded Rectangle 28"/>
          <p:cNvSpPr/>
          <p:nvPr/>
        </p:nvSpPr>
        <p:spPr>
          <a:xfrm>
            <a:off x="6263640" y="2276856"/>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8231" y="2368296"/>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Non-blocking (&lt;=)</a:t>
            </a:r>
          </a:p>
          <a:p>
            <a:pPr algn="l">
              <a:lnSpc>
                <a:spcPct val="103000"/>
              </a:lnSpc>
              <a:spcBef>
                <a:spcPts val="0"/>
              </a:spcBef>
              <a:spcAft>
                <a:spcPts val="200"/>
              </a:spcAft>
            </a:pPr>
            <a:r>
              <a:rPr sz="960" b="0" i="0">
                <a:solidFill>
                  <a:srgbClr val="1F2A37"/>
                </a:solidFill>
                <a:latin typeface="Calibri"/>
              </a:rPr>
              <a:t>procedural assign for sequential logic</a:t>
            </a:r>
          </a:p>
        </p:txBody>
      </p:sp>
      <p:sp>
        <p:nvSpPr>
          <p:cNvPr id="31" name="Rounded Rectangle 30"/>
          <p:cNvSpPr/>
          <p:nvPr/>
        </p:nvSpPr>
        <p:spPr>
          <a:xfrm>
            <a:off x="6263640" y="2775203"/>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28231" y="2866644"/>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Latch</a:t>
            </a:r>
          </a:p>
          <a:p>
            <a:pPr algn="l">
              <a:lnSpc>
                <a:spcPct val="103000"/>
              </a:lnSpc>
              <a:spcBef>
                <a:spcPts val="0"/>
              </a:spcBef>
              <a:spcAft>
                <a:spcPts val="200"/>
              </a:spcAft>
            </a:pPr>
            <a:r>
              <a:rPr sz="960" b="0" i="0">
                <a:solidFill>
                  <a:srgbClr val="1F2A37"/>
                </a:solidFill>
                <a:latin typeface="Calibri"/>
              </a:rPr>
              <a:t>unwanted memory from an incomplete if/case</a:t>
            </a:r>
          </a:p>
        </p:txBody>
      </p:sp>
      <p:sp>
        <p:nvSpPr>
          <p:cNvPr id="33" name="Rounded Rectangle 32"/>
          <p:cNvSpPr/>
          <p:nvPr/>
        </p:nvSpPr>
        <p:spPr>
          <a:xfrm>
            <a:off x="6263640" y="3273551"/>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28231" y="3364991"/>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Testbench / DUT</a:t>
            </a:r>
          </a:p>
          <a:p>
            <a:pPr algn="l">
              <a:lnSpc>
                <a:spcPct val="103000"/>
              </a:lnSpc>
              <a:spcBef>
                <a:spcPts val="0"/>
              </a:spcBef>
              <a:spcAft>
                <a:spcPts val="200"/>
              </a:spcAft>
            </a:pPr>
            <a:r>
              <a:rPr sz="960" b="0" i="0">
                <a:solidFill>
                  <a:srgbClr val="1F2A37"/>
                </a:solidFill>
                <a:latin typeface="Calibri"/>
              </a:rPr>
              <a:t>sim stimulus / Design-Under-Test</a:t>
            </a:r>
          </a:p>
        </p:txBody>
      </p:sp>
      <p:sp>
        <p:nvSpPr>
          <p:cNvPr id="35" name="Rounded Rectangle 34"/>
          <p:cNvSpPr/>
          <p:nvPr/>
        </p:nvSpPr>
        <p:spPr>
          <a:xfrm>
            <a:off x="6263640" y="3771900"/>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28231" y="3863339"/>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Synthesis</a:t>
            </a:r>
          </a:p>
          <a:p>
            <a:pPr algn="l">
              <a:lnSpc>
                <a:spcPct val="103000"/>
              </a:lnSpc>
              <a:spcBef>
                <a:spcPts val="0"/>
              </a:spcBef>
              <a:spcAft>
                <a:spcPts val="200"/>
              </a:spcAft>
            </a:pPr>
            <a:r>
              <a:rPr sz="960" b="0" i="0">
                <a:solidFill>
                  <a:srgbClr val="1F2A37"/>
                </a:solidFill>
                <a:latin typeface="Calibri"/>
              </a:rPr>
              <a:t>RTL → gate-level netlist</a:t>
            </a:r>
          </a:p>
        </p:txBody>
      </p:sp>
      <p:sp>
        <p:nvSpPr>
          <p:cNvPr id="37" name="Rounded Rectangle 36"/>
          <p:cNvSpPr/>
          <p:nvPr/>
        </p:nvSpPr>
        <p:spPr>
          <a:xfrm>
            <a:off x="6263640" y="4270248"/>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28231" y="4361688"/>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STA</a:t>
            </a:r>
          </a:p>
          <a:p>
            <a:pPr algn="l">
              <a:lnSpc>
                <a:spcPct val="103000"/>
              </a:lnSpc>
              <a:spcBef>
                <a:spcPts val="0"/>
              </a:spcBef>
              <a:spcAft>
                <a:spcPts val="200"/>
              </a:spcAft>
            </a:pPr>
            <a:r>
              <a:rPr sz="960" b="0" i="0">
                <a:solidFill>
                  <a:srgbClr val="1F2A37"/>
                </a:solidFill>
                <a:latin typeface="Calibri"/>
              </a:rPr>
              <a:t>Static Timing Analysis — checks setup/hold</a:t>
            </a:r>
          </a:p>
        </p:txBody>
      </p:sp>
      <p:sp>
        <p:nvSpPr>
          <p:cNvPr id="39" name="Rounded Rectangle 38"/>
          <p:cNvSpPr/>
          <p:nvPr/>
        </p:nvSpPr>
        <p:spPr>
          <a:xfrm>
            <a:off x="6263640" y="4768596"/>
            <a:ext cx="5623560" cy="475488"/>
          </a:xfrm>
          <a:prstGeom prst="roundRect">
            <a:avLst/>
          </a:prstGeom>
          <a:solidFill>
            <a:srgbClr val="F3F5F8"/>
          </a:solidFill>
          <a:ln w="15875">
            <a:solidFill>
              <a:srgbClr val="64748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28231" y="4860036"/>
            <a:ext cx="5294376" cy="292608"/>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050" b="1" i="0">
                <a:solidFill>
                  <a:srgbClr val="64748B"/>
                </a:solidFill>
                <a:latin typeface="Calibri"/>
              </a:rPr>
              <a:t>Entity / Architecture</a:t>
            </a:r>
          </a:p>
          <a:p>
            <a:pPr algn="l">
              <a:lnSpc>
                <a:spcPct val="103000"/>
              </a:lnSpc>
              <a:spcBef>
                <a:spcPts val="0"/>
              </a:spcBef>
              <a:spcAft>
                <a:spcPts val="200"/>
              </a:spcAft>
            </a:pPr>
            <a:r>
              <a:rPr sz="960" b="0" i="0">
                <a:solidFill>
                  <a:srgbClr val="1F2A37"/>
                </a:solidFill>
                <a:latin typeface="Calibri"/>
              </a:rPr>
              <a:t>VHDL interface / implementation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11480" y="292608"/>
            <a:ext cx="530352" cy="530352"/>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274320"/>
            <a:ext cx="1060704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1100" b="1" i="0">
                <a:solidFill>
                  <a:srgbClr val="1B9AAA"/>
                </a:solidFill>
                <a:latin typeface="Calibri"/>
              </a:rPr>
              <a:t>TOPIC 2 · RECAP</a:t>
            </a:r>
          </a:p>
        </p:txBody>
      </p:sp>
      <p:sp>
        <p:nvSpPr>
          <p:cNvPr id="5" name="TextBox 4"/>
          <p:cNvSpPr txBox="1"/>
          <p:nvPr/>
        </p:nvSpPr>
        <p:spPr>
          <a:xfrm>
            <a:off x="1060704" y="484632"/>
            <a:ext cx="10789920" cy="502920"/>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2100" b="1" i="0">
                <a:solidFill>
                  <a:srgbClr val="0E2A47"/>
                </a:solidFill>
                <a:latin typeface="Cambria"/>
              </a:rPr>
              <a:t>Topic 2 in One Page — RTL Design Methodology</a:t>
            </a:r>
          </a:p>
        </p:txBody>
      </p:sp>
      <p:sp>
        <p:nvSpPr>
          <p:cNvPr id="6" name="Rectangle 5"/>
          <p:cNvSpPr/>
          <p:nvPr/>
        </p:nvSpPr>
        <p:spPr>
          <a:xfrm>
            <a:off x="1078992" y="1024128"/>
            <a:ext cx="10698480" cy="5486"/>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6528816"/>
            <a:ext cx="7772400" cy="256032"/>
          </a:xfrm>
          <a:prstGeom prst="rect">
            <a:avLst/>
          </a:prstGeom>
          <a:noFill/>
        </p:spPr>
        <p:txBody>
          <a:bodyPr wrap="square" anchor="t" lIns="25400" rIns="25400" tIns="12700" bIns="12700">
            <a:spAutoFit/>
          </a:bodyPr>
          <a:lstStyle/>
          <a:p>
            <a:pPr algn="l">
              <a:lnSpc>
                <a:spcPct val="102000"/>
              </a:lnSpc>
              <a:spcBef>
                <a:spcPts val="0"/>
              </a:spcBef>
              <a:spcAft>
                <a:spcPts val="300"/>
              </a:spcAft>
            </a:pPr>
            <a:r>
              <a:rPr sz="900" b="0" i="0">
                <a:solidFill>
                  <a:srgbClr val="64748B"/>
                </a:solidFill>
                <a:latin typeface="Calibri"/>
              </a:rPr>
              <a:t>Module 2 · RTL Design Methodology</a:t>
            </a:r>
          </a:p>
        </p:txBody>
      </p:sp>
      <p:sp>
        <p:nvSpPr>
          <p:cNvPr id="8" name="TextBox 7"/>
          <p:cNvSpPr txBox="1"/>
          <p:nvPr/>
        </p:nvSpPr>
        <p:spPr>
          <a:xfrm>
            <a:off x="8595360" y="6528816"/>
            <a:ext cx="3200400" cy="256032"/>
          </a:xfrm>
          <a:prstGeom prst="rect">
            <a:avLst/>
          </a:prstGeom>
          <a:noFill/>
        </p:spPr>
        <p:txBody>
          <a:bodyPr wrap="square" anchor="t" lIns="25400" rIns="25400" tIns="12700" bIns="12700">
            <a:spAutoFit/>
          </a:bodyPr>
          <a:lstStyle/>
          <a:p>
            <a:pPr algn="r">
              <a:lnSpc>
                <a:spcPct val="102000"/>
              </a:lnSpc>
              <a:spcBef>
                <a:spcPts val="0"/>
              </a:spcBef>
              <a:spcAft>
                <a:spcPts val="300"/>
              </a:spcAft>
            </a:pPr>
            <a:r>
              <a:rPr sz="900" b="0" i="0">
                <a:solidFill>
                  <a:srgbClr val="64748B"/>
                </a:solidFill>
                <a:latin typeface="Calibri"/>
              </a:rPr>
              <a:t>NIE/ELE/N0102 · Topic 2 · 40</a:t>
            </a:r>
          </a:p>
        </p:txBody>
      </p:sp>
      <p:sp>
        <p:nvSpPr>
          <p:cNvPr id="9" name="Rounded Rectangle 8"/>
          <p:cNvSpPr/>
          <p:nvPr/>
        </p:nvSpPr>
        <p:spPr>
          <a:xfrm>
            <a:off x="457200" y="1280160"/>
            <a:ext cx="3657600" cy="406908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371600"/>
            <a:ext cx="3328416" cy="38862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1B9AAA"/>
                </a:solidFill>
                <a:latin typeface="Calibri"/>
              </a:rPr>
              <a:t>2a · Basics of RTL</a:t>
            </a:r>
          </a:p>
          <a:p>
            <a:pPr algn="l">
              <a:lnSpc>
                <a:spcPct val="103000"/>
              </a:lnSpc>
              <a:spcBef>
                <a:spcPts val="0"/>
              </a:spcBef>
              <a:spcAft>
                <a:spcPts val="200"/>
              </a:spcAft>
            </a:pPr>
            <a:r>
              <a:rPr sz="1100" b="0" i="0">
                <a:solidFill>
                  <a:srgbClr val="1F2A37"/>
                </a:solidFill>
                <a:latin typeface="Calibri"/>
              </a:rPr>
              <a:t>Registers + combinational logic per clock.</a:t>
            </a:r>
          </a:p>
          <a:p>
            <a:pPr algn="l">
              <a:lnSpc>
                <a:spcPct val="103000"/>
              </a:lnSpc>
              <a:spcBef>
                <a:spcPts val="0"/>
              </a:spcBef>
              <a:spcAft>
                <a:spcPts val="200"/>
              </a:spcAft>
            </a:pPr>
            <a:r>
              <a:rPr sz="1100" b="0" i="0">
                <a:solidFill>
                  <a:srgbClr val="1F2A37"/>
                </a:solidFill>
                <a:latin typeface="Calibri"/>
              </a:rPr>
              <a:t>Register-transfer view; comb vs seq.</a:t>
            </a:r>
          </a:p>
          <a:p>
            <a:pPr algn="l">
              <a:lnSpc>
                <a:spcPct val="103000"/>
              </a:lnSpc>
              <a:spcBef>
                <a:spcPts val="0"/>
              </a:spcBef>
              <a:spcAft>
                <a:spcPts val="200"/>
              </a:spcAft>
            </a:pPr>
            <a:r>
              <a:rPr sz="1100" b="0" i="0">
                <a:solidFill>
                  <a:srgbClr val="1F2A37"/>
                </a:solidFill>
                <a:latin typeface="Calibri"/>
              </a:rPr>
              <a:t>Synchronous design; datapath+controller.</a:t>
            </a:r>
          </a:p>
          <a:p>
            <a:pPr algn="l">
              <a:lnSpc>
                <a:spcPct val="103000"/>
              </a:lnSpc>
              <a:spcBef>
                <a:spcPts val="0"/>
              </a:spcBef>
              <a:spcAft>
                <a:spcPts val="200"/>
              </a:spcAft>
            </a:pPr>
            <a:r>
              <a:rPr sz="1100" b="0" i="0">
                <a:solidFill>
                  <a:srgbClr val="1F2A37"/>
                </a:solidFill>
                <a:latin typeface="Calibri"/>
              </a:rPr>
              <a:t>4-bit counter running example.</a:t>
            </a:r>
          </a:p>
        </p:txBody>
      </p:sp>
      <p:sp>
        <p:nvSpPr>
          <p:cNvPr id="11" name="Rounded Rectangle 10"/>
          <p:cNvSpPr/>
          <p:nvPr/>
        </p:nvSpPr>
        <p:spPr>
          <a:xfrm>
            <a:off x="4251960" y="1280160"/>
            <a:ext cx="3657600" cy="4069080"/>
          </a:xfrm>
          <a:prstGeom prst="roundRect">
            <a:avLst/>
          </a:prstGeom>
          <a:solidFill>
            <a:srgbClr val="EAF6EE"/>
          </a:solidFill>
          <a:ln w="15875">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16552" y="1371600"/>
            <a:ext cx="3328416" cy="38862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2A9D5C"/>
                </a:solidFill>
                <a:latin typeface="Calibri"/>
              </a:rPr>
              <a:t>2b · Methodology</a:t>
            </a:r>
          </a:p>
          <a:p>
            <a:pPr algn="l">
              <a:lnSpc>
                <a:spcPct val="103000"/>
              </a:lnSpc>
              <a:spcBef>
                <a:spcPts val="0"/>
              </a:spcBef>
              <a:spcAft>
                <a:spcPts val="200"/>
              </a:spcAft>
            </a:pPr>
            <a:r>
              <a:rPr sz="1100" b="0" i="0">
                <a:solidFill>
                  <a:srgbClr val="1F2A37"/>
                </a:solidFill>
                <a:latin typeface="Calibri"/>
              </a:rPr>
              <a:t>Spec → RTL → simulate → lint → synthesize → STA.</a:t>
            </a:r>
          </a:p>
          <a:p>
            <a:pPr algn="l">
              <a:lnSpc>
                <a:spcPct val="103000"/>
              </a:lnSpc>
              <a:spcBef>
                <a:spcPts val="0"/>
              </a:spcBef>
              <a:spcAft>
                <a:spcPts val="200"/>
              </a:spcAft>
            </a:pPr>
            <a:r>
              <a:rPr sz="1100" b="0" i="0">
                <a:solidFill>
                  <a:srgbClr val="1F2A37"/>
                </a:solidFill>
                <a:latin typeface="Calibri"/>
              </a:rPr>
              <a:t>Fix-and-re-iterate.</a:t>
            </a:r>
          </a:p>
          <a:p>
            <a:pPr algn="l">
              <a:lnSpc>
                <a:spcPct val="103000"/>
              </a:lnSpc>
              <a:spcBef>
                <a:spcPts val="0"/>
              </a:spcBef>
              <a:spcAft>
                <a:spcPts val="200"/>
              </a:spcAft>
            </a:pPr>
            <a:r>
              <a:rPr sz="1100" b="0" i="0">
                <a:solidFill>
                  <a:srgbClr val="1F2A37"/>
                </a:solidFill>
                <a:latin typeface="Calibri"/>
              </a:rPr>
              <a:t>FSM (Moore/Mealy) controller.</a:t>
            </a:r>
          </a:p>
          <a:p>
            <a:pPr algn="l">
              <a:lnSpc>
                <a:spcPct val="103000"/>
              </a:lnSpc>
              <a:spcBef>
                <a:spcPts val="0"/>
              </a:spcBef>
              <a:spcAft>
                <a:spcPts val="200"/>
              </a:spcAft>
            </a:pPr>
            <a:r>
              <a:rPr sz="1100" b="0" i="0">
                <a:solidFill>
                  <a:srgbClr val="1F2A37"/>
                </a:solidFill>
                <a:latin typeface="Calibri"/>
              </a:rPr>
              <a:t>DO non-blocking/blocking; avoid latches.</a:t>
            </a:r>
          </a:p>
        </p:txBody>
      </p:sp>
      <p:sp>
        <p:nvSpPr>
          <p:cNvPr id="13" name="Rounded Rectangle 12"/>
          <p:cNvSpPr/>
          <p:nvPr/>
        </p:nvSpPr>
        <p:spPr>
          <a:xfrm>
            <a:off x="8092440" y="1280160"/>
            <a:ext cx="3657600" cy="4069080"/>
          </a:xfrm>
          <a:prstGeom prst="roundRect">
            <a:avLst/>
          </a:prstGeom>
          <a:solidFill>
            <a:srgbClr val="FDF1E3"/>
          </a:solidFill>
          <a:ln w="15875">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1" y="1371600"/>
            <a:ext cx="3328416" cy="3886200"/>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200" b="1" i="0">
                <a:solidFill>
                  <a:srgbClr val="C77514"/>
                </a:solidFill>
                <a:latin typeface="Calibri"/>
              </a:rPr>
              <a:t>2c · HDLs</a:t>
            </a:r>
          </a:p>
          <a:p>
            <a:pPr algn="l">
              <a:lnSpc>
                <a:spcPct val="103000"/>
              </a:lnSpc>
              <a:spcBef>
                <a:spcPts val="0"/>
              </a:spcBef>
              <a:spcAft>
                <a:spcPts val="200"/>
              </a:spcAft>
            </a:pPr>
            <a:r>
              <a:rPr sz="1100" b="0" i="0">
                <a:solidFill>
                  <a:srgbClr val="1F2A37"/>
                </a:solidFill>
                <a:latin typeface="Calibri"/>
              </a:rPr>
              <a:t>Verilog &amp; VHDL describe the same hardware.</a:t>
            </a:r>
          </a:p>
          <a:p>
            <a:pPr algn="l">
              <a:lnSpc>
                <a:spcPct val="103000"/>
              </a:lnSpc>
              <a:spcBef>
                <a:spcPts val="0"/>
              </a:spcBef>
              <a:spcAft>
                <a:spcPts val="200"/>
              </a:spcAft>
            </a:pPr>
            <a:r>
              <a:rPr sz="1100" b="0" i="0">
                <a:solidFill>
                  <a:srgbClr val="1F2A37"/>
                </a:solidFill>
                <a:latin typeface="Calibri"/>
              </a:rPr>
              <a:t>Behavioural / dataflow / structural.</a:t>
            </a:r>
          </a:p>
          <a:p>
            <a:pPr algn="l">
              <a:lnSpc>
                <a:spcPct val="103000"/>
              </a:lnSpc>
              <a:spcBef>
                <a:spcPts val="0"/>
              </a:spcBef>
              <a:spcAft>
                <a:spcPts val="200"/>
              </a:spcAft>
            </a:pPr>
            <a:r>
              <a:rPr sz="1100" b="0" i="0">
                <a:solidFill>
                  <a:srgbClr val="1F2A37"/>
                </a:solidFill>
                <a:latin typeface="Calibri"/>
              </a:rPr>
              <a:t>Sim-only vs synthesizable constructs.</a:t>
            </a:r>
          </a:p>
          <a:p>
            <a:pPr algn="l">
              <a:lnSpc>
                <a:spcPct val="103000"/>
              </a:lnSpc>
              <a:spcBef>
                <a:spcPts val="0"/>
              </a:spcBef>
              <a:spcAft>
                <a:spcPts val="200"/>
              </a:spcAft>
            </a:pPr>
            <a:r>
              <a:rPr sz="1100" b="0" i="0">
                <a:solidFill>
                  <a:srgbClr val="1F2A37"/>
                </a:solidFill>
                <a:latin typeface="Calibri"/>
              </a:rPr>
              <a:t>Testbench drives the DUT.</a:t>
            </a:r>
          </a:p>
        </p:txBody>
      </p:sp>
      <p:sp>
        <p:nvSpPr>
          <p:cNvPr id="15" name="Rounded Rectangle 14"/>
          <p:cNvSpPr/>
          <p:nvPr/>
        </p:nvSpPr>
        <p:spPr>
          <a:xfrm>
            <a:off x="457200" y="5440680"/>
            <a:ext cx="11292840" cy="777240"/>
          </a:xfrm>
          <a:prstGeom prst="roundRect">
            <a:avLst/>
          </a:prstGeom>
          <a:solidFill>
            <a:srgbClr val="F4F8FB"/>
          </a:solidFill>
          <a:ln w="15875">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5532120"/>
            <a:ext cx="10963656" cy="594359"/>
          </a:xfrm>
          <a:prstGeom prst="rect">
            <a:avLst/>
          </a:prstGeom>
          <a:noFill/>
        </p:spPr>
        <p:txBody>
          <a:bodyPr wrap="square" anchor="t" lIns="25400" rIns="25400" tIns="12700" bIns="12700">
            <a:spAutoFit/>
          </a:bodyPr>
          <a:lstStyle/>
          <a:p>
            <a:pPr algn="l">
              <a:lnSpc>
                <a:spcPct val="103000"/>
              </a:lnSpc>
              <a:spcBef>
                <a:spcPts val="0"/>
              </a:spcBef>
              <a:spcAft>
                <a:spcPts val="200"/>
              </a:spcAft>
            </a:pPr>
            <a:r>
              <a:rPr sz="1150" b="1" i="0">
                <a:solidFill>
                  <a:srgbClr val="1B9AAA"/>
                </a:solidFill>
                <a:latin typeface="Calibri"/>
              </a:rPr>
              <a:t>Next</a:t>
            </a:r>
          </a:p>
          <a:p>
            <a:pPr algn="l">
              <a:lnSpc>
                <a:spcPct val="103000"/>
              </a:lnSpc>
              <a:spcBef>
                <a:spcPts val="0"/>
              </a:spcBef>
              <a:spcAft>
                <a:spcPts val="200"/>
              </a:spcAft>
            </a:pPr>
            <a:r>
              <a:rPr sz="1080" b="0" i="0">
                <a:solidFill>
                  <a:srgbClr val="1F2A37"/>
                </a:solidFill>
                <a:latin typeface="Calibri"/>
              </a:rPr>
              <a:t>Topic 3 goes deeper into the HDL — full Verilog syntax, operators and hierarchy — building directly on this methodology.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