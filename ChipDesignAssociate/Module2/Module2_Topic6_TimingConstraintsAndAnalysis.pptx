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 id="330" r:id="rId81"/>
    <p:sldId id="331" r:id="rId82"/>
    <p:sldId id="332" r:id="rId83"/>
    <p:sldId id="333" r:id="rId84"/>
    <p:sldId id="334" r:id="rId85"/>
    <p:sldId id="335" r:id="rId86"/>
    <p:sldId id="336" r:id="rId87"/>
  </p:sldIdLst>
  <p:sldSz cx="1216152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 Id="rId31" Type="http://schemas.openxmlformats.org/officeDocument/2006/relationships/slide" Target="slides/slide25.xml"/><Relationship Id="rId32" Type="http://schemas.openxmlformats.org/officeDocument/2006/relationships/slide" Target="slides/slide26.xml"/><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 Id="rId61" Type="http://schemas.openxmlformats.org/officeDocument/2006/relationships/slide" Target="slides/slide55.xml"/><Relationship Id="rId62" Type="http://schemas.openxmlformats.org/officeDocument/2006/relationships/slide" Target="slides/slide56.xml"/><Relationship Id="rId63" Type="http://schemas.openxmlformats.org/officeDocument/2006/relationships/slide" Target="slides/slide57.xml"/><Relationship Id="rId64" Type="http://schemas.openxmlformats.org/officeDocument/2006/relationships/slide" Target="slides/slide58.xml"/><Relationship Id="rId65" Type="http://schemas.openxmlformats.org/officeDocument/2006/relationships/slide" Target="slides/slide59.xml"/><Relationship Id="rId66" Type="http://schemas.openxmlformats.org/officeDocument/2006/relationships/slide" Target="slides/slide60.xml"/><Relationship Id="rId67" Type="http://schemas.openxmlformats.org/officeDocument/2006/relationships/slide" Target="slides/slide61.xml"/><Relationship Id="rId68" Type="http://schemas.openxmlformats.org/officeDocument/2006/relationships/slide" Target="slides/slide62.xml"/><Relationship Id="rId69" Type="http://schemas.openxmlformats.org/officeDocument/2006/relationships/slide" Target="slides/slide63.xml"/><Relationship Id="rId70" Type="http://schemas.openxmlformats.org/officeDocument/2006/relationships/slide" Target="slides/slide64.xml"/><Relationship Id="rId71" Type="http://schemas.openxmlformats.org/officeDocument/2006/relationships/slide" Target="slides/slide65.xml"/><Relationship Id="rId72" Type="http://schemas.openxmlformats.org/officeDocument/2006/relationships/slide" Target="slides/slide66.xml"/><Relationship Id="rId73" Type="http://schemas.openxmlformats.org/officeDocument/2006/relationships/slide" Target="slides/slide67.xml"/><Relationship Id="rId74" Type="http://schemas.openxmlformats.org/officeDocument/2006/relationships/slide" Target="slides/slide68.xml"/><Relationship Id="rId75" Type="http://schemas.openxmlformats.org/officeDocument/2006/relationships/slide" Target="slides/slide69.xml"/><Relationship Id="rId76" Type="http://schemas.openxmlformats.org/officeDocument/2006/relationships/slide" Target="slides/slide70.xml"/><Relationship Id="rId77" Type="http://schemas.openxmlformats.org/officeDocument/2006/relationships/slide" Target="slides/slide71.xml"/><Relationship Id="rId78" Type="http://schemas.openxmlformats.org/officeDocument/2006/relationships/slide" Target="slides/slide72.xml"/><Relationship Id="rId79" Type="http://schemas.openxmlformats.org/officeDocument/2006/relationships/slide" Target="slides/slide73.xml"/><Relationship Id="rId80" Type="http://schemas.openxmlformats.org/officeDocument/2006/relationships/slide" Target="slides/slide74.xml"/><Relationship Id="rId81" Type="http://schemas.openxmlformats.org/officeDocument/2006/relationships/slide" Target="slides/slide75.xml"/><Relationship Id="rId82" Type="http://schemas.openxmlformats.org/officeDocument/2006/relationships/slide" Target="slides/slide76.xml"/><Relationship Id="rId83" Type="http://schemas.openxmlformats.org/officeDocument/2006/relationships/slide" Target="slides/slide77.xml"/><Relationship Id="rId84" Type="http://schemas.openxmlformats.org/officeDocument/2006/relationships/slide" Target="slides/slide78.xml"/><Relationship Id="rId85" Type="http://schemas.openxmlformats.org/officeDocument/2006/relationships/slide" Target="slides/slide79.xml"/><Relationship Id="rId86" Type="http://schemas.openxmlformats.org/officeDocument/2006/relationships/slide" Target="slides/slide80.xml"/><Relationship Id="rId87" Type="http://schemas.openxmlformats.org/officeDocument/2006/relationships/slide" Target="slides/slide8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6.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7.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9.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0.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1.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2.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3.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4.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5.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6.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7.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8.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9.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0.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1.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2.png"/></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3.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4.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6.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7.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8595360" y="-2103120"/>
            <a:ext cx="7315200" cy="73152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Oval 2"/>
          <p:cNvSpPr/>
          <p:nvPr/>
        </p:nvSpPr>
        <p:spPr>
          <a:xfrm>
            <a:off x="9966960" y="-822960"/>
            <a:ext cx="4572000" cy="4572000"/>
          </a:xfrm>
          <a:prstGeom prst="ellipse">
            <a:avLst/>
          </a:prstGeom>
          <a:solidFill>
            <a:srgbClr val="0E2A47"/>
          </a:solidFill>
          <a:ln w="1270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640080" y="1417320"/>
            <a:ext cx="7315200" cy="365760"/>
          </a:xfrm>
          <a:prstGeom prst="rect">
            <a:avLst/>
          </a:prstGeom>
          <a:noFill/>
        </p:spPr>
        <p:txBody>
          <a:bodyPr wrap="square" lIns="0" rIns="0" tIns="0" bIns="0" anchor="ctr">
            <a:spAutoFit/>
          </a:bodyPr>
          <a:lstStyle/>
          <a:p>
            <a:pPr algn="l">
              <a:lnSpc>
                <a:spcPct val="103000"/>
              </a:lnSpc>
            </a:pPr>
            <a:r>
              <a:rPr sz="1500" b="1" i="0" spc="300">
                <a:solidFill>
                  <a:srgbClr val="1B9AAA"/>
                </a:solidFill>
                <a:latin typeface="Calibri"/>
              </a:rPr>
              <a:t>TOPIC 6</a:t>
            </a:r>
          </a:p>
        </p:txBody>
      </p:sp>
      <p:sp>
        <p:nvSpPr>
          <p:cNvPr id="5" name="TextBox 4"/>
          <p:cNvSpPr txBox="1"/>
          <p:nvPr/>
        </p:nvSpPr>
        <p:spPr>
          <a:xfrm>
            <a:off x="566928" y="1874520"/>
            <a:ext cx="10424160" cy="1005840"/>
          </a:xfrm>
          <a:prstGeom prst="rect">
            <a:avLst/>
          </a:prstGeom>
          <a:noFill/>
        </p:spPr>
        <p:txBody>
          <a:bodyPr wrap="square" lIns="0" rIns="0" tIns="0" bIns="0" anchor="ctr">
            <a:spAutoFit/>
          </a:bodyPr>
          <a:lstStyle/>
          <a:p>
            <a:pPr algn="l">
              <a:lnSpc>
                <a:spcPct val="103000"/>
              </a:lnSpc>
            </a:pPr>
            <a:r>
              <a:rPr sz="3500" b="1" i="0">
                <a:solidFill>
                  <a:srgbClr val="FFFFFF"/>
                </a:solidFill>
                <a:latin typeface="Cambria"/>
              </a:rPr>
              <a:t>Timing Constraints and Analysis</a:t>
            </a:r>
          </a:p>
        </p:txBody>
      </p:sp>
      <p:sp>
        <p:nvSpPr>
          <p:cNvPr id="6" name="TextBox 5"/>
          <p:cNvSpPr txBox="1"/>
          <p:nvPr/>
        </p:nvSpPr>
        <p:spPr>
          <a:xfrm>
            <a:off x="640080" y="2926080"/>
            <a:ext cx="9418320" cy="640080"/>
          </a:xfrm>
          <a:prstGeom prst="rect">
            <a:avLst/>
          </a:prstGeom>
          <a:noFill/>
        </p:spPr>
        <p:txBody>
          <a:bodyPr wrap="square" lIns="0" rIns="0" tIns="0" bIns="0" anchor="ctr">
            <a:spAutoFit/>
          </a:bodyPr>
          <a:lstStyle/>
          <a:p>
            <a:pPr algn="l">
              <a:lnSpc>
                <a:spcPct val="103000"/>
              </a:lnSpc>
            </a:pPr>
            <a:r>
              <a:rPr sz="1400" b="0" i="0">
                <a:solidFill>
                  <a:srgbClr val="C9D6E3"/>
                </a:solidFill>
                <a:latin typeface="Calibri"/>
              </a:rPr>
              <a:t>Introduction to timing constraints in RTL design  ·  Timing analysis and optimization techniques  ·  Setup and hold time violations and resolution</a:t>
            </a:r>
          </a:p>
        </p:txBody>
      </p:sp>
      <p:sp>
        <p:nvSpPr>
          <p:cNvPr id="7" name="Oval 6"/>
          <p:cNvSpPr/>
          <p:nvPr/>
        </p:nvSpPr>
        <p:spPr>
          <a:xfrm>
            <a:off x="713232" y="40142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8" name="TextBox 7"/>
          <p:cNvSpPr txBox="1"/>
          <p:nvPr/>
        </p:nvSpPr>
        <p:spPr>
          <a:xfrm>
            <a:off x="1097280" y="39319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6a · Constraints — what the tool cannot know until you tell it</a:t>
            </a:r>
          </a:p>
        </p:txBody>
      </p:sp>
      <p:sp>
        <p:nvSpPr>
          <p:cNvPr id="9" name="Oval 8"/>
          <p:cNvSpPr/>
          <p:nvPr/>
        </p:nvSpPr>
        <p:spPr>
          <a:xfrm>
            <a:off x="713232" y="44714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1097280" y="43891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6b · Analysis — how static timing analysis actually computes slack</a:t>
            </a:r>
          </a:p>
        </p:txBody>
      </p:sp>
      <p:sp>
        <p:nvSpPr>
          <p:cNvPr id="11" name="Oval 10"/>
          <p:cNvSpPr/>
          <p:nvPr/>
        </p:nvSpPr>
        <p:spPr>
          <a:xfrm>
            <a:off x="713232" y="49286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97280" y="48463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6c · Violations — setup and hold, why they are opposite, and how to fix each</a:t>
            </a:r>
          </a:p>
        </p:txBody>
      </p:sp>
      <p:sp>
        <p:nvSpPr>
          <p:cNvPr id="13" name="Oval 12"/>
          <p:cNvSpPr/>
          <p:nvPr/>
        </p:nvSpPr>
        <p:spPr>
          <a:xfrm>
            <a:off x="713232" y="5385816"/>
            <a:ext cx="237744" cy="237744"/>
          </a:xfrm>
          <a:prstGeom prst="ellipse">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1097280" y="5303520"/>
            <a:ext cx="9875520" cy="365760"/>
          </a:xfrm>
          <a:prstGeom prst="rect">
            <a:avLst/>
          </a:prstGeom>
          <a:noFill/>
        </p:spPr>
        <p:txBody>
          <a:bodyPr wrap="square" lIns="0" rIns="0" tIns="0" bIns="0" anchor="ctr">
            <a:spAutoFit/>
          </a:bodyPr>
          <a:lstStyle/>
          <a:p>
            <a:pPr algn="l">
              <a:lnSpc>
                <a:spcPct val="103000"/>
              </a:lnSpc>
            </a:pPr>
            <a:r>
              <a:rPr sz="1350" b="0" i="0">
                <a:solidFill>
                  <a:srgbClr val="E7EEF5"/>
                </a:solidFill>
                <a:latin typeface="Calibri"/>
              </a:rPr>
              <a:t>Tools · Vivado · OpenSTA · a 400-line STA engine you build  ·  Labs T1–T7</a:t>
            </a:r>
          </a:p>
        </p:txBody>
      </p:sp>
      <p:sp>
        <p:nvSpPr>
          <p:cNvPr id="15" name="TextBox 14"/>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6: Timing Constraints and Analysis</a:t>
            </a:r>
          </a:p>
        </p:txBody>
      </p:sp>
      <p:sp>
        <p:nvSpPr>
          <p:cNvPr id="16" name="TextBox 15"/>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M2-T6 · 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TOPIC 6 · ROADMAP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This Topic Covers, and Why Every Chip Depends On 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a:t>
            </a:r>
          </a:p>
        </p:txBody>
      </p:sp>
      <p:sp>
        <p:nvSpPr>
          <p:cNvPr id="9" name="TextBox 8"/>
          <p:cNvSpPr txBox="1"/>
          <p:nvPr/>
        </p:nvSpPr>
        <p:spPr>
          <a:xfrm>
            <a:off x="411480" y="1143000"/>
            <a:ext cx="11247120" cy="685800"/>
          </a:xfrm>
          <a:prstGeom prst="rect">
            <a:avLst/>
          </a:prstGeom>
          <a:noFill/>
        </p:spPr>
        <p:txBody>
          <a:bodyPr wrap="square" lIns="0" rIns="0" tIns="0" bIns="0" anchor="t">
            <a:spAutoFit/>
          </a:bodyPr>
          <a:lstStyle/>
          <a:p>
            <a:pPr algn="l">
              <a:lnSpc>
                <a:spcPct val="103000"/>
              </a:lnSpc>
              <a:spcAft>
                <a:spcPts val="700"/>
              </a:spcAft>
            </a:pPr>
            <a:r>
              <a:rPr sz="1250" b="0" i="0">
                <a:solidFill>
                  <a:srgbClr val="33414F"/>
                </a:solidFill>
                <a:latin typeface="Calibri"/>
              </a:rPr>
              <a:t>Topic 4 taught you to write RTL. Topic 5 taught you to prove it is </a:t>
            </a:r>
            <a:r>
              <a:rPr sz="1250" b="1" i="0">
                <a:solidFill>
                  <a:srgbClr val="0E2A47"/>
                </a:solidFill>
                <a:latin typeface="Calibri"/>
              </a:rPr>
              <a:t>functionally </a:t>
            </a:r>
            <a:r>
              <a:rPr sz="1250" b="0" i="0">
                <a:solidFill>
                  <a:srgbClr val="33414F"/>
                </a:solidFill>
                <a:latin typeface="Calibri"/>
              </a:rPr>
              <a:t>correct. Topic 6 asks the last question before silicon: </a:t>
            </a:r>
            <a:r>
              <a:rPr sz="1250" b="1" i="0">
                <a:solidFill>
                  <a:srgbClr val="C77514"/>
                </a:solidFill>
                <a:latin typeface="Calibri"/>
              </a:rPr>
              <a:t>is it fast enough, and will it work at all? </a:t>
            </a:r>
            <a:r>
              <a:rPr sz="1250" b="0" i="0">
                <a:solidFill>
                  <a:srgbClr val="33414F"/>
                </a:solidFill>
                <a:latin typeface="Calibri"/>
              </a:rPr>
              <a:t>A design that simulates perfectly can still fail on the bench - because simulation does not know how long a wire takes.</a:t>
            </a:r>
          </a:p>
        </p:txBody>
      </p:sp>
      <p:sp>
        <p:nvSpPr>
          <p:cNvPr id="10" name="Rectangle 9"/>
          <p:cNvSpPr/>
          <p:nvPr/>
        </p:nvSpPr>
        <p:spPr>
          <a:xfrm>
            <a:off x="411480" y="1920240"/>
            <a:ext cx="6217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1920240"/>
            <a:ext cx="612648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Syllabus bullet — Topic 6</a:t>
            </a:r>
          </a:p>
        </p:txBody>
      </p:sp>
      <p:sp>
        <p:nvSpPr>
          <p:cNvPr id="12" name="Rectangle 11"/>
          <p:cNvSpPr/>
          <p:nvPr/>
        </p:nvSpPr>
        <p:spPr>
          <a:xfrm>
            <a:off x="6629400" y="1920240"/>
            <a:ext cx="338328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675120" y="1920240"/>
            <a:ext cx="329184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Covered by</a:t>
            </a:r>
          </a:p>
        </p:txBody>
      </p:sp>
      <p:sp>
        <p:nvSpPr>
          <p:cNvPr id="14" name="Rectangle 13"/>
          <p:cNvSpPr/>
          <p:nvPr/>
        </p:nvSpPr>
        <p:spPr>
          <a:xfrm>
            <a:off x="10012680" y="1920240"/>
            <a:ext cx="1645920" cy="32918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0058400" y="1920240"/>
            <a:ext cx="1554480" cy="32918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Slides</a:t>
            </a:r>
          </a:p>
        </p:txBody>
      </p:sp>
      <p:sp>
        <p:nvSpPr>
          <p:cNvPr id="16" name="Rectangle 15"/>
          <p:cNvSpPr/>
          <p:nvPr/>
        </p:nvSpPr>
        <p:spPr>
          <a:xfrm>
            <a:off x="411480" y="2249424"/>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2249424"/>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Introduction to timing constraints in RTL design</a:t>
            </a:r>
          </a:p>
        </p:txBody>
      </p:sp>
      <p:sp>
        <p:nvSpPr>
          <p:cNvPr id="18" name="Rectangle 17"/>
          <p:cNvSpPr/>
          <p:nvPr/>
        </p:nvSpPr>
        <p:spPr>
          <a:xfrm>
            <a:off x="6629400" y="2249424"/>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6675120" y="2249424"/>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6a</a:t>
            </a:r>
          </a:p>
        </p:txBody>
      </p:sp>
      <p:sp>
        <p:nvSpPr>
          <p:cNvPr id="20" name="Rectangle 19"/>
          <p:cNvSpPr/>
          <p:nvPr/>
        </p:nvSpPr>
        <p:spPr>
          <a:xfrm>
            <a:off x="10012680" y="2249424"/>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10058400" y="2249424"/>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5–26</a:t>
            </a:r>
          </a:p>
        </p:txBody>
      </p:sp>
      <p:sp>
        <p:nvSpPr>
          <p:cNvPr id="22" name="Rectangle 21"/>
          <p:cNvSpPr/>
          <p:nvPr/>
        </p:nvSpPr>
        <p:spPr>
          <a:xfrm>
            <a:off x="411480" y="2578608"/>
            <a:ext cx="6217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2578608"/>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Timing analysis and optimization techniques</a:t>
            </a:r>
          </a:p>
        </p:txBody>
      </p:sp>
      <p:sp>
        <p:nvSpPr>
          <p:cNvPr id="24" name="Rectangle 23"/>
          <p:cNvSpPr/>
          <p:nvPr/>
        </p:nvSpPr>
        <p:spPr>
          <a:xfrm>
            <a:off x="6629400" y="2578608"/>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6675120" y="2578608"/>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6b</a:t>
            </a:r>
          </a:p>
        </p:txBody>
      </p:sp>
      <p:sp>
        <p:nvSpPr>
          <p:cNvPr id="26" name="Rectangle 25"/>
          <p:cNvSpPr/>
          <p:nvPr/>
        </p:nvSpPr>
        <p:spPr>
          <a:xfrm>
            <a:off x="10012680" y="2578608"/>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0058400" y="2578608"/>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27–48</a:t>
            </a:r>
          </a:p>
        </p:txBody>
      </p:sp>
      <p:sp>
        <p:nvSpPr>
          <p:cNvPr id="28" name="Rectangle 27"/>
          <p:cNvSpPr/>
          <p:nvPr/>
        </p:nvSpPr>
        <p:spPr>
          <a:xfrm>
            <a:off x="411480" y="2907792"/>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2907792"/>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Setup and hold time violations and resolution</a:t>
            </a:r>
          </a:p>
        </p:txBody>
      </p:sp>
      <p:sp>
        <p:nvSpPr>
          <p:cNvPr id="30" name="Rectangle 29"/>
          <p:cNvSpPr/>
          <p:nvPr/>
        </p:nvSpPr>
        <p:spPr>
          <a:xfrm>
            <a:off x="6629400" y="2907792"/>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6675120" y="2907792"/>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6c</a:t>
            </a:r>
          </a:p>
        </p:txBody>
      </p:sp>
      <p:sp>
        <p:nvSpPr>
          <p:cNvPr id="32" name="Rectangle 31"/>
          <p:cNvSpPr/>
          <p:nvPr/>
        </p:nvSpPr>
        <p:spPr>
          <a:xfrm>
            <a:off x="10012680" y="2907792"/>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10058400" y="2907792"/>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49–68</a:t>
            </a:r>
          </a:p>
        </p:txBody>
      </p:sp>
      <p:sp>
        <p:nvSpPr>
          <p:cNvPr id="34" name="Rectangle 33"/>
          <p:cNvSpPr/>
          <p:nvPr/>
        </p:nvSpPr>
        <p:spPr>
          <a:xfrm>
            <a:off x="411480" y="3236976"/>
            <a:ext cx="6217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3236976"/>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Practical: Timing Analysis and Closure Labs (10 h)</a:t>
            </a:r>
          </a:p>
        </p:txBody>
      </p:sp>
      <p:sp>
        <p:nvSpPr>
          <p:cNvPr id="36" name="Rectangle 35"/>
          <p:cNvSpPr/>
          <p:nvPr/>
        </p:nvSpPr>
        <p:spPr>
          <a:xfrm>
            <a:off x="6629400" y="3236976"/>
            <a:ext cx="338328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6675120" y="3236976"/>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Labs T1–T7</a:t>
            </a:r>
          </a:p>
        </p:txBody>
      </p:sp>
      <p:sp>
        <p:nvSpPr>
          <p:cNvPr id="38" name="Rectangle 37"/>
          <p:cNvSpPr/>
          <p:nvPr/>
        </p:nvSpPr>
        <p:spPr>
          <a:xfrm>
            <a:off x="10012680" y="3236976"/>
            <a:ext cx="1645920" cy="32918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10058400" y="3236976"/>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69–78</a:t>
            </a:r>
          </a:p>
        </p:txBody>
      </p:sp>
      <p:sp>
        <p:nvSpPr>
          <p:cNvPr id="40" name="Rectangle 39"/>
          <p:cNvSpPr/>
          <p:nvPr/>
        </p:nvSpPr>
        <p:spPr>
          <a:xfrm>
            <a:off x="411480" y="3566160"/>
            <a:ext cx="6217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1" name="TextBox 40"/>
          <p:cNvSpPr txBox="1"/>
          <p:nvPr/>
        </p:nvSpPr>
        <p:spPr>
          <a:xfrm>
            <a:off x="457200" y="3566160"/>
            <a:ext cx="6126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Practical: Design Synthesis and Optimisation Labs (15 h)</a:t>
            </a:r>
          </a:p>
        </p:txBody>
      </p:sp>
      <p:sp>
        <p:nvSpPr>
          <p:cNvPr id="42" name="Rectangle 41"/>
          <p:cNvSpPr/>
          <p:nvPr/>
        </p:nvSpPr>
        <p:spPr>
          <a:xfrm>
            <a:off x="6629400" y="3566160"/>
            <a:ext cx="338328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3" name="TextBox 42"/>
          <p:cNvSpPr txBox="1"/>
          <p:nvPr/>
        </p:nvSpPr>
        <p:spPr>
          <a:xfrm>
            <a:off x="6675120" y="3566160"/>
            <a:ext cx="3291840" cy="32918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Labs T5–T7</a:t>
            </a:r>
          </a:p>
        </p:txBody>
      </p:sp>
      <p:sp>
        <p:nvSpPr>
          <p:cNvPr id="44" name="Rectangle 43"/>
          <p:cNvSpPr/>
          <p:nvPr/>
        </p:nvSpPr>
        <p:spPr>
          <a:xfrm>
            <a:off x="10012680" y="3566160"/>
            <a:ext cx="1645920" cy="32918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5" name="TextBox 44"/>
          <p:cNvSpPr txBox="1"/>
          <p:nvPr/>
        </p:nvSpPr>
        <p:spPr>
          <a:xfrm>
            <a:off x="10058400" y="3566160"/>
            <a:ext cx="1554480" cy="32918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74–78</a:t>
            </a:r>
          </a:p>
        </p:txBody>
      </p:sp>
      <p:sp>
        <p:nvSpPr>
          <p:cNvPr id="46" name="Rounded Rectangle 45"/>
          <p:cNvSpPr/>
          <p:nvPr/>
        </p:nvSpPr>
        <p:spPr>
          <a:xfrm>
            <a:off x="411480" y="3986784"/>
            <a:ext cx="11247120" cy="15098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7" name="TextBox 46"/>
          <p:cNvSpPr txBox="1"/>
          <p:nvPr/>
        </p:nvSpPr>
        <p:spPr>
          <a:xfrm>
            <a:off x="576072" y="4050792"/>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Learning outcomes — by the end of this topic you can</a:t>
            </a:r>
          </a:p>
        </p:txBody>
      </p:sp>
      <p:sp>
        <p:nvSpPr>
          <p:cNvPr id="48" name="TextBox 47"/>
          <p:cNvSpPr txBox="1"/>
          <p:nvPr/>
        </p:nvSpPr>
        <p:spPr>
          <a:xfrm>
            <a:off x="576072" y="4325112"/>
            <a:ext cx="10917936" cy="11075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 Write a complete SDC/XDC constraint file and defend every line in it.</a:t>
            </a:r>
          </a:p>
          <a:p>
            <a:pPr algn="l">
              <a:lnSpc>
                <a:spcPct val="103000"/>
              </a:lnSpc>
              <a:spcAft>
                <a:spcPts val="400"/>
              </a:spcAft>
            </a:pPr>
            <a:r>
              <a:rPr sz="1100" b="0" i="0">
                <a:solidFill>
                  <a:srgbClr val="33414F"/>
                </a:solidFill>
                <a:latin typeface="Calibri"/>
              </a:rPr>
              <a:t>· Compute arrival, required and slack by hand, then verify a tool's answer against your own.</a:t>
            </a:r>
          </a:p>
          <a:p>
            <a:pPr algn="l">
              <a:lnSpc>
                <a:spcPct val="103000"/>
              </a:lnSpc>
              <a:spcAft>
                <a:spcPts val="400"/>
              </a:spcAft>
            </a:pPr>
            <a:r>
              <a:rPr sz="1100" b="0" i="0">
                <a:solidFill>
                  <a:srgbClr val="33414F"/>
                </a:solidFill>
                <a:latin typeface="Calibri"/>
              </a:rPr>
              <a:t>· Read any timing report - Vivado, OpenSTA, PrimeTime - and find the problem in under a minute.</a:t>
            </a:r>
          </a:p>
          <a:p>
            <a:pPr algn="l">
              <a:lnSpc>
                <a:spcPct val="103000"/>
              </a:lnSpc>
              <a:spcAft>
                <a:spcPts val="400"/>
              </a:spcAft>
            </a:pPr>
            <a:r>
              <a:rPr sz="1100" b="0" i="0">
                <a:solidFill>
                  <a:srgbClr val="33414F"/>
                </a:solidFill>
                <a:latin typeface="Calibri"/>
              </a:rPr>
              <a:t>· Diagnose a setup violation and pick the cheapest fix that works.</a:t>
            </a:r>
          </a:p>
          <a:p>
            <a:pPr algn="l">
              <a:lnSpc>
                <a:spcPct val="103000"/>
              </a:lnSpc>
              <a:spcAft>
                <a:spcPts val="400"/>
              </a:spcAft>
            </a:pPr>
            <a:r>
              <a:rPr sz="1100" b="0" i="0">
                <a:solidFill>
                  <a:srgbClr val="33414F"/>
                </a:solidFill>
                <a:latin typeface="Calibri"/>
              </a:rPr>
              <a:t>· Recognise a hold violation, explain why slowing the clock cannot help, and fix it properly.</a:t>
            </a:r>
          </a:p>
        </p:txBody>
      </p:sp>
      <p:sp>
        <p:nvSpPr>
          <p:cNvPr id="49" name="Rounded Rectangle 48"/>
          <p:cNvSpPr/>
          <p:nvPr/>
        </p:nvSpPr>
        <p:spPr>
          <a:xfrm>
            <a:off x="411480" y="5623560"/>
            <a:ext cx="11247120" cy="7315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76072" y="568756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One sentence to open the session with</a:t>
            </a:r>
          </a:p>
        </p:txBody>
      </p:sp>
      <p:sp>
        <p:nvSpPr>
          <p:cNvPr id="51" name="TextBox 50"/>
          <p:cNvSpPr txBox="1"/>
          <p:nvPr/>
        </p:nvSpPr>
        <p:spPr>
          <a:xfrm>
            <a:off x="576072" y="5961888"/>
            <a:ext cx="10917936" cy="32918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A functional bug makes the chip do the wrong thing. A timing bug makes it do the right thing at the wrong moment - and no amount of simulation will show you that.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WHY THIS MATTERS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Bug That Simulation Cannot Find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a:t>
            </a:r>
          </a:p>
        </p:txBody>
      </p:sp>
      <p:sp>
        <p:nvSpPr>
          <p:cNvPr id="9" name="TextBox 8"/>
          <p:cNvSpPr txBox="1"/>
          <p:nvPr/>
        </p:nvSpPr>
        <p:spPr>
          <a:xfrm>
            <a:off x="411480" y="1143000"/>
            <a:ext cx="11247120" cy="594360"/>
          </a:xfrm>
          <a:prstGeom prst="rect">
            <a:avLst/>
          </a:prstGeom>
          <a:noFill/>
        </p:spPr>
        <p:txBody>
          <a:bodyPr wrap="square" lIns="0" rIns="0" tIns="0" bIns="0" anchor="t">
            <a:spAutoFit/>
          </a:bodyPr>
          <a:lstStyle/>
          <a:p>
            <a:pPr algn="l">
              <a:lnSpc>
                <a:spcPct val="103000"/>
              </a:lnSpc>
              <a:spcAft>
                <a:spcPts val="700"/>
              </a:spcAft>
            </a:pPr>
            <a:r>
              <a:rPr sz="1250" b="0" i="0">
                <a:solidFill>
                  <a:srgbClr val="33414F"/>
                </a:solidFill>
                <a:latin typeface="Calibri"/>
              </a:rPr>
              <a:t>Your testbench applies a value, waits for a clock edge, and checks the answer. It assumes the logic finished in time. </a:t>
            </a:r>
            <a:r>
              <a:rPr sz="1250" b="1" i="0">
                <a:solidFill>
                  <a:srgbClr val="C01F43"/>
                </a:solidFill>
                <a:latin typeface="Calibri"/>
              </a:rPr>
              <a:t>Real gates take real time. </a:t>
            </a:r>
            <a:r>
              <a:rPr sz="1250" b="0" i="0">
                <a:solidFill>
                  <a:srgbClr val="33414F"/>
                </a:solidFill>
                <a:latin typeface="Calibri"/>
              </a:rPr>
              <a:t>If the answer is 0.2 ns late, the flop captures the OLD value - and your simulation, which had no delays in it, never noticed.</a:t>
            </a:r>
          </a:p>
        </p:txBody>
      </p:sp>
      <p:sp>
        <p:nvSpPr>
          <p:cNvPr id="10" name="Rounded Rectangle 9"/>
          <p:cNvSpPr/>
          <p:nvPr/>
        </p:nvSpPr>
        <p:spPr>
          <a:xfrm>
            <a:off x="411480" y="1828800"/>
            <a:ext cx="3627120" cy="1737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48640" y="1892808"/>
            <a:ext cx="3352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What RTL simulation checks</a:t>
            </a:r>
          </a:p>
        </p:txBody>
      </p:sp>
      <p:sp>
        <p:nvSpPr>
          <p:cNvPr id="12" name="TextBox 11"/>
          <p:cNvSpPr txBox="1"/>
          <p:nvPr/>
        </p:nvSpPr>
        <p:spPr>
          <a:xfrm>
            <a:off x="548640" y="2167128"/>
            <a:ext cx="3352800" cy="13350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Does the design compute the right value, given unlimited time?</a:t>
            </a:r>
          </a:p>
          <a:p>
            <a:pPr algn="l">
              <a:lnSpc>
                <a:spcPct val="103000"/>
              </a:lnSpc>
              <a:spcAft>
                <a:spcPts val="400"/>
              </a:spcAft>
            </a:pPr>
            <a:r>
              <a:rPr sz="1100" b="0" i="0">
                <a:solidFill>
                  <a:srgbClr val="33414F"/>
                </a:solidFill>
                <a:latin typeface="Calibri"/>
              </a:rPr>
              <a:t>Every functional bug you found in Topic 5 lives here.</a:t>
            </a:r>
          </a:p>
          <a:p>
            <a:pPr algn="l">
              <a:lnSpc>
                <a:spcPct val="103000"/>
              </a:lnSpc>
              <a:spcAft>
                <a:spcPts val="400"/>
              </a:spcAft>
            </a:pPr>
            <a:r>
              <a:rPr sz="1100" b="0" i="0">
                <a:solidFill>
                  <a:srgbClr val="33414F"/>
                </a:solidFill>
                <a:latin typeface="Calibri"/>
              </a:rPr>
              <a:t>Zero-delay: every assignment lands instantly.</a:t>
            </a:r>
          </a:p>
        </p:txBody>
      </p:sp>
      <p:sp>
        <p:nvSpPr>
          <p:cNvPr id="13" name="Rounded Rectangle 12"/>
          <p:cNvSpPr/>
          <p:nvPr/>
        </p:nvSpPr>
        <p:spPr>
          <a:xfrm>
            <a:off x="4221480" y="1828800"/>
            <a:ext cx="3627120" cy="17373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358640" y="1892808"/>
            <a:ext cx="3352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static timing analysis checks</a:t>
            </a:r>
          </a:p>
        </p:txBody>
      </p:sp>
      <p:sp>
        <p:nvSpPr>
          <p:cNvPr id="15" name="TextBox 14"/>
          <p:cNvSpPr txBox="1"/>
          <p:nvPr/>
        </p:nvSpPr>
        <p:spPr>
          <a:xfrm>
            <a:off x="4358640" y="2167128"/>
            <a:ext cx="3352800" cy="13350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Does that value ARRIVE before the next clock edge?</a:t>
            </a:r>
          </a:p>
          <a:p>
            <a:pPr algn="l">
              <a:lnSpc>
                <a:spcPct val="103000"/>
              </a:lnSpc>
              <a:spcAft>
                <a:spcPts val="400"/>
              </a:spcAft>
            </a:pPr>
            <a:r>
              <a:rPr sz="1100" b="0" i="0">
                <a:solidFill>
                  <a:srgbClr val="33414F"/>
                </a:solidFill>
                <a:latin typeface="Calibri"/>
              </a:rPr>
              <a:t>And does it stay put long enough to be captured?</a:t>
            </a:r>
          </a:p>
          <a:p>
            <a:pPr algn="l">
              <a:lnSpc>
                <a:spcPct val="103000"/>
              </a:lnSpc>
              <a:spcAft>
                <a:spcPts val="400"/>
              </a:spcAft>
            </a:pPr>
            <a:r>
              <a:rPr sz="1100" b="0" i="0">
                <a:solidFill>
                  <a:srgbClr val="33414F"/>
                </a:solidFill>
                <a:latin typeface="Calibri"/>
              </a:rPr>
              <a:t>Real gate delays, real wire delays, real clock skew.</a:t>
            </a:r>
          </a:p>
        </p:txBody>
      </p:sp>
      <p:sp>
        <p:nvSpPr>
          <p:cNvPr id="16" name="Rounded Rectangle 15"/>
          <p:cNvSpPr/>
          <p:nvPr/>
        </p:nvSpPr>
        <p:spPr>
          <a:xfrm>
            <a:off x="8031480" y="1828800"/>
            <a:ext cx="3627120" cy="17373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168640" y="1892808"/>
            <a:ext cx="3352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What neither one checks</a:t>
            </a:r>
          </a:p>
        </p:txBody>
      </p:sp>
      <p:sp>
        <p:nvSpPr>
          <p:cNvPr id="18" name="TextBox 17"/>
          <p:cNvSpPr txBox="1"/>
          <p:nvPr/>
        </p:nvSpPr>
        <p:spPr>
          <a:xfrm>
            <a:off x="8168640" y="2167128"/>
            <a:ext cx="3352800" cy="13350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Whether your CONSTRAINTS describe the real system.</a:t>
            </a:r>
          </a:p>
          <a:p>
            <a:pPr algn="l">
              <a:lnSpc>
                <a:spcPct val="103000"/>
              </a:lnSpc>
              <a:spcAft>
                <a:spcPts val="400"/>
              </a:spcAft>
            </a:pPr>
            <a:r>
              <a:rPr sz="1100" b="0" i="0">
                <a:solidFill>
                  <a:srgbClr val="33414F"/>
                </a:solidFill>
                <a:latin typeface="Calibri"/>
              </a:rPr>
              <a:t>A wrong period or a missing input delay makes both tools lie in the same direction: everything looks fine.</a:t>
            </a:r>
          </a:p>
        </p:txBody>
      </p:sp>
      <p:sp>
        <p:nvSpPr>
          <p:cNvPr id="19" name="Rounded Rectangle 18"/>
          <p:cNvSpPr/>
          <p:nvPr/>
        </p:nvSpPr>
        <p:spPr>
          <a:xfrm>
            <a:off x="411480" y="3657600"/>
            <a:ext cx="11247120" cy="8229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76072" y="3721608"/>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The order of operations, and it is not negotiable</a:t>
            </a:r>
          </a:p>
        </p:txBody>
      </p:sp>
      <p:sp>
        <p:nvSpPr>
          <p:cNvPr id="21" name="TextBox 20"/>
          <p:cNvSpPr txBox="1"/>
          <p:nvPr/>
        </p:nvSpPr>
        <p:spPr>
          <a:xfrm>
            <a:off x="576072" y="3995928"/>
            <a:ext cx="10917936" cy="4206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1.  Simulate until the function is right.  </a:t>
            </a:r>
            <a:r>
              <a:rPr sz="1100" b="0" i="0">
                <a:solidFill>
                  <a:srgbClr val="33414F"/>
                </a:solidFill>
                <a:latin typeface="Calibri"/>
              </a:rPr>
              <a:t>2.  Constrain until the report is honest.  </a:t>
            </a:r>
            <a:r>
              <a:rPr sz="1100" b="0" i="0">
                <a:solidFill>
                  <a:srgbClr val="33414F"/>
                </a:solidFill>
                <a:latin typeface="Calibri"/>
              </a:rPr>
              <a:t>3.  Analyse until the slack is positive.  </a:t>
            </a:r>
            <a:r>
              <a:rPr sz="1100" b="1" i="0">
                <a:solidFill>
                  <a:srgbClr val="0E2A47"/>
                </a:solidFill>
                <a:latin typeface="Calibri"/>
              </a:rPr>
              <a:t>4.  Only then build.</a:t>
            </a:r>
          </a:p>
          <a:p>
            <a:pPr algn="l">
              <a:lnSpc>
                <a:spcPct val="103000"/>
              </a:lnSpc>
              <a:spcAft>
                <a:spcPts val="400"/>
              </a:spcAft>
            </a:pPr>
            <a:r>
              <a:rPr sz="1100" b="0" i="0">
                <a:solidFill>
                  <a:srgbClr val="C01F43"/>
                </a:solidFill>
                <a:latin typeface="Calibri"/>
              </a:rPr>
              <a:t>Skip step 2 and step 3 becomes theatre: the tool reports MET on paths it never examined.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PART 6a</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Timing Constraints in RTL Design</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Synthesis has no idea how fast you want to go until you tell it. This part is about telling it - completely, and truthfully.</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clock: create_clock, period, waveform, uncertainty</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boundary: set_input_delay and set_output_delay</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exceptions: set_false_path and set_multicycle_path</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order to write a constraint file, and the holes to check for</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6: Timing Constraints and Analysis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M2-T6 · 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THE ONE PICTURE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Flip-Flop Samples Over a Window, Not At an Instant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a:t>
            </a:r>
          </a:p>
        </p:txBody>
      </p:sp>
      <p:pic>
        <p:nvPicPr>
          <p:cNvPr id="9" name="Picture 8" descr="setup_hold_window.png"/>
          <p:cNvPicPr>
            <a:picLocks noChangeAspect="1"/>
          </p:cNvPicPr>
          <p:nvPr/>
        </p:nvPicPr>
        <p:blipFill>
          <a:blip r:embed="rId2"/>
          <a:stretch>
            <a:fillRect/>
          </a:stretch>
        </p:blipFill>
        <p:spPr>
          <a:xfrm>
            <a:off x="2371930" y="1097280"/>
            <a:ext cx="7326221" cy="4160520"/>
          </a:xfrm>
          <a:prstGeom prst="rect">
            <a:avLst/>
          </a:prstGeom>
        </p:spPr>
      </p:pic>
      <p:sp>
        <p:nvSpPr>
          <p:cNvPr id="10" name="Rounded Rectangle 9"/>
          <p:cNvSpPr/>
          <p:nvPr/>
        </p:nvSpPr>
        <p:spPr>
          <a:xfrm>
            <a:off x="411480" y="5349240"/>
            <a:ext cx="11247120" cy="91440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413248"/>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Every timing concept in this topic comes from this one diagram</a:t>
            </a:r>
          </a:p>
        </p:txBody>
      </p:sp>
      <p:sp>
        <p:nvSpPr>
          <p:cNvPr id="12" name="TextBox 11"/>
          <p:cNvSpPr txBox="1"/>
          <p:nvPr/>
        </p:nvSpPr>
        <p:spPr>
          <a:xfrm>
            <a:off x="576072" y="5687568"/>
            <a:ext cx="10917936" cy="5120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SETUP time: the data must be stable for this long BEFORE the edge. HOLD time: it must stay stable for this long AFTER it. Break the first and the flop captures a stale value; break the second and it captures the NEXT value, a whole cycle early.</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THE TIMING PATH</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Every Path Has Exactly Four Parts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a:t>
            </a:r>
          </a:p>
        </p:txBody>
      </p:sp>
      <p:pic>
        <p:nvPicPr>
          <p:cNvPr id="9" name="Picture 8" descr="timing_path.png"/>
          <p:cNvPicPr>
            <a:picLocks noChangeAspect="1"/>
          </p:cNvPicPr>
          <p:nvPr/>
        </p:nvPicPr>
        <p:blipFill>
          <a:blip r:embed="rId2"/>
          <a:stretch>
            <a:fillRect/>
          </a:stretch>
        </p:blipFill>
        <p:spPr>
          <a:xfrm>
            <a:off x="2090993" y="1097280"/>
            <a:ext cx="7888094" cy="4297680"/>
          </a:xfrm>
          <a:prstGeom prst="rect">
            <a:avLst/>
          </a:prstGeom>
        </p:spPr>
      </p:pic>
      <p:sp>
        <p:nvSpPr>
          <p:cNvPr id="10" name="Rounded Rectangle 9"/>
          <p:cNvSpPr/>
          <p:nvPr/>
        </p:nvSpPr>
        <p:spPr>
          <a:xfrm>
            <a:off x="411480" y="5486400"/>
            <a:ext cx="11247120" cy="8686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Learn these four names and the rest of the topic is arithmetic</a:t>
            </a:r>
          </a:p>
        </p:txBody>
      </p:sp>
      <p:sp>
        <p:nvSpPr>
          <p:cNvPr id="12" name="TextBox 11"/>
          <p:cNvSpPr txBox="1"/>
          <p:nvPr/>
        </p:nvSpPr>
        <p:spPr>
          <a:xfrm>
            <a:off x="576072" y="5824728"/>
            <a:ext cx="10917936" cy="466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clock-to-Q </a:t>
            </a:r>
            <a:r>
              <a:rPr sz="1000" b="0" i="0">
                <a:solidFill>
                  <a:srgbClr val="33414F"/>
                </a:solidFill>
                <a:latin typeface="Calibri"/>
              </a:rPr>
              <a:t>(how long the launching flop takes to produce Q)  ·  </a:t>
            </a:r>
            <a:r>
              <a:rPr sz="1100" b="0" i="0">
                <a:solidFill>
                  <a:srgbClr val="33414F"/>
                </a:solidFill>
                <a:latin typeface="Calibri"/>
              </a:rPr>
              <a:t>logic delay </a:t>
            </a:r>
            <a:r>
              <a:rPr sz="1000" b="0" i="0">
                <a:solidFill>
                  <a:srgbClr val="33414F"/>
                </a:solidFill>
                <a:latin typeface="Calibri"/>
              </a:rPr>
              <a:t>(the combinational path)  ·  </a:t>
            </a:r>
            <a:r>
              <a:rPr sz="1100" b="0" i="0">
                <a:solidFill>
                  <a:srgbClr val="33414F"/>
                </a:solidFill>
                <a:latin typeface="Calibri"/>
              </a:rPr>
              <a:t>setup time </a:t>
            </a:r>
            <a:r>
              <a:rPr sz="1000" b="0" i="0">
                <a:solidFill>
                  <a:srgbClr val="33414F"/>
                </a:solidFill>
                <a:latin typeface="Calibri"/>
              </a:rPr>
              <a:t>(how early the capturing flop needs it)  ·  </a:t>
            </a:r>
            <a:r>
              <a:rPr sz="1100" b="0" i="0">
                <a:solidFill>
                  <a:srgbClr val="33414F"/>
                </a:solidFill>
                <a:latin typeface="Calibri"/>
              </a:rPr>
              <a:t>clock skew </a:t>
            </a:r>
            <a:r>
              <a:rPr sz="1000" b="0" i="0">
                <a:solidFill>
                  <a:srgbClr val="33414F"/>
                </a:solidFill>
                <a:latin typeface="Calibri"/>
              </a:rPr>
              <a:t>(the two flops do not see the edge at the same instant)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SLACK</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Slack Is a Subtraction, and That Is All It Is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a:t>
            </a:r>
          </a:p>
        </p:txBody>
      </p:sp>
      <p:pic>
        <p:nvPicPr>
          <p:cNvPr id="9" name="Picture 8" descr="slack_equation.png"/>
          <p:cNvPicPr>
            <a:picLocks noChangeAspect="1"/>
          </p:cNvPicPr>
          <p:nvPr/>
        </p:nvPicPr>
        <p:blipFill>
          <a:blip r:embed="rId2"/>
          <a:stretch>
            <a:fillRect/>
          </a:stretch>
        </p:blipFill>
        <p:spPr>
          <a:xfrm>
            <a:off x="2895548" y="1097280"/>
            <a:ext cx="6278984" cy="3565800"/>
          </a:xfrm>
          <a:prstGeom prst="rect">
            <a:avLst/>
          </a:prstGeom>
        </p:spPr>
      </p:pic>
      <p:sp>
        <p:nvSpPr>
          <p:cNvPr id="10" name="Rounded Rectangle 9"/>
          <p:cNvSpPr/>
          <p:nvPr/>
        </p:nvSpPr>
        <p:spPr>
          <a:xfrm>
            <a:off x="411480" y="4754520"/>
            <a:ext cx="11247120" cy="129235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8688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only equation you must memorise</a:t>
            </a:r>
          </a:p>
        </p:txBody>
      </p:sp>
      <p:sp>
        <p:nvSpPr>
          <p:cNvPr id="12" name="TextBox 11"/>
          <p:cNvSpPr txBox="1"/>
          <p:nvPr/>
        </p:nvSpPr>
        <p:spPr>
          <a:xfrm>
            <a:off x="594360" y="5143140"/>
            <a:ext cx="10881360" cy="789432"/>
          </a:xfrm>
          <a:prstGeom prst="rect">
            <a:avLst/>
          </a:prstGeom>
          <a:noFill/>
        </p:spPr>
        <p:txBody>
          <a:bodyPr wrap="square" lIns="0" rIns="0" tIns="0" bIns="0" anchor="t">
            <a:spAutoFit/>
          </a:bodyPr>
          <a:lstStyle/>
          <a:p>
            <a:pPr algn="l">
              <a:lnSpc>
                <a:spcPct val="112000"/>
              </a:lnSpc>
            </a:pPr>
            <a:r>
              <a:rPr sz="1050" b="0" i="0">
                <a:solidFill>
                  <a:srgbClr val="D8E4F0"/>
                </a:solidFill>
                <a:latin typeface="Consolas"/>
              </a:rPr>
              <a:t>slack  =  required time  -  arrival time</a:t>
            </a:r>
          </a:p>
          <a:p>
            <a:pPr algn="l">
              <a:lnSpc>
                <a:spcPct val="112000"/>
              </a:lnSpc>
            </a:pPr>
            <a:r>
              <a:rPr sz="1050" b="0" i="0">
                <a:solidFill>
                  <a:srgbClr val="D8E4F0"/>
                </a:solidFill>
                <a:latin typeface="Consolas"/>
              </a:rPr>
              <a:t> </a:t>
            </a:r>
          </a:p>
          <a:p>
            <a:pPr algn="l">
              <a:lnSpc>
                <a:spcPct val="112000"/>
              </a:lnSpc>
            </a:pPr>
            <a:r>
              <a:rPr sz="1050" b="0" i="0">
                <a:solidFill>
                  <a:srgbClr val="D8E4F0"/>
                </a:solidFill>
                <a:latin typeface="Consolas"/>
              </a:rPr>
              <a:t>arrival   =  clock-to-Q  +  logic delay          (when the data turns up)</a:t>
            </a:r>
          </a:p>
          <a:p>
            <a:pPr algn="l">
              <a:lnSpc>
                <a:spcPct val="112000"/>
              </a:lnSpc>
            </a:pPr>
            <a:r>
              <a:rPr sz="1050" b="0" i="0">
                <a:solidFill>
                  <a:srgbClr val="D8E4F0"/>
                </a:solidFill>
                <a:latin typeface="Consolas"/>
              </a:rPr>
              <a:t>required  =  period + skew - setup - uncertainty (when it had to be there)</a:t>
            </a:r>
          </a:p>
        </p:txBody>
      </p:sp>
      <p:sp>
        <p:nvSpPr>
          <p:cNvPr id="13" name="TextBox 12"/>
          <p:cNvSpPr txBox="1"/>
          <p:nvPr/>
        </p:nvSpPr>
        <p:spPr>
          <a:xfrm>
            <a:off x="411480" y="6138312"/>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0E2A47"/>
                </a:solidFill>
                <a:latin typeface="Calibri"/>
              </a:rPr>
              <a:t>Positive slack: it fits, with room to spare. Negative slack: it does not fit, and the number is by how much.</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6a · WHY CONSTRAIN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Tool With No Constraints Is Not Careful - It Is Blind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8</a:t>
            </a:r>
          </a:p>
        </p:txBody>
      </p:sp>
      <p:pic>
        <p:nvPicPr>
          <p:cNvPr id="9" name="Picture 8" descr="why_constrain.png"/>
          <p:cNvPicPr>
            <a:picLocks noChangeAspect="1"/>
          </p:cNvPicPr>
          <p:nvPr/>
        </p:nvPicPr>
        <p:blipFill>
          <a:blip r:embed="rId2"/>
          <a:stretch>
            <a:fillRect/>
          </a:stretch>
        </p:blipFill>
        <p:spPr>
          <a:xfrm>
            <a:off x="2300099" y="1097280"/>
            <a:ext cx="7469881" cy="4114800"/>
          </a:xfrm>
          <a:prstGeom prst="rect">
            <a:avLst/>
          </a:prstGeom>
        </p:spPr>
      </p:pic>
      <p:sp>
        <p:nvSpPr>
          <p:cNvPr id="10" name="Rounded Rectangle 9"/>
          <p:cNvSpPr/>
          <p:nvPr/>
        </p:nvSpPr>
        <p:spPr>
          <a:xfrm>
            <a:off x="411480" y="5303520"/>
            <a:ext cx="11247120" cy="5943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3675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single most dangerous report in engineering</a:t>
            </a:r>
          </a:p>
        </p:txBody>
      </p:sp>
      <p:sp>
        <p:nvSpPr>
          <p:cNvPr id="12" name="TextBox 11"/>
          <p:cNvSpPr txBox="1"/>
          <p:nvPr/>
        </p:nvSpPr>
        <p:spPr>
          <a:xfrm>
            <a:off x="576072" y="5641848"/>
            <a:ext cx="10917936" cy="192024"/>
          </a:xfrm>
          <a:prstGeom prst="rect">
            <a:avLst/>
          </a:prstGeom>
          <a:noFill/>
        </p:spPr>
        <p:txBody>
          <a:bodyPr wrap="square" lIns="0" rIns="0" tIns="0" bIns="0" anchor="t">
            <a:spAutoFit/>
          </a:bodyPr>
          <a:lstStyle/>
          <a:p>
            <a:pPr algn="l">
              <a:lnSpc>
                <a:spcPct val="103000"/>
              </a:lnSpc>
              <a:spcAft>
                <a:spcPts val="400"/>
              </a:spcAft>
            </a:pPr>
            <a:r>
              <a:rPr sz="1050" b="1" i="0">
                <a:solidFill>
                  <a:srgbClr val="C01F43"/>
                </a:solidFill>
                <a:latin typeface="Calibri"/>
              </a:rPr>
              <a:t>A timing report with no violations on an unconstrained design. It is not telling you the design is fast. It is telling you it did not look.</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THE FOUR QUESTIONS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Every Constraint File Answers the Same Four Things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9</a:t>
            </a:r>
          </a:p>
        </p:txBody>
      </p:sp>
      <p:pic>
        <p:nvPicPr>
          <p:cNvPr id="9" name="Picture 8" descr="sdc_map.png"/>
          <p:cNvPicPr>
            <a:picLocks noChangeAspect="1"/>
          </p:cNvPicPr>
          <p:nvPr/>
        </p:nvPicPr>
        <p:blipFill>
          <a:blip r:embed="rId2"/>
          <a:stretch>
            <a:fillRect/>
          </a:stretch>
        </p:blipFill>
        <p:spPr>
          <a:xfrm>
            <a:off x="2489832" y="1097280"/>
            <a:ext cx="7090417" cy="4389120"/>
          </a:xfrm>
          <a:prstGeom prst="rect">
            <a:avLst/>
          </a:prstGeom>
        </p:spPr>
      </p:pic>
      <p:sp>
        <p:nvSpPr>
          <p:cNvPr id="10" name="TextBox 9"/>
          <p:cNvSpPr txBox="1"/>
          <p:nvPr/>
        </p:nvSpPr>
        <p:spPr>
          <a:xfrm>
            <a:off x="411480" y="5577840"/>
            <a:ext cx="11247120" cy="457200"/>
          </a:xfrm>
          <a:prstGeom prst="rect">
            <a:avLst/>
          </a:prstGeom>
          <a:noFill/>
        </p:spPr>
        <p:txBody>
          <a:bodyPr wrap="square" lIns="0" rIns="0" tIns="0" bIns="0" anchor="t">
            <a:spAutoFit/>
          </a:bodyPr>
          <a:lstStyle/>
          <a:p>
            <a:pPr algn="l">
              <a:lnSpc>
                <a:spcPct val="103000"/>
              </a:lnSpc>
              <a:spcAft>
                <a:spcPts val="700"/>
              </a:spcAft>
            </a:pPr>
            <a:r>
              <a:rPr sz="1100" b="0" i="0">
                <a:solidFill>
                  <a:srgbClr val="33414F"/>
                </a:solidFill>
                <a:latin typeface="Calibri"/>
              </a:rPr>
              <a:t>SDC (Synopsys Design Constraints) is the vendor-neutral format. Xilinx XDC is SDC plus physical constraints. Intel Quartus reads SDC directly. Learn it once.</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create_clock</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One Constraint You Cannot Leave Out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10</a:t>
            </a:r>
          </a:p>
        </p:txBody>
      </p:sp>
      <p:pic>
        <p:nvPicPr>
          <p:cNvPr id="9" name="Picture 8" descr="create_clock_anatomy.png"/>
          <p:cNvPicPr>
            <a:picLocks noChangeAspect="1"/>
          </p:cNvPicPr>
          <p:nvPr/>
        </p:nvPicPr>
        <p:blipFill>
          <a:blip r:embed="rId2"/>
          <a:stretch>
            <a:fillRect/>
          </a:stretch>
        </p:blipFill>
        <p:spPr>
          <a:xfrm>
            <a:off x="3297108" y="1097280"/>
            <a:ext cx="5475864" cy="2926080"/>
          </a:xfrm>
          <a:prstGeom prst="rect">
            <a:avLst/>
          </a:prstGeom>
        </p:spPr>
      </p:pic>
      <p:sp>
        <p:nvSpPr>
          <p:cNvPr id="10" name="Rounded Rectangle 9"/>
          <p:cNvSpPr/>
          <p:nvPr/>
        </p:nvSpPr>
        <p:spPr>
          <a:xfrm>
            <a:off x="411480" y="4114800"/>
            <a:ext cx="11247120" cy="16306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2291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clocks, primary and generated</a:t>
            </a:r>
          </a:p>
        </p:txBody>
      </p:sp>
      <p:sp>
        <p:nvSpPr>
          <p:cNvPr id="12" name="TextBox 11"/>
          <p:cNvSpPr txBox="1"/>
          <p:nvPr/>
        </p:nvSpPr>
        <p:spPr>
          <a:xfrm>
            <a:off x="594360" y="4503420"/>
            <a:ext cx="10881360" cy="112776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a 100 MHz primary clock arriving on the port called clk</a:t>
            </a:r>
          </a:p>
          <a:p>
            <a:pPr algn="l">
              <a:lnSpc>
                <a:spcPct val="112000"/>
              </a:lnSpc>
            </a:pPr>
            <a:r>
              <a:rPr sz="1000" b="0" i="0">
                <a:solidFill>
                  <a:srgbClr val="D8E4F0"/>
                </a:solidFill>
                <a:latin typeface="Consolas"/>
              </a:rPr>
              <a:t>create_clock -name sys_clk -period 10.000 -waveform {0.000 5.000} [get_ports clk]</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a clock made by a divide-by-2 inside the design - derive it, never re-declare it</a:t>
            </a:r>
          </a:p>
          <a:p>
            <a:pPr algn="l">
              <a:lnSpc>
                <a:spcPct val="112000"/>
              </a:lnSpc>
            </a:pPr>
            <a:r>
              <a:rPr sz="1000" b="0" i="0">
                <a:solidFill>
                  <a:srgbClr val="D8E4F0"/>
                </a:solidFill>
                <a:latin typeface="Consolas"/>
              </a:rPr>
              <a:t>create_generated_clock -name clk_div2 -source [get_ports clk] \</a:t>
            </a:r>
          </a:p>
          <a:p>
            <a:pPr algn="l">
              <a:lnSpc>
                <a:spcPct val="112000"/>
              </a:lnSpc>
            </a:pPr>
            <a:r>
              <a:rPr sz="1000" b="0" i="0">
                <a:solidFill>
                  <a:srgbClr val="D8E4F0"/>
                </a:solidFill>
                <a:latin typeface="Consolas"/>
              </a:rPr>
              <a:t>                       -divide_by 2 [get_pins div_reg/Q]</a:t>
            </a:r>
          </a:p>
        </p:txBody>
      </p:sp>
      <p:sp>
        <p:nvSpPr>
          <p:cNvPr id="13" name="TextBox 12"/>
          <p:cNvSpPr txBox="1"/>
          <p:nvPr/>
        </p:nvSpPr>
        <p:spPr>
          <a:xfrm>
            <a:off x="411480" y="5836920"/>
            <a:ext cx="11247120" cy="274320"/>
          </a:xfrm>
          <a:prstGeom prst="rect">
            <a:avLst/>
          </a:prstGeom>
          <a:noFill/>
        </p:spPr>
        <p:txBody>
          <a:bodyPr wrap="square" lIns="0" rIns="0" tIns="0" bIns="0" anchor="t">
            <a:spAutoFit/>
          </a:bodyPr>
          <a:lstStyle/>
          <a:p>
            <a:pPr algn="l">
              <a:lnSpc>
                <a:spcPct val="103000"/>
              </a:lnSpc>
              <a:spcAft>
                <a:spcPts val="700"/>
              </a:spcAft>
            </a:pPr>
            <a:r>
              <a:rPr sz="1050" b="1" i="0">
                <a:solidFill>
                  <a:srgbClr val="C01F43"/>
                </a:solidFill>
                <a:latin typeface="Calibri"/>
              </a:rPr>
              <a:t>If a register is clocked by something you never declared, its paths are unconstrained and silently unchecked.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UNCERTAINTY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Margin For What You Have Not Modelled Yet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11</a:t>
            </a:r>
          </a:p>
        </p:txBody>
      </p:sp>
      <p:pic>
        <p:nvPicPr>
          <p:cNvPr id="9" name="Picture 8" descr="uncertainty.png"/>
          <p:cNvPicPr>
            <a:picLocks noChangeAspect="1"/>
          </p:cNvPicPr>
          <p:nvPr/>
        </p:nvPicPr>
        <p:blipFill>
          <a:blip r:embed="rId2"/>
          <a:stretch>
            <a:fillRect/>
          </a:stretch>
        </p:blipFill>
        <p:spPr>
          <a:xfrm>
            <a:off x="2476649" y="1097280"/>
            <a:ext cx="7116782" cy="3200400"/>
          </a:xfrm>
          <a:prstGeom prst="rect">
            <a:avLst/>
          </a:prstGeom>
        </p:spPr>
      </p:pic>
      <p:sp>
        <p:nvSpPr>
          <p:cNvPr id="10" name="Rounded Rectangle 9"/>
          <p:cNvSpPr/>
          <p:nvPr/>
        </p:nvSpPr>
        <p:spPr>
          <a:xfrm>
            <a:off x="411480" y="4389120"/>
            <a:ext cx="11247120" cy="87884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5034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before layout, uncertainty stands in for the clock tree</a:t>
            </a:r>
          </a:p>
        </p:txBody>
      </p:sp>
      <p:sp>
        <p:nvSpPr>
          <p:cNvPr id="12" name="TextBox 11"/>
          <p:cNvSpPr txBox="1"/>
          <p:nvPr/>
        </p:nvSpPr>
        <p:spPr>
          <a:xfrm>
            <a:off x="594360" y="4777740"/>
            <a:ext cx="10881360" cy="37592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set_clock_uncertainty 0.150 -setup [get_clocks sys_clk]   # jitter + unbuilt skew</a:t>
            </a:r>
          </a:p>
          <a:p>
            <a:pPr algn="l">
              <a:lnSpc>
                <a:spcPct val="112000"/>
              </a:lnSpc>
            </a:pPr>
            <a:r>
              <a:rPr sz="1000" b="0" i="0">
                <a:solidFill>
                  <a:srgbClr val="D8E4F0"/>
                </a:solidFill>
                <a:latin typeface="Consolas"/>
              </a:rPr>
              <a:t>set_clock_uncertainty 0.050 -hold  [get_clocks sys_clk]   # jitter only</a:t>
            </a:r>
          </a:p>
        </p:txBody>
      </p:sp>
      <p:sp>
        <p:nvSpPr>
          <p:cNvPr id="13" name="Rounded Rectangle 12"/>
          <p:cNvSpPr/>
          <p:nvPr/>
        </p:nvSpPr>
        <p:spPr>
          <a:xfrm>
            <a:off x="411480" y="5359400"/>
            <a:ext cx="11247120" cy="8229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542340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A number you will be tempted to reduce, and should not</a:t>
            </a:r>
          </a:p>
        </p:txBody>
      </p:sp>
      <p:sp>
        <p:nvSpPr>
          <p:cNvPr id="15" name="TextBox 14"/>
          <p:cNvSpPr txBox="1"/>
          <p:nvPr/>
        </p:nvSpPr>
        <p:spPr>
          <a:xfrm>
            <a:off x="576072" y="569772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Uncertainty is the difference between "the report says MET" and "the silicon works". Shrinking it makes the report prettier and the chip no faster. Typical FPGA practice: 0.1-0.2 ns pre-layout, then let the tool use the real clock tree afterwards.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I/O CONSTRAINTS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Your First Flop Is Not the Start of the Path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12</a:t>
            </a:r>
          </a:p>
        </p:txBody>
      </p:sp>
      <p:pic>
        <p:nvPicPr>
          <p:cNvPr id="9" name="Picture 8" descr="io_delay.png"/>
          <p:cNvPicPr>
            <a:picLocks noChangeAspect="1"/>
          </p:cNvPicPr>
          <p:nvPr/>
        </p:nvPicPr>
        <p:blipFill>
          <a:blip r:embed="rId2"/>
          <a:stretch>
            <a:fillRect/>
          </a:stretch>
        </p:blipFill>
        <p:spPr>
          <a:xfrm>
            <a:off x="2653777" y="1097280"/>
            <a:ext cx="6762526" cy="4297680"/>
          </a:xfrm>
          <a:prstGeom prst="rect">
            <a:avLst/>
          </a:prstGeom>
        </p:spPr>
      </p:pic>
      <p:sp>
        <p:nvSpPr>
          <p:cNvPr id="10" name="Rounded Rectangle 9"/>
          <p:cNvSpPr/>
          <p:nvPr/>
        </p:nvSpPr>
        <p:spPr>
          <a:xfrm>
            <a:off x="411480" y="5486400"/>
            <a:ext cx="11247120" cy="8229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most common constraint bug in the world</a:t>
            </a:r>
          </a:p>
        </p:txBody>
      </p:sp>
      <p:sp>
        <p:nvSpPr>
          <p:cNvPr id="12" name="TextBox 11"/>
          <p:cNvSpPr txBox="1"/>
          <p:nvPr/>
        </p:nvSpPr>
        <p:spPr>
          <a:xfrm>
            <a:off x="576072" y="582472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C01F43"/>
                </a:solidFill>
                <a:latin typeface="Calibri"/>
              </a:rPr>
              <a:t>Forget these two lines and every path touching a pin becomes UNCONSTRAINED. The report shows no violation because it never looked at them. Always check the unconstrained-endpoint count before you believe a clean report.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I/O CONSTRAINTS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Writing Them - and Where the Numbers Come From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13</a:t>
            </a:r>
          </a:p>
        </p:txBody>
      </p:sp>
      <p:sp>
        <p:nvSpPr>
          <p:cNvPr id="9" name="Rounded Rectangle 8"/>
          <p:cNvSpPr/>
          <p:nvPr/>
        </p:nvSpPr>
        <p:spPr>
          <a:xfrm>
            <a:off x="411480" y="1143000"/>
            <a:ext cx="11247120" cy="25704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constraints/io.sdc</a:t>
            </a:r>
          </a:p>
        </p:txBody>
      </p:sp>
      <p:sp>
        <p:nvSpPr>
          <p:cNvPr id="11" name="TextBox 10"/>
          <p:cNvSpPr txBox="1"/>
          <p:nvPr/>
        </p:nvSpPr>
        <p:spPr>
          <a:xfrm>
            <a:off x="594360" y="1531620"/>
            <a:ext cx="10881360" cy="206756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INPUT: how late the data arrives, measured from the SAME clock edge</a:t>
            </a:r>
          </a:p>
          <a:p>
            <a:pPr algn="l">
              <a:lnSpc>
                <a:spcPct val="112000"/>
              </a:lnSpc>
            </a:pPr>
            <a:r>
              <a:rPr sz="1000" b="0" i="0">
                <a:solidFill>
                  <a:srgbClr val="D8E4F0"/>
                </a:solidFill>
                <a:latin typeface="Consolas"/>
              </a:rPr>
              <a:t>set_input_delay  -clock sys_clk -max 3.0 [get_ports {din[*] valid}]</a:t>
            </a:r>
          </a:p>
          <a:p>
            <a:pPr algn="l">
              <a:lnSpc>
                <a:spcPct val="112000"/>
              </a:lnSpc>
            </a:pPr>
            <a:r>
              <a:rPr sz="1000" b="0" i="0">
                <a:solidFill>
                  <a:srgbClr val="D8E4F0"/>
                </a:solidFill>
                <a:latin typeface="Consolas"/>
              </a:rPr>
              <a:t>set_input_delay  -clock sys_clk -min 0.5 [get_ports {din[*] valid}]</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OUTPUT: how much of the period the NEXT chip needs, before its own edge</a:t>
            </a:r>
          </a:p>
          <a:p>
            <a:pPr algn="l">
              <a:lnSpc>
                <a:spcPct val="112000"/>
              </a:lnSpc>
            </a:pPr>
            <a:r>
              <a:rPr sz="1000" b="0" i="0">
                <a:solidFill>
                  <a:srgbClr val="D8E4F0"/>
                </a:solidFill>
                <a:latin typeface="Consolas"/>
              </a:rPr>
              <a:t>set_output_delay -clock sys_clk -max 2.5 [get_ports {dout[*] ready}]</a:t>
            </a:r>
          </a:p>
          <a:p>
            <a:pPr algn="l">
              <a:lnSpc>
                <a:spcPct val="112000"/>
              </a:lnSpc>
            </a:pPr>
            <a:r>
              <a:rPr sz="1000" b="0" i="0">
                <a:solidFill>
                  <a:srgbClr val="D8E4F0"/>
                </a:solidFill>
                <a:latin typeface="Consolas"/>
              </a:rPr>
              <a:t>set_output_delay -clock sys_clk -min 0.2 [get_ports {dout[*] ready}]</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a quick sanity sweep: constrain everything that is still bare</a:t>
            </a:r>
          </a:p>
          <a:p>
            <a:pPr algn="l">
              <a:lnSpc>
                <a:spcPct val="112000"/>
              </a:lnSpc>
            </a:pPr>
            <a:r>
              <a:rPr sz="1000" b="0" i="0">
                <a:solidFill>
                  <a:srgbClr val="D8E4F0"/>
                </a:solidFill>
                <a:latin typeface="Consolas"/>
              </a:rPr>
              <a:t>set_input_delay  -clock sys_clk 3.0 [remove_from_collection \</a:t>
            </a:r>
          </a:p>
          <a:p>
            <a:pPr algn="l">
              <a:lnSpc>
                <a:spcPct val="112000"/>
              </a:lnSpc>
            </a:pPr>
            <a:r>
              <a:rPr sz="1000" b="0" i="0">
                <a:solidFill>
                  <a:srgbClr val="D8E4F0"/>
                </a:solidFill>
                <a:latin typeface="Consolas"/>
              </a:rPr>
              <a:t>                    [all_inputs] [get_ports clk]]</a:t>
            </a:r>
          </a:p>
        </p:txBody>
      </p:sp>
      <p:sp>
        <p:nvSpPr>
          <p:cNvPr id="12" name="Rectangle 11"/>
          <p:cNvSpPr/>
          <p:nvPr/>
        </p:nvSpPr>
        <p:spPr>
          <a:xfrm>
            <a:off x="411480" y="3804920"/>
            <a:ext cx="34747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7200" y="3804920"/>
            <a:ext cx="33832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-max is used for</a:t>
            </a:r>
          </a:p>
        </p:txBody>
      </p:sp>
      <p:sp>
        <p:nvSpPr>
          <p:cNvPr id="14" name="Rectangle 13"/>
          <p:cNvSpPr/>
          <p:nvPr/>
        </p:nvSpPr>
        <p:spPr>
          <a:xfrm>
            <a:off x="3886200" y="3804920"/>
            <a:ext cx="34747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3931920" y="3804920"/>
            <a:ext cx="33832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-min is used for</a:t>
            </a:r>
          </a:p>
        </p:txBody>
      </p:sp>
      <p:sp>
        <p:nvSpPr>
          <p:cNvPr id="16" name="Rectangle 15"/>
          <p:cNvSpPr/>
          <p:nvPr/>
        </p:nvSpPr>
        <p:spPr>
          <a:xfrm>
            <a:off x="7360920" y="3804920"/>
            <a:ext cx="429768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7406640" y="3804920"/>
            <a:ext cx="420624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Where the number comes from</a:t>
            </a:r>
          </a:p>
        </p:txBody>
      </p:sp>
      <p:sp>
        <p:nvSpPr>
          <p:cNvPr id="18" name="Rectangle 17"/>
          <p:cNvSpPr/>
          <p:nvPr/>
        </p:nvSpPr>
        <p:spPr>
          <a:xfrm>
            <a:off x="411480" y="4079240"/>
            <a:ext cx="34747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4079240"/>
            <a:ext cx="33832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SETUP check</a:t>
            </a:r>
          </a:p>
        </p:txBody>
      </p:sp>
      <p:sp>
        <p:nvSpPr>
          <p:cNvPr id="20" name="Rectangle 19"/>
          <p:cNvSpPr/>
          <p:nvPr/>
        </p:nvSpPr>
        <p:spPr>
          <a:xfrm>
            <a:off x="3886200" y="4079240"/>
            <a:ext cx="34747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3931920" y="4079240"/>
            <a:ext cx="33832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HOLD check</a:t>
            </a:r>
          </a:p>
        </p:txBody>
      </p:sp>
      <p:sp>
        <p:nvSpPr>
          <p:cNvPr id="22" name="Rectangle 21"/>
          <p:cNvSpPr/>
          <p:nvPr/>
        </p:nvSpPr>
        <p:spPr>
          <a:xfrm>
            <a:off x="7360920" y="4079240"/>
            <a:ext cx="4297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7406640" y="4079240"/>
            <a:ext cx="42062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upstream chip's datasheet: clock-to-out</a:t>
            </a:r>
          </a:p>
        </p:txBody>
      </p:sp>
      <p:sp>
        <p:nvSpPr>
          <p:cNvPr id="24" name="Rectangle 23"/>
          <p:cNvSpPr/>
          <p:nvPr/>
        </p:nvSpPr>
        <p:spPr>
          <a:xfrm>
            <a:off x="411480" y="4353560"/>
            <a:ext cx="34747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7200" y="4353560"/>
            <a:ext cx="33832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slow corner</a:t>
            </a:r>
          </a:p>
        </p:txBody>
      </p:sp>
      <p:sp>
        <p:nvSpPr>
          <p:cNvPr id="26" name="Rectangle 25"/>
          <p:cNvSpPr/>
          <p:nvPr/>
        </p:nvSpPr>
        <p:spPr>
          <a:xfrm>
            <a:off x="3886200" y="4353560"/>
            <a:ext cx="34747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3931920" y="4353560"/>
            <a:ext cx="33832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fast corner</a:t>
            </a:r>
          </a:p>
        </p:txBody>
      </p:sp>
      <p:sp>
        <p:nvSpPr>
          <p:cNvPr id="28" name="Rectangle 27"/>
          <p:cNvSpPr/>
          <p:nvPr/>
        </p:nvSpPr>
        <p:spPr>
          <a:xfrm>
            <a:off x="7360920" y="4353560"/>
            <a:ext cx="42976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7406640" y="4353560"/>
            <a:ext cx="42062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plus the board trace delay</a:t>
            </a:r>
          </a:p>
        </p:txBody>
      </p:sp>
      <p:sp>
        <p:nvSpPr>
          <p:cNvPr id="30" name="Rectangle 29"/>
          <p:cNvSpPr/>
          <p:nvPr/>
        </p:nvSpPr>
        <p:spPr>
          <a:xfrm>
            <a:off x="411480" y="4627880"/>
            <a:ext cx="34747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57200" y="4627880"/>
            <a:ext cx="33832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LATEST the data can arrive</a:t>
            </a:r>
          </a:p>
        </p:txBody>
      </p:sp>
      <p:sp>
        <p:nvSpPr>
          <p:cNvPr id="32" name="Rectangle 31"/>
          <p:cNvSpPr/>
          <p:nvPr/>
        </p:nvSpPr>
        <p:spPr>
          <a:xfrm>
            <a:off x="3886200" y="4627880"/>
            <a:ext cx="34747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3931920" y="4627880"/>
            <a:ext cx="33832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EARLIEST it can change</a:t>
            </a:r>
          </a:p>
        </p:txBody>
      </p:sp>
      <p:sp>
        <p:nvSpPr>
          <p:cNvPr id="34" name="Rectangle 33"/>
          <p:cNvSpPr/>
          <p:nvPr/>
        </p:nvSpPr>
        <p:spPr>
          <a:xfrm>
            <a:off x="7360920" y="4627880"/>
            <a:ext cx="42976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7406640" y="4627880"/>
            <a:ext cx="42062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when unknown, budget 30% of the period and revisit</a:t>
            </a:r>
          </a:p>
        </p:txBody>
      </p:sp>
      <p:sp>
        <p:nvSpPr>
          <p:cNvPr id="36" name="Rounded Rectangle 35"/>
          <p:cNvSpPr/>
          <p:nvPr/>
        </p:nvSpPr>
        <p:spPr>
          <a:xfrm>
            <a:off x="411480" y="499364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76072" y="505764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A rule of thumb that has saved many projects</a:t>
            </a:r>
          </a:p>
        </p:txBody>
      </p:sp>
      <p:sp>
        <p:nvSpPr>
          <p:cNvPr id="38" name="TextBox 37"/>
          <p:cNvSpPr txBox="1"/>
          <p:nvPr/>
        </p:nvSpPr>
        <p:spPr>
          <a:xfrm>
            <a:off x="576072" y="533196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Register every input and every output. It costs one cycle of latency and removes the entire I/O timing problem: the path from pin to flop becomes short and the path from flop to pin becomes short. Do it unless you have a measured reason not to.</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THE BUDGET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Where the 10 Nanoseconds Actually Goes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14</a:t>
            </a:r>
          </a:p>
        </p:txBody>
      </p:sp>
      <p:pic>
        <p:nvPicPr>
          <p:cNvPr id="9" name="Picture 8" descr="io_budget.png"/>
          <p:cNvPicPr>
            <a:picLocks noChangeAspect="1"/>
          </p:cNvPicPr>
          <p:nvPr/>
        </p:nvPicPr>
        <p:blipFill>
          <a:blip r:embed="rId2"/>
          <a:stretch>
            <a:fillRect/>
          </a:stretch>
        </p:blipFill>
        <p:spPr>
          <a:xfrm>
            <a:off x="2383098" y="1097280"/>
            <a:ext cx="7303884" cy="4023360"/>
          </a:xfrm>
          <a:prstGeom prst="rect">
            <a:avLst/>
          </a:prstGeom>
        </p:spPr>
      </p:pic>
      <p:sp>
        <p:nvSpPr>
          <p:cNvPr id="10" name="Rounded Rectangle 9"/>
          <p:cNvSpPr/>
          <p:nvPr/>
        </p:nvSpPr>
        <p:spPr>
          <a:xfrm>
            <a:off x="411480" y="5212080"/>
            <a:ext cx="11247120" cy="8229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276088"/>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Read the middle bar before you touch the RTL</a:t>
            </a:r>
          </a:p>
        </p:txBody>
      </p:sp>
      <p:sp>
        <p:nvSpPr>
          <p:cNvPr id="12" name="TextBox 11"/>
          <p:cNvSpPr txBox="1"/>
          <p:nvPr/>
        </p:nvSpPr>
        <p:spPr>
          <a:xfrm>
            <a:off x="576072" y="555040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You asked for 100 MHz and your own logic got 4.5 ns of it. If the design will not close, the I/O budget is the first place to look - and registering the pins hands the whole period back.</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6a · EXCEPTIONS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Telling the Tool a Path Is Not What It Looks Like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15</a:t>
            </a:r>
          </a:p>
        </p:txBody>
      </p:sp>
      <p:pic>
        <p:nvPicPr>
          <p:cNvPr id="9" name="Picture 8" descr="timing_exceptions.png"/>
          <p:cNvPicPr>
            <a:picLocks noChangeAspect="1"/>
          </p:cNvPicPr>
          <p:nvPr/>
        </p:nvPicPr>
        <p:blipFill>
          <a:blip r:embed="rId2"/>
          <a:stretch>
            <a:fillRect/>
          </a:stretch>
        </p:blipFill>
        <p:spPr>
          <a:xfrm>
            <a:off x="2581835" y="1097280"/>
            <a:ext cx="6906409" cy="4389120"/>
          </a:xfrm>
          <a:prstGeom prst="rect">
            <a:avLst/>
          </a:prstGeom>
        </p:spPr>
      </p:pic>
      <p:sp>
        <p:nvSpPr>
          <p:cNvPr id="10" name="TextBox 9"/>
          <p:cNvSpPr txBox="1"/>
          <p:nvPr/>
        </p:nvSpPr>
        <p:spPr>
          <a:xfrm>
            <a:off x="411480" y="5577840"/>
            <a:ext cx="11247120" cy="411480"/>
          </a:xfrm>
          <a:prstGeom prst="rect">
            <a:avLst/>
          </a:prstGeom>
          <a:noFill/>
        </p:spPr>
        <p:txBody>
          <a:bodyPr wrap="square" lIns="0" rIns="0" tIns="0" bIns="0" anchor="t">
            <a:spAutoFit/>
          </a:bodyPr>
          <a:lstStyle/>
          <a:p>
            <a:pPr algn="l">
              <a:lnSpc>
                <a:spcPct val="103000"/>
              </a:lnSpc>
              <a:spcAft>
                <a:spcPts val="700"/>
              </a:spcAft>
            </a:pPr>
            <a:r>
              <a:rPr sz="1100" b="1" i="0">
                <a:solidFill>
                  <a:srgbClr val="C01F43"/>
                </a:solidFill>
                <a:latin typeface="Calibri"/>
              </a:rPr>
              <a:t>An exception is a promise, and the tool believes you without checking. Every one needs a comment saying why it is true.</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FALSE PATHS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When "Do Not Check This" Is the Honest Answer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16</a:t>
            </a:r>
          </a:p>
        </p:txBody>
      </p:sp>
      <p:sp>
        <p:nvSpPr>
          <p:cNvPr id="9" name="Rounded Rectangle 8"/>
          <p:cNvSpPr/>
          <p:nvPr/>
        </p:nvSpPr>
        <p:spPr>
          <a:xfrm>
            <a:off x="411480" y="1143000"/>
            <a:ext cx="11247120" cy="238252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three legitimate uses</a:t>
            </a:r>
          </a:p>
        </p:txBody>
      </p:sp>
      <p:sp>
        <p:nvSpPr>
          <p:cNvPr id="11" name="TextBox 10"/>
          <p:cNvSpPr txBox="1"/>
          <p:nvPr/>
        </p:nvSpPr>
        <p:spPr>
          <a:xfrm>
            <a:off x="594360" y="1531620"/>
            <a:ext cx="10881360" cy="187960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a reset that is asserted asynchronously and released synchronously:</a:t>
            </a:r>
          </a:p>
          <a:p>
            <a:pPr algn="l">
              <a:lnSpc>
                <a:spcPct val="112000"/>
              </a:lnSpc>
            </a:pPr>
            <a:r>
              <a:rPr sz="1000" b="0" i="0">
                <a:solidFill>
                  <a:srgbClr val="D8E4F0"/>
                </a:solidFill>
                <a:latin typeface="Consolas"/>
              </a:rPr>
              <a:t># the assertion edge is never timed, the release IS - so cut only one direction</a:t>
            </a:r>
          </a:p>
          <a:p>
            <a:pPr algn="l">
              <a:lnSpc>
                <a:spcPct val="112000"/>
              </a:lnSpc>
            </a:pPr>
            <a:r>
              <a:rPr sz="1000" b="0" i="0">
                <a:solidFill>
                  <a:srgbClr val="D8E4F0"/>
                </a:solidFill>
                <a:latin typeface="Consolas"/>
              </a:rPr>
              <a:t>set_false_path -from [get_ports rst_n]</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a mode pin written once at power-up and never again</a:t>
            </a:r>
          </a:p>
          <a:p>
            <a:pPr algn="l">
              <a:lnSpc>
                <a:spcPct val="112000"/>
              </a:lnSpc>
            </a:pPr>
            <a:r>
              <a:rPr sz="1000" b="0" i="0">
                <a:solidFill>
                  <a:srgbClr val="D8E4F0"/>
                </a:solidFill>
                <a:latin typeface="Consolas"/>
              </a:rPr>
              <a:t>set_false_path -from [get_cells cfg_mode_reg]</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two clocks that are genuinely unrelated (no data crosses without a synchroniser)</a:t>
            </a:r>
          </a:p>
          <a:p>
            <a:pPr algn="l">
              <a:lnSpc>
                <a:spcPct val="112000"/>
              </a:lnSpc>
            </a:pPr>
            <a:r>
              <a:rPr sz="1000" b="0" i="0">
                <a:solidFill>
                  <a:srgbClr val="D8E4F0"/>
                </a:solidFill>
                <a:latin typeface="Consolas"/>
              </a:rPr>
              <a:t>set_clock_groups -asynchronous -group [get_clocks sys_clk] \</a:t>
            </a:r>
          </a:p>
          <a:p>
            <a:pPr algn="l">
              <a:lnSpc>
                <a:spcPct val="112000"/>
              </a:lnSpc>
            </a:pPr>
            <a:r>
              <a:rPr sz="1000" b="0" i="0">
                <a:solidFill>
                  <a:srgbClr val="D8E4F0"/>
                </a:solidFill>
                <a:latin typeface="Consolas"/>
              </a:rPr>
              <a:t>                               -group [get_clocks usb_clk]</a:t>
            </a:r>
          </a:p>
        </p:txBody>
      </p:sp>
      <p:sp>
        <p:nvSpPr>
          <p:cNvPr id="12" name="Rounded Rectangle 11"/>
          <p:cNvSpPr/>
          <p:nvPr/>
        </p:nvSpPr>
        <p:spPr>
          <a:xfrm>
            <a:off x="411480" y="3616960"/>
            <a:ext cx="5532120" cy="118872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36809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Legitimate</a:t>
            </a:r>
          </a:p>
        </p:txBody>
      </p:sp>
      <p:sp>
        <p:nvSpPr>
          <p:cNvPr id="14" name="TextBox 13"/>
          <p:cNvSpPr txBox="1"/>
          <p:nvPr/>
        </p:nvSpPr>
        <p:spPr>
          <a:xfrm>
            <a:off x="548640" y="3955288"/>
            <a:ext cx="5257800"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The path physically cannot be exercised.</a:t>
            </a:r>
          </a:p>
          <a:p>
            <a:pPr algn="l">
              <a:lnSpc>
                <a:spcPct val="103000"/>
              </a:lnSpc>
              <a:spcAft>
                <a:spcPts val="400"/>
              </a:spcAft>
            </a:pPr>
            <a:r>
              <a:rPr sz="1100" b="0" i="0">
                <a:solidFill>
                  <a:srgbClr val="33414F"/>
                </a:solidFill>
                <a:latin typeface="Calibri"/>
              </a:rPr>
              <a:t>A synchroniser already handles the crossing.</a:t>
            </a:r>
          </a:p>
          <a:p>
            <a:pPr algn="l">
              <a:lnSpc>
                <a:spcPct val="103000"/>
              </a:lnSpc>
              <a:spcAft>
                <a:spcPts val="400"/>
              </a:spcAft>
            </a:pPr>
            <a:r>
              <a:rPr sz="1100" b="0" i="0">
                <a:solidFill>
                  <a:srgbClr val="33414F"/>
                </a:solidFill>
                <a:latin typeface="Calibri"/>
              </a:rPr>
              <a:t>The endpoint is not sampled by that clock at all.</a:t>
            </a:r>
          </a:p>
        </p:txBody>
      </p:sp>
      <p:sp>
        <p:nvSpPr>
          <p:cNvPr id="15" name="Rounded Rectangle 14"/>
          <p:cNvSpPr/>
          <p:nvPr/>
        </p:nvSpPr>
        <p:spPr>
          <a:xfrm>
            <a:off x="6126480" y="3616960"/>
            <a:ext cx="5532120" cy="118872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63640" y="368096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Not legitimate</a:t>
            </a:r>
          </a:p>
        </p:txBody>
      </p:sp>
      <p:sp>
        <p:nvSpPr>
          <p:cNvPr id="17" name="TextBox 16"/>
          <p:cNvSpPr txBox="1"/>
          <p:nvPr/>
        </p:nvSpPr>
        <p:spPr>
          <a:xfrm>
            <a:off x="6263640" y="3955288"/>
            <a:ext cx="5257800" cy="7863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"It always fails and I do not know why."</a:t>
            </a:r>
          </a:p>
          <a:p>
            <a:pPr algn="l">
              <a:lnSpc>
                <a:spcPct val="103000"/>
              </a:lnSpc>
              <a:spcAft>
                <a:spcPts val="400"/>
              </a:spcAft>
            </a:pPr>
            <a:r>
              <a:rPr sz="1100" b="0" i="0">
                <a:solidFill>
                  <a:srgbClr val="33414F"/>
                </a:solidFill>
                <a:latin typeface="Calibri"/>
              </a:rPr>
              <a:t>"The tool is being pessimistic."</a:t>
            </a:r>
          </a:p>
          <a:p>
            <a:pPr algn="l">
              <a:lnSpc>
                <a:spcPct val="103000"/>
              </a:lnSpc>
              <a:spcAft>
                <a:spcPts val="400"/>
              </a:spcAft>
            </a:pPr>
            <a:r>
              <a:rPr sz="1100" b="0" i="0">
                <a:solidFill>
                  <a:srgbClr val="33414F"/>
                </a:solidFill>
                <a:latin typeface="Calibri"/>
              </a:rPr>
              <a:t>"We ran out of time before tape-out."</a:t>
            </a:r>
          </a:p>
        </p:txBody>
      </p:sp>
      <p:sp>
        <p:nvSpPr>
          <p:cNvPr id="18" name="Rounded Rectangle 17"/>
          <p:cNvSpPr/>
          <p:nvPr/>
        </p:nvSpPr>
        <p:spPr>
          <a:xfrm>
            <a:off x="411480" y="4897120"/>
            <a:ext cx="11247120" cy="8229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576072" y="49611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How this kills a chip</a:t>
            </a:r>
          </a:p>
        </p:txBody>
      </p:sp>
      <p:sp>
        <p:nvSpPr>
          <p:cNvPr id="20" name="TextBox 19"/>
          <p:cNvSpPr txBox="1"/>
          <p:nvPr/>
        </p:nvSpPr>
        <p:spPr>
          <a:xfrm>
            <a:off x="576072" y="523544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C01F43"/>
                </a:solidFill>
                <a:latin typeface="Calibri"/>
              </a:rPr>
              <a:t>set_false_path on a path that IS real removes the only check that would have caught the bug. The report goes green, the design ships, and the failure appears in the field at one temperature and one voltage. Write the justification in the file, next to the line.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MULTICYCLE PATHS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When One Cycle Was Never the Requirement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17</a:t>
            </a:r>
          </a:p>
        </p:txBody>
      </p:sp>
      <p:pic>
        <p:nvPicPr>
          <p:cNvPr id="9" name="Picture 8" descr="multicycle_waves.png"/>
          <p:cNvPicPr>
            <a:picLocks noChangeAspect="1"/>
          </p:cNvPicPr>
          <p:nvPr/>
        </p:nvPicPr>
        <p:blipFill>
          <a:blip r:embed="rId2"/>
          <a:stretch>
            <a:fillRect/>
          </a:stretch>
        </p:blipFill>
        <p:spPr>
          <a:xfrm>
            <a:off x="2941773" y="1097280"/>
            <a:ext cx="6186533" cy="3200400"/>
          </a:xfrm>
          <a:prstGeom prst="rect">
            <a:avLst/>
          </a:prstGeom>
        </p:spPr>
      </p:pic>
      <p:sp>
        <p:nvSpPr>
          <p:cNvPr id="10" name="Rounded Rectangle 9"/>
          <p:cNvSpPr/>
          <p:nvPr/>
        </p:nvSpPr>
        <p:spPr>
          <a:xfrm>
            <a:off x="411480" y="4389120"/>
            <a:ext cx="11247120" cy="87884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5034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setup N, hold N-1 - and the hold line is not optional</a:t>
            </a:r>
          </a:p>
        </p:txBody>
      </p:sp>
      <p:sp>
        <p:nvSpPr>
          <p:cNvPr id="12" name="TextBox 11"/>
          <p:cNvSpPr txBox="1"/>
          <p:nvPr/>
        </p:nvSpPr>
        <p:spPr>
          <a:xfrm>
            <a:off x="594360" y="4777740"/>
            <a:ext cx="10881360" cy="37592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set_multicycle_path 4 -setup -from [get_cells a_q*] -to [get_cells acc*]</a:t>
            </a:r>
          </a:p>
          <a:p>
            <a:pPr algn="l">
              <a:lnSpc>
                <a:spcPct val="112000"/>
              </a:lnSpc>
            </a:pPr>
            <a:r>
              <a:rPr sz="1000" b="0" i="0">
                <a:solidFill>
                  <a:srgbClr val="D8E4F0"/>
                </a:solidFill>
                <a:latin typeface="Consolas"/>
              </a:rPr>
              <a:t>set_multicycle_path 3 -hold  -from [get_cells a_q*] -to [get_cells acc*]</a:t>
            </a:r>
          </a:p>
        </p:txBody>
      </p:sp>
      <p:sp>
        <p:nvSpPr>
          <p:cNvPr id="13" name="Rounded Rectangle 12"/>
          <p:cNvSpPr/>
          <p:nvPr/>
        </p:nvSpPr>
        <p:spPr>
          <a:xfrm>
            <a:off x="411480" y="5359400"/>
            <a:ext cx="11247120" cy="82296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76072" y="5423408"/>
            <a:ext cx="10917936" cy="274320"/>
          </a:xfrm>
          <a:prstGeom prst="rect">
            <a:avLst/>
          </a:prstGeom>
          <a:noFill/>
        </p:spPr>
        <p:txBody>
          <a:bodyPr wrap="square" lIns="0" rIns="0" tIns="0" bIns="0" anchor="ctr">
            <a:spAutoFit/>
          </a:bodyPr>
          <a:lstStyle/>
          <a:p>
            <a:pPr algn="l">
              <a:lnSpc>
                <a:spcPct val="103000"/>
              </a:lnSpc>
            </a:pPr>
            <a:r>
              <a:rPr sz="1150" b="1" i="0">
                <a:solidFill>
                  <a:srgbClr val="6B45A8"/>
                </a:solidFill>
                <a:latin typeface="Cambria"/>
              </a:rPr>
              <a:t>Why the hold number is N-1</a:t>
            </a:r>
          </a:p>
        </p:txBody>
      </p:sp>
      <p:sp>
        <p:nvSpPr>
          <p:cNvPr id="15" name="TextBox 14"/>
          <p:cNvSpPr txBox="1"/>
          <p:nvPr/>
        </p:nvSpPr>
        <p:spPr>
          <a:xfrm>
            <a:off x="576072" y="569772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The setup line moves the CAPTURE edge four cycles later. Left alone, the hold check would then compare against that same distant edge and demand an absurd amount of delay. The -hold N-1 line moves the hold check back to where it belongs: one edge after the launch.</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MULTICYCLE PATHS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Part Everyone Forgets: the Hardware Must Agree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18</a:t>
            </a:r>
          </a:p>
        </p:txBody>
      </p:sp>
      <p:sp>
        <p:nvSpPr>
          <p:cNvPr id="9" name="Rounded Rectangle 8"/>
          <p:cNvSpPr/>
          <p:nvPr/>
        </p:nvSpPr>
        <p:spPr>
          <a:xfrm>
            <a:off x="411480" y="1143000"/>
            <a:ext cx="11247120" cy="257048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rtl/slow_path.v — the enable that justifies the exception</a:t>
            </a:r>
          </a:p>
        </p:txBody>
      </p:sp>
      <p:sp>
        <p:nvSpPr>
          <p:cNvPr id="11" name="TextBox 10"/>
          <p:cNvSpPr txBox="1"/>
          <p:nvPr/>
        </p:nvSpPr>
        <p:spPr>
          <a:xfrm>
            <a:off x="594360" y="1531620"/>
            <a:ext cx="10881360" cy="206756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the SDC exception is a claim about this design. Make the claim true:</a:t>
            </a:r>
          </a:p>
          <a:p>
            <a:pPr algn="l">
              <a:lnSpc>
                <a:spcPct val="112000"/>
              </a:lnSpc>
            </a:pPr>
            <a:r>
              <a:rPr sz="1000" b="0" i="0">
                <a:solidFill>
                  <a:srgbClr val="D8E4F0"/>
                </a:solidFill>
                <a:latin typeface="Consolas"/>
              </a:rPr>
              <a:t>reg [1:0] phase;</a:t>
            </a:r>
          </a:p>
          <a:p>
            <a:pPr algn="l">
              <a:lnSpc>
                <a:spcPct val="112000"/>
              </a:lnSpc>
            </a:pPr>
            <a:r>
              <a:rPr sz="1000" b="0" i="0">
                <a:solidFill>
                  <a:srgbClr val="D8E4F0"/>
                </a:solidFill>
                <a:latin typeface="Consolas"/>
              </a:rPr>
              <a:t>always @(posedge clk) phase &lt;= phase + 1'b1;</a:t>
            </a:r>
          </a:p>
          <a:p>
            <a:pPr algn="l">
              <a:lnSpc>
                <a:spcPct val="112000"/>
              </a:lnSpc>
            </a:pPr>
            <a:r>
              <a:rPr sz="1000" b="0" i="0">
                <a:solidFill>
                  <a:srgbClr val="D8E4F0"/>
                </a:solidFill>
                <a:latin typeface="Consolas"/>
              </a:rPr>
              <a:t>wire tick = (phase == 2'b11);          // one cycle in four</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always @(posedge clk) begin</a:t>
            </a:r>
          </a:p>
          <a:p>
            <a:pPr algn="l">
              <a:lnSpc>
                <a:spcPct val="112000"/>
              </a:lnSpc>
            </a:pPr>
            <a:r>
              <a:rPr sz="1000" b="0" i="0">
                <a:solidFill>
                  <a:srgbClr val="D8E4F0"/>
                </a:solidFill>
                <a:latin typeface="Consolas"/>
              </a:rPr>
              <a:t>    if (tick) acc &lt;= a_q + b_q;        // the ENABLE is what makes it legal</a:t>
            </a:r>
          </a:p>
          <a:p>
            <a:pPr algn="l">
              <a:lnSpc>
                <a:spcPct val="112000"/>
              </a:lnSpc>
            </a:pPr>
            <a:r>
              <a:rPr sz="1000" b="0" i="0">
                <a:solidFill>
                  <a:srgbClr val="D8E4F0"/>
                </a:solidFill>
                <a:latin typeface="Consolas"/>
              </a:rPr>
              <a:t>end</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a_q and b_q must also be held steady across all four cycles -</a:t>
            </a:r>
          </a:p>
          <a:p>
            <a:pPr algn="l">
              <a:lnSpc>
                <a:spcPct val="112000"/>
              </a:lnSpc>
            </a:pPr>
            <a:r>
              <a:rPr sz="1000" b="0" i="0">
                <a:solidFill>
                  <a:srgbClr val="D8E4F0"/>
                </a:solidFill>
                <a:latin typeface="Consolas"/>
              </a:rPr>
              <a:t>// if they change every cycle, the multicycle claim is simply false.</a:t>
            </a:r>
          </a:p>
        </p:txBody>
      </p:sp>
      <p:sp>
        <p:nvSpPr>
          <p:cNvPr id="12" name="Rectangle 11"/>
          <p:cNvSpPr/>
          <p:nvPr/>
        </p:nvSpPr>
        <p:spPr>
          <a:xfrm>
            <a:off x="411480" y="3804920"/>
            <a:ext cx="39319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7200" y="3804920"/>
            <a:ext cx="38404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Without the exception</a:t>
            </a:r>
          </a:p>
        </p:txBody>
      </p:sp>
      <p:sp>
        <p:nvSpPr>
          <p:cNvPr id="14" name="Rectangle 13"/>
          <p:cNvSpPr/>
          <p:nvPr/>
        </p:nvSpPr>
        <p:spPr>
          <a:xfrm>
            <a:off x="4343400" y="3804920"/>
            <a:ext cx="39319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4389120" y="3804920"/>
            <a:ext cx="38404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With it</a:t>
            </a:r>
          </a:p>
        </p:txBody>
      </p:sp>
      <p:sp>
        <p:nvSpPr>
          <p:cNvPr id="16" name="Rectangle 15"/>
          <p:cNvSpPr/>
          <p:nvPr/>
        </p:nvSpPr>
        <p:spPr>
          <a:xfrm>
            <a:off x="8275320" y="3804920"/>
            <a:ext cx="338328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8321040" y="3804920"/>
            <a:ext cx="329184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Measured in the lab</a:t>
            </a:r>
          </a:p>
        </p:txBody>
      </p:sp>
      <p:sp>
        <p:nvSpPr>
          <p:cNvPr id="18" name="Rectangle 17"/>
          <p:cNvSpPr/>
          <p:nvPr/>
        </p:nvSpPr>
        <p:spPr>
          <a:xfrm>
            <a:off x="411480" y="4079240"/>
            <a:ext cx="39319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457200" y="4079240"/>
            <a:ext cx="38404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worst slack -1.193 ns</a:t>
            </a:r>
          </a:p>
        </p:txBody>
      </p:sp>
      <p:sp>
        <p:nvSpPr>
          <p:cNvPr id="20" name="Rectangle 19"/>
          <p:cNvSpPr/>
          <p:nvPr/>
        </p:nvSpPr>
        <p:spPr>
          <a:xfrm>
            <a:off x="4343400" y="4079240"/>
            <a:ext cx="39319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389120" y="4079240"/>
            <a:ext cx="38404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worst slack +0.392 ns</a:t>
            </a:r>
          </a:p>
        </p:txBody>
      </p:sp>
      <p:sp>
        <p:nvSpPr>
          <p:cNvPr id="22" name="Rectangle 21"/>
          <p:cNvSpPr/>
          <p:nvPr/>
        </p:nvSpPr>
        <p:spPr>
          <a:xfrm>
            <a:off x="8275320" y="4079240"/>
            <a:ext cx="33832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8321040" y="407924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one SDC line</a:t>
            </a:r>
          </a:p>
        </p:txBody>
      </p:sp>
      <p:sp>
        <p:nvSpPr>
          <p:cNvPr id="24" name="Rectangle 23"/>
          <p:cNvSpPr/>
          <p:nvPr/>
        </p:nvSpPr>
        <p:spPr>
          <a:xfrm>
            <a:off x="411480" y="4353560"/>
            <a:ext cx="39319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7200" y="4353560"/>
            <a:ext cx="38404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tool times a 32-bit ripple add in one cycle</a:t>
            </a:r>
          </a:p>
        </p:txBody>
      </p:sp>
      <p:sp>
        <p:nvSpPr>
          <p:cNvPr id="26" name="Rectangle 25"/>
          <p:cNvSpPr/>
          <p:nvPr/>
        </p:nvSpPr>
        <p:spPr>
          <a:xfrm>
            <a:off x="4343400" y="4353560"/>
            <a:ext cx="39319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4389120" y="4353560"/>
            <a:ext cx="38404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it times it across four</a:t>
            </a:r>
          </a:p>
        </p:txBody>
      </p:sp>
      <p:sp>
        <p:nvSpPr>
          <p:cNvPr id="28" name="Rectangle 27"/>
          <p:cNvSpPr/>
          <p:nvPr/>
        </p:nvSpPr>
        <p:spPr>
          <a:xfrm>
            <a:off x="8275320" y="4353560"/>
            <a:ext cx="33832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8321040" y="435356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 RTL changed at all</a:t>
            </a:r>
          </a:p>
        </p:txBody>
      </p:sp>
      <p:sp>
        <p:nvSpPr>
          <p:cNvPr id="30" name="Rectangle 29"/>
          <p:cNvSpPr/>
          <p:nvPr/>
        </p:nvSpPr>
        <p:spPr>
          <a:xfrm>
            <a:off x="411480" y="4627880"/>
            <a:ext cx="39319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457200" y="4627880"/>
            <a:ext cx="38404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you pipeline something that never needed it</a:t>
            </a:r>
          </a:p>
        </p:txBody>
      </p:sp>
      <p:sp>
        <p:nvSpPr>
          <p:cNvPr id="32" name="Rectangle 31"/>
          <p:cNvSpPr/>
          <p:nvPr/>
        </p:nvSpPr>
        <p:spPr>
          <a:xfrm>
            <a:off x="4343400" y="4627880"/>
            <a:ext cx="39319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389120" y="4627880"/>
            <a:ext cx="38404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you ship what you already had</a:t>
            </a:r>
          </a:p>
        </p:txBody>
      </p:sp>
      <p:sp>
        <p:nvSpPr>
          <p:cNvPr id="34" name="Rectangle 33"/>
          <p:cNvSpPr/>
          <p:nvPr/>
        </p:nvSpPr>
        <p:spPr>
          <a:xfrm>
            <a:off x="8275320" y="4627880"/>
            <a:ext cx="33832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8321040" y="462788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hours of work avoided</a:t>
            </a:r>
          </a:p>
        </p:txBody>
      </p:sp>
      <p:sp>
        <p:nvSpPr>
          <p:cNvPr id="36" name="Rounded Rectangle 35"/>
          <p:cNvSpPr/>
          <p:nvPr/>
        </p:nvSpPr>
        <p:spPr>
          <a:xfrm>
            <a:off x="411480" y="4993640"/>
            <a:ext cx="11247120" cy="5943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576072" y="505764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discipline</a:t>
            </a:r>
          </a:p>
        </p:txBody>
      </p:sp>
      <p:sp>
        <p:nvSpPr>
          <p:cNvPr id="38" name="TextBox 37"/>
          <p:cNvSpPr txBox="1"/>
          <p:nvPr/>
        </p:nvSpPr>
        <p:spPr>
          <a:xfrm>
            <a:off x="576072" y="5331968"/>
            <a:ext cx="10917936" cy="192024"/>
          </a:xfrm>
          <a:prstGeom prst="rect">
            <a:avLst/>
          </a:prstGeom>
          <a:noFill/>
        </p:spPr>
        <p:txBody>
          <a:bodyPr wrap="square" lIns="0" rIns="0" tIns="0" bIns="0" anchor="t">
            <a:spAutoFit/>
          </a:bodyPr>
          <a:lstStyle/>
          <a:p>
            <a:pPr algn="l">
              <a:lnSpc>
                <a:spcPct val="103000"/>
              </a:lnSpc>
              <a:spcAft>
                <a:spcPts val="400"/>
              </a:spcAft>
            </a:pPr>
            <a:r>
              <a:rPr sz="1050" b="0" i="0">
                <a:solidFill>
                  <a:srgbClr val="C01F43"/>
                </a:solidFill>
                <a:latin typeface="Calibri"/>
              </a:rPr>
              <a:t>Never write a multicycle path you cannot point at the enable for. If the capture register has no enable, the exception is a lie and the silicon will find it.</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WRITING THE FILE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Order To Write It - and the Order To Debug It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19</a:t>
            </a:r>
          </a:p>
        </p:txBody>
      </p:sp>
      <p:pic>
        <p:nvPicPr>
          <p:cNvPr id="9" name="Picture 8" descr="sdc_checklist.png"/>
          <p:cNvPicPr>
            <a:picLocks noChangeAspect="1"/>
          </p:cNvPicPr>
          <p:nvPr/>
        </p:nvPicPr>
        <p:blipFill>
          <a:blip r:embed="rId2"/>
          <a:stretch>
            <a:fillRect/>
          </a:stretch>
        </p:blipFill>
        <p:spPr>
          <a:xfrm>
            <a:off x="2825894" y="1097280"/>
            <a:ext cx="6418292" cy="4297680"/>
          </a:xfrm>
          <a:prstGeom prst="rect">
            <a:avLst/>
          </a:prstGeom>
        </p:spPr>
      </p:pic>
      <p:sp>
        <p:nvSpPr>
          <p:cNvPr id="10" name="Rounded Rectangle 9"/>
          <p:cNvSpPr/>
          <p:nvPr/>
        </p:nvSpPr>
        <p:spPr>
          <a:xfrm>
            <a:off x="411480" y="548640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check that catches everything else</a:t>
            </a:r>
          </a:p>
        </p:txBody>
      </p:sp>
      <p:sp>
        <p:nvSpPr>
          <p:cNvPr id="12" name="TextBox 11"/>
          <p:cNvSpPr txBox="1"/>
          <p:nvPr/>
        </p:nvSpPr>
        <p:spPr>
          <a:xfrm>
            <a:off x="576072" y="582472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Report unconstrained endpoints on every run. A design with 400 of them and WNS +2.0 ns is in far worse shape than one with zero and WNS -0.1 ns - the first one has not been analysed at all.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6a · A COMPLETE FILE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Everything Above, In One Real Constraint File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20</a:t>
            </a:r>
          </a:p>
        </p:txBody>
      </p:sp>
      <p:sp>
        <p:nvSpPr>
          <p:cNvPr id="9" name="Rounded Rectangle 8"/>
          <p:cNvSpPr/>
          <p:nvPr/>
        </p:nvSpPr>
        <p:spPr>
          <a:xfrm>
            <a:off x="411480" y="1143000"/>
            <a:ext cx="11247120" cy="344271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3214116"/>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 constraints/add32.sdc</a:t>
            </a:r>
          </a:p>
          <a:p>
            <a:pPr algn="l">
              <a:lnSpc>
                <a:spcPct val="112000"/>
              </a:lnSpc>
            </a:pPr>
            <a:r>
              <a:rPr sz="950" b="0" i="0">
                <a:solidFill>
                  <a:srgbClr val="D8E4F0"/>
                </a:solidFill>
                <a:latin typeface="Consolas"/>
              </a:rPr>
              <a:t># clock ---------------------------------------------------------------------------</a:t>
            </a:r>
          </a:p>
          <a:p>
            <a:pPr algn="l">
              <a:lnSpc>
                <a:spcPct val="112000"/>
              </a:lnSpc>
            </a:pPr>
            <a:r>
              <a:rPr sz="950" b="0" i="0">
                <a:solidFill>
                  <a:srgbClr val="D8E4F0"/>
                </a:solidFill>
                <a:latin typeface="Consolas"/>
              </a:rPr>
              <a:t>create_clock -name clk -period 5.000 [get_ports clk]</a:t>
            </a:r>
          </a:p>
          <a:p>
            <a:pPr algn="l">
              <a:lnSpc>
                <a:spcPct val="112000"/>
              </a:lnSpc>
            </a:pPr>
            <a:r>
              <a:rPr sz="950" b="0" i="0">
                <a:solidFill>
                  <a:srgbClr val="D8E4F0"/>
                </a:solidFill>
                <a:latin typeface="Consolas"/>
              </a:rPr>
              <a:t>set_clock_uncertainty 0.100 -setup [get_clocks clk]</a:t>
            </a:r>
          </a:p>
          <a:p>
            <a:pPr algn="l">
              <a:lnSpc>
                <a:spcPct val="112000"/>
              </a:lnSpc>
            </a:pPr>
            <a:r>
              <a:rPr sz="950" b="0" i="0">
                <a:solidFill>
                  <a:srgbClr val="D8E4F0"/>
                </a:solidFill>
                <a:latin typeface="Consolas"/>
              </a:rPr>
              <a:t>set_clock_uncertainty 0.030 -hold  [get_clocks clk]</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boundary ------------------------------------------------------------------------</a:t>
            </a:r>
          </a:p>
          <a:p>
            <a:pPr algn="l">
              <a:lnSpc>
                <a:spcPct val="112000"/>
              </a:lnSpc>
            </a:pPr>
            <a:r>
              <a:rPr sz="950" b="0" i="0">
                <a:solidFill>
                  <a:srgbClr val="D8E4F0"/>
                </a:solidFill>
                <a:latin typeface="Consolas"/>
              </a:rPr>
              <a:t>set_input_delay  -clock clk -max 1.20 [get_ports {a[*] b[*]}]</a:t>
            </a:r>
          </a:p>
          <a:p>
            <a:pPr algn="l">
              <a:lnSpc>
                <a:spcPct val="112000"/>
              </a:lnSpc>
            </a:pPr>
            <a:r>
              <a:rPr sz="950" b="0" i="0">
                <a:solidFill>
                  <a:srgbClr val="D8E4F0"/>
                </a:solidFill>
                <a:latin typeface="Consolas"/>
              </a:rPr>
              <a:t>set_input_delay  -clock clk -min 0.30 [get_ports {a[*] b[*]}]</a:t>
            </a:r>
          </a:p>
          <a:p>
            <a:pPr algn="l">
              <a:lnSpc>
                <a:spcPct val="112000"/>
              </a:lnSpc>
            </a:pPr>
            <a:r>
              <a:rPr sz="950" b="0" i="0">
                <a:solidFill>
                  <a:srgbClr val="D8E4F0"/>
                </a:solidFill>
                <a:latin typeface="Consolas"/>
              </a:rPr>
              <a:t>set_output_delay -clock clk -max 1.00 [get_ports {sum[*] cout}]</a:t>
            </a:r>
          </a:p>
          <a:p>
            <a:pPr algn="l">
              <a:lnSpc>
                <a:spcPct val="112000"/>
              </a:lnSpc>
            </a:pPr>
            <a:r>
              <a:rPr sz="950" b="0" i="0">
                <a:solidFill>
                  <a:srgbClr val="D8E4F0"/>
                </a:solidFill>
                <a:latin typeface="Consolas"/>
              </a:rPr>
              <a:t>set_output_delay -clock clk -min 0.20 [get_ports {sum[*] cout}]</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exceptions ----------------------------------------------------------------------</a:t>
            </a:r>
          </a:p>
          <a:p>
            <a:pPr algn="l">
              <a:lnSpc>
                <a:spcPct val="112000"/>
              </a:lnSpc>
            </a:pPr>
            <a:r>
              <a:rPr sz="950" b="0" i="0">
                <a:solidFill>
                  <a:srgbClr val="D8E4F0"/>
                </a:solidFill>
                <a:latin typeface="Consolas"/>
              </a:rPr>
              <a:t># cfg_mode is written by software at boot and read only when the core is halted.</a:t>
            </a:r>
          </a:p>
          <a:p>
            <a:pPr algn="l">
              <a:lnSpc>
                <a:spcPct val="112000"/>
              </a:lnSpc>
            </a:pPr>
            <a:r>
              <a:rPr sz="950" b="0" i="0">
                <a:solidFill>
                  <a:srgbClr val="D8E4F0"/>
                </a:solidFill>
                <a:latin typeface="Consolas"/>
              </a:rPr>
              <a:t>set_false_path -from [get_cells cfg_mode_reg]</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environment ---------------------------------------------------------------------</a:t>
            </a:r>
          </a:p>
          <a:p>
            <a:pPr algn="l">
              <a:lnSpc>
                <a:spcPct val="112000"/>
              </a:lnSpc>
            </a:pPr>
            <a:r>
              <a:rPr sz="950" b="0" i="0">
                <a:solidFill>
                  <a:srgbClr val="D8E4F0"/>
                </a:solidFill>
                <a:latin typeface="Consolas"/>
              </a:rPr>
              <a:t>set_max_fanout 16 [current_design]</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6a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Ten Questions Before We Move 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21</a:t>
            </a:r>
          </a:p>
        </p:txBody>
      </p:sp>
      <p:sp>
        <p:nvSpPr>
          <p:cNvPr id="9" name="Rectangle 8"/>
          <p:cNvSpPr/>
          <p:nvPr/>
        </p:nvSpPr>
        <p:spPr>
          <a:xfrm>
            <a:off x="411480" y="1143000"/>
            <a:ext cx="54864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t>
            </a:r>
          </a:p>
        </p:txBody>
      </p:sp>
      <p:sp>
        <p:nvSpPr>
          <p:cNvPr id="11" name="Rectangle 10"/>
          <p:cNvSpPr/>
          <p:nvPr/>
        </p:nvSpPr>
        <p:spPr>
          <a:xfrm>
            <a:off x="960120" y="1143000"/>
            <a:ext cx="48463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47548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Question</a:t>
            </a:r>
          </a:p>
        </p:txBody>
      </p:sp>
      <p:sp>
        <p:nvSpPr>
          <p:cNvPr id="13" name="Rectangle 12"/>
          <p:cNvSpPr/>
          <p:nvPr/>
        </p:nvSpPr>
        <p:spPr>
          <a:xfrm>
            <a:off x="5806440" y="1143000"/>
            <a:ext cx="585216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852160" y="1143000"/>
            <a:ext cx="576072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The answer in one line</a:t>
            </a:r>
          </a:p>
        </p:txBody>
      </p:sp>
      <p:sp>
        <p:nvSpPr>
          <p:cNvPr id="15" name="Rectangle 14"/>
          <p:cNvSpPr/>
          <p:nvPr/>
        </p:nvSpPr>
        <p:spPr>
          <a:xfrm>
            <a:off x="411480" y="1417320"/>
            <a:ext cx="5486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1732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a:t>
            </a:r>
          </a:p>
        </p:txBody>
      </p:sp>
      <p:sp>
        <p:nvSpPr>
          <p:cNvPr id="17" name="Rectangle 16"/>
          <p:cNvSpPr/>
          <p:nvPr/>
        </p:nvSpPr>
        <p:spPr>
          <a:xfrm>
            <a:off x="960120" y="141732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1732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does create_clock actually do?</a:t>
            </a:r>
          </a:p>
        </p:txBody>
      </p:sp>
      <p:sp>
        <p:nvSpPr>
          <p:cNvPr id="19" name="Rectangle 18"/>
          <p:cNvSpPr/>
          <p:nvPr/>
        </p:nvSpPr>
        <p:spPr>
          <a:xfrm>
            <a:off x="5806440" y="1417320"/>
            <a:ext cx="58521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852160" y="141732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gives the tool a target; without it there is none</a:t>
            </a:r>
          </a:p>
        </p:txBody>
      </p:sp>
      <p:sp>
        <p:nvSpPr>
          <p:cNvPr id="21" name="Rectangle 20"/>
          <p:cNvSpPr/>
          <p:nvPr/>
        </p:nvSpPr>
        <p:spPr>
          <a:xfrm>
            <a:off x="411480" y="1691640"/>
            <a:ext cx="5486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69164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2</a:t>
            </a:r>
          </a:p>
        </p:txBody>
      </p:sp>
      <p:sp>
        <p:nvSpPr>
          <p:cNvPr id="23" name="Rectangle 22"/>
          <p:cNvSpPr/>
          <p:nvPr/>
        </p:nvSpPr>
        <p:spPr>
          <a:xfrm>
            <a:off x="960120" y="169164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69164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is the unit of slack?</a:t>
            </a:r>
          </a:p>
        </p:txBody>
      </p:sp>
      <p:sp>
        <p:nvSpPr>
          <p:cNvPr id="25" name="Rectangle 24"/>
          <p:cNvSpPr/>
          <p:nvPr/>
        </p:nvSpPr>
        <p:spPr>
          <a:xfrm>
            <a:off x="5806440" y="1691640"/>
            <a:ext cx="58521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852160" y="169164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time - nanoseconds, signed</a:t>
            </a:r>
          </a:p>
        </p:txBody>
      </p:sp>
      <p:sp>
        <p:nvSpPr>
          <p:cNvPr id="27" name="Rectangle 26"/>
          <p:cNvSpPr/>
          <p:nvPr/>
        </p:nvSpPr>
        <p:spPr>
          <a:xfrm>
            <a:off x="411480" y="1965960"/>
            <a:ext cx="5486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6596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a:t>
            </a:r>
          </a:p>
        </p:txBody>
      </p:sp>
      <p:sp>
        <p:nvSpPr>
          <p:cNvPr id="29" name="Rectangle 28"/>
          <p:cNvSpPr/>
          <p:nvPr/>
        </p:nvSpPr>
        <p:spPr>
          <a:xfrm>
            <a:off x="960120" y="196596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196596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Positive slack means?</a:t>
            </a:r>
          </a:p>
        </p:txBody>
      </p:sp>
      <p:sp>
        <p:nvSpPr>
          <p:cNvPr id="31" name="Rectangle 30"/>
          <p:cNvSpPr/>
          <p:nvPr/>
        </p:nvSpPr>
        <p:spPr>
          <a:xfrm>
            <a:off x="5806440" y="1965960"/>
            <a:ext cx="58521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852160" y="196596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path fits, with that much to spare</a:t>
            </a:r>
          </a:p>
        </p:txBody>
      </p:sp>
      <p:sp>
        <p:nvSpPr>
          <p:cNvPr id="33" name="Rectangle 32"/>
          <p:cNvSpPr/>
          <p:nvPr/>
        </p:nvSpPr>
        <p:spPr>
          <a:xfrm>
            <a:off x="411480" y="2240280"/>
            <a:ext cx="5486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4028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a:t>
            </a:r>
          </a:p>
        </p:txBody>
      </p:sp>
      <p:sp>
        <p:nvSpPr>
          <p:cNvPr id="35" name="Rectangle 34"/>
          <p:cNvSpPr/>
          <p:nvPr/>
        </p:nvSpPr>
        <p:spPr>
          <a:xfrm>
            <a:off x="960120" y="224028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24028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does set_input_delay describe?</a:t>
            </a:r>
          </a:p>
        </p:txBody>
      </p:sp>
      <p:sp>
        <p:nvSpPr>
          <p:cNvPr id="37" name="Rectangle 36"/>
          <p:cNvSpPr/>
          <p:nvPr/>
        </p:nvSpPr>
        <p:spPr>
          <a:xfrm>
            <a:off x="5806440" y="2240280"/>
            <a:ext cx="58521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852160" y="224028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part of the path outside your chip</a:t>
            </a:r>
          </a:p>
        </p:txBody>
      </p:sp>
      <p:sp>
        <p:nvSpPr>
          <p:cNvPr id="39" name="Rectangle 38"/>
          <p:cNvSpPr/>
          <p:nvPr/>
        </p:nvSpPr>
        <p:spPr>
          <a:xfrm>
            <a:off x="411480" y="2514600"/>
            <a:ext cx="5486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1460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a:t>
            </a:r>
          </a:p>
        </p:txBody>
      </p:sp>
      <p:sp>
        <p:nvSpPr>
          <p:cNvPr id="41" name="Rectangle 40"/>
          <p:cNvSpPr/>
          <p:nvPr/>
        </p:nvSpPr>
        <p:spPr>
          <a:xfrm>
            <a:off x="960120" y="251460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51460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happens if you omit it?</a:t>
            </a:r>
          </a:p>
        </p:txBody>
      </p:sp>
      <p:sp>
        <p:nvSpPr>
          <p:cNvPr id="43" name="Rectangle 42"/>
          <p:cNvSpPr/>
          <p:nvPr/>
        </p:nvSpPr>
        <p:spPr>
          <a:xfrm>
            <a:off x="5806440" y="2514600"/>
            <a:ext cx="58521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852160" y="251460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those paths become unconstrained - unchecked</a:t>
            </a:r>
          </a:p>
        </p:txBody>
      </p:sp>
      <p:sp>
        <p:nvSpPr>
          <p:cNvPr id="45" name="Rectangle 44"/>
          <p:cNvSpPr/>
          <p:nvPr/>
        </p:nvSpPr>
        <p:spPr>
          <a:xfrm>
            <a:off x="411480" y="2788920"/>
            <a:ext cx="5486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78892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a:t>
            </a:r>
          </a:p>
        </p:txBody>
      </p:sp>
      <p:sp>
        <p:nvSpPr>
          <p:cNvPr id="47" name="Rectangle 46"/>
          <p:cNvSpPr/>
          <p:nvPr/>
        </p:nvSpPr>
        <p:spPr>
          <a:xfrm>
            <a:off x="960120" y="278892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278892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Why is uncertainty there?</a:t>
            </a:r>
          </a:p>
        </p:txBody>
      </p:sp>
      <p:sp>
        <p:nvSpPr>
          <p:cNvPr id="49" name="Rectangle 48"/>
          <p:cNvSpPr/>
          <p:nvPr/>
        </p:nvSpPr>
        <p:spPr>
          <a:xfrm>
            <a:off x="5806440" y="2788920"/>
            <a:ext cx="58521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852160" y="278892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jitter, and skew that does not exist yet</a:t>
            </a:r>
          </a:p>
        </p:txBody>
      </p:sp>
      <p:sp>
        <p:nvSpPr>
          <p:cNvPr id="51" name="Rectangle 50"/>
          <p:cNvSpPr/>
          <p:nvPr/>
        </p:nvSpPr>
        <p:spPr>
          <a:xfrm>
            <a:off x="411480" y="3063240"/>
            <a:ext cx="5486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06324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7</a:t>
            </a:r>
          </a:p>
        </p:txBody>
      </p:sp>
      <p:sp>
        <p:nvSpPr>
          <p:cNvPr id="53" name="Rectangle 52"/>
          <p:cNvSpPr/>
          <p:nvPr/>
        </p:nvSpPr>
        <p:spPr>
          <a:xfrm>
            <a:off x="960120" y="306324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306324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When is a false path legitimate?</a:t>
            </a:r>
          </a:p>
        </p:txBody>
      </p:sp>
      <p:sp>
        <p:nvSpPr>
          <p:cNvPr id="55" name="Rectangle 54"/>
          <p:cNvSpPr/>
          <p:nvPr/>
        </p:nvSpPr>
        <p:spPr>
          <a:xfrm>
            <a:off x="5806440" y="3063240"/>
            <a:ext cx="58521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852160" y="306324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when the path cannot be exercised, and you can say why</a:t>
            </a:r>
          </a:p>
        </p:txBody>
      </p:sp>
      <p:sp>
        <p:nvSpPr>
          <p:cNvPr id="57" name="Rectangle 56"/>
          <p:cNvSpPr/>
          <p:nvPr/>
        </p:nvSpPr>
        <p:spPr>
          <a:xfrm>
            <a:off x="411480" y="3337560"/>
            <a:ext cx="5486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33756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8</a:t>
            </a:r>
          </a:p>
        </p:txBody>
      </p:sp>
      <p:sp>
        <p:nvSpPr>
          <p:cNvPr id="59" name="Rectangle 58"/>
          <p:cNvSpPr/>
          <p:nvPr/>
        </p:nvSpPr>
        <p:spPr>
          <a:xfrm>
            <a:off x="960120" y="333756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05840" y="333756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Multicycle 4 setup needs what hold?</a:t>
            </a:r>
          </a:p>
        </p:txBody>
      </p:sp>
      <p:sp>
        <p:nvSpPr>
          <p:cNvPr id="61" name="Rectangle 60"/>
          <p:cNvSpPr/>
          <p:nvPr/>
        </p:nvSpPr>
        <p:spPr>
          <a:xfrm>
            <a:off x="5806440" y="3337560"/>
            <a:ext cx="58521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5852160" y="333756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3 - almost always N-1</a:t>
            </a:r>
          </a:p>
        </p:txBody>
      </p:sp>
      <p:sp>
        <p:nvSpPr>
          <p:cNvPr id="63" name="Rectangle 62"/>
          <p:cNvSpPr/>
          <p:nvPr/>
        </p:nvSpPr>
        <p:spPr>
          <a:xfrm>
            <a:off x="411480" y="3611880"/>
            <a:ext cx="54864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457200" y="361188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9</a:t>
            </a:r>
          </a:p>
        </p:txBody>
      </p:sp>
      <p:sp>
        <p:nvSpPr>
          <p:cNvPr id="65" name="Rectangle 64"/>
          <p:cNvSpPr/>
          <p:nvPr/>
        </p:nvSpPr>
        <p:spPr>
          <a:xfrm>
            <a:off x="960120" y="361188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1005840" y="361188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must the RTL have for it?</a:t>
            </a:r>
          </a:p>
        </p:txBody>
      </p:sp>
      <p:sp>
        <p:nvSpPr>
          <p:cNvPr id="67" name="Rectangle 66"/>
          <p:cNvSpPr/>
          <p:nvPr/>
        </p:nvSpPr>
        <p:spPr>
          <a:xfrm>
            <a:off x="5806440" y="3611880"/>
            <a:ext cx="585216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5852160" y="361188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an enable that really does hold the capture</a:t>
            </a:r>
          </a:p>
        </p:txBody>
      </p:sp>
      <p:sp>
        <p:nvSpPr>
          <p:cNvPr id="69" name="Rectangle 68"/>
          <p:cNvSpPr/>
          <p:nvPr/>
        </p:nvSpPr>
        <p:spPr>
          <a:xfrm>
            <a:off x="411480" y="3886200"/>
            <a:ext cx="54864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457200" y="3886200"/>
            <a:ext cx="45720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10</a:t>
            </a:r>
          </a:p>
        </p:txBody>
      </p:sp>
      <p:sp>
        <p:nvSpPr>
          <p:cNvPr id="71" name="Rectangle 70"/>
          <p:cNvSpPr/>
          <p:nvPr/>
        </p:nvSpPr>
        <p:spPr>
          <a:xfrm>
            <a:off x="960120" y="388620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1005840" y="388620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do you check last, every time?</a:t>
            </a:r>
          </a:p>
        </p:txBody>
      </p:sp>
      <p:sp>
        <p:nvSpPr>
          <p:cNvPr id="73" name="Rectangle 72"/>
          <p:cNvSpPr/>
          <p:nvPr/>
        </p:nvSpPr>
        <p:spPr>
          <a:xfrm>
            <a:off x="5806440" y="3886200"/>
            <a:ext cx="585216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5852160" y="3886200"/>
            <a:ext cx="576072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unconstrained-endpoint count</a:t>
            </a:r>
          </a:p>
        </p:txBody>
      </p:sp>
      <p:sp>
        <p:nvSpPr>
          <p:cNvPr id="75" name="TextBox 74"/>
          <p:cNvSpPr txBox="1"/>
          <p:nvPr/>
        </p:nvSpPr>
        <p:spPr>
          <a:xfrm>
            <a:off x="411480" y="4251960"/>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2A9D5C"/>
                </a:solidFill>
                <a:latin typeface="Calibri"/>
              </a:rPr>
              <a:t>If any of these is still fuzzy, the analysis in part 6b will not land. Ask now.</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6B45A8"/>
                </a:solidFill>
                <a:latin typeface="Calibri"/>
              </a:rPr>
              <a:t>PART 6b</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Timing Analysis and Optimization Techniques</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How a tool turns a netlist into a slack number - and what to do when that number is negative.</a:t>
            </a:r>
          </a:p>
        </p:txBody>
      </p:sp>
      <p:sp>
        <p:nvSpPr>
          <p:cNvPr id="6" name="Rectangle 5"/>
          <p:cNvSpPr/>
          <p:nvPr/>
        </p:nvSpPr>
        <p:spPr>
          <a:xfrm>
            <a:off x="640080" y="394106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Static timing analysis: the graph, the two sweeps, the subtraction</a:t>
            </a:r>
          </a:p>
        </p:txBody>
      </p:sp>
      <p:sp>
        <p:nvSpPr>
          <p:cNvPr id="8" name="Rectangle 7"/>
          <p:cNvSpPr/>
          <p:nvPr/>
        </p:nvSpPr>
        <p:spPr>
          <a:xfrm>
            <a:off x="640080" y="435254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Reading a timing report line by line</a:t>
            </a:r>
          </a:p>
        </p:txBody>
      </p:sp>
      <p:sp>
        <p:nvSpPr>
          <p:cNvPr id="10" name="Rectangle 9"/>
          <p:cNvSpPr/>
          <p:nvPr/>
        </p:nvSpPr>
        <p:spPr>
          <a:xfrm>
            <a:off x="640080" y="476402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Path groups, WNS, TNS, Fmax and PVT corners</a:t>
            </a:r>
          </a:p>
        </p:txBody>
      </p:sp>
      <p:sp>
        <p:nvSpPr>
          <p:cNvPr id="12" name="Rectangle 11"/>
          <p:cNvSpPr/>
          <p:nvPr/>
        </p:nvSpPr>
        <p:spPr>
          <a:xfrm>
            <a:off x="640080" y="5175504"/>
            <a:ext cx="91440" cy="182880"/>
          </a:xfrm>
          <a:prstGeom prst="rect">
            <a:avLst/>
          </a:prstGeom>
          <a:solidFill>
            <a:srgbClr val="6B45A8"/>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Optimisation: constraints, mapping, restructuring, pipelining, retiming</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6: Timing Constraints and Analysis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M2-T6 · 22</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WHY STA</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Static Timing Analysis Replaced Timing Simulation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23</a:t>
            </a:r>
          </a:p>
        </p:txBody>
      </p:sp>
      <p:pic>
        <p:nvPicPr>
          <p:cNvPr id="9" name="Picture 8" descr="sta_vs_sim.png"/>
          <p:cNvPicPr>
            <a:picLocks noChangeAspect="1"/>
          </p:cNvPicPr>
          <p:nvPr/>
        </p:nvPicPr>
        <p:blipFill>
          <a:blip r:embed="rId2"/>
          <a:stretch>
            <a:fillRect/>
          </a:stretch>
        </p:blipFill>
        <p:spPr>
          <a:xfrm>
            <a:off x="2563690" y="1097280"/>
            <a:ext cx="6942700" cy="4297680"/>
          </a:xfrm>
          <a:prstGeom prst="rect">
            <a:avLst/>
          </a:prstGeom>
        </p:spPr>
      </p:pic>
      <p:sp>
        <p:nvSpPr>
          <p:cNvPr id="10" name="Rounded Rectangle 9"/>
          <p:cNvSpPr/>
          <p:nvPr/>
        </p:nvSpPr>
        <p:spPr>
          <a:xfrm>
            <a:off x="411480" y="548640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word "static" is the whole idea</a:t>
            </a:r>
          </a:p>
        </p:txBody>
      </p:sp>
      <p:sp>
        <p:nvSpPr>
          <p:cNvPr id="12" name="TextBox 11"/>
          <p:cNvSpPr txBox="1"/>
          <p:nvPr/>
        </p:nvSpPr>
        <p:spPr>
          <a:xfrm>
            <a:off x="576072" y="582472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STA never asks what the data values are. It only asks how long the path is. That is why it needs no stimulus, why it cannot miss a path - and why it will happily report a path that can never actually switch.</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STEP 1</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Netlist Becomes a Graph of Delays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24</a:t>
            </a:r>
          </a:p>
        </p:txBody>
      </p:sp>
      <p:pic>
        <p:nvPicPr>
          <p:cNvPr id="9" name="Picture 8" descr="timing_graph.png"/>
          <p:cNvPicPr>
            <a:picLocks noChangeAspect="1"/>
          </p:cNvPicPr>
          <p:nvPr/>
        </p:nvPicPr>
        <p:blipFill>
          <a:blip r:embed="rId2"/>
          <a:stretch>
            <a:fillRect/>
          </a:stretch>
        </p:blipFill>
        <p:spPr>
          <a:xfrm>
            <a:off x="2361412" y="1097280"/>
            <a:ext cx="7347256" cy="4297680"/>
          </a:xfrm>
          <a:prstGeom prst="rect">
            <a:avLst/>
          </a:prstGeom>
        </p:spPr>
      </p:pic>
      <p:sp>
        <p:nvSpPr>
          <p:cNvPr id="10" name="Rounded Rectangle 9"/>
          <p:cNvSpPr/>
          <p:nvPr/>
        </p:nvSpPr>
        <p:spPr>
          <a:xfrm>
            <a:off x="411480" y="5486400"/>
            <a:ext cx="11247120" cy="700278"/>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56007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delay model used throughout this topic</a:t>
            </a:r>
          </a:p>
        </p:txBody>
      </p:sp>
      <p:sp>
        <p:nvSpPr>
          <p:cNvPr id="12" name="TextBox 11"/>
          <p:cNvSpPr txBox="1"/>
          <p:nvPr/>
        </p:nvSpPr>
        <p:spPr>
          <a:xfrm>
            <a:off x="594360" y="5875020"/>
            <a:ext cx="10881360" cy="197358"/>
          </a:xfrm>
          <a:prstGeom prst="rect">
            <a:avLst/>
          </a:prstGeom>
          <a:noFill/>
        </p:spPr>
        <p:txBody>
          <a:bodyPr wrap="square" lIns="0" rIns="0" tIns="0" bIns="0" anchor="t">
            <a:spAutoFit/>
          </a:bodyPr>
          <a:lstStyle/>
          <a:p>
            <a:pPr algn="l">
              <a:lnSpc>
                <a:spcPct val="112000"/>
              </a:lnSpc>
            </a:pPr>
            <a:r>
              <a:rPr sz="1050" b="0" i="0">
                <a:solidFill>
                  <a:srgbClr val="D8E4F0"/>
                </a:solidFill>
                <a:latin typeface="Consolas"/>
              </a:rPr>
              <a:t>cell delay  =  intrinsic  +  load_factor x (sum of input caps on the output net)</a:t>
            </a:r>
          </a:p>
        </p:txBody>
      </p:sp>
      <p:sp>
        <p:nvSpPr>
          <p:cNvPr id="13" name="TextBox 12"/>
          <p:cNvSpPr txBox="1"/>
          <p:nvPr/>
        </p:nvSpPr>
        <p:spPr>
          <a:xfrm>
            <a:off x="411480" y="6278118"/>
            <a:ext cx="11247120" cy="274320"/>
          </a:xfrm>
          <a:prstGeom prst="rect">
            <a:avLst/>
          </a:prstGeom>
          <a:noFill/>
        </p:spPr>
        <p:txBody>
          <a:bodyPr wrap="square" lIns="0" rIns="0" tIns="0" bIns="0" anchor="t">
            <a:spAutoFit/>
          </a:bodyPr>
          <a:lstStyle/>
          <a:p>
            <a:pPr algn="l">
              <a:lnSpc>
                <a:spcPct val="103000"/>
              </a:lnSpc>
              <a:spcAft>
                <a:spcPts val="700"/>
              </a:spcAft>
            </a:pPr>
            <a:r>
              <a:rPr sz="1050" b="0" i="0">
                <a:solidFill>
                  <a:srgbClr val="33414F"/>
                </a:solidFill>
                <a:latin typeface="Calibri"/>
              </a:rPr>
              <a:t>Real Liberty libraries use a 2-D table indexed by input slew and output load. The arithmetic below is the same; only the lookup is bigger.</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THE DELAY MODEL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Liberty Cell, In Full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25</a:t>
            </a:r>
          </a:p>
        </p:txBody>
      </p:sp>
      <p:sp>
        <p:nvSpPr>
          <p:cNvPr id="9" name="Rounded Rectangle 8"/>
          <p:cNvSpPr/>
          <p:nvPr/>
        </p:nvSpPr>
        <p:spPr>
          <a:xfrm>
            <a:off x="411480" y="1143000"/>
            <a:ext cx="11247120" cy="335991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lib/cda_edu.lib — you write this file in lab T1</a:t>
            </a:r>
          </a:p>
        </p:txBody>
      </p:sp>
      <p:sp>
        <p:nvSpPr>
          <p:cNvPr id="11" name="TextBox 10"/>
          <p:cNvSpPr txBox="1"/>
          <p:nvPr/>
        </p:nvSpPr>
        <p:spPr>
          <a:xfrm>
            <a:off x="594360" y="1531620"/>
            <a:ext cx="10881360" cy="2856992"/>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cell (XOR2) {</a:t>
            </a:r>
          </a:p>
          <a:p>
            <a:pPr algn="l">
              <a:lnSpc>
                <a:spcPct val="112000"/>
              </a:lnSpc>
            </a:pPr>
            <a:r>
              <a:rPr sz="950" b="0" i="0">
                <a:solidFill>
                  <a:srgbClr val="D8E4F0"/>
                </a:solidFill>
                <a:latin typeface="Consolas"/>
              </a:rPr>
              <a:t>    area              : 4.0 ;</a:t>
            </a:r>
          </a:p>
          <a:p>
            <a:pPr algn="l">
              <a:lnSpc>
                <a:spcPct val="112000"/>
              </a:lnSpc>
            </a:pPr>
            <a:r>
              <a:rPr sz="950" b="0" i="0">
                <a:solidFill>
                  <a:srgbClr val="D8E4F0"/>
                </a:solidFill>
                <a:latin typeface="Consolas"/>
              </a:rPr>
              <a:t>    cda_intrinsic     : 0.088 ;      /* ns, with no load at all              */</a:t>
            </a:r>
          </a:p>
          <a:p>
            <a:pPr algn="l">
              <a:lnSpc>
                <a:spcPct val="112000"/>
              </a:lnSpc>
            </a:pPr>
            <a:r>
              <a:rPr sz="950" b="0" i="0">
                <a:solidFill>
                  <a:srgbClr val="D8E4F0"/>
                </a:solidFill>
                <a:latin typeface="Consolas"/>
              </a:rPr>
              <a:t>    cda_load_factor   : 0.018 ;      /* ns per unit of capacitance on Y      */</a:t>
            </a:r>
          </a:p>
          <a:p>
            <a:pPr algn="l">
              <a:lnSpc>
                <a:spcPct val="112000"/>
              </a:lnSpc>
            </a:pPr>
            <a:r>
              <a:rPr sz="950" b="0" i="0">
                <a:solidFill>
                  <a:srgbClr val="D8E4F0"/>
                </a:solidFill>
                <a:latin typeface="Consolas"/>
              </a:rPr>
              <a:t>    cda_input_cap     : 1.5 ;        /* what this cell presents to its driver */</a:t>
            </a:r>
          </a:p>
          <a:p>
            <a:pPr algn="l">
              <a:lnSpc>
                <a:spcPct val="112000"/>
              </a:lnSpc>
            </a:pPr>
            <a:r>
              <a:rPr sz="950" b="0" i="0">
                <a:solidFill>
                  <a:srgbClr val="D8E4F0"/>
                </a:solidFill>
                <a:latin typeface="Consolas"/>
              </a:rPr>
              <a:t>    pin (A) { direction : input ;  }</a:t>
            </a:r>
          </a:p>
          <a:p>
            <a:pPr algn="l">
              <a:lnSpc>
                <a:spcPct val="112000"/>
              </a:lnSpc>
            </a:pPr>
            <a:r>
              <a:rPr sz="950" b="0" i="0">
                <a:solidFill>
                  <a:srgbClr val="D8E4F0"/>
                </a:solidFill>
                <a:latin typeface="Consolas"/>
              </a:rPr>
              <a:t>    pin (B) { direction : input ;  }</a:t>
            </a:r>
          </a:p>
          <a:p>
            <a:pPr algn="l">
              <a:lnSpc>
                <a:spcPct val="112000"/>
              </a:lnSpc>
            </a:pPr>
            <a:r>
              <a:rPr sz="950" b="0" i="0">
                <a:solidFill>
                  <a:srgbClr val="D8E4F0"/>
                </a:solidFill>
                <a:latin typeface="Consolas"/>
              </a:rPr>
              <a:t>    pin (Y) { direction : output ; function : "(A^B)" ; }</a:t>
            </a:r>
          </a:p>
          <a:p>
            <a:pPr algn="l">
              <a:lnSpc>
                <a:spcPct val="112000"/>
              </a:lnSpc>
            </a:pPr>
            <a:r>
              <a:rPr sz="950" b="0" i="0">
                <a:solidFill>
                  <a:srgbClr val="D8E4F0"/>
                </a:solidFill>
                <a:latin typeface="Consolas"/>
              </a:rPr>
              <a:t>}</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cell (DFF) {</a:t>
            </a:r>
          </a:p>
          <a:p>
            <a:pPr algn="l">
              <a:lnSpc>
                <a:spcPct val="112000"/>
              </a:lnSpc>
            </a:pPr>
            <a:r>
              <a:rPr sz="950" b="0" i="0">
                <a:solidFill>
                  <a:srgbClr val="D8E4F0"/>
                </a:solidFill>
                <a:latin typeface="Consolas"/>
              </a:rPr>
              <a:t>    cda_clk_to_q      : 0.145 ;      /* CK rising -&gt; Q valid                  */</a:t>
            </a:r>
          </a:p>
          <a:p>
            <a:pPr algn="l">
              <a:lnSpc>
                <a:spcPct val="112000"/>
              </a:lnSpc>
            </a:pPr>
            <a:r>
              <a:rPr sz="950" b="0" i="0">
                <a:solidFill>
                  <a:srgbClr val="D8E4F0"/>
                </a:solidFill>
                <a:latin typeface="Consolas"/>
              </a:rPr>
              <a:t>    cda_setup         : 0.090 ;      /* D stable before CK                    */</a:t>
            </a:r>
          </a:p>
          <a:p>
            <a:pPr algn="l">
              <a:lnSpc>
                <a:spcPct val="112000"/>
              </a:lnSpc>
            </a:pPr>
            <a:r>
              <a:rPr sz="950" b="0" i="0">
                <a:solidFill>
                  <a:srgbClr val="D8E4F0"/>
                </a:solidFill>
                <a:latin typeface="Consolas"/>
              </a:rPr>
              <a:t>    cda_hold          : 0.035 ;      /* D stable after  CK                    */</a:t>
            </a:r>
          </a:p>
          <a:p>
            <a:pPr algn="l">
              <a:lnSpc>
                <a:spcPct val="112000"/>
              </a:lnSpc>
            </a:pPr>
            <a:r>
              <a:rPr sz="950" b="0" i="0">
                <a:solidFill>
                  <a:srgbClr val="D8E4F0"/>
                </a:solidFill>
                <a:latin typeface="Consolas"/>
              </a:rPr>
              <a:t>    cda_input_cap     : 1.6 ;</a:t>
            </a:r>
          </a:p>
          <a:p>
            <a:pPr algn="l">
              <a:lnSpc>
                <a:spcPct val="112000"/>
              </a:lnSpc>
            </a:pPr>
            <a:r>
              <a:rPr sz="950" b="0" i="0">
                <a:solidFill>
                  <a:srgbClr val="D8E4F0"/>
                </a:solidFill>
                <a:latin typeface="Consolas"/>
              </a:rPr>
              <a:t>}</a:t>
            </a:r>
          </a:p>
        </p:txBody>
      </p:sp>
      <p:sp>
        <p:nvSpPr>
          <p:cNvPr id="12" name="Rounded Rectangle 11"/>
          <p:cNvSpPr/>
          <p:nvPr/>
        </p:nvSpPr>
        <p:spPr>
          <a:xfrm>
            <a:off x="411480" y="4594352"/>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4658360"/>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Why you write the library yourself</a:t>
            </a:r>
          </a:p>
        </p:txBody>
      </p:sp>
      <p:sp>
        <p:nvSpPr>
          <p:cNvPr id="14" name="TextBox 13"/>
          <p:cNvSpPr txBox="1"/>
          <p:nvPr/>
        </p:nvSpPr>
        <p:spPr>
          <a:xfrm>
            <a:off x="576072" y="4932680"/>
            <a:ext cx="10917936" cy="466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Every delay number in this topic is one you chose. When the report says 0.164 ns you can point at the two lines of the library it came from. There is no black box anywhere in the chain.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WORKED EXAMPLE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 Path, By Hand, To Three Decimal Places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26</a:t>
            </a:r>
          </a:p>
        </p:txBody>
      </p:sp>
      <p:sp>
        <p:nvSpPr>
          <p:cNvPr id="9" name="Rounded Rectangle 8"/>
          <p:cNvSpPr/>
          <p:nvPr/>
        </p:nvSpPr>
        <p:spPr>
          <a:xfrm>
            <a:off x="411480" y="1143000"/>
            <a:ext cx="11247120" cy="254990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321306"/>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path:   p_reg/Q  -&gt;  u12/A  -&gt;  u12/Y  -&gt;  q_reg/D</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1.  p_reg/Q      clk-to-Q 0.145, driving a net loaded by u12/A (cap 1.5)</a:t>
            </a:r>
          </a:p>
          <a:p>
            <a:pPr algn="l">
              <a:lnSpc>
                <a:spcPct val="112000"/>
              </a:lnSpc>
            </a:pPr>
            <a:r>
              <a:rPr sz="950" b="0" i="0">
                <a:solidFill>
                  <a:srgbClr val="D8E4F0"/>
                </a:solidFill>
                <a:latin typeface="Consolas"/>
              </a:rPr>
              <a:t>                 0.145  +  0.013 x 1.5  =  0.1645          &lt;- DFF load_factor 0.013</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2.  u12  (XOR2)  intrinsic 0.088, driving a net loaded by q_reg/D (cap 1.6)</a:t>
            </a:r>
          </a:p>
          <a:p>
            <a:pPr algn="l">
              <a:lnSpc>
                <a:spcPct val="112000"/>
              </a:lnSpc>
            </a:pPr>
            <a:r>
              <a:rPr sz="950" b="0" i="0">
                <a:solidFill>
                  <a:srgbClr val="D8E4F0"/>
                </a:solidFill>
                <a:latin typeface="Consolas"/>
              </a:rPr>
              <a:t>                 0.088  +  0.018 x 1.6  =  0.1168</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arrival at q_reg/D   =  0.1645 + 0.1168  =  0.2813 ns</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3.  required = period 1.000 - setup 0.090 - uncertainty 0.000 = 0.910 ns</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slack = 0.910 - 0.281 = +0.629 ns    MET</a:t>
            </a:r>
          </a:p>
        </p:txBody>
      </p:sp>
      <p:sp>
        <p:nvSpPr>
          <p:cNvPr id="11" name="Rounded Rectangle 10"/>
          <p:cNvSpPr/>
          <p:nvPr/>
        </p:nvSpPr>
        <p:spPr>
          <a:xfrm>
            <a:off x="411480" y="3784346"/>
            <a:ext cx="11247120" cy="8229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3848354"/>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This is not an illustration - it is the lab's actual output</a:t>
            </a:r>
          </a:p>
        </p:txBody>
      </p:sp>
      <p:sp>
        <p:nvSpPr>
          <p:cNvPr id="13" name="TextBox 12"/>
          <p:cNvSpPr txBox="1"/>
          <p:nvPr/>
        </p:nvSpPr>
        <p:spPr>
          <a:xfrm>
            <a:off x="576072" y="4122674"/>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Run  make tiny  and the engine prints +0.629. You will have computed it on paper first. If the two ever disagree, one of them has a bug, and finding out which is the most useful hour in the topic.</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STEP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Two Sweeps, Then One Subtraction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27</a:t>
            </a:r>
          </a:p>
        </p:txBody>
      </p:sp>
      <p:pic>
        <p:nvPicPr>
          <p:cNvPr id="9" name="Picture 8" descr="arrival_required.png"/>
          <p:cNvPicPr>
            <a:picLocks noChangeAspect="1"/>
          </p:cNvPicPr>
          <p:nvPr/>
        </p:nvPicPr>
        <p:blipFill>
          <a:blip r:embed="rId2"/>
          <a:stretch>
            <a:fillRect/>
          </a:stretch>
        </p:blipFill>
        <p:spPr>
          <a:xfrm>
            <a:off x="2581835" y="1097280"/>
            <a:ext cx="6906409" cy="4389120"/>
          </a:xfrm>
          <a:prstGeom prst="rect">
            <a:avLst/>
          </a:prstGeom>
        </p:spPr>
      </p:pic>
      <p:sp>
        <p:nvSpPr>
          <p:cNvPr id="10" name="TextBox 9"/>
          <p:cNvSpPr txBox="1"/>
          <p:nvPr/>
        </p:nvSpPr>
        <p:spPr>
          <a:xfrm>
            <a:off x="411480" y="5577840"/>
            <a:ext cx="11247120" cy="411480"/>
          </a:xfrm>
          <a:prstGeom prst="rect">
            <a:avLst/>
          </a:prstGeom>
          <a:noFill/>
        </p:spPr>
        <p:txBody>
          <a:bodyPr wrap="square" lIns="0" rIns="0" tIns="0" bIns="0" anchor="t">
            <a:spAutoFit/>
          </a:bodyPr>
          <a:lstStyle/>
          <a:p>
            <a:pPr algn="l">
              <a:lnSpc>
                <a:spcPct val="103000"/>
              </a:lnSpc>
              <a:spcAft>
                <a:spcPts val="700"/>
              </a:spcAft>
            </a:pPr>
            <a:r>
              <a:rPr sz="1100" b="0" i="0">
                <a:solidFill>
                  <a:srgbClr val="33414F"/>
                </a:solidFill>
                <a:latin typeface="Calibri"/>
              </a:rPr>
              <a:t>Forward for arrival, backward for required, subtract at every endpoint. A million-flop design is a million of these subtractions - which is why STA finishes in minutes.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THE ALGORITHM</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Fifteen Lines That Do the Whole Job</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28</a:t>
            </a:r>
          </a:p>
        </p:txBody>
      </p:sp>
      <p:sp>
        <p:nvSpPr>
          <p:cNvPr id="9" name="Rounded Rectangle 8"/>
          <p:cNvSpPr/>
          <p:nvPr/>
        </p:nvSpPr>
        <p:spPr>
          <a:xfrm>
            <a:off x="411480" y="1143000"/>
            <a:ext cx="11247120" cy="353847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sta/sta.py — the core of the engine you complete in lab T3</a:t>
            </a:r>
          </a:p>
        </p:txBody>
      </p:sp>
      <p:sp>
        <p:nvSpPr>
          <p:cNvPr id="11" name="TextBox 10"/>
          <p:cNvSpPr txBox="1"/>
          <p:nvPr/>
        </p:nvSpPr>
        <p:spPr>
          <a:xfrm>
            <a:off x="594360" y="1531620"/>
            <a:ext cx="10881360" cy="3035554"/>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def propagate(self):</a:t>
            </a:r>
          </a:p>
          <a:p>
            <a:pPr algn="l">
              <a:lnSpc>
                <a:spcPct val="112000"/>
              </a:lnSpc>
            </a:pPr>
            <a:r>
              <a:rPr sz="950" b="0" i="0">
                <a:solidFill>
                  <a:srgbClr val="D8E4F0"/>
                </a:solidFill>
                <a:latin typeface="Consolas"/>
              </a:rPr>
              <a:t>    for n in self._order():                  # topological order</a:t>
            </a:r>
          </a:p>
          <a:p>
            <a:pPr algn="l">
              <a:lnSpc>
                <a:spcPct val="112000"/>
              </a:lnSpc>
            </a:pPr>
            <a:r>
              <a:rPr sz="950" b="0" i="0">
                <a:solidFill>
                  <a:srgbClr val="D8E4F0"/>
                </a:solidFill>
                <a:latin typeface="Consolas"/>
              </a:rPr>
              <a:t>        for arc in n.fanin:</a:t>
            </a:r>
          </a:p>
          <a:p>
            <a:pPr algn="l">
              <a:lnSpc>
                <a:spcPct val="112000"/>
              </a:lnSpc>
            </a:pPr>
            <a:r>
              <a:rPr sz="950" b="0" i="0">
                <a:solidFill>
                  <a:srgbClr val="D8E4F0"/>
                </a:solidFill>
                <a:latin typeface="Consolas"/>
              </a:rPr>
              <a:t>            src, dly = arc.src, arc.delay</a:t>
            </a:r>
          </a:p>
          <a:p>
            <a:pPr algn="l">
              <a:lnSpc>
                <a:spcPct val="112000"/>
              </a:lnSpc>
            </a:pPr>
            <a:r>
              <a:rPr sz="950" b="0" i="0">
                <a:solidFill>
                  <a:srgbClr val="D8E4F0"/>
                </a:solidFill>
                <a:latin typeface="Consolas"/>
              </a:rPr>
              <a:t>            n.amax = max(n.amax, src.amax + dly)     # LATEST  -&gt; setup</a:t>
            </a:r>
          </a:p>
          <a:p>
            <a:pPr algn="l">
              <a:lnSpc>
                <a:spcPct val="112000"/>
              </a:lnSpc>
            </a:pPr>
            <a:r>
              <a:rPr sz="950" b="0" i="0">
                <a:solidFill>
                  <a:srgbClr val="D8E4F0"/>
                </a:solidFill>
                <a:latin typeface="Consolas"/>
              </a:rPr>
              <a:t>            n.amin = min(n.amin, src.amin + dly)     # EARLIEST-&gt; hold</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def setup_slack(self, ep):</a:t>
            </a:r>
          </a:p>
          <a:p>
            <a:pPr algn="l">
              <a:lnSpc>
                <a:spcPct val="112000"/>
              </a:lnSpc>
            </a:pPr>
            <a:r>
              <a:rPr sz="950" b="0" i="0">
                <a:solidFill>
                  <a:srgbClr val="D8E4F0"/>
                </a:solidFill>
                <a:latin typeface="Consolas"/>
              </a:rPr>
              <a:t>    required = self.period + self.skew(ep) - ep.cell.setup - self.uncert_setup</a:t>
            </a:r>
          </a:p>
          <a:p>
            <a:pPr algn="l">
              <a:lnSpc>
                <a:spcPct val="112000"/>
              </a:lnSpc>
            </a:pPr>
            <a:r>
              <a:rPr sz="950" b="0" i="0">
                <a:solidFill>
                  <a:srgbClr val="D8E4F0"/>
                </a:solidFill>
                <a:latin typeface="Consolas"/>
              </a:rPr>
              <a:t>    return required - ep.amax</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def hold_slack(self, ep):</a:t>
            </a:r>
          </a:p>
          <a:p>
            <a:pPr algn="l">
              <a:lnSpc>
                <a:spcPct val="112000"/>
              </a:lnSpc>
            </a:pPr>
            <a:r>
              <a:rPr sz="950" b="0" i="0">
                <a:solidFill>
                  <a:srgbClr val="D8E4F0"/>
                </a:solidFill>
                <a:latin typeface="Consolas"/>
              </a:rPr>
              <a:t>    required = self.skew(ep) + ep.cell.hold + self.uncert_hold</a:t>
            </a:r>
          </a:p>
          <a:p>
            <a:pPr algn="l">
              <a:lnSpc>
                <a:spcPct val="112000"/>
              </a:lnSpc>
            </a:pPr>
            <a:r>
              <a:rPr sz="950" b="0" i="0">
                <a:solidFill>
                  <a:srgbClr val="D8E4F0"/>
                </a:solidFill>
                <a:latin typeface="Consolas"/>
              </a:rPr>
              <a:t>    return ep.amin - required</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WNS = min(setup_slack(ep) for ep in endpoints)</a:t>
            </a:r>
          </a:p>
          <a:p>
            <a:pPr algn="l">
              <a:lnSpc>
                <a:spcPct val="112000"/>
              </a:lnSpc>
            </a:pPr>
            <a:r>
              <a:rPr sz="950" b="0" i="0">
                <a:solidFill>
                  <a:srgbClr val="D8E4F0"/>
                </a:solidFill>
                <a:latin typeface="Consolas"/>
              </a:rPr>
              <a:t># TNS = sum(s for s in slacks if s &lt; 0)</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6b · MAX AND MIN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Why the Engine Carries Two Numbers Per Node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29</a:t>
            </a:r>
          </a:p>
        </p:txBody>
      </p:sp>
      <p:sp>
        <p:nvSpPr>
          <p:cNvPr id="9" name="Rectangle 8"/>
          <p:cNvSpPr/>
          <p:nvPr/>
        </p:nvSpPr>
        <p:spPr>
          <a:xfrm>
            <a:off x="411480" y="1143000"/>
            <a:ext cx="23774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2860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
            </a:r>
          </a:p>
        </p:txBody>
      </p:sp>
      <p:sp>
        <p:nvSpPr>
          <p:cNvPr id="11" name="Rectangle 10"/>
          <p:cNvSpPr/>
          <p:nvPr/>
        </p:nvSpPr>
        <p:spPr>
          <a:xfrm>
            <a:off x="2788920" y="1143000"/>
            <a:ext cx="44348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834640" y="1143000"/>
            <a:ext cx="43434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Setup check (max delay)</a:t>
            </a:r>
          </a:p>
        </p:txBody>
      </p:sp>
      <p:sp>
        <p:nvSpPr>
          <p:cNvPr id="13" name="Rectangle 12"/>
          <p:cNvSpPr/>
          <p:nvPr/>
        </p:nvSpPr>
        <p:spPr>
          <a:xfrm>
            <a:off x="7223760" y="1143000"/>
            <a:ext cx="44348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269480" y="1143000"/>
            <a:ext cx="43434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Hold check (min delay)</a:t>
            </a:r>
          </a:p>
        </p:txBody>
      </p:sp>
      <p:sp>
        <p:nvSpPr>
          <p:cNvPr id="15" name="Rectangle 14"/>
          <p:cNvSpPr/>
          <p:nvPr/>
        </p:nvSpPr>
        <p:spPr>
          <a:xfrm>
            <a:off x="411480" y="1426464"/>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propagates</a:t>
            </a:r>
          </a:p>
        </p:txBody>
      </p:sp>
      <p:sp>
        <p:nvSpPr>
          <p:cNvPr id="17" name="Rectangle 16"/>
          <p:cNvSpPr/>
          <p:nvPr/>
        </p:nvSpPr>
        <p:spPr>
          <a:xfrm>
            <a:off x="2788920" y="1426464"/>
            <a:ext cx="4434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2834640" y="1426464"/>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LATEST arrival</a:t>
            </a:r>
          </a:p>
        </p:txBody>
      </p:sp>
      <p:sp>
        <p:nvSpPr>
          <p:cNvPr id="19" name="Rectangle 18"/>
          <p:cNvSpPr/>
          <p:nvPr/>
        </p:nvSpPr>
        <p:spPr>
          <a:xfrm>
            <a:off x="7223760" y="1426464"/>
            <a:ext cx="4434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269480" y="1426464"/>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EARLIEST arrival</a:t>
            </a:r>
          </a:p>
        </p:txBody>
      </p:sp>
      <p:sp>
        <p:nvSpPr>
          <p:cNvPr id="21" name="Rectangle 20"/>
          <p:cNvSpPr/>
          <p:nvPr/>
        </p:nvSpPr>
        <p:spPr>
          <a:xfrm>
            <a:off x="411480" y="1709928"/>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asks</a:t>
            </a:r>
          </a:p>
        </p:txBody>
      </p:sp>
      <p:sp>
        <p:nvSpPr>
          <p:cNvPr id="23" name="Rectangle 22"/>
          <p:cNvSpPr/>
          <p:nvPr/>
        </p:nvSpPr>
        <p:spPr>
          <a:xfrm>
            <a:off x="2788920" y="1709928"/>
            <a:ext cx="4434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2834640" y="1709928"/>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did it get there in time?</a:t>
            </a:r>
          </a:p>
        </p:txBody>
      </p:sp>
      <p:sp>
        <p:nvSpPr>
          <p:cNvPr id="25" name="Rectangle 24"/>
          <p:cNvSpPr/>
          <p:nvPr/>
        </p:nvSpPr>
        <p:spPr>
          <a:xfrm>
            <a:off x="7223760" y="1709928"/>
            <a:ext cx="4434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269480" y="1709928"/>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did it stay put long enough?</a:t>
            </a:r>
          </a:p>
        </p:txBody>
      </p:sp>
      <p:sp>
        <p:nvSpPr>
          <p:cNvPr id="27" name="Rectangle 26"/>
          <p:cNvSpPr/>
          <p:nvPr/>
        </p:nvSpPr>
        <p:spPr>
          <a:xfrm>
            <a:off x="411480" y="1993392"/>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compares against</a:t>
            </a:r>
          </a:p>
        </p:txBody>
      </p:sp>
      <p:sp>
        <p:nvSpPr>
          <p:cNvPr id="29" name="Rectangle 28"/>
          <p:cNvSpPr/>
          <p:nvPr/>
        </p:nvSpPr>
        <p:spPr>
          <a:xfrm>
            <a:off x="2788920" y="1993392"/>
            <a:ext cx="4434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2834640" y="1993392"/>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NEXT clock edge</a:t>
            </a:r>
          </a:p>
        </p:txBody>
      </p:sp>
      <p:sp>
        <p:nvSpPr>
          <p:cNvPr id="31" name="Rectangle 30"/>
          <p:cNvSpPr/>
          <p:nvPr/>
        </p:nvSpPr>
        <p:spPr>
          <a:xfrm>
            <a:off x="7223760" y="1993392"/>
            <a:ext cx="4434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269480" y="1993392"/>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SAME clock edge</a:t>
            </a:r>
          </a:p>
        </p:txBody>
      </p:sp>
      <p:sp>
        <p:nvSpPr>
          <p:cNvPr id="33" name="Rectangle 32"/>
          <p:cNvSpPr/>
          <p:nvPr/>
        </p:nvSpPr>
        <p:spPr>
          <a:xfrm>
            <a:off x="411480" y="2276856"/>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uses the period</a:t>
            </a:r>
          </a:p>
        </p:txBody>
      </p:sp>
      <p:sp>
        <p:nvSpPr>
          <p:cNvPr id="35" name="Rectangle 34"/>
          <p:cNvSpPr/>
          <p:nvPr/>
        </p:nvSpPr>
        <p:spPr>
          <a:xfrm>
            <a:off x="2788920" y="2276856"/>
            <a:ext cx="4434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834640" y="2276856"/>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yes</a:t>
            </a:r>
          </a:p>
        </p:txBody>
      </p:sp>
      <p:sp>
        <p:nvSpPr>
          <p:cNvPr id="37" name="Rectangle 36"/>
          <p:cNvSpPr/>
          <p:nvPr/>
        </p:nvSpPr>
        <p:spPr>
          <a:xfrm>
            <a:off x="7223760" y="2276856"/>
            <a:ext cx="4434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269480" y="2276856"/>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 - not at all</a:t>
            </a:r>
          </a:p>
        </p:txBody>
      </p:sp>
      <p:sp>
        <p:nvSpPr>
          <p:cNvPr id="39" name="Rectangle 38"/>
          <p:cNvSpPr/>
          <p:nvPr/>
        </p:nvSpPr>
        <p:spPr>
          <a:xfrm>
            <a:off x="411480" y="2560320"/>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signed off at</a:t>
            </a:r>
          </a:p>
        </p:txBody>
      </p:sp>
      <p:sp>
        <p:nvSpPr>
          <p:cNvPr id="41" name="Rectangle 40"/>
          <p:cNvSpPr/>
          <p:nvPr/>
        </p:nvSpPr>
        <p:spPr>
          <a:xfrm>
            <a:off x="2788920" y="2560320"/>
            <a:ext cx="4434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2834640" y="2560320"/>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SLOW corner</a:t>
            </a:r>
          </a:p>
        </p:txBody>
      </p:sp>
      <p:sp>
        <p:nvSpPr>
          <p:cNvPr id="43" name="Rectangle 42"/>
          <p:cNvSpPr/>
          <p:nvPr/>
        </p:nvSpPr>
        <p:spPr>
          <a:xfrm>
            <a:off x="7223760" y="2560320"/>
            <a:ext cx="44348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269480" y="2560320"/>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FAST corner</a:t>
            </a:r>
          </a:p>
        </p:txBody>
      </p:sp>
      <p:sp>
        <p:nvSpPr>
          <p:cNvPr id="45" name="Rectangle 44"/>
          <p:cNvSpPr/>
          <p:nvPr/>
        </p:nvSpPr>
        <p:spPr>
          <a:xfrm>
            <a:off x="411480" y="2843784"/>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843784"/>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 violation means</a:t>
            </a:r>
          </a:p>
        </p:txBody>
      </p:sp>
      <p:sp>
        <p:nvSpPr>
          <p:cNvPr id="47" name="Rectangle 46"/>
          <p:cNvSpPr/>
          <p:nvPr/>
        </p:nvSpPr>
        <p:spPr>
          <a:xfrm>
            <a:off x="2788920" y="2843784"/>
            <a:ext cx="4434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2834640" y="2843784"/>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chip must run slower</a:t>
            </a:r>
          </a:p>
        </p:txBody>
      </p:sp>
      <p:sp>
        <p:nvSpPr>
          <p:cNvPr id="49" name="Rectangle 48"/>
          <p:cNvSpPr/>
          <p:nvPr/>
        </p:nvSpPr>
        <p:spPr>
          <a:xfrm>
            <a:off x="7223760" y="2843784"/>
            <a:ext cx="44348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269480" y="2843784"/>
            <a:ext cx="43434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chip does not work</a:t>
            </a:r>
          </a:p>
        </p:txBody>
      </p:sp>
      <p:sp>
        <p:nvSpPr>
          <p:cNvPr id="51" name="Rounded Rectangle 50"/>
          <p:cNvSpPr/>
          <p:nvPr/>
        </p:nvSpPr>
        <p:spPr>
          <a:xfrm>
            <a:off x="411480" y="3218688"/>
            <a:ext cx="5532120" cy="160020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48640" y="3282696"/>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A trap worth naming</a:t>
            </a:r>
          </a:p>
        </p:txBody>
      </p:sp>
      <p:sp>
        <p:nvSpPr>
          <p:cNvPr id="53" name="TextBox 52"/>
          <p:cNvSpPr txBox="1"/>
          <p:nvPr/>
        </p:nvSpPr>
        <p:spPr>
          <a:xfrm>
            <a:off x="548640" y="3557016"/>
            <a:ext cx="5257800" cy="11978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If you propagate only the max delay, your hold check silently uses the wrong number and reports violations that are not there - or misses ones that are.</a:t>
            </a:r>
          </a:p>
          <a:p>
            <a:pPr algn="l">
              <a:lnSpc>
                <a:spcPct val="103000"/>
              </a:lnSpc>
              <a:spcAft>
                <a:spcPts val="400"/>
              </a:spcAft>
            </a:pPr>
            <a:r>
              <a:rPr sz="1100" b="0" i="0">
                <a:solidFill>
                  <a:srgbClr val="33414F"/>
                </a:solidFill>
                <a:latin typeface="Calibri"/>
              </a:rPr>
              <a:t>The engine in the lab keeps both, and the hold report traces the MIN path.</a:t>
            </a:r>
          </a:p>
        </p:txBody>
      </p:sp>
      <p:sp>
        <p:nvSpPr>
          <p:cNvPr id="54" name="Rounded Rectangle 53"/>
          <p:cNvSpPr/>
          <p:nvPr/>
        </p:nvSpPr>
        <p:spPr>
          <a:xfrm>
            <a:off x="6126480" y="3218688"/>
            <a:ext cx="5532120" cy="160020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5" name="TextBox 54"/>
          <p:cNvSpPr txBox="1"/>
          <p:nvPr/>
        </p:nvSpPr>
        <p:spPr>
          <a:xfrm>
            <a:off x="6263640" y="3282696"/>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What this looks like in a tool</a:t>
            </a:r>
          </a:p>
        </p:txBody>
      </p:sp>
      <p:sp>
        <p:nvSpPr>
          <p:cNvPr id="56" name="TextBox 55"/>
          <p:cNvSpPr txBox="1"/>
          <p:nvPr/>
        </p:nvSpPr>
        <p:spPr>
          <a:xfrm>
            <a:off x="6263640" y="3557016"/>
            <a:ext cx="5257800" cy="119786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Vivado: report_timing -delay_type max  vs  -delay_type min.</a:t>
            </a:r>
          </a:p>
          <a:p>
            <a:pPr algn="l">
              <a:lnSpc>
                <a:spcPct val="103000"/>
              </a:lnSpc>
              <a:spcAft>
                <a:spcPts val="400"/>
              </a:spcAft>
            </a:pPr>
            <a:r>
              <a:rPr sz="1100" b="0" i="0">
                <a:solidFill>
                  <a:srgbClr val="33414F"/>
                </a:solidFill>
                <a:latin typeface="Calibri"/>
              </a:rPr>
              <a:t>PrimeTime / OpenSTA: -setup vs -hold, or report_timing -delay_type min_max for both at once.</a:t>
            </a:r>
          </a:p>
        </p:txBody>
      </p:sp>
      <p:sp>
        <p:nvSpPr>
          <p:cNvPr id="57" name="TextBox 56"/>
          <p:cNvSpPr txBox="1"/>
          <p:nvPr/>
        </p:nvSpPr>
        <p:spPr>
          <a:xfrm>
            <a:off x="411480" y="4910328"/>
            <a:ext cx="11247120" cy="274320"/>
          </a:xfrm>
          <a:prstGeom prst="rect">
            <a:avLst/>
          </a:prstGeom>
          <a:noFill/>
        </p:spPr>
        <p:txBody>
          <a:bodyPr wrap="square" lIns="0" rIns="0" tIns="0" bIns="0" anchor="t">
            <a:spAutoFit/>
          </a:bodyPr>
          <a:lstStyle/>
          <a:p>
            <a:pPr algn="l">
              <a:lnSpc>
                <a:spcPct val="103000"/>
              </a:lnSpc>
              <a:spcAft>
                <a:spcPts val="700"/>
              </a:spcAft>
            </a:pPr>
            <a:r>
              <a:rPr sz="1050" b="1" i="0">
                <a:solidFill>
                  <a:srgbClr val="0E2A47"/>
                </a:solidFill>
                <a:latin typeface="Calibri"/>
              </a:rPr>
              <a:t>Every real STA tool does exactly this. The two-number rule is not a simplification - it is the whole reason setup and hold can disagree.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READING A REPORT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It Is Always the Same Six Things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30</a:t>
            </a:r>
          </a:p>
        </p:txBody>
      </p:sp>
      <p:pic>
        <p:nvPicPr>
          <p:cNvPr id="9" name="Picture 8" descr="report_anatomy.png"/>
          <p:cNvPicPr>
            <a:picLocks noChangeAspect="1"/>
          </p:cNvPicPr>
          <p:nvPr/>
        </p:nvPicPr>
        <p:blipFill>
          <a:blip r:embed="rId2"/>
          <a:stretch>
            <a:fillRect/>
          </a:stretch>
        </p:blipFill>
        <p:spPr>
          <a:xfrm>
            <a:off x="2161617" y="1097280"/>
            <a:ext cx="7746847" cy="4663440"/>
          </a:xfrm>
          <a:prstGeom prst="rect">
            <a:avLst/>
          </a:prstGeom>
        </p:spPr>
      </p:pic>
      <p:sp>
        <p:nvSpPr>
          <p:cNvPr id="10" name="TextBox 9"/>
          <p:cNvSpPr txBox="1"/>
          <p:nvPr/>
        </p:nvSpPr>
        <p:spPr>
          <a:xfrm>
            <a:off x="411480" y="5852160"/>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0E2A47"/>
                </a:solidFill>
                <a:latin typeface="Calibri"/>
              </a:rPr>
              <a:t>Read it bottom-up: the slack tells you IF there is a problem, the incr column tells you WHERE it is.</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READING A REPORT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Four Numbers To Look At First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31</a:t>
            </a:r>
          </a:p>
        </p:txBody>
      </p:sp>
      <p:sp>
        <p:nvSpPr>
          <p:cNvPr id="9" name="Rectangle 8"/>
          <p:cNvSpPr/>
          <p:nvPr/>
        </p:nvSpPr>
        <p:spPr>
          <a:xfrm>
            <a:off x="411480" y="1143000"/>
            <a:ext cx="25603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4688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Look at</a:t>
            </a:r>
          </a:p>
        </p:txBody>
      </p:sp>
      <p:sp>
        <p:nvSpPr>
          <p:cNvPr id="11" name="Rectangle 10"/>
          <p:cNvSpPr/>
          <p:nvPr/>
        </p:nvSpPr>
        <p:spPr>
          <a:xfrm>
            <a:off x="2971800" y="1143000"/>
            <a:ext cx="338328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017520" y="1143000"/>
            <a:ext cx="329184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If it says</a:t>
            </a:r>
          </a:p>
        </p:txBody>
      </p:sp>
      <p:sp>
        <p:nvSpPr>
          <p:cNvPr id="13" name="Rectangle 12"/>
          <p:cNvSpPr/>
          <p:nvPr/>
        </p:nvSpPr>
        <p:spPr>
          <a:xfrm>
            <a:off x="6355080" y="1143000"/>
            <a:ext cx="53035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00800" y="1143000"/>
            <a:ext cx="52120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Then</a:t>
            </a:r>
          </a:p>
        </p:txBody>
      </p:sp>
      <p:sp>
        <p:nvSpPr>
          <p:cNvPr id="15" name="Rectangle 14"/>
          <p:cNvSpPr/>
          <p:nvPr/>
        </p:nvSpPr>
        <p:spPr>
          <a:xfrm>
            <a:off x="411480" y="1417320"/>
            <a:ext cx="2560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1732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SLACK</a:t>
            </a:r>
          </a:p>
        </p:txBody>
      </p:sp>
      <p:sp>
        <p:nvSpPr>
          <p:cNvPr id="17" name="Rectangle 16"/>
          <p:cNvSpPr/>
          <p:nvPr/>
        </p:nvSpPr>
        <p:spPr>
          <a:xfrm>
            <a:off x="2971800" y="1417320"/>
            <a:ext cx="33832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3017520" y="141732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positive number</a:t>
            </a:r>
          </a:p>
        </p:txBody>
      </p:sp>
      <p:sp>
        <p:nvSpPr>
          <p:cNvPr id="19" name="Rectangle 18"/>
          <p:cNvSpPr/>
          <p:nvPr/>
        </p:nvSpPr>
        <p:spPr>
          <a:xfrm>
            <a:off x="6355080" y="1417320"/>
            <a:ext cx="53035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00800" y="141732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this path is fine - look at the next one</a:t>
            </a:r>
          </a:p>
        </p:txBody>
      </p:sp>
      <p:sp>
        <p:nvSpPr>
          <p:cNvPr id="21" name="Rectangle 20"/>
          <p:cNvSpPr/>
          <p:nvPr/>
        </p:nvSpPr>
        <p:spPr>
          <a:xfrm>
            <a:off x="411480" y="1691640"/>
            <a:ext cx="2560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69164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SLACK</a:t>
            </a:r>
          </a:p>
        </p:txBody>
      </p:sp>
      <p:sp>
        <p:nvSpPr>
          <p:cNvPr id="23" name="Rectangle 22"/>
          <p:cNvSpPr/>
          <p:nvPr/>
        </p:nvSpPr>
        <p:spPr>
          <a:xfrm>
            <a:off x="2971800" y="1691640"/>
            <a:ext cx="33832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017520" y="169164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negative number</a:t>
            </a:r>
          </a:p>
        </p:txBody>
      </p:sp>
      <p:sp>
        <p:nvSpPr>
          <p:cNvPr id="25" name="Rectangle 24"/>
          <p:cNvSpPr/>
          <p:nvPr/>
        </p:nvSpPr>
        <p:spPr>
          <a:xfrm>
            <a:off x="6355080" y="1691640"/>
            <a:ext cx="53035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00800" y="169164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size tells you how hard the fix is</a:t>
            </a:r>
          </a:p>
        </p:txBody>
      </p:sp>
      <p:sp>
        <p:nvSpPr>
          <p:cNvPr id="27" name="Rectangle 26"/>
          <p:cNvSpPr/>
          <p:nvPr/>
        </p:nvSpPr>
        <p:spPr>
          <a:xfrm>
            <a:off x="411480" y="1965960"/>
            <a:ext cx="2560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6596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Startpoint</a:t>
            </a:r>
          </a:p>
        </p:txBody>
      </p:sp>
      <p:sp>
        <p:nvSpPr>
          <p:cNvPr id="29" name="Rectangle 28"/>
          <p:cNvSpPr/>
          <p:nvPr/>
        </p:nvSpPr>
        <p:spPr>
          <a:xfrm>
            <a:off x="2971800" y="1965960"/>
            <a:ext cx="33832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3017520" y="196596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port, not a flop</a:t>
            </a:r>
          </a:p>
        </p:txBody>
      </p:sp>
      <p:sp>
        <p:nvSpPr>
          <p:cNvPr id="31" name="Rectangle 30"/>
          <p:cNvSpPr/>
          <p:nvPr/>
        </p:nvSpPr>
        <p:spPr>
          <a:xfrm>
            <a:off x="6355080" y="1965960"/>
            <a:ext cx="53035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00800" y="196596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your input delay is in play - check it first</a:t>
            </a:r>
          </a:p>
        </p:txBody>
      </p:sp>
      <p:sp>
        <p:nvSpPr>
          <p:cNvPr id="33" name="Rectangle 32"/>
          <p:cNvSpPr/>
          <p:nvPr/>
        </p:nvSpPr>
        <p:spPr>
          <a:xfrm>
            <a:off x="411480" y="2240280"/>
            <a:ext cx="2560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4028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largest incr</a:t>
            </a:r>
          </a:p>
        </p:txBody>
      </p:sp>
      <p:sp>
        <p:nvSpPr>
          <p:cNvPr id="35" name="Rectangle 34"/>
          <p:cNvSpPr/>
          <p:nvPr/>
        </p:nvSpPr>
        <p:spPr>
          <a:xfrm>
            <a:off x="2971800" y="2240280"/>
            <a:ext cx="33832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017520" y="224028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one cell dominating</a:t>
            </a:r>
          </a:p>
        </p:txBody>
      </p:sp>
      <p:sp>
        <p:nvSpPr>
          <p:cNvPr id="37" name="Rectangle 36"/>
          <p:cNvSpPr/>
          <p:nvPr/>
        </p:nvSpPr>
        <p:spPr>
          <a:xfrm>
            <a:off x="6355080" y="2240280"/>
            <a:ext cx="53035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00800" y="224028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that cell or its load is the problem</a:t>
            </a:r>
          </a:p>
        </p:txBody>
      </p:sp>
      <p:sp>
        <p:nvSpPr>
          <p:cNvPr id="39" name="Rectangle 38"/>
          <p:cNvSpPr/>
          <p:nvPr/>
        </p:nvSpPr>
        <p:spPr>
          <a:xfrm>
            <a:off x="411480" y="2514600"/>
            <a:ext cx="2560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1460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the largest incr</a:t>
            </a:r>
          </a:p>
        </p:txBody>
      </p:sp>
      <p:sp>
        <p:nvSpPr>
          <p:cNvPr id="41" name="Rectangle 40"/>
          <p:cNvSpPr/>
          <p:nvPr/>
        </p:nvSpPr>
        <p:spPr>
          <a:xfrm>
            <a:off x="2971800" y="2514600"/>
            <a:ext cx="33832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3017520" y="251460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fifty small cells</a:t>
            </a:r>
          </a:p>
        </p:txBody>
      </p:sp>
      <p:sp>
        <p:nvSpPr>
          <p:cNvPr id="43" name="Rectangle 42"/>
          <p:cNvSpPr/>
          <p:nvPr/>
        </p:nvSpPr>
        <p:spPr>
          <a:xfrm>
            <a:off x="6355080" y="2514600"/>
            <a:ext cx="53035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00800" y="251460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path is too deep - restructure or pipeline</a:t>
            </a:r>
          </a:p>
        </p:txBody>
      </p:sp>
      <p:sp>
        <p:nvSpPr>
          <p:cNvPr id="45" name="Rectangle 44"/>
          <p:cNvSpPr/>
          <p:nvPr/>
        </p:nvSpPr>
        <p:spPr>
          <a:xfrm>
            <a:off x="411480" y="2788920"/>
            <a:ext cx="2560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78892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TNS</a:t>
            </a:r>
          </a:p>
        </p:txBody>
      </p:sp>
      <p:sp>
        <p:nvSpPr>
          <p:cNvPr id="47" name="Rectangle 46"/>
          <p:cNvSpPr/>
          <p:nvPr/>
        </p:nvSpPr>
        <p:spPr>
          <a:xfrm>
            <a:off x="2971800" y="2788920"/>
            <a:ext cx="33832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017520" y="278892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roughly equal to WNS</a:t>
            </a:r>
          </a:p>
        </p:txBody>
      </p:sp>
      <p:sp>
        <p:nvSpPr>
          <p:cNvPr id="49" name="Rectangle 48"/>
          <p:cNvSpPr/>
          <p:nvPr/>
        </p:nvSpPr>
        <p:spPr>
          <a:xfrm>
            <a:off x="6355080" y="2788920"/>
            <a:ext cx="53035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400800" y="278892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one bad path - a local fix</a:t>
            </a:r>
          </a:p>
        </p:txBody>
      </p:sp>
      <p:sp>
        <p:nvSpPr>
          <p:cNvPr id="51" name="Rectangle 50"/>
          <p:cNvSpPr/>
          <p:nvPr/>
        </p:nvSpPr>
        <p:spPr>
          <a:xfrm>
            <a:off x="411480" y="3063240"/>
            <a:ext cx="2560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06324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TNS</a:t>
            </a:r>
          </a:p>
        </p:txBody>
      </p:sp>
      <p:sp>
        <p:nvSpPr>
          <p:cNvPr id="53" name="Rectangle 52"/>
          <p:cNvSpPr/>
          <p:nvPr/>
        </p:nvSpPr>
        <p:spPr>
          <a:xfrm>
            <a:off x="2971800" y="3063240"/>
            <a:ext cx="338328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3017520" y="306324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hundreds of times WNS</a:t>
            </a:r>
          </a:p>
        </p:txBody>
      </p:sp>
      <p:sp>
        <p:nvSpPr>
          <p:cNvPr id="55" name="Rectangle 54"/>
          <p:cNvSpPr/>
          <p:nvPr/>
        </p:nvSpPr>
        <p:spPr>
          <a:xfrm>
            <a:off x="6355080" y="3063240"/>
            <a:ext cx="53035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400800" y="306324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systemic - the target or the architecture is wrong</a:t>
            </a:r>
          </a:p>
        </p:txBody>
      </p:sp>
      <p:sp>
        <p:nvSpPr>
          <p:cNvPr id="57" name="Rectangle 56"/>
          <p:cNvSpPr/>
          <p:nvPr/>
        </p:nvSpPr>
        <p:spPr>
          <a:xfrm>
            <a:off x="411480" y="3337560"/>
            <a:ext cx="2560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337560"/>
            <a:ext cx="246888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unconstrained</a:t>
            </a:r>
          </a:p>
        </p:txBody>
      </p:sp>
      <p:sp>
        <p:nvSpPr>
          <p:cNvPr id="59" name="Rectangle 58"/>
          <p:cNvSpPr/>
          <p:nvPr/>
        </p:nvSpPr>
        <p:spPr>
          <a:xfrm>
            <a:off x="2971800" y="3337560"/>
            <a:ext cx="338328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3017520" y="3337560"/>
            <a:ext cx="329184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anything but zero</a:t>
            </a:r>
          </a:p>
        </p:txBody>
      </p:sp>
      <p:sp>
        <p:nvSpPr>
          <p:cNvPr id="61" name="Rectangle 60"/>
          <p:cNvSpPr/>
          <p:nvPr/>
        </p:nvSpPr>
        <p:spPr>
          <a:xfrm>
            <a:off x="6355080" y="3337560"/>
            <a:ext cx="53035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400800" y="3337560"/>
            <a:ext cx="52120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fix that before believing any other number</a:t>
            </a:r>
          </a:p>
        </p:txBody>
      </p:sp>
      <p:sp>
        <p:nvSpPr>
          <p:cNvPr id="63" name="Rounded Rectangle 62"/>
          <p:cNvSpPr/>
          <p:nvPr/>
        </p:nvSpPr>
        <p:spPr>
          <a:xfrm>
            <a:off x="411480" y="3703320"/>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576072" y="376732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A habit that will make you fast</a:t>
            </a:r>
          </a:p>
        </p:txBody>
      </p:sp>
      <p:sp>
        <p:nvSpPr>
          <p:cNvPr id="65" name="TextBox 64"/>
          <p:cNvSpPr txBox="1"/>
          <p:nvPr/>
        </p:nvSpPr>
        <p:spPr>
          <a:xfrm>
            <a:off x="576072" y="4041648"/>
            <a:ext cx="10917936" cy="466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Do not read the whole report. Read the slack, then the startpoint, then the biggest incr line. Three numbers will tell you what kind of problem you have in about twenty seconds.</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PATH GROUPS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Four Kinds of Path, and Every Design Has All Four</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32</a:t>
            </a:r>
          </a:p>
        </p:txBody>
      </p:sp>
      <p:pic>
        <p:nvPicPr>
          <p:cNvPr id="9" name="Picture 8" descr="path_groups.png"/>
          <p:cNvPicPr>
            <a:picLocks noChangeAspect="1"/>
          </p:cNvPicPr>
          <p:nvPr/>
        </p:nvPicPr>
        <p:blipFill>
          <a:blip r:embed="rId2"/>
          <a:stretch>
            <a:fillRect/>
          </a:stretch>
        </p:blipFill>
        <p:spPr>
          <a:xfrm>
            <a:off x="2461831" y="1097280"/>
            <a:ext cx="7146417" cy="4663440"/>
          </a:xfrm>
          <a:prstGeom prst="rect">
            <a:avLst/>
          </a:prstGeom>
        </p:spPr>
      </p:pic>
      <p:sp>
        <p:nvSpPr>
          <p:cNvPr id="10" name="TextBox 9"/>
          <p:cNvSpPr txBox="1"/>
          <p:nvPr/>
        </p:nvSpPr>
        <p:spPr>
          <a:xfrm>
            <a:off x="411480" y="5852160"/>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C01F43"/>
                </a:solidFill>
                <a:latin typeface="Calibri"/>
              </a:rPr>
              <a:t>A report that only shows reg-to-reg paths is a report on a quarter of your design.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WNS AND TNS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Two Numbers That Say Different Things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33</a:t>
            </a:r>
          </a:p>
        </p:txBody>
      </p:sp>
      <p:pic>
        <p:nvPicPr>
          <p:cNvPr id="9" name="Picture 8" descr="wns_tns.png"/>
          <p:cNvPicPr>
            <a:picLocks noChangeAspect="1"/>
          </p:cNvPicPr>
          <p:nvPr/>
        </p:nvPicPr>
        <p:blipFill>
          <a:blip r:embed="rId2"/>
          <a:stretch>
            <a:fillRect/>
          </a:stretch>
        </p:blipFill>
        <p:spPr>
          <a:xfrm>
            <a:off x="2361412" y="1097280"/>
            <a:ext cx="7347256" cy="4297680"/>
          </a:xfrm>
          <a:prstGeom prst="rect">
            <a:avLst/>
          </a:prstGeom>
        </p:spPr>
      </p:pic>
      <p:sp>
        <p:nvSpPr>
          <p:cNvPr id="10" name="Rounded Rectangle 9"/>
          <p:cNvSpPr/>
          <p:nvPr/>
        </p:nvSpPr>
        <p:spPr>
          <a:xfrm>
            <a:off x="411480" y="5486400"/>
            <a:ext cx="11247120" cy="5943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Use them together or you will misjudge the work</a:t>
            </a:r>
          </a:p>
        </p:txBody>
      </p:sp>
      <p:sp>
        <p:nvSpPr>
          <p:cNvPr id="12" name="TextBox 11"/>
          <p:cNvSpPr txBox="1"/>
          <p:nvPr/>
        </p:nvSpPr>
        <p:spPr>
          <a:xfrm>
            <a:off x="576072" y="5824728"/>
            <a:ext cx="10917936" cy="192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WNS tells you how bad the worst path is. TNS tells you how many paths are bad. WNS -0.42 with TNS -0.42 is an afternoon; WNS -0.42 with TNS -180 is an architecture review.</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FMAX</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 Path Sets the Speed of the Entire Chip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34</a:t>
            </a:r>
          </a:p>
        </p:txBody>
      </p:sp>
      <p:pic>
        <p:nvPicPr>
          <p:cNvPr id="9" name="Picture 8" descr="fmax_idea.png"/>
          <p:cNvPicPr>
            <a:picLocks noChangeAspect="1"/>
          </p:cNvPicPr>
          <p:nvPr/>
        </p:nvPicPr>
        <p:blipFill>
          <a:blip r:embed="rId2"/>
          <a:stretch>
            <a:fillRect/>
          </a:stretch>
        </p:blipFill>
        <p:spPr>
          <a:xfrm>
            <a:off x="2489832" y="1097280"/>
            <a:ext cx="7090417" cy="4389120"/>
          </a:xfrm>
          <a:prstGeom prst="rect">
            <a:avLst/>
          </a:prstGeom>
        </p:spPr>
      </p:pic>
      <p:sp>
        <p:nvSpPr>
          <p:cNvPr id="10" name="TextBox 9"/>
          <p:cNvSpPr txBox="1"/>
          <p:nvPr/>
        </p:nvSpPr>
        <p:spPr>
          <a:xfrm>
            <a:off x="411480" y="5577840"/>
            <a:ext cx="11247120" cy="411480"/>
          </a:xfrm>
          <a:prstGeom prst="rect">
            <a:avLst/>
          </a:prstGeom>
          <a:noFill/>
        </p:spPr>
        <p:txBody>
          <a:bodyPr wrap="square" lIns="0" rIns="0" tIns="0" bIns="0" anchor="t">
            <a:spAutoFit/>
          </a:bodyPr>
          <a:lstStyle/>
          <a:p>
            <a:pPr algn="l">
              <a:lnSpc>
                <a:spcPct val="103000"/>
              </a:lnSpc>
              <a:spcAft>
                <a:spcPts val="700"/>
              </a:spcAft>
            </a:pPr>
            <a:r>
              <a:rPr sz="1100" b="1" i="0">
                <a:solidFill>
                  <a:srgbClr val="0E2A47"/>
                </a:solidFill>
                <a:latin typeface="Calibri"/>
              </a:rPr>
              <a:t>Not the average path. Not the second worst. The single longest one - which is why all timing work is about one path at a time.</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PVT CORNERS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One Netlist, Several Silicons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35</a:t>
            </a:r>
          </a:p>
        </p:txBody>
      </p:sp>
      <p:pic>
        <p:nvPicPr>
          <p:cNvPr id="9" name="Picture 8" descr="corners.png"/>
          <p:cNvPicPr>
            <a:picLocks noChangeAspect="1"/>
          </p:cNvPicPr>
          <p:nvPr/>
        </p:nvPicPr>
        <p:blipFill>
          <a:blip r:embed="rId2"/>
          <a:stretch>
            <a:fillRect/>
          </a:stretch>
        </p:blipFill>
        <p:spPr>
          <a:xfrm>
            <a:off x="2283250" y="1097280"/>
            <a:ext cx="7503580" cy="4389120"/>
          </a:xfrm>
          <a:prstGeom prst="rect">
            <a:avLst/>
          </a:prstGeom>
        </p:spPr>
      </p:pic>
      <p:sp>
        <p:nvSpPr>
          <p:cNvPr id="10" name="TextBox 9"/>
          <p:cNvSpPr txBox="1"/>
          <p:nvPr/>
        </p:nvSpPr>
        <p:spPr>
          <a:xfrm>
            <a:off x="411480" y="5577840"/>
            <a:ext cx="11247120" cy="411480"/>
          </a:xfrm>
          <a:prstGeom prst="rect">
            <a:avLst/>
          </a:prstGeom>
          <a:noFill/>
        </p:spPr>
        <p:txBody>
          <a:bodyPr wrap="square" lIns="0" rIns="0" tIns="0" bIns="0" anchor="t">
            <a:spAutoFit/>
          </a:bodyPr>
          <a:lstStyle/>
          <a:p>
            <a:pPr algn="l">
              <a:lnSpc>
                <a:spcPct val="103000"/>
              </a:lnSpc>
              <a:spcAft>
                <a:spcPts val="700"/>
              </a:spcAft>
            </a:pPr>
            <a:r>
              <a:rPr sz="1100" b="1" i="0">
                <a:solidFill>
                  <a:srgbClr val="C77514"/>
                </a:solidFill>
                <a:latin typeface="Calibri"/>
              </a:rPr>
              <a:t>Setup is a race against the clock, so check it where the logic is SLOW. Hold is a race against the previous edge, so check it where the logic is FAST.</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6b · OPTIMISATION</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Menu, Cheapest First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36</a:t>
            </a:r>
          </a:p>
        </p:txBody>
      </p:sp>
      <p:pic>
        <p:nvPicPr>
          <p:cNvPr id="9" name="Picture 8" descr="fix_setup_menu.png"/>
          <p:cNvPicPr>
            <a:picLocks noChangeAspect="1"/>
          </p:cNvPicPr>
          <p:nvPr/>
        </p:nvPicPr>
        <p:blipFill>
          <a:blip r:embed="rId2"/>
          <a:stretch>
            <a:fillRect/>
          </a:stretch>
        </p:blipFill>
        <p:spPr>
          <a:xfrm>
            <a:off x="2797331" y="1097280"/>
            <a:ext cx="6475418" cy="4663440"/>
          </a:xfrm>
          <a:prstGeom prst="rect">
            <a:avLst/>
          </a:prstGeom>
        </p:spPr>
      </p:pic>
      <p:sp>
        <p:nvSpPr>
          <p:cNvPr id="10" name="TextBox 9"/>
          <p:cNvSpPr txBox="1"/>
          <p:nvPr/>
        </p:nvSpPr>
        <p:spPr>
          <a:xfrm>
            <a:off x="411480" y="5852160"/>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0E2A47"/>
                </a:solidFill>
                <a:latin typeface="Calibri"/>
              </a:rPr>
              <a:t>Steps 1 and 2 cost you minutes. Step 7 costs your customer performance for ever.</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FIX 1</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Check the Constraint Before You Touch the Design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37</a:t>
            </a:r>
          </a:p>
        </p:txBody>
      </p:sp>
      <p:sp>
        <p:nvSpPr>
          <p:cNvPr id="9" name="Rectangle 8"/>
          <p:cNvSpPr/>
          <p:nvPr/>
        </p:nvSpPr>
        <p:spPr>
          <a:xfrm>
            <a:off x="411480" y="1143000"/>
            <a:ext cx="36576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35661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The report says</a:t>
            </a:r>
          </a:p>
        </p:txBody>
      </p:sp>
      <p:sp>
        <p:nvSpPr>
          <p:cNvPr id="11" name="Rectangle 10"/>
          <p:cNvSpPr/>
          <p:nvPr/>
        </p:nvSpPr>
        <p:spPr>
          <a:xfrm>
            <a:off x="4069080" y="1143000"/>
            <a:ext cx="3200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0" y="1143000"/>
            <a:ext cx="3108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Suspect first</a:t>
            </a:r>
          </a:p>
        </p:txBody>
      </p:sp>
      <p:sp>
        <p:nvSpPr>
          <p:cNvPr id="13" name="Rectangle 12"/>
          <p:cNvSpPr/>
          <p:nvPr/>
        </p:nvSpPr>
        <p:spPr>
          <a:xfrm>
            <a:off x="7269480" y="1143000"/>
            <a:ext cx="43891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315200" y="1143000"/>
            <a:ext cx="42976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How to confirm in one minute</a:t>
            </a:r>
          </a:p>
        </p:txBody>
      </p:sp>
      <p:sp>
        <p:nvSpPr>
          <p:cNvPr id="15" name="Rectangle 14"/>
          <p:cNvSpPr/>
          <p:nvPr/>
        </p:nvSpPr>
        <p:spPr>
          <a:xfrm>
            <a:off x="411480" y="1426464"/>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 huge violation on a reset path</a:t>
            </a:r>
          </a:p>
        </p:txBody>
      </p:sp>
      <p:sp>
        <p:nvSpPr>
          <p:cNvPr id="17" name="Rectangle 16"/>
          <p:cNvSpPr/>
          <p:nvPr/>
        </p:nvSpPr>
        <p:spPr>
          <a:xfrm>
            <a:off x="4069080" y="1426464"/>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114800" y="1426464"/>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missing false path</a:t>
            </a:r>
          </a:p>
        </p:txBody>
      </p:sp>
      <p:sp>
        <p:nvSpPr>
          <p:cNvPr id="19" name="Rectangle 18"/>
          <p:cNvSpPr/>
          <p:nvPr/>
        </p:nvSpPr>
        <p:spPr>
          <a:xfrm>
            <a:off x="7269480" y="1426464"/>
            <a:ext cx="43891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315200" y="1426464"/>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look at the startpoint - is it rst_n?</a:t>
            </a:r>
          </a:p>
        </p:txBody>
      </p:sp>
      <p:sp>
        <p:nvSpPr>
          <p:cNvPr id="21" name="Rectangle 20"/>
          <p:cNvSpPr/>
          <p:nvPr/>
        </p:nvSpPr>
        <p:spPr>
          <a:xfrm>
            <a:off x="411480" y="1709928"/>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every I/O path fails by the same amount</a:t>
            </a:r>
          </a:p>
        </p:txBody>
      </p:sp>
      <p:sp>
        <p:nvSpPr>
          <p:cNvPr id="23" name="Rectangle 22"/>
          <p:cNvSpPr/>
          <p:nvPr/>
        </p:nvSpPr>
        <p:spPr>
          <a:xfrm>
            <a:off x="4069080" y="1709928"/>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0" y="1709928"/>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input/output delay too large</a:t>
            </a:r>
          </a:p>
        </p:txBody>
      </p:sp>
      <p:sp>
        <p:nvSpPr>
          <p:cNvPr id="25" name="Rectangle 24"/>
          <p:cNvSpPr/>
          <p:nvPr/>
        </p:nvSpPr>
        <p:spPr>
          <a:xfrm>
            <a:off x="7269480" y="1709928"/>
            <a:ext cx="43891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315200" y="1709928"/>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compare it against the upstream datasheet</a:t>
            </a:r>
          </a:p>
        </p:txBody>
      </p:sp>
      <p:sp>
        <p:nvSpPr>
          <p:cNvPr id="27" name="Rectangle 26"/>
          <p:cNvSpPr/>
          <p:nvPr/>
        </p:nvSpPr>
        <p:spPr>
          <a:xfrm>
            <a:off x="411480" y="1993392"/>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 path you know is slow fails</a:t>
            </a:r>
          </a:p>
        </p:txBody>
      </p:sp>
      <p:sp>
        <p:nvSpPr>
          <p:cNvPr id="29" name="Rectangle 28"/>
          <p:cNvSpPr/>
          <p:nvPr/>
        </p:nvSpPr>
        <p:spPr>
          <a:xfrm>
            <a:off x="4069080" y="1993392"/>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114800" y="1993392"/>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missing multicycle path</a:t>
            </a:r>
          </a:p>
        </p:txBody>
      </p:sp>
      <p:sp>
        <p:nvSpPr>
          <p:cNvPr id="31" name="Rectangle 30"/>
          <p:cNvSpPr/>
          <p:nvPr/>
        </p:nvSpPr>
        <p:spPr>
          <a:xfrm>
            <a:off x="7269480" y="1993392"/>
            <a:ext cx="43891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315200" y="1993392"/>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does the capture register have an enable?</a:t>
            </a:r>
          </a:p>
        </p:txBody>
      </p:sp>
      <p:sp>
        <p:nvSpPr>
          <p:cNvPr id="33" name="Rectangle 32"/>
          <p:cNvSpPr/>
          <p:nvPr/>
        </p:nvSpPr>
        <p:spPr>
          <a:xfrm>
            <a:off x="411480" y="2276856"/>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 path across two clocks fails</a:t>
            </a:r>
          </a:p>
        </p:txBody>
      </p:sp>
      <p:sp>
        <p:nvSpPr>
          <p:cNvPr id="35" name="Rectangle 34"/>
          <p:cNvSpPr/>
          <p:nvPr/>
        </p:nvSpPr>
        <p:spPr>
          <a:xfrm>
            <a:off x="4069080" y="2276856"/>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114800" y="2276856"/>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missing set_clock_groups</a:t>
            </a:r>
          </a:p>
        </p:txBody>
      </p:sp>
      <p:sp>
        <p:nvSpPr>
          <p:cNvPr id="37" name="Rectangle 36"/>
          <p:cNvSpPr/>
          <p:nvPr/>
        </p:nvSpPr>
        <p:spPr>
          <a:xfrm>
            <a:off x="7269480" y="2276856"/>
            <a:ext cx="43891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315200" y="2276856"/>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are the two clocks actually related?</a:t>
            </a:r>
          </a:p>
        </p:txBody>
      </p:sp>
      <p:sp>
        <p:nvSpPr>
          <p:cNvPr id="39" name="Rectangle 38"/>
          <p:cNvSpPr/>
          <p:nvPr/>
        </p:nvSpPr>
        <p:spPr>
          <a:xfrm>
            <a:off x="411480" y="2560320"/>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WNS is exactly -(period)</a:t>
            </a:r>
          </a:p>
        </p:txBody>
      </p:sp>
      <p:sp>
        <p:nvSpPr>
          <p:cNvPr id="41" name="Rectangle 40"/>
          <p:cNvSpPr/>
          <p:nvPr/>
        </p:nvSpPr>
        <p:spPr>
          <a:xfrm>
            <a:off x="4069080" y="2560320"/>
            <a:ext cx="3200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114800" y="2560320"/>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an undeclared generated clock</a:t>
            </a:r>
          </a:p>
        </p:txBody>
      </p:sp>
      <p:sp>
        <p:nvSpPr>
          <p:cNvPr id="43" name="Rectangle 42"/>
          <p:cNvSpPr/>
          <p:nvPr/>
        </p:nvSpPr>
        <p:spPr>
          <a:xfrm>
            <a:off x="7269480" y="2560320"/>
            <a:ext cx="43891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315200" y="2560320"/>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report_clocks - is anything missing?</a:t>
            </a:r>
          </a:p>
        </p:txBody>
      </p:sp>
      <p:sp>
        <p:nvSpPr>
          <p:cNvPr id="45" name="Rectangle 44"/>
          <p:cNvSpPr/>
          <p:nvPr/>
        </p:nvSpPr>
        <p:spPr>
          <a:xfrm>
            <a:off x="411480" y="2843784"/>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843784"/>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nothing fails but you do not believe it</a:t>
            </a:r>
          </a:p>
        </p:txBody>
      </p:sp>
      <p:sp>
        <p:nvSpPr>
          <p:cNvPr id="47" name="Rectangle 46"/>
          <p:cNvSpPr/>
          <p:nvPr/>
        </p:nvSpPr>
        <p:spPr>
          <a:xfrm>
            <a:off x="4069080" y="2843784"/>
            <a:ext cx="3200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114800" y="2843784"/>
            <a:ext cx="3108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unconstrained endpoints</a:t>
            </a:r>
          </a:p>
        </p:txBody>
      </p:sp>
      <p:sp>
        <p:nvSpPr>
          <p:cNvPr id="49" name="Rectangle 48"/>
          <p:cNvSpPr/>
          <p:nvPr/>
        </p:nvSpPr>
        <p:spPr>
          <a:xfrm>
            <a:off x="7269480" y="2843784"/>
            <a:ext cx="43891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315200" y="2843784"/>
            <a:ext cx="42976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report the count - it should be zero</a:t>
            </a:r>
          </a:p>
        </p:txBody>
      </p:sp>
      <p:sp>
        <p:nvSpPr>
          <p:cNvPr id="51" name="Rounded Rectangle 50"/>
          <p:cNvSpPr/>
          <p:nvPr/>
        </p:nvSpPr>
        <p:spPr>
          <a:xfrm>
            <a:off x="411480" y="3218688"/>
            <a:ext cx="11247120" cy="5943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76072" y="3282696"/>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Roughly half of all reported violations are not design problems</a:t>
            </a:r>
          </a:p>
        </p:txBody>
      </p:sp>
      <p:sp>
        <p:nvSpPr>
          <p:cNvPr id="53" name="TextBox 52"/>
          <p:cNvSpPr txBox="1"/>
          <p:nvPr/>
        </p:nvSpPr>
        <p:spPr>
          <a:xfrm>
            <a:off x="576072" y="3557016"/>
            <a:ext cx="10917936" cy="192024"/>
          </a:xfrm>
          <a:prstGeom prst="rect">
            <a:avLst/>
          </a:prstGeom>
          <a:noFill/>
        </p:spPr>
        <p:txBody>
          <a:bodyPr wrap="square" lIns="0" rIns="0" tIns="0" bIns="0" anchor="t">
            <a:spAutoFit/>
          </a:bodyPr>
          <a:lstStyle/>
          <a:p>
            <a:pPr algn="l">
              <a:lnSpc>
                <a:spcPct val="103000"/>
              </a:lnSpc>
              <a:spcAft>
                <a:spcPts val="400"/>
              </a:spcAft>
            </a:pPr>
            <a:r>
              <a:rPr sz="1050" b="0" i="0">
                <a:solidFill>
                  <a:srgbClr val="C01F43"/>
                </a:solidFill>
                <a:latin typeface="Calibri"/>
              </a:rPr>
              <a:t>They are constraint problems. Fixing the design first is the single biggest waste of time in timing closure - you can spend a week pipelining a path that was never real.</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6b · FIX 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Let the Tool Try Harder - the Measured Result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38</a:t>
            </a:r>
          </a:p>
        </p:txBody>
      </p:sp>
      <p:sp>
        <p:nvSpPr>
          <p:cNvPr id="9" name="Rounded Rectangle 8"/>
          <p:cNvSpPr/>
          <p:nvPr/>
        </p:nvSpPr>
        <p:spPr>
          <a:xfrm>
            <a:off x="411480" y="1143000"/>
            <a:ext cx="11247120" cy="238252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one flag, 2.4x the frequency</a:t>
            </a:r>
          </a:p>
        </p:txBody>
      </p:sp>
      <p:sp>
        <p:nvSpPr>
          <p:cNvPr id="11" name="TextBox 10"/>
          <p:cNvSpPr txBox="1"/>
          <p:nvPr/>
        </p:nvSpPr>
        <p:spPr>
          <a:xfrm>
            <a:off x="594360" y="1531620"/>
            <a:ext cx="10881360" cy="187960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the SAME RTL:   assign {cout, sum} = a_q + b_q;</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ABC=abc      make fmax        # default: area-oriented mapping</a:t>
            </a:r>
          </a:p>
          <a:p>
            <a:pPr algn="l">
              <a:lnSpc>
                <a:spcPct val="112000"/>
              </a:lnSpc>
            </a:pPr>
            <a:r>
              <a:rPr sz="1000" b="0" i="0">
                <a:solidFill>
                  <a:srgbClr val="D8E4F0"/>
                </a:solidFill>
                <a:latin typeface="Consolas"/>
              </a:rPr>
              <a:t>  longest path 4.615 ns   -&gt;   217 MHz</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ABC='abc -fast' make fmax     # delay-oriented mapping</a:t>
            </a:r>
          </a:p>
          <a:p>
            <a:pPr algn="l">
              <a:lnSpc>
                <a:spcPct val="112000"/>
              </a:lnSpc>
            </a:pPr>
            <a:r>
              <a:rPr sz="1000" b="0" i="0">
                <a:solidFill>
                  <a:srgbClr val="D8E4F0"/>
                </a:solidFill>
                <a:latin typeface="Consolas"/>
              </a:rPr>
              <a:t>  longest path 1.939 ns   -&gt;   516 MHz</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and the hand-written ripple-carry chain, for comparison:</a:t>
            </a:r>
          </a:p>
          <a:p>
            <a:pPr algn="l">
              <a:lnSpc>
                <a:spcPct val="112000"/>
              </a:lnSpc>
            </a:pPr>
            <a:r>
              <a:rPr sz="1000" b="0" i="0">
                <a:solidFill>
                  <a:srgbClr val="D8E4F0"/>
                </a:solidFill>
                <a:latin typeface="Consolas"/>
              </a:rPr>
              <a:t>  longest path 4.094 ns   -&gt;   244 MHz    (area mapping)</a:t>
            </a:r>
          </a:p>
        </p:txBody>
      </p:sp>
      <p:sp>
        <p:nvSpPr>
          <p:cNvPr id="12" name="Rounded Rectangle 11"/>
          <p:cNvSpPr/>
          <p:nvPr/>
        </p:nvSpPr>
        <p:spPr>
          <a:xfrm>
            <a:off x="411480" y="3616960"/>
            <a:ext cx="5532120" cy="17373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3680968"/>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result nobody expects</a:t>
            </a:r>
          </a:p>
        </p:txBody>
      </p:sp>
      <p:sp>
        <p:nvSpPr>
          <p:cNvPr id="14" name="TextBox 13"/>
          <p:cNvSpPr txBox="1"/>
          <p:nvPr/>
        </p:nvSpPr>
        <p:spPr>
          <a:xfrm>
            <a:off x="548640" y="3955288"/>
            <a:ext cx="5257800" cy="13350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Under area-oriented mapping, the plain  a + b  is SLOWER than the hand-written ripple chain: 4.615 ns against 4.094 ns.</a:t>
            </a:r>
          </a:p>
          <a:p>
            <a:pPr algn="l">
              <a:lnSpc>
                <a:spcPct val="103000"/>
              </a:lnSpc>
              <a:spcAft>
                <a:spcPts val="400"/>
              </a:spcAft>
            </a:pPr>
            <a:r>
              <a:rPr sz="1100" b="0" i="0">
                <a:solidFill>
                  <a:srgbClr val="33414F"/>
                </a:solidFill>
                <a:latin typeface="Calibri"/>
              </a:rPr>
              <a:t>Both netlists were proved equivalent to the RTL over 400 random vectors before these numbers were quoted.</a:t>
            </a:r>
          </a:p>
        </p:txBody>
      </p:sp>
      <p:sp>
        <p:nvSpPr>
          <p:cNvPr id="15" name="Rounded Rectangle 14"/>
          <p:cNvSpPr/>
          <p:nvPr/>
        </p:nvSpPr>
        <p:spPr>
          <a:xfrm>
            <a:off x="6126480" y="3616960"/>
            <a:ext cx="5532120" cy="17373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63640" y="368096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it means</a:t>
            </a:r>
          </a:p>
        </p:txBody>
      </p:sp>
      <p:sp>
        <p:nvSpPr>
          <p:cNvPr id="17" name="TextBox 16"/>
          <p:cNvSpPr txBox="1"/>
          <p:nvPr/>
        </p:nvSpPr>
        <p:spPr>
          <a:xfrm>
            <a:off x="6263640" y="3955288"/>
            <a:ext cx="5257800" cy="133502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"Describe intent, not structure" is only half the rule.</a:t>
            </a:r>
          </a:p>
          <a:p>
            <a:pPr algn="l">
              <a:lnSpc>
                <a:spcPct val="103000"/>
              </a:lnSpc>
              <a:spcAft>
                <a:spcPts val="400"/>
              </a:spcAft>
            </a:pPr>
            <a:r>
              <a:rPr sz="1100" b="1" i="0">
                <a:solidFill>
                  <a:srgbClr val="0E2A47"/>
                </a:solidFill>
                <a:latin typeface="Calibri"/>
              </a:rPr>
              <a:t>The other half: check what your tool did with it. The same source can be a slow design or a fast one depending on one option you did not set.</a:t>
            </a:r>
          </a:p>
        </p:txBody>
      </p:sp>
      <p:sp>
        <p:nvSpPr>
          <p:cNvPr id="18" name="TextBox 17"/>
          <p:cNvSpPr txBox="1"/>
          <p:nvPr/>
        </p:nvSpPr>
        <p:spPr>
          <a:xfrm>
            <a:off x="411480" y="5445760"/>
            <a:ext cx="11247120" cy="274320"/>
          </a:xfrm>
          <a:prstGeom prst="rect">
            <a:avLst/>
          </a:prstGeom>
          <a:noFill/>
        </p:spPr>
        <p:txBody>
          <a:bodyPr wrap="square" lIns="0" rIns="0" tIns="0" bIns="0" anchor="t">
            <a:spAutoFit/>
          </a:bodyPr>
          <a:lstStyle/>
          <a:p>
            <a:pPr algn="l">
              <a:lnSpc>
                <a:spcPct val="103000"/>
              </a:lnSpc>
              <a:spcAft>
                <a:spcPts val="700"/>
              </a:spcAft>
            </a:pPr>
            <a:r>
              <a:rPr sz="1050" b="1" i="0">
                <a:solidFill>
                  <a:srgbClr val="1B9AAA"/>
                </a:solidFill>
                <a:latin typeface="Calibri"/>
              </a:rPr>
              <a:t>You will reproduce both numbers yourself in lab T5.</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FIX 3</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Restructuring - a Chain Is Depth N, a Tree Is Depth log 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39</a:t>
            </a:r>
          </a:p>
        </p:txBody>
      </p:sp>
      <p:pic>
        <p:nvPicPr>
          <p:cNvPr id="9" name="Picture 8" descr="logic_restructure.png"/>
          <p:cNvPicPr>
            <a:picLocks noChangeAspect="1"/>
          </p:cNvPicPr>
          <p:nvPr/>
        </p:nvPicPr>
        <p:blipFill>
          <a:blip r:embed="rId2"/>
          <a:stretch>
            <a:fillRect/>
          </a:stretch>
        </p:blipFill>
        <p:spPr>
          <a:xfrm>
            <a:off x="2581835" y="1097280"/>
            <a:ext cx="6906409" cy="4389120"/>
          </a:xfrm>
          <a:prstGeom prst="rect">
            <a:avLst/>
          </a:prstGeom>
        </p:spPr>
      </p:pic>
      <p:sp>
        <p:nvSpPr>
          <p:cNvPr id="10" name="Rounded Rectangle 9"/>
          <p:cNvSpPr/>
          <p:nvPr/>
        </p:nvSpPr>
        <p:spPr>
          <a:xfrm>
            <a:off x="411480" y="5577840"/>
            <a:ext cx="11247120" cy="8229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64184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What stops the tool doing it for you</a:t>
            </a:r>
          </a:p>
        </p:txBody>
      </p:sp>
      <p:sp>
        <p:nvSpPr>
          <p:cNvPr id="12" name="TextBox 11"/>
          <p:cNvSpPr txBox="1"/>
          <p:nvPr/>
        </p:nvSpPr>
        <p:spPr>
          <a:xfrm>
            <a:off x="576072" y="591616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Assign an intermediate sum to a named wire that something else also reads, and that reader pins the structure: the tool can no longer rebalance across it. If a sum must be fast, do not publish its intermediate results.</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FIX 4</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Pipelining - Cut the Path, Keep the Work</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40</a:t>
            </a:r>
          </a:p>
        </p:txBody>
      </p:sp>
      <p:pic>
        <p:nvPicPr>
          <p:cNvPr id="9" name="Picture 8" descr="pipelining.png"/>
          <p:cNvPicPr>
            <a:picLocks noChangeAspect="1"/>
          </p:cNvPicPr>
          <p:nvPr/>
        </p:nvPicPr>
        <p:blipFill>
          <a:blip r:embed="rId2"/>
          <a:stretch>
            <a:fillRect/>
          </a:stretch>
        </p:blipFill>
        <p:spPr>
          <a:xfrm>
            <a:off x="2689334" y="1097280"/>
            <a:ext cx="6691411" cy="4480560"/>
          </a:xfrm>
          <a:prstGeom prst="rect">
            <a:avLst/>
          </a:prstGeom>
        </p:spPr>
      </p:pic>
      <p:sp>
        <p:nvSpPr>
          <p:cNvPr id="10" name="TextBox 9"/>
          <p:cNvSpPr txBox="1"/>
          <p:nvPr/>
        </p:nvSpPr>
        <p:spPr>
          <a:xfrm>
            <a:off x="411480" y="5669280"/>
            <a:ext cx="11247120" cy="411480"/>
          </a:xfrm>
          <a:prstGeom prst="rect">
            <a:avLst/>
          </a:prstGeom>
          <a:noFill/>
        </p:spPr>
        <p:txBody>
          <a:bodyPr wrap="square" lIns="0" rIns="0" tIns="0" bIns="0" anchor="t">
            <a:spAutoFit/>
          </a:bodyPr>
          <a:lstStyle/>
          <a:p>
            <a:pPr algn="l">
              <a:lnSpc>
                <a:spcPct val="103000"/>
              </a:lnSpc>
              <a:spcAft>
                <a:spcPts val="700"/>
              </a:spcAft>
            </a:pPr>
            <a:r>
              <a:rPr sz="1100" b="0" i="0">
                <a:solidFill>
                  <a:srgbClr val="33414F"/>
                </a:solidFill>
                <a:latin typeface="Calibri"/>
              </a:rPr>
              <a:t>The biggest single win available - and the one with a real cost: one more cycle of latency, and every control signal alongside the data must be delayed to match.</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FIX 4</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Pipelining In RTL - and the Mistake To Avoid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41</a:t>
            </a:r>
          </a:p>
        </p:txBody>
      </p:sp>
      <p:sp>
        <p:nvSpPr>
          <p:cNvPr id="9" name="Rounded Rectangle 8"/>
          <p:cNvSpPr/>
          <p:nvPr/>
        </p:nvSpPr>
        <p:spPr>
          <a:xfrm>
            <a:off x="411480" y="1143000"/>
            <a:ext cx="11247120" cy="264566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rtl/add_ripple_pipe.v</a:t>
            </a:r>
          </a:p>
        </p:txBody>
      </p:sp>
      <p:sp>
        <p:nvSpPr>
          <p:cNvPr id="11" name="TextBox 10"/>
          <p:cNvSpPr txBox="1"/>
          <p:nvPr/>
        </p:nvSpPr>
        <p:spPr>
          <a:xfrm>
            <a:off x="594360" y="1531620"/>
            <a:ext cx="10881360" cy="2142744"/>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BEFORE - one stage, the whole 32-bit carry chain in one cycle</a:t>
            </a:r>
          </a:p>
          <a:p>
            <a:pPr algn="l">
              <a:lnSpc>
                <a:spcPct val="112000"/>
              </a:lnSpc>
            </a:pPr>
            <a:r>
              <a:rPr sz="950" b="0" i="0">
                <a:solidFill>
                  <a:srgbClr val="D8E4F0"/>
                </a:solidFill>
                <a:latin typeface="Consolas"/>
              </a:rPr>
              <a:t>always @(posedge clk) {cout, sum} &lt;= a_q + b_q;</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AFTER - cut at bit 16. Note that a_q[31:16] and b_q[31:16] must be DELAYED</a:t>
            </a:r>
          </a:p>
          <a:p>
            <a:pPr algn="l">
              <a:lnSpc>
                <a:spcPct val="112000"/>
              </a:lnSpc>
            </a:pPr>
            <a:r>
              <a:rPr sz="950" b="0" i="0">
                <a:solidFill>
                  <a:srgbClr val="D8E4F0"/>
                </a:solidFill>
                <a:latin typeface="Consolas"/>
              </a:rPr>
              <a:t>// to meet the carry when it arrives, or the upper half adds the wrong operands.</a:t>
            </a:r>
          </a:p>
          <a:p>
            <a:pPr algn="l">
              <a:lnSpc>
                <a:spcPct val="112000"/>
              </a:lnSpc>
            </a:pPr>
            <a:r>
              <a:rPr sz="950" b="0" i="0">
                <a:solidFill>
                  <a:srgbClr val="D8E4F0"/>
                </a:solidFill>
                <a:latin typeface="Consolas"/>
              </a:rPr>
              <a:t>always @(posedge clk) begin</a:t>
            </a:r>
          </a:p>
          <a:p>
            <a:pPr algn="l">
              <a:lnSpc>
                <a:spcPct val="112000"/>
              </a:lnSpc>
            </a:pPr>
            <a:r>
              <a:rPr sz="950" b="0" i="0">
                <a:solidFill>
                  <a:srgbClr val="D8E4F0"/>
                </a:solidFill>
                <a:latin typeface="Consolas"/>
              </a:rPr>
              <a:t>    {cmid_q, sl_q} &lt;= a_q[15:0] + b_q[15:0];   // stage 1</a:t>
            </a:r>
          </a:p>
          <a:p>
            <a:pPr algn="l">
              <a:lnSpc>
                <a:spcPct val="112000"/>
              </a:lnSpc>
            </a:pPr>
            <a:r>
              <a:rPr sz="950" b="0" i="0">
                <a:solidFill>
                  <a:srgbClr val="D8E4F0"/>
                </a:solidFill>
                <a:latin typeface="Consolas"/>
              </a:rPr>
              <a:t>    ah_q &lt;= a_q[31:16];                        // &lt;- the easy line to forget</a:t>
            </a:r>
          </a:p>
          <a:p>
            <a:pPr algn="l">
              <a:lnSpc>
                <a:spcPct val="112000"/>
              </a:lnSpc>
            </a:pPr>
            <a:r>
              <a:rPr sz="950" b="0" i="0">
                <a:solidFill>
                  <a:srgbClr val="D8E4F0"/>
                </a:solidFill>
                <a:latin typeface="Consolas"/>
              </a:rPr>
              <a:t>    bh_q &lt;= b_q[31:16];</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{cout, sum} &lt;= {ah_q + bh_q + cmid_q, sl_q};   // stage 2</a:t>
            </a:r>
          </a:p>
          <a:p>
            <a:pPr algn="l">
              <a:lnSpc>
                <a:spcPct val="112000"/>
              </a:lnSpc>
            </a:pPr>
            <a:r>
              <a:rPr sz="950" b="0" i="0">
                <a:solidFill>
                  <a:srgbClr val="D8E4F0"/>
                </a:solidFill>
                <a:latin typeface="Consolas"/>
              </a:rPr>
              <a:t>end</a:t>
            </a:r>
          </a:p>
        </p:txBody>
      </p:sp>
      <p:sp>
        <p:nvSpPr>
          <p:cNvPr id="12" name="Rounded Rectangle 11"/>
          <p:cNvSpPr/>
          <p:nvPr/>
        </p:nvSpPr>
        <p:spPr>
          <a:xfrm>
            <a:off x="411480" y="3880104"/>
            <a:ext cx="11247120" cy="8229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3944112"/>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classic pipelining bug, in one sentence</a:t>
            </a:r>
          </a:p>
        </p:txBody>
      </p:sp>
      <p:sp>
        <p:nvSpPr>
          <p:cNvPr id="14" name="TextBox 13"/>
          <p:cNvSpPr txBox="1"/>
          <p:nvPr/>
        </p:nvSpPr>
        <p:spPr>
          <a:xfrm>
            <a:off x="576072" y="4218432"/>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C01F43"/>
                </a:solidFill>
                <a:latin typeface="Calibri"/>
              </a:rPr>
              <a:t>You cut the datapath and forget to delay something that travels beside it - an operand, a valid flag, a write enable. The design still meets timing beautifully and computes the wrong answer. Lab T5 makes you find this one deliberately.</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6b · FIX 5</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Retiming - Move the Register You Already Have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42</a:t>
            </a:r>
          </a:p>
        </p:txBody>
      </p:sp>
      <p:pic>
        <p:nvPicPr>
          <p:cNvPr id="9" name="Picture 8" descr="retiming.png"/>
          <p:cNvPicPr>
            <a:picLocks noChangeAspect="1"/>
          </p:cNvPicPr>
          <p:nvPr/>
        </p:nvPicPr>
        <p:blipFill>
          <a:blip r:embed="rId2"/>
          <a:stretch>
            <a:fillRect/>
          </a:stretch>
        </p:blipFill>
        <p:spPr>
          <a:xfrm>
            <a:off x="2563690" y="1097280"/>
            <a:ext cx="6942700" cy="4297680"/>
          </a:xfrm>
          <a:prstGeom prst="rect">
            <a:avLst/>
          </a:prstGeom>
        </p:spPr>
      </p:pic>
      <p:sp>
        <p:nvSpPr>
          <p:cNvPr id="10" name="Rounded Rectangle 9"/>
          <p:cNvSpPr/>
          <p:nvPr/>
        </p:nvSpPr>
        <p:spPr>
          <a:xfrm>
            <a:off x="411480" y="5486400"/>
            <a:ext cx="11247120" cy="822960"/>
          </a:xfrm>
          <a:prstGeom prst="roundRect">
            <a:avLst>
              <a:gd name="adj" fmla="val 5714"/>
            </a:avLst>
          </a:prstGeom>
          <a:solidFill>
            <a:srgbClr val="F4F8FB"/>
          </a:solidFill>
          <a:ln w="13970">
            <a:solidFill>
              <a:srgbClr val="6B45A8"/>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550408"/>
            <a:ext cx="10917936" cy="274320"/>
          </a:xfrm>
          <a:prstGeom prst="rect">
            <a:avLst/>
          </a:prstGeom>
          <a:noFill/>
        </p:spPr>
        <p:txBody>
          <a:bodyPr wrap="square" lIns="0" rIns="0" tIns="0" bIns="0" anchor="ctr">
            <a:spAutoFit/>
          </a:bodyPr>
          <a:lstStyle/>
          <a:p>
            <a:pPr algn="l">
              <a:lnSpc>
                <a:spcPct val="103000"/>
              </a:lnSpc>
            </a:pPr>
            <a:r>
              <a:rPr sz="1150" b="1" i="0">
                <a:solidFill>
                  <a:srgbClr val="6B45A8"/>
                </a:solidFill>
                <a:latin typeface="Cambria"/>
              </a:rPr>
              <a:t>Free in a way pipelining is not</a:t>
            </a:r>
          </a:p>
        </p:txBody>
      </p:sp>
      <p:sp>
        <p:nvSpPr>
          <p:cNvPr id="12" name="TextBox 11"/>
          <p:cNvSpPr txBox="1"/>
          <p:nvPr/>
        </p:nvSpPr>
        <p:spPr>
          <a:xfrm>
            <a:off x="576072" y="582472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No register is added, so latency does not change and no control signal needs re-aligning. Vivado does it with  synth_design -retiming; most ASIC tools have an equivalent. A register with an asynchronous reset, or one whose output goes straight to a port, usually cannot move.</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6b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Eight Questions Before We Move On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43</a:t>
            </a:r>
          </a:p>
        </p:txBody>
      </p:sp>
      <p:sp>
        <p:nvSpPr>
          <p:cNvPr id="9" name="Rectangle 8"/>
          <p:cNvSpPr/>
          <p:nvPr/>
        </p:nvSpPr>
        <p:spPr>
          <a:xfrm>
            <a:off x="411480" y="1143000"/>
            <a:ext cx="5486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t>
            </a:r>
          </a:p>
        </p:txBody>
      </p:sp>
      <p:sp>
        <p:nvSpPr>
          <p:cNvPr id="11" name="Rectangle 10"/>
          <p:cNvSpPr/>
          <p:nvPr/>
        </p:nvSpPr>
        <p:spPr>
          <a:xfrm>
            <a:off x="960120" y="1143000"/>
            <a:ext cx="48463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47548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Question</a:t>
            </a:r>
          </a:p>
        </p:txBody>
      </p:sp>
      <p:sp>
        <p:nvSpPr>
          <p:cNvPr id="13" name="Rectangle 12"/>
          <p:cNvSpPr/>
          <p:nvPr/>
        </p:nvSpPr>
        <p:spPr>
          <a:xfrm>
            <a:off x="5806440" y="1143000"/>
            <a:ext cx="58521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852160" y="1143000"/>
            <a:ext cx="57607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The answer in one line</a:t>
            </a:r>
          </a:p>
        </p:txBody>
      </p:sp>
      <p:sp>
        <p:nvSpPr>
          <p:cNvPr id="15" name="Rectangle 14"/>
          <p:cNvSpPr/>
          <p:nvPr/>
        </p:nvSpPr>
        <p:spPr>
          <a:xfrm>
            <a:off x="411480" y="1426464"/>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a:t>
            </a:r>
          </a:p>
        </p:txBody>
      </p:sp>
      <p:sp>
        <p:nvSpPr>
          <p:cNvPr id="17" name="Rectangle 16"/>
          <p:cNvSpPr/>
          <p:nvPr/>
        </p:nvSpPr>
        <p:spPr>
          <a:xfrm>
            <a:off x="960120" y="1426464"/>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26464"/>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does STA propagate forward?</a:t>
            </a:r>
          </a:p>
        </p:txBody>
      </p:sp>
      <p:sp>
        <p:nvSpPr>
          <p:cNvPr id="19" name="Rectangle 18"/>
          <p:cNvSpPr/>
          <p:nvPr/>
        </p:nvSpPr>
        <p:spPr>
          <a:xfrm>
            <a:off x="5806440" y="1426464"/>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852160" y="1426464"/>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arrival time - the latest, for setup</a:t>
            </a:r>
          </a:p>
        </p:txBody>
      </p:sp>
      <p:sp>
        <p:nvSpPr>
          <p:cNvPr id="21" name="Rectangle 20"/>
          <p:cNvSpPr/>
          <p:nvPr/>
        </p:nvSpPr>
        <p:spPr>
          <a:xfrm>
            <a:off x="411480" y="1709928"/>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2</a:t>
            </a:r>
          </a:p>
        </p:txBody>
      </p:sp>
      <p:sp>
        <p:nvSpPr>
          <p:cNvPr id="23" name="Rectangle 22"/>
          <p:cNvSpPr/>
          <p:nvPr/>
        </p:nvSpPr>
        <p:spPr>
          <a:xfrm>
            <a:off x="960120" y="1709928"/>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709928"/>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And backward?</a:t>
            </a:r>
          </a:p>
        </p:txBody>
      </p:sp>
      <p:sp>
        <p:nvSpPr>
          <p:cNvPr id="25" name="Rectangle 24"/>
          <p:cNvSpPr/>
          <p:nvPr/>
        </p:nvSpPr>
        <p:spPr>
          <a:xfrm>
            <a:off x="5806440" y="1709928"/>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852160" y="1709928"/>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required time, from period minus setup</a:t>
            </a:r>
          </a:p>
        </p:txBody>
      </p:sp>
      <p:sp>
        <p:nvSpPr>
          <p:cNvPr id="27" name="Rectangle 26"/>
          <p:cNvSpPr/>
          <p:nvPr/>
        </p:nvSpPr>
        <p:spPr>
          <a:xfrm>
            <a:off x="411480" y="1993392"/>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a:t>
            </a:r>
          </a:p>
        </p:txBody>
      </p:sp>
      <p:sp>
        <p:nvSpPr>
          <p:cNvPr id="29" name="Rectangle 28"/>
          <p:cNvSpPr/>
          <p:nvPr/>
        </p:nvSpPr>
        <p:spPr>
          <a:xfrm>
            <a:off x="960120" y="1993392"/>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1993392"/>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Why does it need no stimulus?</a:t>
            </a:r>
          </a:p>
        </p:txBody>
      </p:sp>
      <p:sp>
        <p:nvSpPr>
          <p:cNvPr id="31" name="Rectangle 30"/>
          <p:cNvSpPr/>
          <p:nvPr/>
        </p:nvSpPr>
        <p:spPr>
          <a:xfrm>
            <a:off x="5806440" y="1993392"/>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852160" y="1993392"/>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it measures path length, not path activity</a:t>
            </a:r>
          </a:p>
        </p:txBody>
      </p:sp>
      <p:sp>
        <p:nvSpPr>
          <p:cNvPr id="33" name="Rectangle 32"/>
          <p:cNvSpPr/>
          <p:nvPr/>
        </p:nvSpPr>
        <p:spPr>
          <a:xfrm>
            <a:off x="411480" y="2276856"/>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a:t>
            </a:r>
          </a:p>
        </p:txBody>
      </p:sp>
      <p:sp>
        <p:nvSpPr>
          <p:cNvPr id="35" name="Rectangle 34"/>
          <p:cNvSpPr/>
          <p:nvPr/>
        </p:nvSpPr>
        <p:spPr>
          <a:xfrm>
            <a:off x="960120" y="2276856"/>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276856"/>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is the one weakness of that?</a:t>
            </a:r>
          </a:p>
        </p:txBody>
      </p:sp>
      <p:sp>
        <p:nvSpPr>
          <p:cNvPr id="37" name="Rectangle 36"/>
          <p:cNvSpPr/>
          <p:nvPr/>
        </p:nvSpPr>
        <p:spPr>
          <a:xfrm>
            <a:off x="5806440" y="2276856"/>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852160" y="2276856"/>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it reports paths that can never switch - false paths</a:t>
            </a:r>
          </a:p>
        </p:txBody>
      </p:sp>
      <p:sp>
        <p:nvSpPr>
          <p:cNvPr id="39" name="Rectangle 38"/>
          <p:cNvSpPr/>
          <p:nvPr/>
        </p:nvSpPr>
        <p:spPr>
          <a:xfrm>
            <a:off x="411480" y="2560320"/>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a:t>
            </a:r>
          </a:p>
        </p:txBody>
      </p:sp>
      <p:sp>
        <p:nvSpPr>
          <p:cNvPr id="41" name="Rectangle 40"/>
          <p:cNvSpPr/>
          <p:nvPr/>
        </p:nvSpPr>
        <p:spPr>
          <a:xfrm>
            <a:off x="960120" y="2560320"/>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560320"/>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WNS -0.1, TNS -95. Diagnosis?</a:t>
            </a:r>
          </a:p>
        </p:txBody>
      </p:sp>
      <p:sp>
        <p:nvSpPr>
          <p:cNvPr id="43" name="Rectangle 42"/>
          <p:cNvSpPr/>
          <p:nvPr/>
        </p:nvSpPr>
        <p:spPr>
          <a:xfrm>
            <a:off x="5806440" y="2560320"/>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852160" y="2560320"/>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systemic; many paths just fail - review the target</a:t>
            </a:r>
          </a:p>
        </p:txBody>
      </p:sp>
      <p:sp>
        <p:nvSpPr>
          <p:cNvPr id="45" name="Rectangle 44"/>
          <p:cNvSpPr/>
          <p:nvPr/>
        </p:nvSpPr>
        <p:spPr>
          <a:xfrm>
            <a:off x="411480" y="2843784"/>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843784"/>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a:t>
            </a:r>
          </a:p>
        </p:txBody>
      </p:sp>
      <p:sp>
        <p:nvSpPr>
          <p:cNvPr id="47" name="Rectangle 46"/>
          <p:cNvSpPr/>
          <p:nvPr/>
        </p:nvSpPr>
        <p:spPr>
          <a:xfrm>
            <a:off x="960120" y="2843784"/>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2843784"/>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Which corner signs off setup?</a:t>
            </a:r>
          </a:p>
        </p:txBody>
      </p:sp>
      <p:sp>
        <p:nvSpPr>
          <p:cNvPr id="49" name="Rectangle 48"/>
          <p:cNvSpPr/>
          <p:nvPr/>
        </p:nvSpPr>
        <p:spPr>
          <a:xfrm>
            <a:off x="5806440" y="2843784"/>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852160" y="2843784"/>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slow: slow silicon, low V, high T</a:t>
            </a:r>
          </a:p>
        </p:txBody>
      </p:sp>
      <p:sp>
        <p:nvSpPr>
          <p:cNvPr id="51" name="Rectangle 50"/>
          <p:cNvSpPr/>
          <p:nvPr/>
        </p:nvSpPr>
        <p:spPr>
          <a:xfrm>
            <a:off x="411480" y="3127248"/>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127248"/>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7</a:t>
            </a:r>
          </a:p>
        </p:txBody>
      </p:sp>
      <p:sp>
        <p:nvSpPr>
          <p:cNvPr id="53" name="Rectangle 52"/>
          <p:cNvSpPr/>
          <p:nvPr/>
        </p:nvSpPr>
        <p:spPr>
          <a:xfrm>
            <a:off x="960120" y="3127248"/>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3127248"/>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Cheapest fix for a setup violation?</a:t>
            </a:r>
          </a:p>
        </p:txBody>
      </p:sp>
      <p:sp>
        <p:nvSpPr>
          <p:cNvPr id="55" name="Rectangle 54"/>
          <p:cNvSpPr/>
          <p:nvPr/>
        </p:nvSpPr>
        <p:spPr>
          <a:xfrm>
            <a:off x="5806440" y="3127248"/>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852160" y="3127248"/>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check the constraint, then the mapping effort</a:t>
            </a:r>
          </a:p>
        </p:txBody>
      </p:sp>
      <p:sp>
        <p:nvSpPr>
          <p:cNvPr id="57" name="Rectangle 56"/>
          <p:cNvSpPr/>
          <p:nvPr/>
        </p:nvSpPr>
        <p:spPr>
          <a:xfrm>
            <a:off x="411480" y="3410712"/>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410712"/>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8</a:t>
            </a:r>
          </a:p>
        </p:txBody>
      </p:sp>
      <p:sp>
        <p:nvSpPr>
          <p:cNvPr id="59" name="Rectangle 58"/>
          <p:cNvSpPr/>
          <p:nvPr/>
        </p:nvSpPr>
        <p:spPr>
          <a:xfrm>
            <a:off x="960120" y="3410712"/>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05840" y="3410712"/>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does pipelining cost?</a:t>
            </a:r>
          </a:p>
        </p:txBody>
      </p:sp>
      <p:sp>
        <p:nvSpPr>
          <p:cNvPr id="61" name="Rectangle 60"/>
          <p:cNvSpPr/>
          <p:nvPr/>
        </p:nvSpPr>
        <p:spPr>
          <a:xfrm>
            <a:off x="5806440" y="3410712"/>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5852160" y="3410712"/>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cycle of latency, and every parallel signal must match</a:t>
            </a:r>
          </a:p>
        </p:txBody>
      </p:sp>
      <p:sp>
        <p:nvSpPr>
          <p:cNvPr id="63" name="TextBox 62"/>
          <p:cNvSpPr txBox="1"/>
          <p:nvPr/>
        </p:nvSpPr>
        <p:spPr>
          <a:xfrm>
            <a:off x="411480" y="3785616"/>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2A9D5C"/>
                </a:solidFill>
                <a:latin typeface="Calibri"/>
              </a:rPr>
              <a:t>Part 6c is where the two failures separate: setup and hold need opposite fixes, and confusing them wastes days.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C01F43"/>
                </a:solidFill>
                <a:latin typeface="Calibri"/>
              </a:rPr>
              <a:t>PART 6c</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Setup and Hold Violations, and Their Resolution</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Two failures that look similar in a report and could not be more different in the silicon.</a:t>
            </a:r>
          </a:p>
        </p:txBody>
      </p:sp>
      <p:sp>
        <p:nvSpPr>
          <p:cNvPr id="6" name="Rectangle 5"/>
          <p:cNvSpPr/>
          <p:nvPr/>
        </p:nvSpPr>
        <p:spPr>
          <a:xfrm>
            <a:off x="640080" y="3941064"/>
            <a:ext cx="91440" cy="182880"/>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Setup: the data was too late. The chip runs slower.</a:t>
            </a:r>
          </a:p>
        </p:txBody>
      </p:sp>
      <p:sp>
        <p:nvSpPr>
          <p:cNvPr id="8" name="Rectangle 7"/>
          <p:cNvSpPr/>
          <p:nvPr/>
        </p:nvSpPr>
        <p:spPr>
          <a:xfrm>
            <a:off x="640080" y="4352544"/>
            <a:ext cx="91440" cy="182880"/>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Hold: the data changed too soon. The chip does not work at any speed.</a:t>
            </a:r>
          </a:p>
        </p:txBody>
      </p:sp>
      <p:sp>
        <p:nvSpPr>
          <p:cNvPr id="10" name="Rectangle 9"/>
          <p:cNvSpPr/>
          <p:nvPr/>
        </p:nvSpPr>
        <p:spPr>
          <a:xfrm>
            <a:off x="640080" y="4764024"/>
            <a:ext cx="91440" cy="182880"/>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Clock skew, jitter, and why hold problems appear only after layout</a:t>
            </a:r>
          </a:p>
        </p:txBody>
      </p:sp>
      <p:sp>
        <p:nvSpPr>
          <p:cNvPr id="12" name="Rectangle 11"/>
          <p:cNvSpPr/>
          <p:nvPr/>
        </p:nvSpPr>
        <p:spPr>
          <a:xfrm>
            <a:off x="640080" y="5175504"/>
            <a:ext cx="91440" cy="182880"/>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A decision procedure you can follow under deadline pressure</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6: Timing Constraints and Analysis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M2-T6 · 44</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THE TWO FAILURES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Setup and Hold Are Opposite Problems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45</a:t>
            </a:r>
          </a:p>
        </p:txBody>
      </p:sp>
      <p:pic>
        <p:nvPicPr>
          <p:cNvPr id="9" name="Picture 8" descr="setup_vs_hold.png"/>
          <p:cNvPicPr>
            <a:picLocks noChangeAspect="1"/>
          </p:cNvPicPr>
          <p:nvPr/>
        </p:nvPicPr>
        <p:blipFill>
          <a:blip r:embed="rId2"/>
          <a:stretch>
            <a:fillRect/>
          </a:stretch>
        </p:blipFill>
        <p:spPr>
          <a:xfrm>
            <a:off x="1950331" y="1097280"/>
            <a:ext cx="8169418" cy="4572000"/>
          </a:xfrm>
          <a:prstGeom prst="rect">
            <a:avLst/>
          </a:prstGeom>
        </p:spPr>
      </p:pic>
      <p:sp>
        <p:nvSpPr>
          <p:cNvPr id="10" name="TextBox 9"/>
          <p:cNvSpPr txBox="1"/>
          <p:nvPr/>
        </p:nvSpPr>
        <p:spPr>
          <a:xfrm>
            <a:off x="411480" y="5760720"/>
            <a:ext cx="11247120" cy="365760"/>
          </a:xfrm>
          <a:prstGeom prst="rect">
            <a:avLst/>
          </a:prstGeom>
          <a:noFill/>
        </p:spPr>
        <p:txBody>
          <a:bodyPr wrap="square" lIns="0" rIns="0" tIns="0" bIns="0" anchor="t">
            <a:spAutoFit/>
          </a:bodyPr>
          <a:lstStyle/>
          <a:p>
            <a:pPr algn="l">
              <a:lnSpc>
                <a:spcPct val="103000"/>
              </a:lnSpc>
              <a:spcAft>
                <a:spcPts val="700"/>
              </a:spcAft>
            </a:pPr>
            <a:r>
              <a:rPr sz="1100" b="1" i="0">
                <a:solidFill>
                  <a:srgbClr val="C01F43"/>
                </a:solidFill>
                <a:latin typeface="Calibri"/>
              </a:rPr>
              <a:t>A chip with a setup violation runs slower. A chip with a hold violation does not work at any speed. That difference decides everything you do next.</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THE TWO EQUATIONS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Side By Side, With the Difference Circled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46</a:t>
            </a:r>
          </a:p>
        </p:txBody>
      </p:sp>
      <p:sp>
        <p:nvSpPr>
          <p:cNvPr id="9" name="Rounded Rectangle 8"/>
          <p:cNvSpPr/>
          <p:nvPr/>
        </p:nvSpPr>
        <p:spPr>
          <a:xfrm>
            <a:off x="411480" y="1143000"/>
            <a:ext cx="11247120" cy="246710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everything in part 6c follows from these two</a:t>
            </a:r>
          </a:p>
        </p:txBody>
      </p:sp>
      <p:sp>
        <p:nvSpPr>
          <p:cNvPr id="11" name="TextBox 10"/>
          <p:cNvSpPr txBox="1"/>
          <p:nvPr/>
        </p:nvSpPr>
        <p:spPr>
          <a:xfrm>
            <a:off x="594360" y="1531620"/>
            <a:ext cx="10881360" cy="1964182"/>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SETUP     required  =  period  +  skew  -  setup  -  uncertainty</a:t>
            </a:r>
          </a:p>
          <a:p>
            <a:pPr algn="l">
              <a:lnSpc>
                <a:spcPct val="112000"/>
              </a:lnSpc>
            </a:pPr>
            <a:r>
              <a:rPr sz="950" b="0" i="0">
                <a:solidFill>
                  <a:srgbClr val="D8E4F0"/>
                </a:solidFill>
                <a:latin typeface="Consolas"/>
              </a:rPr>
              <a:t>          arrival   =  clk_to_q  +  logic</a:t>
            </a:r>
          </a:p>
          <a:p>
            <a:pPr algn="l">
              <a:lnSpc>
                <a:spcPct val="112000"/>
              </a:lnSpc>
            </a:pPr>
            <a:r>
              <a:rPr sz="950" b="0" i="0">
                <a:solidFill>
                  <a:srgbClr val="D8E4F0"/>
                </a:solidFill>
                <a:latin typeface="Consolas"/>
              </a:rPr>
              <a:t>          slack     =  required  -  arrival</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HOLD      required  =  skew  +  hold  +  uncertainty</a:t>
            </a:r>
          </a:p>
          <a:p>
            <a:pPr algn="l">
              <a:lnSpc>
                <a:spcPct val="112000"/>
              </a:lnSpc>
            </a:pPr>
            <a:r>
              <a:rPr sz="950" b="0" i="0">
                <a:solidFill>
                  <a:srgbClr val="D8E4F0"/>
                </a:solidFill>
                <a:latin typeface="Consolas"/>
              </a:rPr>
              <a:t>          arrival   =  clk_to_q  +  logic          &lt;- the SHORTEST path, not the longest</a:t>
            </a:r>
          </a:p>
          <a:p>
            <a:pPr algn="l">
              <a:lnSpc>
                <a:spcPct val="112000"/>
              </a:lnSpc>
            </a:pPr>
            <a:r>
              <a:rPr sz="950" b="0" i="0">
                <a:solidFill>
                  <a:srgbClr val="D8E4F0"/>
                </a:solidFill>
                <a:latin typeface="Consolas"/>
              </a:rPr>
              <a:t>          slack     =  arrival  -  required</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the period appears in the setup equation and NOWHERE in the hold equation</a:t>
            </a:r>
          </a:p>
          <a:p>
            <a:pPr algn="l">
              <a:lnSpc>
                <a:spcPct val="112000"/>
              </a:lnSpc>
            </a:pPr>
            <a:r>
              <a:rPr sz="950" b="0" i="0">
                <a:solidFill>
                  <a:srgbClr val="D8E4F0"/>
                </a:solidFill>
                <a:latin typeface="Consolas"/>
              </a:rPr>
              <a:t>#  the subtraction is the other way round: setup wants arrival SMALL,</a:t>
            </a:r>
          </a:p>
          <a:p>
            <a:pPr algn="l">
              <a:lnSpc>
                <a:spcPct val="112000"/>
              </a:lnSpc>
            </a:pPr>
            <a:r>
              <a:rPr sz="950" b="0" i="0">
                <a:solidFill>
                  <a:srgbClr val="D8E4F0"/>
                </a:solidFill>
                <a:latin typeface="Consolas"/>
              </a:rPr>
              <a:t>#  hold wants it LARGE</a:t>
            </a:r>
          </a:p>
        </p:txBody>
      </p:sp>
      <p:sp>
        <p:nvSpPr>
          <p:cNvPr id="12" name="Rounded Rectangle 11"/>
          <p:cNvSpPr/>
          <p:nvPr/>
        </p:nvSpPr>
        <p:spPr>
          <a:xfrm>
            <a:off x="411480" y="3701542"/>
            <a:ext cx="5532120" cy="15544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3765550"/>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Consequence 1</a:t>
            </a:r>
          </a:p>
        </p:txBody>
      </p:sp>
      <p:sp>
        <p:nvSpPr>
          <p:cNvPr id="14" name="TextBox 13"/>
          <p:cNvSpPr txBox="1"/>
          <p:nvPr/>
        </p:nvSpPr>
        <p:spPr>
          <a:xfrm>
            <a:off x="548640" y="4039870"/>
            <a:ext cx="5257800" cy="11521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Slowing the clock fixes setup and does nothing at all for hold.</a:t>
            </a:r>
          </a:p>
          <a:p>
            <a:pPr algn="l">
              <a:lnSpc>
                <a:spcPct val="103000"/>
              </a:lnSpc>
              <a:spcAft>
                <a:spcPts val="400"/>
              </a:spcAft>
            </a:pPr>
            <a:r>
              <a:rPr sz="1100" b="0" i="0">
                <a:solidFill>
                  <a:srgbClr val="33414F"/>
                </a:solidFill>
                <a:latin typeface="Calibri"/>
              </a:rPr>
              <a:t>Speeding it up breaks setup and, again, does nothing to hold.</a:t>
            </a:r>
          </a:p>
        </p:txBody>
      </p:sp>
      <p:sp>
        <p:nvSpPr>
          <p:cNvPr id="15" name="Rounded Rectangle 14"/>
          <p:cNvSpPr/>
          <p:nvPr/>
        </p:nvSpPr>
        <p:spPr>
          <a:xfrm>
            <a:off x="6126480" y="3701542"/>
            <a:ext cx="5532120" cy="15544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63640" y="3765550"/>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Consequence 2</a:t>
            </a:r>
          </a:p>
        </p:txBody>
      </p:sp>
      <p:sp>
        <p:nvSpPr>
          <p:cNvPr id="17" name="TextBox 16"/>
          <p:cNvSpPr txBox="1"/>
          <p:nvPr/>
        </p:nvSpPr>
        <p:spPr>
          <a:xfrm>
            <a:off x="6263640" y="4039870"/>
            <a:ext cx="5257800" cy="11521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Adding logic fixes hold and breaks setup.</a:t>
            </a:r>
          </a:p>
          <a:p>
            <a:pPr algn="l">
              <a:lnSpc>
                <a:spcPct val="103000"/>
              </a:lnSpc>
              <a:spcAft>
                <a:spcPts val="400"/>
              </a:spcAft>
            </a:pPr>
            <a:r>
              <a:rPr sz="1100" b="1" i="0">
                <a:solidFill>
                  <a:srgbClr val="0E2A47"/>
                </a:solidFill>
                <a:latin typeface="Calibri"/>
              </a:rPr>
              <a:t>Removing logic fixes setup and can break hold. Every fix trades one against the other.</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CLOCK SKEW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Clock Does Not Arrive Everywhere At Once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47</a:t>
            </a:r>
          </a:p>
        </p:txBody>
      </p:sp>
      <p:pic>
        <p:nvPicPr>
          <p:cNvPr id="9" name="Picture 8" descr="clock_skew.png"/>
          <p:cNvPicPr>
            <a:picLocks noChangeAspect="1"/>
          </p:cNvPicPr>
          <p:nvPr/>
        </p:nvPicPr>
        <p:blipFill>
          <a:blip r:embed="rId2"/>
          <a:stretch>
            <a:fillRect/>
          </a:stretch>
        </p:blipFill>
        <p:spPr>
          <a:xfrm>
            <a:off x="2104179" y="1097280"/>
            <a:ext cx="7861721" cy="4663440"/>
          </a:xfrm>
          <a:prstGeom prst="rect">
            <a:avLst/>
          </a:prstGeom>
        </p:spPr>
      </p:pic>
      <p:sp>
        <p:nvSpPr>
          <p:cNvPr id="10" name="TextBox 9"/>
          <p:cNvSpPr txBox="1"/>
          <p:nvPr/>
        </p:nvSpPr>
        <p:spPr>
          <a:xfrm>
            <a:off x="411480" y="5852160"/>
            <a:ext cx="11247120" cy="274320"/>
          </a:xfrm>
          <a:prstGeom prst="rect">
            <a:avLst/>
          </a:prstGeom>
          <a:noFill/>
        </p:spPr>
        <p:txBody>
          <a:bodyPr wrap="square" lIns="0" rIns="0" tIns="0" bIns="0" anchor="t">
            <a:spAutoFit/>
          </a:bodyPr>
          <a:lstStyle/>
          <a:p>
            <a:pPr algn="l">
              <a:lnSpc>
                <a:spcPct val="103000"/>
              </a:lnSpc>
              <a:spcAft>
                <a:spcPts val="700"/>
              </a:spcAft>
            </a:pPr>
            <a:r>
              <a:rPr sz="1050" b="0" i="0">
                <a:solidFill>
                  <a:srgbClr val="33414F"/>
                </a:solidFill>
                <a:latin typeface="Calibri"/>
              </a:rPr>
              <a:t>Skew that makes the capture edge LATE helps setup and hurts hold. Designers sometimes add it deliberately - it is called useful skew.</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SKEW AND JITTER</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Where the Numbers Come From, and When You Know Them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48</a:t>
            </a:r>
          </a:p>
        </p:txBody>
      </p:sp>
      <p:sp>
        <p:nvSpPr>
          <p:cNvPr id="9" name="Rectangle 8"/>
          <p:cNvSpPr/>
          <p:nvPr/>
        </p:nvSpPr>
        <p:spPr>
          <a:xfrm>
            <a:off x="411480" y="1143000"/>
            <a:ext cx="23774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2860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Effect</a:t>
            </a:r>
          </a:p>
        </p:txBody>
      </p:sp>
      <p:sp>
        <p:nvSpPr>
          <p:cNvPr id="11" name="Rectangle 10"/>
          <p:cNvSpPr/>
          <p:nvPr/>
        </p:nvSpPr>
        <p:spPr>
          <a:xfrm>
            <a:off x="2788920" y="1143000"/>
            <a:ext cx="34747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2834640" y="1143000"/>
            <a:ext cx="33832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causes it</a:t>
            </a:r>
          </a:p>
        </p:txBody>
      </p:sp>
      <p:sp>
        <p:nvSpPr>
          <p:cNvPr id="13" name="Rectangle 12"/>
          <p:cNvSpPr/>
          <p:nvPr/>
        </p:nvSpPr>
        <p:spPr>
          <a:xfrm>
            <a:off x="6263640" y="1143000"/>
            <a:ext cx="23774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309360" y="1143000"/>
            <a:ext cx="22860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Known when?</a:t>
            </a:r>
          </a:p>
        </p:txBody>
      </p:sp>
      <p:sp>
        <p:nvSpPr>
          <p:cNvPr id="15" name="Rectangle 14"/>
          <p:cNvSpPr/>
          <p:nvPr/>
        </p:nvSpPr>
        <p:spPr>
          <a:xfrm>
            <a:off x="8641080" y="1143000"/>
            <a:ext cx="30175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8686800" y="1143000"/>
            <a:ext cx="29260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Modelled by</a:t>
            </a:r>
          </a:p>
        </p:txBody>
      </p:sp>
      <p:sp>
        <p:nvSpPr>
          <p:cNvPr id="17" name="Rectangle 16"/>
          <p:cNvSpPr/>
          <p:nvPr/>
        </p:nvSpPr>
        <p:spPr>
          <a:xfrm>
            <a:off x="411480" y="1426464"/>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426464"/>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Clock skew</a:t>
            </a:r>
          </a:p>
        </p:txBody>
      </p:sp>
      <p:sp>
        <p:nvSpPr>
          <p:cNvPr id="19" name="Rectangle 18"/>
          <p:cNvSpPr/>
          <p:nvPr/>
        </p:nvSpPr>
        <p:spPr>
          <a:xfrm>
            <a:off x="2788920" y="1426464"/>
            <a:ext cx="3474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2834640" y="1426464"/>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different clock-tree branch lengths</a:t>
            </a:r>
          </a:p>
        </p:txBody>
      </p:sp>
      <p:sp>
        <p:nvSpPr>
          <p:cNvPr id="21" name="Rectangle 20"/>
          <p:cNvSpPr/>
          <p:nvPr/>
        </p:nvSpPr>
        <p:spPr>
          <a:xfrm>
            <a:off x="6263640" y="1426464"/>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6309360" y="1426464"/>
            <a:ext cx="22860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after clock-tree synthesis</a:t>
            </a:r>
          </a:p>
        </p:txBody>
      </p:sp>
      <p:sp>
        <p:nvSpPr>
          <p:cNvPr id="23" name="Rectangle 22"/>
          <p:cNvSpPr/>
          <p:nvPr/>
        </p:nvSpPr>
        <p:spPr>
          <a:xfrm>
            <a:off x="8641080" y="1426464"/>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8686800" y="1426464"/>
            <a:ext cx="29260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real tree, or uncertainty before it</a:t>
            </a:r>
          </a:p>
        </p:txBody>
      </p:sp>
      <p:sp>
        <p:nvSpPr>
          <p:cNvPr id="25" name="Rectangle 24"/>
          <p:cNvSpPr/>
          <p:nvPr/>
        </p:nvSpPr>
        <p:spPr>
          <a:xfrm>
            <a:off x="411480" y="1709928"/>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1709928"/>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Clock jitter</a:t>
            </a:r>
          </a:p>
        </p:txBody>
      </p:sp>
      <p:sp>
        <p:nvSpPr>
          <p:cNvPr id="27" name="Rectangle 26"/>
          <p:cNvSpPr/>
          <p:nvPr/>
        </p:nvSpPr>
        <p:spPr>
          <a:xfrm>
            <a:off x="2788920" y="1709928"/>
            <a:ext cx="3474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2834640" y="1709928"/>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PLL and oscillator imperfection</a:t>
            </a:r>
          </a:p>
        </p:txBody>
      </p:sp>
      <p:sp>
        <p:nvSpPr>
          <p:cNvPr id="29" name="Rectangle 28"/>
          <p:cNvSpPr/>
          <p:nvPr/>
        </p:nvSpPr>
        <p:spPr>
          <a:xfrm>
            <a:off x="6263640" y="1709928"/>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6309360" y="1709928"/>
            <a:ext cx="22860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from the datasheet</a:t>
            </a:r>
          </a:p>
        </p:txBody>
      </p:sp>
      <p:sp>
        <p:nvSpPr>
          <p:cNvPr id="31" name="Rectangle 30"/>
          <p:cNvSpPr/>
          <p:nvPr/>
        </p:nvSpPr>
        <p:spPr>
          <a:xfrm>
            <a:off x="8641080" y="1709928"/>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8686800" y="1709928"/>
            <a:ext cx="29260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set_clock_uncertainty, both checks</a:t>
            </a:r>
          </a:p>
        </p:txBody>
      </p:sp>
      <p:sp>
        <p:nvSpPr>
          <p:cNvPr id="33" name="Rectangle 32"/>
          <p:cNvSpPr/>
          <p:nvPr/>
        </p:nvSpPr>
        <p:spPr>
          <a:xfrm>
            <a:off x="411480" y="1993392"/>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1993392"/>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Duty-cycle distortion</a:t>
            </a:r>
          </a:p>
        </p:txBody>
      </p:sp>
      <p:sp>
        <p:nvSpPr>
          <p:cNvPr id="35" name="Rectangle 34"/>
          <p:cNvSpPr/>
          <p:nvPr/>
        </p:nvSpPr>
        <p:spPr>
          <a:xfrm>
            <a:off x="2788920" y="1993392"/>
            <a:ext cx="3474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2834640" y="1993392"/>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unbalanced buffers in the tree</a:t>
            </a:r>
          </a:p>
        </p:txBody>
      </p:sp>
      <p:sp>
        <p:nvSpPr>
          <p:cNvPr id="37" name="Rectangle 36"/>
          <p:cNvSpPr/>
          <p:nvPr/>
        </p:nvSpPr>
        <p:spPr>
          <a:xfrm>
            <a:off x="6263640" y="1993392"/>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309360" y="1993392"/>
            <a:ext cx="22860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after layout</a:t>
            </a:r>
          </a:p>
        </p:txBody>
      </p:sp>
      <p:sp>
        <p:nvSpPr>
          <p:cNvPr id="39" name="Rectangle 38"/>
          <p:cNvSpPr/>
          <p:nvPr/>
        </p:nvSpPr>
        <p:spPr>
          <a:xfrm>
            <a:off x="8641080" y="1993392"/>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8686800" y="1993392"/>
            <a:ext cx="29260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matters for both clock edges</a:t>
            </a:r>
          </a:p>
        </p:txBody>
      </p:sp>
      <p:sp>
        <p:nvSpPr>
          <p:cNvPr id="41" name="Rectangle 40"/>
          <p:cNvSpPr/>
          <p:nvPr/>
        </p:nvSpPr>
        <p:spPr>
          <a:xfrm>
            <a:off x="411480" y="2276856"/>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2276856"/>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On-chip variation</a:t>
            </a:r>
          </a:p>
        </p:txBody>
      </p:sp>
      <p:sp>
        <p:nvSpPr>
          <p:cNvPr id="43" name="Rectangle 42"/>
          <p:cNvSpPr/>
          <p:nvPr/>
        </p:nvSpPr>
        <p:spPr>
          <a:xfrm>
            <a:off x="2788920" y="2276856"/>
            <a:ext cx="3474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2834640" y="2276856"/>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process gradients across the die</a:t>
            </a:r>
          </a:p>
        </p:txBody>
      </p:sp>
      <p:sp>
        <p:nvSpPr>
          <p:cNvPr id="45" name="Rectangle 44"/>
          <p:cNvSpPr/>
          <p:nvPr/>
        </p:nvSpPr>
        <p:spPr>
          <a:xfrm>
            <a:off x="6263640" y="2276856"/>
            <a:ext cx="23774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6309360" y="2276856"/>
            <a:ext cx="22860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statistically</a:t>
            </a:r>
          </a:p>
        </p:txBody>
      </p:sp>
      <p:sp>
        <p:nvSpPr>
          <p:cNvPr id="47" name="Rectangle 46"/>
          <p:cNvSpPr/>
          <p:nvPr/>
        </p:nvSpPr>
        <p:spPr>
          <a:xfrm>
            <a:off x="8641080" y="2276856"/>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8686800" y="2276856"/>
            <a:ext cx="29260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derating factors, or extra uncertainty</a:t>
            </a:r>
          </a:p>
        </p:txBody>
      </p:sp>
      <p:sp>
        <p:nvSpPr>
          <p:cNvPr id="49" name="Rectangle 48"/>
          <p:cNvSpPr/>
          <p:nvPr/>
        </p:nvSpPr>
        <p:spPr>
          <a:xfrm>
            <a:off x="411480" y="2560320"/>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2560320"/>
            <a:ext cx="22860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Crosstalk</a:t>
            </a:r>
          </a:p>
        </p:txBody>
      </p:sp>
      <p:sp>
        <p:nvSpPr>
          <p:cNvPr id="51" name="Rectangle 50"/>
          <p:cNvSpPr/>
          <p:nvPr/>
        </p:nvSpPr>
        <p:spPr>
          <a:xfrm>
            <a:off x="2788920" y="2560320"/>
            <a:ext cx="3474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2834640" y="2560320"/>
            <a:ext cx="3383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neighbouring net switching</a:t>
            </a:r>
          </a:p>
        </p:txBody>
      </p:sp>
      <p:sp>
        <p:nvSpPr>
          <p:cNvPr id="53" name="Rectangle 52"/>
          <p:cNvSpPr/>
          <p:nvPr/>
        </p:nvSpPr>
        <p:spPr>
          <a:xfrm>
            <a:off x="6263640" y="2560320"/>
            <a:ext cx="23774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6309360" y="2560320"/>
            <a:ext cx="22860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after routing</a:t>
            </a:r>
          </a:p>
        </p:txBody>
      </p:sp>
      <p:sp>
        <p:nvSpPr>
          <p:cNvPr id="55" name="Rectangle 54"/>
          <p:cNvSpPr/>
          <p:nvPr/>
        </p:nvSpPr>
        <p:spPr>
          <a:xfrm>
            <a:off x="8641080" y="2560320"/>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8686800" y="2560320"/>
            <a:ext cx="29260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signal-integrity analysis, post-route</a:t>
            </a:r>
          </a:p>
        </p:txBody>
      </p:sp>
      <p:sp>
        <p:nvSpPr>
          <p:cNvPr id="57" name="Rounded Rectangle 56"/>
          <p:cNvSpPr/>
          <p:nvPr/>
        </p:nvSpPr>
        <p:spPr>
          <a:xfrm>
            <a:off x="411480" y="2935224"/>
            <a:ext cx="11247120" cy="9590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576072" y="2999232"/>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Why hold violations always seem to arrive late in a project</a:t>
            </a:r>
          </a:p>
        </p:txBody>
      </p:sp>
      <p:sp>
        <p:nvSpPr>
          <p:cNvPr id="59" name="TextBox 58"/>
          <p:cNvSpPr txBox="1"/>
          <p:nvPr/>
        </p:nvSpPr>
        <p:spPr>
          <a:xfrm>
            <a:off x="576072" y="3273552"/>
            <a:ext cx="10917936" cy="55670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Before layout there is no clock tree, so there is no real skew - and the hold check has almost nothing to fail against. The moment the tree is built, the skew becomes real and hold violations appear all at once. This is normal, and it is why hold is a place-and-route problem far more often than an RTL one.</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UNCERTAINTY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Margin That Stands In For What You Cannot See Yet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49</a:t>
            </a:r>
          </a:p>
        </p:txBody>
      </p:sp>
      <p:pic>
        <p:nvPicPr>
          <p:cNvPr id="9" name="Picture 8" descr="uncertainty.png"/>
          <p:cNvPicPr>
            <a:picLocks noChangeAspect="1"/>
          </p:cNvPicPr>
          <p:nvPr/>
        </p:nvPicPr>
        <p:blipFill>
          <a:blip r:embed="rId2"/>
          <a:stretch>
            <a:fillRect/>
          </a:stretch>
        </p:blipFill>
        <p:spPr>
          <a:xfrm>
            <a:off x="2171644" y="1097280"/>
            <a:ext cx="7726792" cy="3474720"/>
          </a:xfrm>
          <a:prstGeom prst="rect">
            <a:avLst/>
          </a:prstGeom>
        </p:spPr>
      </p:pic>
      <p:sp>
        <p:nvSpPr>
          <p:cNvPr id="10" name="Rectangle 9"/>
          <p:cNvSpPr/>
          <p:nvPr/>
        </p:nvSpPr>
        <p:spPr>
          <a:xfrm>
            <a:off x="411480" y="4663440"/>
            <a:ext cx="320040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457200" y="4663440"/>
            <a:ext cx="310896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Stage</a:t>
            </a:r>
          </a:p>
        </p:txBody>
      </p:sp>
      <p:sp>
        <p:nvSpPr>
          <p:cNvPr id="12" name="Rectangle 11"/>
          <p:cNvSpPr/>
          <p:nvPr/>
        </p:nvSpPr>
        <p:spPr>
          <a:xfrm>
            <a:off x="3611880" y="4663440"/>
            <a:ext cx="39319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3657600" y="4663440"/>
            <a:ext cx="38404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Typical setup uncertainty</a:t>
            </a:r>
          </a:p>
        </p:txBody>
      </p:sp>
      <p:sp>
        <p:nvSpPr>
          <p:cNvPr id="14" name="Rectangle 13"/>
          <p:cNvSpPr/>
          <p:nvPr/>
        </p:nvSpPr>
        <p:spPr>
          <a:xfrm>
            <a:off x="7543800" y="4663440"/>
            <a:ext cx="411480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7589520" y="4663440"/>
            <a:ext cx="402336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Why</a:t>
            </a:r>
          </a:p>
        </p:txBody>
      </p:sp>
      <p:sp>
        <p:nvSpPr>
          <p:cNvPr id="16" name="Rectangle 15"/>
          <p:cNvSpPr/>
          <p:nvPr/>
        </p:nvSpPr>
        <p:spPr>
          <a:xfrm>
            <a:off x="411480" y="4937760"/>
            <a:ext cx="32004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4937760"/>
            <a:ext cx="31089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post-synthesis (FPGA)</a:t>
            </a:r>
          </a:p>
        </p:txBody>
      </p:sp>
      <p:sp>
        <p:nvSpPr>
          <p:cNvPr id="18" name="Rectangle 17"/>
          <p:cNvSpPr/>
          <p:nvPr/>
        </p:nvSpPr>
        <p:spPr>
          <a:xfrm>
            <a:off x="3611880" y="4937760"/>
            <a:ext cx="39319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3657600" y="4937760"/>
            <a:ext cx="38404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0.10 - 0.20 ns</a:t>
            </a:r>
          </a:p>
        </p:txBody>
      </p:sp>
      <p:sp>
        <p:nvSpPr>
          <p:cNvPr id="20" name="Rectangle 19"/>
          <p:cNvSpPr/>
          <p:nvPr/>
        </p:nvSpPr>
        <p:spPr>
          <a:xfrm>
            <a:off x="7543800" y="4937760"/>
            <a:ext cx="41148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7589520" y="4937760"/>
            <a:ext cx="40233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 clock tree exists; jitter unknown</a:t>
            </a:r>
          </a:p>
        </p:txBody>
      </p:sp>
      <p:sp>
        <p:nvSpPr>
          <p:cNvPr id="22" name="Rectangle 21"/>
          <p:cNvSpPr/>
          <p:nvPr/>
        </p:nvSpPr>
        <p:spPr>
          <a:xfrm>
            <a:off x="411480" y="5212080"/>
            <a:ext cx="32004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457200" y="5212080"/>
            <a:ext cx="31089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post-place-and-route</a:t>
            </a:r>
          </a:p>
        </p:txBody>
      </p:sp>
      <p:sp>
        <p:nvSpPr>
          <p:cNvPr id="24" name="Rectangle 23"/>
          <p:cNvSpPr/>
          <p:nvPr/>
        </p:nvSpPr>
        <p:spPr>
          <a:xfrm>
            <a:off x="3611880" y="5212080"/>
            <a:ext cx="39319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3657600" y="5212080"/>
            <a:ext cx="38404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jitter only, 0.02 - 0.05 ns</a:t>
            </a:r>
          </a:p>
        </p:txBody>
      </p:sp>
      <p:sp>
        <p:nvSpPr>
          <p:cNvPr id="26" name="Rectangle 25"/>
          <p:cNvSpPr/>
          <p:nvPr/>
        </p:nvSpPr>
        <p:spPr>
          <a:xfrm>
            <a:off x="7543800" y="5212080"/>
            <a:ext cx="41148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7589520" y="5212080"/>
            <a:ext cx="40233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tool now uses the real skew</a:t>
            </a:r>
          </a:p>
        </p:txBody>
      </p:sp>
      <p:sp>
        <p:nvSpPr>
          <p:cNvPr id="28" name="Rectangle 27"/>
          <p:cNvSpPr/>
          <p:nvPr/>
        </p:nvSpPr>
        <p:spPr>
          <a:xfrm>
            <a:off x="411480" y="5486400"/>
            <a:ext cx="32004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5486400"/>
            <a:ext cx="31089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ASIC, pre-CTS</a:t>
            </a:r>
          </a:p>
        </p:txBody>
      </p:sp>
      <p:sp>
        <p:nvSpPr>
          <p:cNvPr id="30" name="Rectangle 29"/>
          <p:cNvSpPr/>
          <p:nvPr/>
        </p:nvSpPr>
        <p:spPr>
          <a:xfrm>
            <a:off x="3611880" y="5486400"/>
            <a:ext cx="39319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3657600" y="5486400"/>
            <a:ext cx="38404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0.15 - 0.30 ns</a:t>
            </a:r>
          </a:p>
        </p:txBody>
      </p:sp>
      <p:sp>
        <p:nvSpPr>
          <p:cNvPr id="32" name="Rectangle 31"/>
          <p:cNvSpPr/>
          <p:nvPr/>
        </p:nvSpPr>
        <p:spPr>
          <a:xfrm>
            <a:off x="7543800" y="5486400"/>
            <a:ext cx="41148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7589520" y="5486400"/>
            <a:ext cx="40233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plus a margin for OCV</a:t>
            </a:r>
          </a:p>
        </p:txBody>
      </p:sp>
      <p:sp>
        <p:nvSpPr>
          <p:cNvPr id="34" name="Rectangle 33"/>
          <p:cNvSpPr/>
          <p:nvPr/>
        </p:nvSpPr>
        <p:spPr>
          <a:xfrm>
            <a:off x="411480" y="5760720"/>
            <a:ext cx="32004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457200" y="5760720"/>
            <a:ext cx="31089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ASIC, sign-off</a:t>
            </a:r>
          </a:p>
        </p:txBody>
      </p:sp>
      <p:sp>
        <p:nvSpPr>
          <p:cNvPr id="36" name="Rectangle 35"/>
          <p:cNvSpPr/>
          <p:nvPr/>
        </p:nvSpPr>
        <p:spPr>
          <a:xfrm>
            <a:off x="3611880" y="5760720"/>
            <a:ext cx="39319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7" name="TextBox 36"/>
          <p:cNvSpPr txBox="1"/>
          <p:nvPr/>
        </p:nvSpPr>
        <p:spPr>
          <a:xfrm>
            <a:off x="3657600" y="5760720"/>
            <a:ext cx="38404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jitter + OCV derating</a:t>
            </a:r>
          </a:p>
        </p:txBody>
      </p:sp>
      <p:sp>
        <p:nvSpPr>
          <p:cNvPr id="38" name="Rectangle 37"/>
          <p:cNvSpPr/>
          <p:nvPr/>
        </p:nvSpPr>
        <p:spPr>
          <a:xfrm>
            <a:off x="7543800" y="5760720"/>
            <a:ext cx="41148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9" name="TextBox 38"/>
          <p:cNvSpPr txBox="1"/>
          <p:nvPr/>
        </p:nvSpPr>
        <p:spPr>
          <a:xfrm>
            <a:off x="7589520" y="5760720"/>
            <a:ext cx="40233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tree is measured</a:t>
            </a:r>
          </a:p>
        </p:txBody>
      </p:sp>
      <p:sp>
        <p:nvSpPr>
          <p:cNvPr id="40" name="TextBox 39"/>
          <p:cNvSpPr txBox="1"/>
          <p:nvPr/>
        </p:nvSpPr>
        <p:spPr>
          <a:xfrm>
            <a:off x="411480" y="6126480"/>
            <a:ext cx="11247120" cy="274320"/>
          </a:xfrm>
          <a:prstGeom prst="rect">
            <a:avLst/>
          </a:prstGeom>
          <a:noFill/>
        </p:spPr>
        <p:txBody>
          <a:bodyPr wrap="square" lIns="0" rIns="0" tIns="0" bIns="0" anchor="t">
            <a:spAutoFit/>
          </a:bodyPr>
          <a:lstStyle/>
          <a:p>
            <a:pPr algn="l">
              <a:lnSpc>
                <a:spcPct val="103000"/>
              </a:lnSpc>
              <a:spcAft>
                <a:spcPts val="700"/>
              </a:spcAft>
            </a:pPr>
            <a:r>
              <a:rPr sz="1050" b="1" i="0">
                <a:solidFill>
                  <a:srgbClr val="C01F43"/>
                </a:solidFill>
                <a:latin typeface="Calibri"/>
              </a:rPr>
              <a:t>Take the uncertainty out and the report improves while the chip does not.</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SETUP VIOLATIONS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They Look Like, and What Causes Them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50</a:t>
            </a:r>
          </a:p>
        </p:txBody>
      </p:sp>
      <p:sp>
        <p:nvSpPr>
          <p:cNvPr id="9" name="Rectangle 8"/>
          <p:cNvSpPr/>
          <p:nvPr/>
        </p:nvSpPr>
        <p:spPr>
          <a:xfrm>
            <a:off x="411480" y="1143000"/>
            <a:ext cx="36576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35661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Symptom in the report</a:t>
            </a:r>
          </a:p>
        </p:txBody>
      </p:sp>
      <p:sp>
        <p:nvSpPr>
          <p:cNvPr id="11" name="Rectangle 10"/>
          <p:cNvSpPr/>
          <p:nvPr/>
        </p:nvSpPr>
        <p:spPr>
          <a:xfrm>
            <a:off x="4069080" y="1143000"/>
            <a:ext cx="33832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4114800" y="1143000"/>
            <a:ext cx="32918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Most likely cause</a:t>
            </a:r>
          </a:p>
        </p:txBody>
      </p:sp>
      <p:sp>
        <p:nvSpPr>
          <p:cNvPr id="13" name="Rectangle 12"/>
          <p:cNvSpPr/>
          <p:nvPr/>
        </p:nvSpPr>
        <p:spPr>
          <a:xfrm>
            <a:off x="7452360" y="1143000"/>
            <a:ext cx="42062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498080" y="1143000"/>
            <a:ext cx="41148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First thing to try</a:t>
            </a:r>
          </a:p>
        </p:txBody>
      </p:sp>
      <p:sp>
        <p:nvSpPr>
          <p:cNvPr id="15" name="Rectangle 14"/>
          <p:cNvSpPr/>
          <p:nvPr/>
        </p:nvSpPr>
        <p:spPr>
          <a:xfrm>
            <a:off x="411480" y="1426464"/>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one path fails, the rest are fine</a:t>
            </a:r>
          </a:p>
        </p:txBody>
      </p:sp>
      <p:sp>
        <p:nvSpPr>
          <p:cNvPr id="17" name="Rectangle 16"/>
          <p:cNvSpPr/>
          <p:nvPr/>
        </p:nvSpPr>
        <p:spPr>
          <a:xfrm>
            <a:off x="4069080" y="1426464"/>
            <a:ext cx="33832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114800" y="1426464"/>
            <a:ext cx="32918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genuinely long path</a:t>
            </a:r>
          </a:p>
        </p:txBody>
      </p:sp>
      <p:sp>
        <p:nvSpPr>
          <p:cNvPr id="19" name="Rectangle 18"/>
          <p:cNvSpPr/>
          <p:nvPr/>
        </p:nvSpPr>
        <p:spPr>
          <a:xfrm>
            <a:off x="7452360" y="1426464"/>
            <a:ext cx="42062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498080" y="1426464"/>
            <a:ext cx="41148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look at its incr column</a:t>
            </a:r>
          </a:p>
        </p:txBody>
      </p:sp>
      <p:sp>
        <p:nvSpPr>
          <p:cNvPr id="21" name="Rectangle 20"/>
          <p:cNvSpPr/>
          <p:nvPr/>
        </p:nvSpPr>
        <p:spPr>
          <a:xfrm>
            <a:off x="411480" y="1709928"/>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one cell has a huge incr</a:t>
            </a:r>
          </a:p>
        </p:txBody>
      </p:sp>
      <p:sp>
        <p:nvSpPr>
          <p:cNvPr id="23" name="Rectangle 22"/>
          <p:cNvSpPr/>
          <p:nvPr/>
        </p:nvSpPr>
        <p:spPr>
          <a:xfrm>
            <a:off x="4069080" y="1709928"/>
            <a:ext cx="33832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4114800" y="1709928"/>
            <a:ext cx="32918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high fanout, or a weak driver</a:t>
            </a:r>
          </a:p>
        </p:txBody>
      </p:sp>
      <p:sp>
        <p:nvSpPr>
          <p:cNvPr id="25" name="Rectangle 24"/>
          <p:cNvSpPr/>
          <p:nvPr/>
        </p:nvSpPr>
        <p:spPr>
          <a:xfrm>
            <a:off x="7452360" y="1709928"/>
            <a:ext cx="42062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498080" y="1709928"/>
            <a:ext cx="41148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set_max_fanout, or let the tool buffer it</a:t>
            </a:r>
          </a:p>
        </p:txBody>
      </p:sp>
      <p:sp>
        <p:nvSpPr>
          <p:cNvPr id="27" name="Rectangle 26"/>
          <p:cNvSpPr/>
          <p:nvPr/>
        </p:nvSpPr>
        <p:spPr>
          <a:xfrm>
            <a:off x="411480" y="1993392"/>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fifty small cells in the path</a:t>
            </a:r>
          </a:p>
        </p:txBody>
      </p:sp>
      <p:sp>
        <p:nvSpPr>
          <p:cNvPr id="29" name="Rectangle 28"/>
          <p:cNvSpPr/>
          <p:nvPr/>
        </p:nvSpPr>
        <p:spPr>
          <a:xfrm>
            <a:off x="4069080" y="1993392"/>
            <a:ext cx="33832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114800" y="1993392"/>
            <a:ext cx="32918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logic is too deep</a:t>
            </a:r>
          </a:p>
        </p:txBody>
      </p:sp>
      <p:sp>
        <p:nvSpPr>
          <p:cNvPr id="31" name="Rectangle 30"/>
          <p:cNvSpPr/>
          <p:nvPr/>
        </p:nvSpPr>
        <p:spPr>
          <a:xfrm>
            <a:off x="7452360" y="1993392"/>
            <a:ext cx="42062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498080" y="1993392"/>
            <a:ext cx="41148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restructure, then pipeline</a:t>
            </a:r>
          </a:p>
        </p:txBody>
      </p:sp>
      <p:sp>
        <p:nvSpPr>
          <p:cNvPr id="33" name="Rectangle 32"/>
          <p:cNvSpPr/>
          <p:nvPr/>
        </p:nvSpPr>
        <p:spPr>
          <a:xfrm>
            <a:off x="411480" y="2276856"/>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every path fails by a similar amount</a:t>
            </a:r>
          </a:p>
        </p:txBody>
      </p:sp>
      <p:sp>
        <p:nvSpPr>
          <p:cNvPr id="35" name="Rectangle 34"/>
          <p:cNvSpPr/>
          <p:nvPr/>
        </p:nvSpPr>
        <p:spPr>
          <a:xfrm>
            <a:off x="4069080" y="2276856"/>
            <a:ext cx="33832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4114800" y="2276856"/>
            <a:ext cx="32918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period is too aggressive</a:t>
            </a:r>
          </a:p>
        </p:txBody>
      </p:sp>
      <p:sp>
        <p:nvSpPr>
          <p:cNvPr id="37" name="Rectangle 36"/>
          <p:cNvSpPr/>
          <p:nvPr/>
        </p:nvSpPr>
        <p:spPr>
          <a:xfrm>
            <a:off x="7452360" y="2276856"/>
            <a:ext cx="42062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498080" y="2276856"/>
            <a:ext cx="41148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sanity-check the target against the technology</a:t>
            </a:r>
          </a:p>
        </p:txBody>
      </p:sp>
      <p:sp>
        <p:nvSpPr>
          <p:cNvPr id="39" name="Rectangle 38"/>
          <p:cNvSpPr/>
          <p:nvPr/>
        </p:nvSpPr>
        <p:spPr>
          <a:xfrm>
            <a:off x="411480" y="2560320"/>
            <a:ext cx="3657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fails only after place-and-route</a:t>
            </a:r>
          </a:p>
        </p:txBody>
      </p:sp>
      <p:sp>
        <p:nvSpPr>
          <p:cNvPr id="41" name="Rectangle 40"/>
          <p:cNvSpPr/>
          <p:nvPr/>
        </p:nvSpPr>
        <p:spPr>
          <a:xfrm>
            <a:off x="4069080" y="2560320"/>
            <a:ext cx="33832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114800" y="2560320"/>
            <a:ext cx="32918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routing delay, not logic</a:t>
            </a:r>
          </a:p>
        </p:txBody>
      </p:sp>
      <p:sp>
        <p:nvSpPr>
          <p:cNvPr id="43" name="Rectangle 42"/>
          <p:cNvSpPr/>
          <p:nvPr/>
        </p:nvSpPr>
        <p:spPr>
          <a:xfrm>
            <a:off x="7452360" y="2560320"/>
            <a:ext cx="42062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498080" y="2560320"/>
            <a:ext cx="41148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floorplanning; keep the path local</a:t>
            </a:r>
          </a:p>
        </p:txBody>
      </p:sp>
      <p:sp>
        <p:nvSpPr>
          <p:cNvPr id="45" name="Rectangle 44"/>
          <p:cNvSpPr/>
          <p:nvPr/>
        </p:nvSpPr>
        <p:spPr>
          <a:xfrm>
            <a:off x="411480" y="2843784"/>
            <a:ext cx="3657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843784"/>
            <a:ext cx="35661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fails only at the slow corner</a:t>
            </a:r>
          </a:p>
        </p:txBody>
      </p:sp>
      <p:sp>
        <p:nvSpPr>
          <p:cNvPr id="47" name="Rectangle 46"/>
          <p:cNvSpPr/>
          <p:nvPr/>
        </p:nvSpPr>
        <p:spPr>
          <a:xfrm>
            <a:off x="4069080" y="2843784"/>
            <a:ext cx="33832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4114800" y="2843784"/>
            <a:ext cx="32918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correct behaviour</a:t>
            </a:r>
          </a:p>
        </p:txBody>
      </p:sp>
      <p:sp>
        <p:nvSpPr>
          <p:cNvPr id="49" name="Rectangle 48"/>
          <p:cNvSpPr/>
          <p:nvPr/>
        </p:nvSpPr>
        <p:spPr>
          <a:xfrm>
            <a:off x="7452360" y="2843784"/>
            <a:ext cx="42062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498080" y="2843784"/>
            <a:ext cx="41148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that is the corner you sign off at</a:t>
            </a:r>
          </a:p>
        </p:txBody>
      </p:sp>
      <p:sp>
        <p:nvSpPr>
          <p:cNvPr id="51" name="Rounded Rectangle 50"/>
          <p:cNvSpPr/>
          <p:nvPr/>
        </p:nvSpPr>
        <p:spPr>
          <a:xfrm>
            <a:off x="411480" y="3218688"/>
            <a:ext cx="11247120" cy="8229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76072" y="3282696"/>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The number that tells you how much work it is</a:t>
            </a:r>
          </a:p>
        </p:txBody>
      </p:sp>
      <p:sp>
        <p:nvSpPr>
          <p:cNvPr id="53" name="TextBox 52"/>
          <p:cNvSpPr txBox="1"/>
          <p:nvPr/>
        </p:nvSpPr>
        <p:spPr>
          <a:xfrm>
            <a:off x="576072" y="3557016"/>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slack of -0.05 ns on a 5 ns period is a 1% problem - the tool will often find it with a higher effort setting. A slack of -2.5 ns on the same period is a 50% problem: no option will close that, and you are looking at pipelining or a different architecture.</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6c · HOLD VIOLATIONS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 Race, Not a Delay Problem</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51</a:t>
            </a:r>
          </a:p>
        </p:txBody>
      </p:sp>
      <p:pic>
        <p:nvPicPr>
          <p:cNvPr id="9" name="Picture 8" descr="hold_race.png"/>
          <p:cNvPicPr>
            <a:picLocks noChangeAspect="1"/>
          </p:cNvPicPr>
          <p:nvPr/>
        </p:nvPicPr>
        <p:blipFill>
          <a:blip r:embed="rId2"/>
          <a:stretch>
            <a:fillRect/>
          </a:stretch>
        </p:blipFill>
        <p:spPr>
          <a:xfrm>
            <a:off x="2461831" y="1097280"/>
            <a:ext cx="7146417" cy="4663440"/>
          </a:xfrm>
          <a:prstGeom prst="rect">
            <a:avLst/>
          </a:prstGeom>
        </p:spPr>
      </p:pic>
      <p:sp>
        <p:nvSpPr>
          <p:cNvPr id="10" name="TextBox 9"/>
          <p:cNvSpPr txBox="1"/>
          <p:nvPr/>
        </p:nvSpPr>
        <p:spPr>
          <a:xfrm>
            <a:off x="411480" y="5852160"/>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C01F43"/>
                </a:solidFill>
                <a:latin typeface="Calibri"/>
              </a:rPr>
              <a:t>Notice what is not in the hold equation: the clock period. You can run this chip at 1 Hz and it is still broken.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FIXING HOLD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Add Delay, On Purpose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52</a:t>
            </a:r>
          </a:p>
        </p:txBody>
      </p:sp>
      <p:pic>
        <p:nvPicPr>
          <p:cNvPr id="9" name="Picture 8" descr="fix_hold.png"/>
          <p:cNvPicPr>
            <a:picLocks noChangeAspect="1"/>
          </p:cNvPicPr>
          <p:nvPr/>
        </p:nvPicPr>
        <p:blipFill>
          <a:blip r:embed="rId2"/>
          <a:stretch>
            <a:fillRect/>
          </a:stretch>
        </p:blipFill>
        <p:spPr>
          <a:xfrm>
            <a:off x="2489832" y="1097280"/>
            <a:ext cx="7090417" cy="4389120"/>
          </a:xfrm>
          <a:prstGeom prst="rect">
            <a:avLst/>
          </a:prstGeom>
        </p:spPr>
      </p:pic>
      <p:sp>
        <p:nvSpPr>
          <p:cNvPr id="10" name="Rounded Rectangle 9"/>
          <p:cNvSpPr/>
          <p:nvPr/>
        </p:nvSpPr>
        <p:spPr>
          <a:xfrm>
            <a:off x="411480" y="5577840"/>
            <a:ext cx="11247120" cy="868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64184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Measured in the lab</a:t>
            </a:r>
          </a:p>
        </p:txBody>
      </p:sp>
      <p:sp>
        <p:nvSpPr>
          <p:cNvPr id="12" name="TextBox 11"/>
          <p:cNvSpPr txBox="1"/>
          <p:nvPr/>
        </p:nvSpPr>
        <p:spPr>
          <a:xfrm>
            <a:off x="576072" y="5916168"/>
            <a:ext cx="10917936" cy="466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hold_demo with 0.30 ns of skew: -0.165 ns, VIOLATED. The same design with two delay cells in the data path: +0.071 ns, MET. Nothing else changed - not the clock, not the function.</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FIXING HOLD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Who Actually Fixes It - and What Your RTL Must Not Do</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53</a:t>
            </a:r>
          </a:p>
        </p:txBody>
      </p:sp>
      <p:sp>
        <p:nvSpPr>
          <p:cNvPr id="9" name="Rounded Rectangle 8"/>
          <p:cNvSpPr/>
          <p:nvPr/>
        </p:nvSpPr>
        <p:spPr>
          <a:xfrm>
            <a:off x="411480" y="1143000"/>
            <a:ext cx="5532120" cy="20116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Place-and-route does the fixing</a:t>
            </a:r>
          </a:p>
        </p:txBody>
      </p:sp>
      <p:sp>
        <p:nvSpPr>
          <p:cNvPr id="11" name="TextBox 10"/>
          <p:cNvSpPr txBox="1"/>
          <p:nvPr/>
        </p:nvSpPr>
        <p:spPr>
          <a:xfrm>
            <a:off x="548640" y="1481328"/>
            <a:ext cx="5257800" cy="1609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After layout, when the real skew is known, the tool inserts hold buffers automatically.</a:t>
            </a:r>
          </a:p>
          <a:p>
            <a:pPr algn="l">
              <a:lnSpc>
                <a:spcPct val="103000"/>
              </a:lnSpc>
              <a:spcAft>
                <a:spcPts val="400"/>
              </a:spcAft>
            </a:pPr>
            <a:r>
              <a:rPr sz="1100" b="0" i="0">
                <a:solidFill>
                  <a:srgbClr val="33414F"/>
                </a:solidFill>
                <a:latin typeface="Calibri"/>
              </a:rPr>
              <a:t>It has the one thing you do not: the actual clock-tree delays.</a:t>
            </a:r>
          </a:p>
          <a:p>
            <a:pPr algn="l">
              <a:lnSpc>
                <a:spcPct val="103000"/>
              </a:lnSpc>
              <a:spcAft>
                <a:spcPts val="400"/>
              </a:spcAft>
            </a:pPr>
            <a:r>
              <a:rPr sz="1100" b="0" i="0">
                <a:solidFill>
                  <a:srgbClr val="33414F"/>
                </a:solidFill>
                <a:latin typeface="Calibri"/>
              </a:rPr>
              <a:t>Hold fixing costs area and power, never frequency - which is why it is always possible.</a:t>
            </a:r>
          </a:p>
        </p:txBody>
      </p:sp>
      <p:sp>
        <p:nvSpPr>
          <p:cNvPr id="12" name="Rounded Rectangle 11"/>
          <p:cNvSpPr/>
          <p:nvPr/>
        </p:nvSpPr>
        <p:spPr>
          <a:xfrm>
            <a:off x="6126480" y="1143000"/>
            <a:ext cx="5532120" cy="20116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What RTL can do to make it impossible</a:t>
            </a:r>
          </a:p>
        </p:txBody>
      </p:sp>
      <p:sp>
        <p:nvSpPr>
          <p:cNvPr id="14" name="TextBox 13"/>
          <p:cNvSpPr txBox="1"/>
          <p:nvPr/>
        </p:nvSpPr>
        <p:spPr>
          <a:xfrm>
            <a:off x="6263640" y="1481328"/>
            <a:ext cx="5257800" cy="16093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Gate a clock by hand instead of using an enable - it adds skew you cannot control.</a:t>
            </a:r>
          </a:p>
          <a:p>
            <a:pPr algn="l">
              <a:lnSpc>
                <a:spcPct val="103000"/>
              </a:lnSpc>
              <a:spcAft>
                <a:spcPts val="400"/>
              </a:spcAft>
            </a:pPr>
            <a:r>
              <a:rPr sz="1100" b="0" i="0">
                <a:solidFill>
                  <a:srgbClr val="33414F"/>
                </a:solidFill>
                <a:latin typeface="Calibri"/>
              </a:rPr>
              <a:t>Cross clock domains without a synchroniser - no amount of buffering fixes that.</a:t>
            </a:r>
          </a:p>
          <a:p>
            <a:pPr algn="l">
              <a:lnSpc>
                <a:spcPct val="103000"/>
              </a:lnSpc>
              <a:spcAft>
                <a:spcPts val="400"/>
              </a:spcAft>
            </a:pPr>
            <a:r>
              <a:rPr sz="1100" b="0" i="0">
                <a:solidFill>
                  <a:srgbClr val="33414F"/>
                </a:solidFill>
                <a:latin typeface="Calibri"/>
              </a:rPr>
              <a:t>Use both clock edges in the same path - it halves the hold budget.</a:t>
            </a:r>
          </a:p>
        </p:txBody>
      </p:sp>
      <p:sp>
        <p:nvSpPr>
          <p:cNvPr id="15" name="Rounded Rectangle 14"/>
          <p:cNvSpPr/>
          <p:nvPr/>
        </p:nvSpPr>
        <p:spPr>
          <a:xfrm>
            <a:off x="411480" y="3246120"/>
            <a:ext cx="11247120" cy="594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3310128"/>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The one hold fix that belongs in RTL</a:t>
            </a:r>
          </a:p>
        </p:txBody>
      </p:sp>
      <p:sp>
        <p:nvSpPr>
          <p:cNvPr id="17" name="TextBox 16"/>
          <p:cNvSpPr txBox="1"/>
          <p:nvPr/>
        </p:nvSpPr>
        <p:spPr>
          <a:xfrm>
            <a:off x="576072" y="3584448"/>
            <a:ext cx="10917936" cy="192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proper two-flop synchroniser on every asynchronous crossing. That is not a hold fix in the STA sense - it is what stops the crossing being a timing question at all.</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MEASURED</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Numbers You Will Produce Yourself</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54</a:t>
            </a:r>
          </a:p>
        </p:txBody>
      </p:sp>
      <p:pic>
        <p:nvPicPr>
          <p:cNvPr id="9" name="Picture 8" descr="measured_results.png"/>
          <p:cNvPicPr>
            <a:picLocks noChangeAspect="1"/>
          </p:cNvPicPr>
          <p:nvPr/>
        </p:nvPicPr>
        <p:blipFill>
          <a:blip r:embed="rId2"/>
          <a:stretch>
            <a:fillRect/>
          </a:stretch>
        </p:blipFill>
        <p:spPr>
          <a:xfrm>
            <a:off x="2591502" y="1097280"/>
            <a:ext cx="6887075" cy="4846320"/>
          </a:xfrm>
          <a:prstGeom prst="rect">
            <a:avLst/>
          </a:prstGeom>
        </p:spPr>
      </p:pic>
      <p:sp>
        <p:nvSpPr>
          <p:cNvPr id="10" name="TextBox 9"/>
          <p:cNvSpPr txBox="1"/>
          <p:nvPr/>
        </p:nvSpPr>
        <p:spPr>
          <a:xfrm>
            <a:off x="411480" y="6035040"/>
            <a:ext cx="11247120" cy="228600"/>
          </a:xfrm>
          <a:prstGeom prst="rect">
            <a:avLst/>
          </a:prstGeom>
          <a:noFill/>
        </p:spPr>
        <p:txBody>
          <a:bodyPr wrap="square" lIns="0" rIns="0" tIns="0" bIns="0" anchor="t">
            <a:spAutoFit/>
          </a:bodyPr>
          <a:lstStyle/>
          <a:p>
            <a:pPr algn="l">
              <a:lnSpc>
                <a:spcPct val="103000"/>
              </a:lnSpc>
              <a:spcAft>
                <a:spcPts val="700"/>
              </a:spcAft>
            </a:pPr>
            <a:r>
              <a:rPr sz="1050" b="1" i="0">
                <a:solidFill>
                  <a:srgbClr val="1B9AAA"/>
                </a:solidFill>
                <a:latin typeface="Calibri"/>
              </a:rPr>
              <a:t>Nothing quoted in this topic is a claim you cannot reproduce with  make.</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77514"/>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77514"/>
                </a:solidFill>
                <a:latin typeface="Calibri"/>
              </a:rPr>
              <a:t>6c · AN HONEST NOTE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the Hold Demo Adds Its Delay, and Why</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55</a:t>
            </a:r>
          </a:p>
        </p:txBody>
      </p:sp>
      <p:sp>
        <p:nvSpPr>
          <p:cNvPr id="9" name="Rounded Rectangle 8"/>
          <p:cNvSpPr/>
          <p:nvPr/>
        </p:nvSpPr>
        <p:spPr>
          <a:xfrm>
            <a:off x="411480" y="1143000"/>
            <a:ext cx="11247120" cy="1931416"/>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what the lab actually does, and what it is standing in for</a:t>
            </a:r>
          </a:p>
        </p:txBody>
      </p:sp>
      <p:sp>
        <p:nvSpPr>
          <p:cNvPr id="11" name="TextBox 10"/>
          <p:cNvSpPr txBox="1"/>
          <p:nvPr/>
        </p:nvSpPr>
        <p:spPr>
          <a:xfrm>
            <a:off x="594360" y="1531620"/>
            <a:ext cx="10881360" cy="1428496"/>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rtl/hold_fixed.v</a:t>
            </a:r>
          </a:p>
          <a:p>
            <a:pPr algn="l">
              <a:lnSpc>
                <a:spcPct val="112000"/>
              </a:lnSpc>
            </a:pPr>
            <a:r>
              <a:rPr sz="950" b="0" i="0">
                <a:solidFill>
                  <a:srgbClr val="D8E4F0"/>
                </a:solidFill>
                <a:latin typeface="Consolas"/>
              </a:rPr>
              <a:t>// dly_sel is a real input port, tied to 0 by the testbench.</a:t>
            </a:r>
          </a:p>
          <a:p>
            <a:pPr algn="l">
              <a:lnSpc>
                <a:spcPct val="112000"/>
              </a:lnSpc>
            </a:pPr>
            <a:r>
              <a:rPr sz="950" b="0" i="0">
                <a:solidFill>
                  <a:srgbClr val="D8E4F0"/>
                </a:solidFill>
                <a:latin typeface="Consolas"/>
              </a:rPr>
              <a:t>assign d0 = q1 ^ dly_sel[0];      // two XOR gates in the data path</a:t>
            </a:r>
          </a:p>
          <a:p>
            <a:pPr algn="l">
              <a:lnSpc>
                <a:spcPct val="112000"/>
              </a:lnSpc>
            </a:pPr>
            <a:r>
              <a:rPr sz="950" b="0" i="0">
                <a:solidFill>
                  <a:srgbClr val="D8E4F0"/>
                </a:solidFill>
                <a:latin typeface="Consolas"/>
              </a:rPr>
              <a:t>assign d1 = d0 ^ dly_sel[1];      // functionally a no-op when dly_sel == 0</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Why not a chain of buffers with (* keep *) ?</a:t>
            </a:r>
          </a:p>
          <a:p>
            <a:pPr algn="l">
              <a:lnSpc>
                <a:spcPct val="112000"/>
              </a:lnSpc>
            </a:pPr>
            <a:r>
              <a:rPr sz="950" b="0" i="0">
                <a:solidFill>
                  <a:srgbClr val="D8E4F0"/>
                </a:solidFill>
                <a:latin typeface="Consolas"/>
              </a:rPr>
              <a:t>//   opt_clean deletes them. keep_hierarchy plus -flatten deletes them too.</a:t>
            </a:r>
          </a:p>
          <a:p>
            <a:pPr algn="l">
              <a:lnSpc>
                <a:spcPct val="112000"/>
              </a:lnSpc>
            </a:pPr>
            <a:r>
              <a:rPr sz="950" b="0" i="0">
                <a:solidFill>
                  <a:srgbClr val="D8E4F0"/>
                </a:solidFill>
                <a:latin typeface="Consolas"/>
              </a:rPr>
              <a:t>//   Only logic that a real port can influence survives optimisation.</a:t>
            </a:r>
          </a:p>
        </p:txBody>
      </p:sp>
      <p:sp>
        <p:nvSpPr>
          <p:cNvPr id="12" name="Rounded Rectangle 11"/>
          <p:cNvSpPr/>
          <p:nvPr/>
        </p:nvSpPr>
        <p:spPr>
          <a:xfrm>
            <a:off x="411480" y="3165856"/>
            <a:ext cx="5532120" cy="192024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3229864"/>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What this demonstrates honestly</a:t>
            </a:r>
          </a:p>
        </p:txBody>
      </p:sp>
      <p:sp>
        <p:nvSpPr>
          <p:cNvPr id="14" name="TextBox 13"/>
          <p:cNvSpPr txBox="1"/>
          <p:nvPr/>
        </p:nvSpPr>
        <p:spPr>
          <a:xfrm>
            <a:off x="548640" y="3504184"/>
            <a:ext cx="5257800" cy="15179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That adding delay to the data path turns a hold violation into a met one, and by how much.</a:t>
            </a:r>
          </a:p>
          <a:p>
            <a:pPr algn="l">
              <a:lnSpc>
                <a:spcPct val="103000"/>
              </a:lnSpc>
              <a:spcAft>
                <a:spcPts val="400"/>
              </a:spcAft>
            </a:pPr>
            <a:r>
              <a:rPr sz="1100" b="0" i="0">
                <a:solidFill>
                  <a:srgbClr val="33414F"/>
                </a:solidFill>
                <a:latin typeface="Calibri"/>
              </a:rPr>
              <a:t>That the tool cannot be asked politely to keep useless logic.</a:t>
            </a:r>
          </a:p>
        </p:txBody>
      </p:sp>
      <p:sp>
        <p:nvSpPr>
          <p:cNvPr id="15" name="Rounded Rectangle 14"/>
          <p:cNvSpPr/>
          <p:nvPr/>
        </p:nvSpPr>
        <p:spPr>
          <a:xfrm>
            <a:off x="6126480" y="3165856"/>
            <a:ext cx="5532120" cy="192024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63640" y="3229864"/>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What it is NOT</a:t>
            </a:r>
          </a:p>
        </p:txBody>
      </p:sp>
      <p:sp>
        <p:nvSpPr>
          <p:cNvPr id="17" name="TextBox 16"/>
          <p:cNvSpPr txBox="1"/>
          <p:nvPr/>
        </p:nvSpPr>
        <p:spPr>
          <a:xfrm>
            <a:off x="6263640" y="3504184"/>
            <a:ext cx="5257800" cy="151790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A style to copy. In a real flow, place-and-route inserts hold buffers with knowledge of the actual clock tree.</a:t>
            </a:r>
          </a:p>
          <a:p>
            <a:pPr algn="l">
              <a:lnSpc>
                <a:spcPct val="103000"/>
              </a:lnSpc>
              <a:spcAft>
                <a:spcPts val="400"/>
              </a:spcAft>
            </a:pPr>
            <a:r>
              <a:rPr sz="1100" b="1" i="0">
                <a:solidFill>
                  <a:srgbClr val="C01F43"/>
                </a:solidFill>
                <a:latin typeface="Calibri"/>
              </a:rPr>
              <a:t>Writing XOR gates into your datapath to fix hold is not engineering - it is a teaching device, and it is labelled as one.</a:t>
            </a:r>
          </a:p>
        </p:txBody>
      </p:sp>
      <p:sp>
        <p:nvSpPr>
          <p:cNvPr id="18" name="TextBox 17"/>
          <p:cNvSpPr txBox="1"/>
          <p:nvPr/>
        </p:nvSpPr>
        <p:spPr>
          <a:xfrm>
            <a:off x="411480" y="5177536"/>
            <a:ext cx="11247120" cy="274320"/>
          </a:xfrm>
          <a:prstGeom prst="rect">
            <a:avLst/>
          </a:prstGeom>
          <a:noFill/>
        </p:spPr>
        <p:txBody>
          <a:bodyPr wrap="square" lIns="0" rIns="0" tIns="0" bIns="0" anchor="t">
            <a:spAutoFit/>
          </a:bodyPr>
          <a:lstStyle/>
          <a:p>
            <a:pPr algn="l">
              <a:lnSpc>
                <a:spcPct val="103000"/>
              </a:lnSpc>
              <a:spcAft>
                <a:spcPts val="700"/>
              </a:spcAft>
            </a:pPr>
            <a:r>
              <a:rPr sz="1050" b="1" i="0">
                <a:solidFill>
                  <a:srgbClr val="0E2A47"/>
                </a:solidFill>
                <a:latin typeface="Calibri"/>
              </a:rPr>
              <a:t>Being told what a demonstration cannot show is part of the demonstration.</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6c · THE PROCEDURE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To Do When the Report Is Red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56</a:t>
            </a:r>
          </a:p>
        </p:txBody>
      </p:sp>
      <p:sp>
        <p:nvSpPr>
          <p:cNvPr id="9" name="Rectangle 8"/>
          <p:cNvSpPr/>
          <p:nvPr/>
        </p:nvSpPr>
        <p:spPr>
          <a:xfrm>
            <a:off x="411480" y="1143000"/>
            <a:ext cx="68580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59436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Step</a:t>
            </a:r>
          </a:p>
        </p:txBody>
      </p:sp>
      <p:sp>
        <p:nvSpPr>
          <p:cNvPr id="11" name="Rectangle 10"/>
          <p:cNvSpPr/>
          <p:nvPr/>
        </p:nvSpPr>
        <p:spPr>
          <a:xfrm>
            <a:off x="1097280" y="1143000"/>
            <a:ext cx="484632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43000" y="1143000"/>
            <a:ext cx="475488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Do this</a:t>
            </a:r>
          </a:p>
        </p:txBody>
      </p:sp>
      <p:sp>
        <p:nvSpPr>
          <p:cNvPr id="13" name="Rectangle 12"/>
          <p:cNvSpPr/>
          <p:nvPr/>
        </p:nvSpPr>
        <p:spPr>
          <a:xfrm>
            <a:off x="5943600" y="1143000"/>
            <a:ext cx="5715000" cy="274320"/>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89320" y="1143000"/>
            <a:ext cx="5623560" cy="274320"/>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Because</a:t>
            </a:r>
          </a:p>
        </p:txBody>
      </p:sp>
      <p:sp>
        <p:nvSpPr>
          <p:cNvPr id="15" name="Rectangle 14"/>
          <p:cNvSpPr/>
          <p:nvPr/>
        </p:nvSpPr>
        <p:spPr>
          <a:xfrm>
            <a:off x="411480" y="1417320"/>
            <a:ext cx="6858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1732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a:t>
            </a:r>
          </a:p>
        </p:txBody>
      </p:sp>
      <p:sp>
        <p:nvSpPr>
          <p:cNvPr id="17" name="Rectangle 16"/>
          <p:cNvSpPr/>
          <p:nvPr/>
        </p:nvSpPr>
        <p:spPr>
          <a:xfrm>
            <a:off x="1097280" y="141732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43000" y="141732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Read the unconstrained-endpoint count first</a:t>
            </a:r>
          </a:p>
        </p:txBody>
      </p:sp>
      <p:sp>
        <p:nvSpPr>
          <p:cNvPr id="19" name="Rectangle 18"/>
          <p:cNvSpPr/>
          <p:nvPr/>
        </p:nvSpPr>
        <p:spPr>
          <a:xfrm>
            <a:off x="5943600" y="1417320"/>
            <a:ext cx="5715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989320" y="141732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clean report on half a design is worthless</a:t>
            </a:r>
          </a:p>
        </p:txBody>
      </p:sp>
      <p:sp>
        <p:nvSpPr>
          <p:cNvPr id="21" name="Rectangle 20"/>
          <p:cNvSpPr/>
          <p:nvPr/>
        </p:nvSpPr>
        <p:spPr>
          <a:xfrm>
            <a:off x="411480" y="1691640"/>
            <a:ext cx="6858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69164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2</a:t>
            </a:r>
          </a:p>
        </p:txBody>
      </p:sp>
      <p:sp>
        <p:nvSpPr>
          <p:cNvPr id="23" name="Rectangle 22"/>
          <p:cNvSpPr/>
          <p:nvPr/>
        </p:nvSpPr>
        <p:spPr>
          <a:xfrm>
            <a:off x="1097280" y="169164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43000" y="169164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Is it setup or hold? Look at the path type</a:t>
            </a:r>
          </a:p>
        </p:txBody>
      </p:sp>
      <p:sp>
        <p:nvSpPr>
          <p:cNvPr id="25" name="Rectangle 24"/>
          <p:cNvSpPr/>
          <p:nvPr/>
        </p:nvSpPr>
        <p:spPr>
          <a:xfrm>
            <a:off x="5943600" y="1691640"/>
            <a:ext cx="5715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89320" y="169164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two need opposite fixes</a:t>
            </a:r>
          </a:p>
        </p:txBody>
      </p:sp>
      <p:sp>
        <p:nvSpPr>
          <p:cNvPr id="27" name="Rectangle 26"/>
          <p:cNvSpPr/>
          <p:nvPr/>
        </p:nvSpPr>
        <p:spPr>
          <a:xfrm>
            <a:off x="411480" y="1965960"/>
            <a:ext cx="6858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6596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a:t>
            </a:r>
          </a:p>
        </p:txBody>
      </p:sp>
      <p:sp>
        <p:nvSpPr>
          <p:cNvPr id="29" name="Rectangle 28"/>
          <p:cNvSpPr/>
          <p:nvPr/>
        </p:nvSpPr>
        <p:spPr>
          <a:xfrm>
            <a:off x="1097280" y="196596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143000" y="196596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Read the startpoint and endpoint by name</a:t>
            </a:r>
          </a:p>
        </p:txBody>
      </p:sp>
      <p:sp>
        <p:nvSpPr>
          <p:cNvPr id="31" name="Rectangle 30"/>
          <p:cNvSpPr/>
          <p:nvPr/>
        </p:nvSpPr>
        <p:spPr>
          <a:xfrm>
            <a:off x="5943600" y="1965960"/>
            <a:ext cx="5715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989320" y="196596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it often names the problem for you</a:t>
            </a:r>
          </a:p>
        </p:txBody>
      </p:sp>
      <p:sp>
        <p:nvSpPr>
          <p:cNvPr id="33" name="Rectangle 32"/>
          <p:cNvSpPr/>
          <p:nvPr/>
        </p:nvSpPr>
        <p:spPr>
          <a:xfrm>
            <a:off x="411480" y="2240280"/>
            <a:ext cx="6858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4028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a:t>
            </a:r>
          </a:p>
        </p:txBody>
      </p:sp>
      <p:sp>
        <p:nvSpPr>
          <p:cNvPr id="35" name="Rectangle 34"/>
          <p:cNvSpPr/>
          <p:nvPr/>
        </p:nvSpPr>
        <p:spPr>
          <a:xfrm>
            <a:off x="1097280" y="224028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143000" y="224028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Ask whether the path is real</a:t>
            </a:r>
          </a:p>
        </p:txBody>
      </p:sp>
      <p:sp>
        <p:nvSpPr>
          <p:cNvPr id="37" name="Rectangle 36"/>
          <p:cNvSpPr/>
          <p:nvPr/>
        </p:nvSpPr>
        <p:spPr>
          <a:xfrm>
            <a:off x="5943600" y="2240280"/>
            <a:ext cx="5715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989320" y="224028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half of all violations are constraint bugs</a:t>
            </a:r>
          </a:p>
        </p:txBody>
      </p:sp>
      <p:sp>
        <p:nvSpPr>
          <p:cNvPr id="39" name="Rectangle 38"/>
          <p:cNvSpPr/>
          <p:nvPr/>
        </p:nvSpPr>
        <p:spPr>
          <a:xfrm>
            <a:off x="411480" y="2514600"/>
            <a:ext cx="6858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1460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a:t>
            </a:r>
          </a:p>
        </p:txBody>
      </p:sp>
      <p:sp>
        <p:nvSpPr>
          <p:cNvPr id="41" name="Rectangle 40"/>
          <p:cNvSpPr/>
          <p:nvPr/>
        </p:nvSpPr>
        <p:spPr>
          <a:xfrm>
            <a:off x="1097280" y="251460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143000" y="251460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Look at the largest incr in the path</a:t>
            </a:r>
          </a:p>
        </p:txBody>
      </p:sp>
      <p:sp>
        <p:nvSpPr>
          <p:cNvPr id="43" name="Rectangle 42"/>
          <p:cNvSpPr/>
          <p:nvPr/>
        </p:nvSpPr>
        <p:spPr>
          <a:xfrm>
            <a:off x="5943600" y="2514600"/>
            <a:ext cx="5715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989320" y="251460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one big cell or fifty small ones - different fixes</a:t>
            </a:r>
          </a:p>
        </p:txBody>
      </p:sp>
      <p:sp>
        <p:nvSpPr>
          <p:cNvPr id="45" name="Rectangle 44"/>
          <p:cNvSpPr/>
          <p:nvPr/>
        </p:nvSpPr>
        <p:spPr>
          <a:xfrm>
            <a:off x="411480" y="2788920"/>
            <a:ext cx="6858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78892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a:t>
            </a:r>
          </a:p>
        </p:txBody>
      </p:sp>
      <p:sp>
        <p:nvSpPr>
          <p:cNvPr id="47" name="Rectangle 46"/>
          <p:cNvSpPr/>
          <p:nvPr/>
        </p:nvSpPr>
        <p:spPr>
          <a:xfrm>
            <a:off x="1097280" y="278892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143000" y="278892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Compare WNS with TNS</a:t>
            </a:r>
          </a:p>
        </p:txBody>
      </p:sp>
      <p:sp>
        <p:nvSpPr>
          <p:cNvPr id="49" name="Rectangle 48"/>
          <p:cNvSpPr/>
          <p:nvPr/>
        </p:nvSpPr>
        <p:spPr>
          <a:xfrm>
            <a:off x="5943600" y="2788920"/>
            <a:ext cx="5715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989320" y="278892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one path, or the whole design?</a:t>
            </a:r>
          </a:p>
        </p:txBody>
      </p:sp>
      <p:sp>
        <p:nvSpPr>
          <p:cNvPr id="51" name="Rectangle 50"/>
          <p:cNvSpPr/>
          <p:nvPr/>
        </p:nvSpPr>
        <p:spPr>
          <a:xfrm>
            <a:off x="411480" y="3063240"/>
            <a:ext cx="6858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06324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7</a:t>
            </a:r>
          </a:p>
        </p:txBody>
      </p:sp>
      <p:sp>
        <p:nvSpPr>
          <p:cNvPr id="53" name="Rectangle 52"/>
          <p:cNvSpPr/>
          <p:nvPr/>
        </p:nvSpPr>
        <p:spPr>
          <a:xfrm>
            <a:off x="1097280" y="3063240"/>
            <a:ext cx="484632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143000" y="306324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Apply the cheapest fix that could work</a:t>
            </a:r>
          </a:p>
        </p:txBody>
      </p:sp>
      <p:sp>
        <p:nvSpPr>
          <p:cNvPr id="55" name="Rectangle 54"/>
          <p:cNvSpPr/>
          <p:nvPr/>
        </p:nvSpPr>
        <p:spPr>
          <a:xfrm>
            <a:off x="5943600" y="3063240"/>
            <a:ext cx="5715000" cy="274320"/>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989320" y="306324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and re-run before trying the next one</a:t>
            </a:r>
          </a:p>
        </p:txBody>
      </p:sp>
      <p:sp>
        <p:nvSpPr>
          <p:cNvPr id="57" name="Rectangle 56"/>
          <p:cNvSpPr/>
          <p:nvPr/>
        </p:nvSpPr>
        <p:spPr>
          <a:xfrm>
            <a:off x="411480" y="3337560"/>
            <a:ext cx="6858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337560"/>
            <a:ext cx="594360" cy="274320"/>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8</a:t>
            </a:r>
          </a:p>
        </p:txBody>
      </p:sp>
      <p:sp>
        <p:nvSpPr>
          <p:cNvPr id="59" name="Rectangle 58"/>
          <p:cNvSpPr/>
          <p:nvPr/>
        </p:nvSpPr>
        <p:spPr>
          <a:xfrm>
            <a:off x="1097280" y="3337560"/>
            <a:ext cx="484632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143000" y="3337560"/>
            <a:ext cx="475488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Change ONE thing per run</a:t>
            </a:r>
          </a:p>
        </p:txBody>
      </p:sp>
      <p:sp>
        <p:nvSpPr>
          <p:cNvPr id="61" name="Rectangle 60"/>
          <p:cNvSpPr/>
          <p:nvPr/>
        </p:nvSpPr>
        <p:spPr>
          <a:xfrm>
            <a:off x="5943600" y="3337560"/>
            <a:ext cx="5715000" cy="274320"/>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5989320" y="3337560"/>
            <a:ext cx="5623560" cy="274320"/>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or you will not know what helped</a:t>
            </a:r>
          </a:p>
        </p:txBody>
      </p:sp>
      <p:sp>
        <p:nvSpPr>
          <p:cNvPr id="63" name="Rounded Rectangle 62"/>
          <p:cNvSpPr/>
          <p:nvPr/>
        </p:nvSpPr>
        <p:spPr>
          <a:xfrm>
            <a:off x="411480" y="3703320"/>
            <a:ext cx="11247120" cy="8229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576072" y="37673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Step 8 is the one people skip</a:t>
            </a:r>
          </a:p>
        </p:txBody>
      </p:sp>
      <p:sp>
        <p:nvSpPr>
          <p:cNvPr id="65" name="TextBox 64"/>
          <p:cNvSpPr txBox="1"/>
          <p:nvPr/>
        </p:nvSpPr>
        <p:spPr>
          <a:xfrm>
            <a:off x="576072" y="404164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C01F43"/>
                </a:solidFill>
                <a:latin typeface="Calibri"/>
              </a:rPr>
              <a:t>Under deadline pressure it is tempting to change the period, the effort level and the RTL all at once. When the slack moves you will have no idea which change did it - and no idea what to undo when it moves the wrong way.</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6c · CLOSURE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Timing Closure Is a Loop, and You Exit It Once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57</a:t>
            </a:r>
          </a:p>
        </p:txBody>
      </p:sp>
      <p:pic>
        <p:nvPicPr>
          <p:cNvPr id="9" name="Picture 8" descr="closure_loop.png"/>
          <p:cNvPicPr>
            <a:picLocks noChangeAspect="1"/>
          </p:cNvPicPr>
          <p:nvPr/>
        </p:nvPicPr>
        <p:blipFill>
          <a:blip r:embed="rId2"/>
          <a:stretch>
            <a:fillRect/>
          </a:stretch>
        </p:blipFill>
        <p:spPr>
          <a:xfrm>
            <a:off x="2591502" y="1097280"/>
            <a:ext cx="6887075" cy="4846320"/>
          </a:xfrm>
          <a:prstGeom prst="rect">
            <a:avLst/>
          </a:prstGeom>
        </p:spPr>
      </p:pic>
      <p:sp>
        <p:nvSpPr>
          <p:cNvPr id="10" name="TextBox 9"/>
          <p:cNvSpPr txBox="1"/>
          <p:nvPr/>
        </p:nvSpPr>
        <p:spPr>
          <a:xfrm>
            <a:off x="411480" y="6035040"/>
            <a:ext cx="11247120" cy="274320"/>
          </a:xfrm>
          <a:prstGeom prst="rect">
            <a:avLst/>
          </a:prstGeom>
          <a:noFill/>
        </p:spPr>
        <p:txBody>
          <a:bodyPr wrap="square" lIns="0" rIns="0" tIns="0" bIns="0" anchor="t">
            <a:spAutoFit/>
          </a:bodyPr>
          <a:lstStyle/>
          <a:p>
            <a:pPr algn="l">
              <a:lnSpc>
                <a:spcPct val="103000"/>
              </a:lnSpc>
              <a:spcAft>
                <a:spcPts val="700"/>
              </a:spcAft>
            </a:pPr>
            <a:r>
              <a:rPr sz="1050" b="1" i="0">
                <a:solidFill>
                  <a:srgbClr val="2A9D5C"/>
                </a:solidFill>
                <a:latin typeface="Calibri"/>
              </a:rPr>
              <a:t>A design is closed when WNS &gt;= 0 at the slow corner, hold &gt;= 0 at the fast corner, and the unconstrained count is zero. Two out of three is not closed.</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C01F43"/>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C01F43"/>
                </a:solidFill>
                <a:latin typeface="Calibri"/>
              </a:rPr>
              <a:t>6c · MISTAKES</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Ten Ways To Get a Green Report and a Broken Chip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58</a:t>
            </a:r>
          </a:p>
        </p:txBody>
      </p:sp>
      <p:sp>
        <p:nvSpPr>
          <p:cNvPr id="9" name="Rectangle 8"/>
          <p:cNvSpPr/>
          <p:nvPr/>
        </p:nvSpPr>
        <p:spPr>
          <a:xfrm>
            <a:off x="411480" y="1143000"/>
            <a:ext cx="548640" cy="26517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26517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t>
            </a:r>
          </a:p>
        </p:txBody>
      </p:sp>
      <p:sp>
        <p:nvSpPr>
          <p:cNvPr id="11" name="Rectangle 10"/>
          <p:cNvSpPr/>
          <p:nvPr/>
        </p:nvSpPr>
        <p:spPr>
          <a:xfrm>
            <a:off x="960120" y="1143000"/>
            <a:ext cx="5486400" cy="26517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5394960" cy="26517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The mistake</a:t>
            </a:r>
          </a:p>
        </p:txBody>
      </p:sp>
      <p:sp>
        <p:nvSpPr>
          <p:cNvPr id="13" name="Rectangle 12"/>
          <p:cNvSpPr/>
          <p:nvPr/>
        </p:nvSpPr>
        <p:spPr>
          <a:xfrm>
            <a:off x="6446520" y="1143000"/>
            <a:ext cx="5212080" cy="26517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6492240" y="1143000"/>
            <a:ext cx="5120640" cy="26517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it costs you</a:t>
            </a:r>
          </a:p>
        </p:txBody>
      </p:sp>
      <p:sp>
        <p:nvSpPr>
          <p:cNvPr id="15" name="Rectangle 14"/>
          <p:cNvSpPr/>
          <p:nvPr/>
        </p:nvSpPr>
        <p:spPr>
          <a:xfrm>
            <a:off x="411480" y="1408176"/>
            <a:ext cx="54864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08176"/>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a:t>
            </a:r>
          </a:p>
        </p:txBody>
      </p:sp>
      <p:sp>
        <p:nvSpPr>
          <p:cNvPr id="17" name="Rectangle 16"/>
          <p:cNvSpPr/>
          <p:nvPr/>
        </p:nvSpPr>
        <p:spPr>
          <a:xfrm>
            <a:off x="960120" y="1408176"/>
            <a:ext cx="54864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08176"/>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 constraint file at all</a:t>
            </a:r>
          </a:p>
        </p:txBody>
      </p:sp>
      <p:sp>
        <p:nvSpPr>
          <p:cNvPr id="19" name="Rectangle 18"/>
          <p:cNvSpPr/>
          <p:nvPr/>
        </p:nvSpPr>
        <p:spPr>
          <a:xfrm>
            <a:off x="6446520" y="1408176"/>
            <a:ext cx="521208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6492240" y="1408176"/>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every path unchecked, report meaningless</a:t>
            </a:r>
          </a:p>
        </p:txBody>
      </p:sp>
      <p:sp>
        <p:nvSpPr>
          <p:cNvPr id="21" name="Rectangle 20"/>
          <p:cNvSpPr/>
          <p:nvPr/>
        </p:nvSpPr>
        <p:spPr>
          <a:xfrm>
            <a:off x="411480" y="1673352"/>
            <a:ext cx="54864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673352"/>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2</a:t>
            </a:r>
          </a:p>
        </p:txBody>
      </p:sp>
      <p:sp>
        <p:nvSpPr>
          <p:cNvPr id="23" name="Rectangle 22"/>
          <p:cNvSpPr/>
          <p:nvPr/>
        </p:nvSpPr>
        <p:spPr>
          <a:xfrm>
            <a:off x="960120" y="1673352"/>
            <a:ext cx="54864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673352"/>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Clock declared, I/O not</a:t>
            </a:r>
          </a:p>
        </p:txBody>
      </p:sp>
      <p:sp>
        <p:nvSpPr>
          <p:cNvPr id="25" name="Rectangle 24"/>
          <p:cNvSpPr/>
          <p:nvPr/>
        </p:nvSpPr>
        <p:spPr>
          <a:xfrm>
            <a:off x="6446520" y="1673352"/>
            <a:ext cx="521208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6492240" y="1673352"/>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every boundary path unchecked</a:t>
            </a:r>
          </a:p>
        </p:txBody>
      </p:sp>
      <p:sp>
        <p:nvSpPr>
          <p:cNvPr id="27" name="Rectangle 26"/>
          <p:cNvSpPr/>
          <p:nvPr/>
        </p:nvSpPr>
        <p:spPr>
          <a:xfrm>
            <a:off x="411480" y="1938528"/>
            <a:ext cx="54864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38528"/>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a:t>
            </a:r>
          </a:p>
        </p:txBody>
      </p:sp>
      <p:sp>
        <p:nvSpPr>
          <p:cNvPr id="29" name="Rectangle 28"/>
          <p:cNvSpPr/>
          <p:nvPr/>
        </p:nvSpPr>
        <p:spPr>
          <a:xfrm>
            <a:off x="960120" y="1938528"/>
            <a:ext cx="54864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1938528"/>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generated clock never declared</a:t>
            </a:r>
          </a:p>
        </p:txBody>
      </p:sp>
      <p:sp>
        <p:nvSpPr>
          <p:cNvPr id="31" name="Rectangle 30"/>
          <p:cNvSpPr/>
          <p:nvPr/>
        </p:nvSpPr>
        <p:spPr>
          <a:xfrm>
            <a:off x="6446520" y="1938528"/>
            <a:ext cx="521208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6492240" y="1938528"/>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whole domain unchecked</a:t>
            </a:r>
          </a:p>
        </p:txBody>
      </p:sp>
      <p:sp>
        <p:nvSpPr>
          <p:cNvPr id="33" name="Rectangle 32"/>
          <p:cNvSpPr/>
          <p:nvPr/>
        </p:nvSpPr>
        <p:spPr>
          <a:xfrm>
            <a:off x="411480" y="2203704"/>
            <a:ext cx="54864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03704"/>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a:t>
            </a:r>
          </a:p>
        </p:txBody>
      </p:sp>
      <p:sp>
        <p:nvSpPr>
          <p:cNvPr id="35" name="Rectangle 34"/>
          <p:cNvSpPr/>
          <p:nvPr/>
        </p:nvSpPr>
        <p:spPr>
          <a:xfrm>
            <a:off x="960120" y="2203704"/>
            <a:ext cx="54864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203704"/>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set_false_path used to silence a real path</a:t>
            </a:r>
          </a:p>
        </p:txBody>
      </p:sp>
      <p:sp>
        <p:nvSpPr>
          <p:cNvPr id="37" name="Rectangle 36"/>
          <p:cNvSpPr/>
          <p:nvPr/>
        </p:nvSpPr>
        <p:spPr>
          <a:xfrm>
            <a:off x="6446520" y="2203704"/>
            <a:ext cx="521208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6492240" y="2203704"/>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field failure</a:t>
            </a:r>
          </a:p>
        </p:txBody>
      </p:sp>
      <p:sp>
        <p:nvSpPr>
          <p:cNvPr id="39" name="Rectangle 38"/>
          <p:cNvSpPr/>
          <p:nvPr/>
        </p:nvSpPr>
        <p:spPr>
          <a:xfrm>
            <a:off x="411480" y="2468880"/>
            <a:ext cx="54864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468880"/>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a:t>
            </a:r>
          </a:p>
        </p:txBody>
      </p:sp>
      <p:sp>
        <p:nvSpPr>
          <p:cNvPr id="41" name="Rectangle 40"/>
          <p:cNvSpPr/>
          <p:nvPr/>
        </p:nvSpPr>
        <p:spPr>
          <a:xfrm>
            <a:off x="960120" y="2468880"/>
            <a:ext cx="54864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468880"/>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Multicycle setup without the hold line</a:t>
            </a:r>
          </a:p>
        </p:txBody>
      </p:sp>
      <p:sp>
        <p:nvSpPr>
          <p:cNvPr id="43" name="Rectangle 42"/>
          <p:cNvSpPr/>
          <p:nvPr/>
        </p:nvSpPr>
        <p:spPr>
          <a:xfrm>
            <a:off x="6446520" y="2468880"/>
            <a:ext cx="521208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6492240" y="2468880"/>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hold violation you created</a:t>
            </a:r>
          </a:p>
        </p:txBody>
      </p:sp>
      <p:sp>
        <p:nvSpPr>
          <p:cNvPr id="45" name="Rectangle 44"/>
          <p:cNvSpPr/>
          <p:nvPr/>
        </p:nvSpPr>
        <p:spPr>
          <a:xfrm>
            <a:off x="411480" y="2734056"/>
            <a:ext cx="54864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734056"/>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a:t>
            </a:r>
          </a:p>
        </p:txBody>
      </p:sp>
      <p:sp>
        <p:nvSpPr>
          <p:cNvPr id="47" name="Rectangle 46"/>
          <p:cNvSpPr/>
          <p:nvPr/>
        </p:nvSpPr>
        <p:spPr>
          <a:xfrm>
            <a:off x="960120" y="2734056"/>
            <a:ext cx="54864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2734056"/>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Multicycle claimed without an enable in the RTL</a:t>
            </a:r>
          </a:p>
        </p:txBody>
      </p:sp>
      <p:sp>
        <p:nvSpPr>
          <p:cNvPr id="49" name="Rectangle 48"/>
          <p:cNvSpPr/>
          <p:nvPr/>
        </p:nvSpPr>
        <p:spPr>
          <a:xfrm>
            <a:off x="6446520" y="2734056"/>
            <a:ext cx="521208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6492240" y="2734056"/>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wrong data captured</a:t>
            </a:r>
          </a:p>
        </p:txBody>
      </p:sp>
      <p:sp>
        <p:nvSpPr>
          <p:cNvPr id="51" name="Rectangle 50"/>
          <p:cNvSpPr/>
          <p:nvPr/>
        </p:nvSpPr>
        <p:spPr>
          <a:xfrm>
            <a:off x="411480" y="2999232"/>
            <a:ext cx="54864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2999232"/>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7</a:t>
            </a:r>
          </a:p>
        </p:txBody>
      </p:sp>
      <p:sp>
        <p:nvSpPr>
          <p:cNvPr id="53" name="Rectangle 52"/>
          <p:cNvSpPr/>
          <p:nvPr/>
        </p:nvSpPr>
        <p:spPr>
          <a:xfrm>
            <a:off x="960120" y="2999232"/>
            <a:ext cx="54864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2999232"/>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Uncertainty reduced to make the report pass</a:t>
            </a:r>
          </a:p>
        </p:txBody>
      </p:sp>
      <p:sp>
        <p:nvSpPr>
          <p:cNvPr id="55" name="Rectangle 54"/>
          <p:cNvSpPr/>
          <p:nvPr/>
        </p:nvSpPr>
        <p:spPr>
          <a:xfrm>
            <a:off x="6446520" y="2999232"/>
            <a:ext cx="521208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6492240" y="2999232"/>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 margin on silicon</a:t>
            </a:r>
          </a:p>
        </p:txBody>
      </p:sp>
      <p:sp>
        <p:nvSpPr>
          <p:cNvPr id="57" name="Rectangle 56"/>
          <p:cNvSpPr/>
          <p:nvPr/>
        </p:nvSpPr>
        <p:spPr>
          <a:xfrm>
            <a:off x="411480" y="3264408"/>
            <a:ext cx="54864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264408"/>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8</a:t>
            </a:r>
          </a:p>
        </p:txBody>
      </p:sp>
      <p:sp>
        <p:nvSpPr>
          <p:cNvPr id="59" name="Rectangle 58"/>
          <p:cNvSpPr/>
          <p:nvPr/>
        </p:nvSpPr>
        <p:spPr>
          <a:xfrm>
            <a:off x="960120" y="3264408"/>
            <a:ext cx="54864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05840" y="3264408"/>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Signing off setup at the typical corner</a:t>
            </a:r>
          </a:p>
        </p:txBody>
      </p:sp>
      <p:sp>
        <p:nvSpPr>
          <p:cNvPr id="61" name="Rectangle 60"/>
          <p:cNvSpPr/>
          <p:nvPr/>
        </p:nvSpPr>
        <p:spPr>
          <a:xfrm>
            <a:off x="6446520" y="3264408"/>
            <a:ext cx="521208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6492240" y="3264408"/>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fails on slow silicon</a:t>
            </a:r>
          </a:p>
        </p:txBody>
      </p:sp>
      <p:sp>
        <p:nvSpPr>
          <p:cNvPr id="63" name="Rectangle 62"/>
          <p:cNvSpPr/>
          <p:nvPr/>
        </p:nvSpPr>
        <p:spPr>
          <a:xfrm>
            <a:off x="411480" y="3529584"/>
            <a:ext cx="54864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457200" y="3529584"/>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9</a:t>
            </a:r>
          </a:p>
        </p:txBody>
      </p:sp>
      <p:sp>
        <p:nvSpPr>
          <p:cNvPr id="65" name="Rectangle 64"/>
          <p:cNvSpPr/>
          <p:nvPr/>
        </p:nvSpPr>
        <p:spPr>
          <a:xfrm>
            <a:off x="960120" y="3529584"/>
            <a:ext cx="54864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1005840" y="3529584"/>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Ignoring hold because the clock is slow</a:t>
            </a:r>
          </a:p>
        </p:txBody>
      </p:sp>
      <p:sp>
        <p:nvSpPr>
          <p:cNvPr id="67" name="Rectangle 66"/>
          <p:cNvSpPr/>
          <p:nvPr/>
        </p:nvSpPr>
        <p:spPr>
          <a:xfrm>
            <a:off x="6446520" y="3529584"/>
            <a:ext cx="521208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6492240" y="3529584"/>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fails at every speed</a:t>
            </a:r>
          </a:p>
        </p:txBody>
      </p:sp>
      <p:sp>
        <p:nvSpPr>
          <p:cNvPr id="69" name="Rectangle 68"/>
          <p:cNvSpPr/>
          <p:nvPr/>
        </p:nvSpPr>
        <p:spPr>
          <a:xfrm>
            <a:off x="411480" y="3794760"/>
            <a:ext cx="54864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457200" y="3794760"/>
            <a:ext cx="45720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10</a:t>
            </a:r>
          </a:p>
        </p:txBody>
      </p:sp>
      <p:sp>
        <p:nvSpPr>
          <p:cNvPr id="71" name="Rectangle 70"/>
          <p:cNvSpPr/>
          <p:nvPr/>
        </p:nvSpPr>
        <p:spPr>
          <a:xfrm>
            <a:off x="960120" y="3794760"/>
            <a:ext cx="54864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1005840" y="3794760"/>
            <a:ext cx="539496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Never checking the unconstrained count</a:t>
            </a:r>
          </a:p>
        </p:txBody>
      </p:sp>
      <p:sp>
        <p:nvSpPr>
          <p:cNvPr id="73" name="Rectangle 72"/>
          <p:cNvSpPr/>
          <p:nvPr/>
        </p:nvSpPr>
        <p:spPr>
          <a:xfrm>
            <a:off x="6446520" y="3794760"/>
            <a:ext cx="521208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6492240" y="3794760"/>
            <a:ext cx="512064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all of the above, silently</a:t>
            </a:r>
          </a:p>
        </p:txBody>
      </p:sp>
      <p:sp>
        <p:nvSpPr>
          <p:cNvPr id="75" name="TextBox 74"/>
          <p:cNvSpPr txBox="1"/>
          <p:nvPr/>
        </p:nvSpPr>
        <p:spPr>
          <a:xfrm>
            <a:off x="411480" y="4151376"/>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C01F43"/>
                </a:solidFill>
                <a:latin typeface="Calibri"/>
              </a:rPr>
              <a:t>Nine of these ten produce a report that says everything is fine.</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6c · CHECKPOINT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Eight Questions Before the Labs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59</a:t>
            </a:r>
          </a:p>
        </p:txBody>
      </p:sp>
      <p:sp>
        <p:nvSpPr>
          <p:cNvPr id="9" name="Rectangle 8"/>
          <p:cNvSpPr/>
          <p:nvPr/>
        </p:nvSpPr>
        <p:spPr>
          <a:xfrm>
            <a:off x="411480" y="1143000"/>
            <a:ext cx="5486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4572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t>
            </a:r>
          </a:p>
        </p:txBody>
      </p:sp>
      <p:sp>
        <p:nvSpPr>
          <p:cNvPr id="11" name="Rectangle 10"/>
          <p:cNvSpPr/>
          <p:nvPr/>
        </p:nvSpPr>
        <p:spPr>
          <a:xfrm>
            <a:off x="960120" y="1143000"/>
            <a:ext cx="48463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005840" y="1143000"/>
            <a:ext cx="47548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Question</a:t>
            </a:r>
          </a:p>
        </p:txBody>
      </p:sp>
      <p:sp>
        <p:nvSpPr>
          <p:cNvPr id="13" name="Rectangle 12"/>
          <p:cNvSpPr/>
          <p:nvPr/>
        </p:nvSpPr>
        <p:spPr>
          <a:xfrm>
            <a:off x="5806440" y="1143000"/>
            <a:ext cx="58521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852160" y="1143000"/>
            <a:ext cx="57607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The answer in one line</a:t>
            </a:r>
          </a:p>
        </p:txBody>
      </p:sp>
      <p:sp>
        <p:nvSpPr>
          <p:cNvPr id="15" name="Rectangle 14"/>
          <p:cNvSpPr/>
          <p:nvPr/>
        </p:nvSpPr>
        <p:spPr>
          <a:xfrm>
            <a:off x="411480" y="1426464"/>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a:t>
            </a:r>
          </a:p>
        </p:txBody>
      </p:sp>
      <p:sp>
        <p:nvSpPr>
          <p:cNvPr id="17" name="Rectangle 16"/>
          <p:cNvSpPr/>
          <p:nvPr/>
        </p:nvSpPr>
        <p:spPr>
          <a:xfrm>
            <a:off x="960120" y="1426464"/>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005840" y="1426464"/>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Setup violation - what does the chip do?</a:t>
            </a:r>
          </a:p>
        </p:txBody>
      </p:sp>
      <p:sp>
        <p:nvSpPr>
          <p:cNvPr id="19" name="Rectangle 18"/>
          <p:cNvSpPr/>
          <p:nvPr/>
        </p:nvSpPr>
        <p:spPr>
          <a:xfrm>
            <a:off x="5806440" y="1426464"/>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852160" y="1426464"/>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works, but only at a lower frequency</a:t>
            </a:r>
          </a:p>
        </p:txBody>
      </p:sp>
      <p:sp>
        <p:nvSpPr>
          <p:cNvPr id="21" name="Rectangle 20"/>
          <p:cNvSpPr/>
          <p:nvPr/>
        </p:nvSpPr>
        <p:spPr>
          <a:xfrm>
            <a:off x="411480" y="1709928"/>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2</a:t>
            </a:r>
          </a:p>
        </p:txBody>
      </p:sp>
      <p:sp>
        <p:nvSpPr>
          <p:cNvPr id="23" name="Rectangle 22"/>
          <p:cNvSpPr/>
          <p:nvPr/>
        </p:nvSpPr>
        <p:spPr>
          <a:xfrm>
            <a:off x="960120" y="1709928"/>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005840" y="1709928"/>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Hold violation - what does it do?</a:t>
            </a:r>
          </a:p>
        </p:txBody>
      </p:sp>
      <p:sp>
        <p:nvSpPr>
          <p:cNvPr id="25" name="Rectangle 24"/>
          <p:cNvSpPr/>
          <p:nvPr/>
        </p:nvSpPr>
        <p:spPr>
          <a:xfrm>
            <a:off x="5806440" y="1709928"/>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852160" y="1709928"/>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does not work at any frequency</a:t>
            </a:r>
          </a:p>
        </p:txBody>
      </p:sp>
      <p:sp>
        <p:nvSpPr>
          <p:cNvPr id="27" name="Rectangle 26"/>
          <p:cNvSpPr/>
          <p:nvPr/>
        </p:nvSpPr>
        <p:spPr>
          <a:xfrm>
            <a:off x="411480" y="1993392"/>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a:t>
            </a:r>
          </a:p>
        </p:txBody>
      </p:sp>
      <p:sp>
        <p:nvSpPr>
          <p:cNvPr id="29" name="Rectangle 28"/>
          <p:cNvSpPr/>
          <p:nvPr/>
        </p:nvSpPr>
        <p:spPr>
          <a:xfrm>
            <a:off x="960120" y="1993392"/>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005840" y="1993392"/>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Does the period appear in the hold equation?</a:t>
            </a:r>
          </a:p>
        </p:txBody>
      </p:sp>
      <p:sp>
        <p:nvSpPr>
          <p:cNvPr id="31" name="Rectangle 30"/>
          <p:cNvSpPr/>
          <p:nvPr/>
        </p:nvSpPr>
        <p:spPr>
          <a:xfrm>
            <a:off x="5806440" y="1993392"/>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852160" y="1993392"/>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 - that is the whole point</a:t>
            </a:r>
          </a:p>
        </p:txBody>
      </p:sp>
      <p:sp>
        <p:nvSpPr>
          <p:cNvPr id="33" name="Rectangle 32"/>
          <p:cNvSpPr/>
          <p:nvPr/>
        </p:nvSpPr>
        <p:spPr>
          <a:xfrm>
            <a:off x="411480" y="2276856"/>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a:t>
            </a:r>
          </a:p>
        </p:txBody>
      </p:sp>
      <p:sp>
        <p:nvSpPr>
          <p:cNvPr id="35" name="Rectangle 34"/>
          <p:cNvSpPr/>
          <p:nvPr/>
        </p:nvSpPr>
        <p:spPr>
          <a:xfrm>
            <a:off x="960120" y="2276856"/>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005840" y="2276856"/>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Late capture clock: helps which check?</a:t>
            </a:r>
          </a:p>
        </p:txBody>
      </p:sp>
      <p:sp>
        <p:nvSpPr>
          <p:cNvPr id="37" name="Rectangle 36"/>
          <p:cNvSpPr/>
          <p:nvPr/>
        </p:nvSpPr>
        <p:spPr>
          <a:xfrm>
            <a:off x="5806440" y="2276856"/>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852160" y="2276856"/>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setup; it hurts hold by the same amount</a:t>
            </a:r>
          </a:p>
        </p:txBody>
      </p:sp>
      <p:sp>
        <p:nvSpPr>
          <p:cNvPr id="39" name="Rectangle 38"/>
          <p:cNvSpPr/>
          <p:nvPr/>
        </p:nvSpPr>
        <p:spPr>
          <a:xfrm>
            <a:off x="411480" y="2560320"/>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a:t>
            </a:r>
          </a:p>
        </p:txBody>
      </p:sp>
      <p:sp>
        <p:nvSpPr>
          <p:cNvPr id="41" name="Rectangle 40"/>
          <p:cNvSpPr/>
          <p:nvPr/>
        </p:nvSpPr>
        <p:spPr>
          <a:xfrm>
            <a:off x="960120" y="2560320"/>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005840" y="2560320"/>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Why do hold problems appear after layout?</a:t>
            </a:r>
          </a:p>
        </p:txBody>
      </p:sp>
      <p:sp>
        <p:nvSpPr>
          <p:cNvPr id="43" name="Rectangle 42"/>
          <p:cNvSpPr/>
          <p:nvPr/>
        </p:nvSpPr>
        <p:spPr>
          <a:xfrm>
            <a:off x="5806440" y="2560320"/>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852160" y="2560320"/>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before it, there is no clock tree, so no real skew</a:t>
            </a:r>
          </a:p>
        </p:txBody>
      </p:sp>
      <p:sp>
        <p:nvSpPr>
          <p:cNvPr id="45" name="Rectangle 44"/>
          <p:cNvSpPr/>
          <p:nvPr/>
        </p:nvSpPr>
        <p:spPr>
          <a:xfrm>
            <a:off x="411480" y="2843784"/>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843784"/>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a:t>
            </a:r>
          </a:p>
        </p:txBody>
      </p:sp>
      <p:sp>
        <p:nvSpPr>
          <p:cNvPr id="47" name="Rectangle 46"/>
          <p:cNvSpPr/>
          <p:nvPr/>
        </p:nvSpPr>
        <p:spPr>
          <a:xfrm>
            <a:off x="960120" y="2843784"/>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005840" y="2843784"/>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How is hold fixed?</a:t>
            </a:r>
          </a:p>
        </p:txBody>
      </p:sp>
      <p:sp>
        <p:nvSpPr>
          <p:cNvPr id="49" name="Rectangle 48"/>
          <p:cNvSpPr/>
          <p:nvPr/>
        </p:nvSpPr>
        <p:spPr>
          <a:xfrm>
            <a:off x="5806440" y="2843784"/>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852160" y="2843784"/>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by ADDING delay to the data path</a:t>
            </a:r>
          </a:p>
        </p:txBody>
      </p:sp>
      <p:sp>
        <p:nvSpPr>
          <p:cNvPr id="51" name="Rectangle 50"/>
          <p:cNvSpPr/>
          <p:nvPr/>
        </p:nvSpPr>
        <p:spPr>
          <a:xfrm>
            <a:off x="411480" y="3127248"/>
            <a:ext cx="5486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457200" y="3127248"/>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7</a:t>
            </a:r>
          </a:p>
        </p:txBody>
      </p:sp>
      <p:sp>
        <p:nvSpPr>
          <p:cNvPr id="53" name="Rectangle 52"/>
          <p:cNvSpPr/>
          <p:nvPr/>
        </p:nvSpPr>
        <p:spPr>
          <a:xfrm>
            <a:off x="960120" y="3127248"/>
            <a:ext cx="48463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1005840" y="3127248"/>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What does that cost?</a:t>
            </a:r>
          </a:p>
        </p:txBody>
      </p:sp>
      <p:sp>
        <p:nvSpPr>
          <p:cNvPr id="55" name="Rectangle 54"/>
          <p:cNvSpPr/>
          <p:nvPr/>
        </p:nvSpPr>
        <p:spPr>
          <a:xfrm>
            <a:off x="5806440" y="3127248"/>
            <a:ext cx="58521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5852160" y="3127248"/>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area and power, never frequency</a:t>
            </a:r>
          </a:p>
        </p:txBody>
      </p:sp>
      <p:sp>
        <p:nvSpPr>
          <p:cNvPr id="57" name="Rectangle 56"/>
          <p:cNvSpPr/>
          <p:nvPr/>
        </p:nvSpPr>
        <p:spPr>
          <a:xfrm>
            <a:off x="411480" y="3410712"/>
            <a:ext cx="5486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3410712"/>
            <a:ext cx="45720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8</a:t>
            </a:r>
          </a:p>
        </p:txBody>
      </p:sp>
      <p:sp>
        <p:nvSpPr>
          <p:cNvPr id="59" name="Rectangle 58"/>
          <p:cNvSpPr/>
          <p:nvPr/>
        </p:nvSpPr>
        <p:spPr>
          <a:xfrm>
            <a:off x="960120" y="3410712"/>
            <a:ext cx="48463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1005840" y="3410712"/>
            <a:ext cx="47548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Setup at which corner, hold at which?</a:t>
            </a:r>
          </a:p>
        </p:txBody>
      </p:sp>
      <p:sp>
        <p:nvSpPr>
          <p:cNvPr id="61" name="Rectangle 60"/>
          <p:cNvSpPr/>
          <p:nvPr/>
        </p:nvSpPr>
        <p:spPr>
          <a:xfrm>
            <a:off x="5806440" y="3410712"/>
            <a:ext cx="58521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5852160" y="3410712"/>
            <a:ext cx="57607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setup at slow, hold at fast</a:t>
            </a:r>
          </a:p>
        </p:txBody>
      </p:sp>
      <p:sp>
        <p:nvSpPr>
          <p:cNvPr id="63" name="TextBox 62"/>
          <p:cNvSpPr txBox="1"/>
          <p:nvPr/>
        </p:nvSpPr>
        <p:spPr>
          <a:xfrm>
            <a:off x="411480" y="3785616"/>
            <a:ext cx="11247120" cy="274320"/>
          </a:xfrm>
          <a:prstGeom prst="rect">
            <a:avLst/>
          </a:prstGeom>
          <a:noFill/>
        </p:spPr>
        <p:txBody>
          <a:bodyPr wrap="square" lIns="0" rIns="0" tIns="0" bIns="0" anchor="t">
            <a:spAutoFit/>
          </a:bodyPr>
          <a:lstStyle/>
          <a:p>
            <a:pPr algn="l">
              <a:lnSpc>
                <a:spcPct val="103000"/>
              </a:lnSpc>
              <a:spcAft>
                <a:spcPts val="700"/>
              </a:spcAft>
            </a:pPr>
            <a:r>
              <a:rPr sz="1100" b="1" i="0">
                <a:solidFill>
                  <a:srgbClr val="2A9D5C"/>
                </a:solidFill>
                <a:latin typeface="Calibri"/>
              </a:rPr>
              <a:t>Answer these eight and the labs will feel like confirmation rather than discovery.</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1B9AAA"/>
                </a:solidFill>
                <a:latin typeface="Calibri"/>
              </a:rPr>
              <a:t>TOOLS</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Installing and Running the Timing Flow</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Everything in this topic runs on free software. The vendor tools the syllabus names are covered too - as the last step, not the first.</a:t>
            </a:r>
          </a:p>
        </p:txBody>
      </p:sp>
      <p:sp>
        <p:nvSpPr>
          <p:cNvPr id="6" name="Rectangle 5"/>
          <p:cNvSpPr/>
          <p:nvPr/>
        </p:nvSpPr>
        <p:spPr>
          <a:xfrm>
            <a:off x="640080" y="394106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landscape: Vivado, Quartus, PrimeTime, Tempus, OpenSTA, and yours</a:t>
            </a:r>
          </a:p>
        </p:txBody>
      </p:sp>
      <p:sp>
        <p:nvSpPr>
          <p:cNvPr id="8" name="Rectangle 7"/>
          <p:cNvSpPr/>
          <p:nvPr/>
        </p:nvSpPr>
        <p:spPr>
          <a:xfrm>
            <a:off x="640080" y="435254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Tier 1 install: one apt line, and every exercise runs</a:t>
            </a:r>
          </a:p>
        </p:txBody>
      </p:sp>
      <p:sp>
        <p:nvSpPr>
          <p:cNvPr id="10" name="Rectangle 9"/>
          <p:cNvSpPr/>
          <p:nvPr/>
        </p:nvSpPr>
        <p:spPr>
          <a:xfrm>
            <a:off x="640080" y="476402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lab flow: RTL in, slack out - with no black box in between</a:t>
            </a:r>
          </a:p>
        </p:txBody>
      </p:sp>
      <p:sp>
        <p:nvSpPr>
          <p:cNvPr id="12" name="Rectangle 11"/>
          <p:cNvSpPr/>
          <p:nvPr/>
        </p:nvSpPr>
        <p:spPr>
          <a:xfrm>
            <a:off x="640080" y="5175504"/>
            <a:ext cx="91440" cy="182880"/>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The same four steps in Vivado, and how SDC maps onto XDC</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6: Timing Constraints and Analysis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M2-T6 · 60</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TOOLS · LANDSCAPE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Exists, and What You Will Use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61</a:t>
            </a:r>
          </a:p>
        </p:txBody>
      </p:sp>
      <p:pic>
        <p:nvPicPr>
          <p:cNvPr id="9" name="Picture 8" descr="tool_landscape.png"/>
          <p:cNvPicPr>
            <a:picLocks noChangeAspect="1"/>
          </p:cNvPicPr>
          <p:nvPr/>
        </p:nvPicPr>
        <p:blipFill>
          <a:blip r:embed="rId2"/>
          <a:stretch>
            <a:fillRect/>
          </a:stretch>
        </p:blipFill>
        <p:spPr>
          <a:xfrm>
            <a:off x="2670362" y="1097280"/>
            <a:ext cx="6729356" cy="4846320"/>
          </a:xfrm>
          <a:prstGeom prst="rect">
            <a:avLst/>
          </a:prstGeom>
        </p:spPr>
      </p:pic>
      <p:sp>
        <p:nvSpPr>
          <p:cNvPr id="10" name="TextBox 9"/>
          <p:cNvSpPr txBox="1"/>
          <p:nvPr/>
        </p:nvSpPr>
        <p:spPr>
          <a:xfrm>
            <a:off x="411480" y="6035040"/>
            <a:ext cx="11247120" cy="274320"/>
          </a:xfrm>
          <a:prstGeom prst="rect">
            <a:avLst/>
          </a:prstGeom>
          <a:noFill/>
        </p:spPr>
        <p:txBody>
          <a:bodyPr wrap="square" lIns="0" rIns="0" tIns="0" bIns="0" anchor="t">
            <a:spAutoFit/>
          </a:bodyPr>
          <a:lstStyle/>
          <a:p>
            <a:pPr algn="l">
              <a:lnSpc>
                <a:spcPct val="103000"/>
              </a:lnSpc>
              <a:spcAft>
                <a:spcPts val="700"/>
              </a:spcAft>
            </a:pPr>
            <a:r>
              <a:rPr sz="1050" b="0" i="0">
                <a:solidFill>
                  <a:srgbClr val="33414F"/>
                </a:solidFill>
                <a:latin typeface="Calibri"/>
              </a:rPr>
              <a:t>They all compute arrival, required and slack. The differences are the delay models, the report format and the price.</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TOOLS · INSTALL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Tier 1 - One Line, and Every Exercise Runs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62</a:t>
            </a:r>
          </a:p>
        </p:txBody>
      </p:sp>
      <p:pic>
        <p:nvPicPr>
          <p:cNvPr id="9" name="Picture 8" descr="install_required.png"/>
          <p:cNvPicPr>
            <a:picLocks noChangeAspect="1"/>
          </p:cNvPicPr>
          <p:nvPr/>
        </p:nvPicPr>
        <p:blipFill>
          <a:blip r:embed="rId2"/>
          <a:stretch>
            <a:fillRect/>
          </a:stretch>
        </p:blipFill>
        <p:spPr>
          <a:xfrm>
            <a:off x="3080700" y="1097280"/>
            <a:ext cx="5908681" cy="3657600"/>
          </a:xfrm>
          <a:prstGeom prst="rect">
            <a:avLst/>
          </a:prstGeom>
        </p:spPr>
      </p:pic>
      <p:sp>
        <p:nvSpPr>
          <p:cNvPr id="10" name="Rounded Rectangle 9"/>
          <p:cNvSpPr/>
          <p:nvPr/>
        </p:nvSpPr>
        <p:spPr>
          <a:xfrm>
            <a:off x="411480" y="4846320"/>
            <a:ext cx="11247120" cy="106680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96062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Debian / Ubuntu / WSL2 — copy this line</a:t>
            </a:r>
          </a:p>
        </p:txBody>
      </p:sp>
      <p:sp>
        <p:nvSpPr>
          <p:cNvPr id="12" name="TextBox 11"/>
          <p:cNvSpPr txBox="1"/>
          <p:nvPr/>
        </p:nvSpPr>
        <p:spPr>
          <a:xfrm>
            <a:off x="594360" y="5234940"/>
            <a:ext cx="10881360" cy="56388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sudo apt update</a:t>
            </a:r>
          </a:p>
          <a:p>
            <a:pPr algn="l">
              <a:lnSpc>
                <a:spcPct val="112000"/>
              </a:lnSpc>
            </a:pPr>
            <a:r>
              <a:rPr sz="1000" b="0" i="0">
                <a:solidFill>
                  <a:srgbClr val="D8E4F0"/>
                </a:solidFill>
                <a:latin typeface="Consolas"/>
              </a:rPr>
              <a:t>sudo apt install yosys iverilog gtkwave python3 python3-matplotlib</a:t>
            </a:r>
          </a:p>
          <a:p>
            <a:pPr algn="l">
              <a:lnSpc>
                <a:spcPct val="112000"/>
              </a:lnSpc>
            </a:pPr>
            <a:r>
              <a:rPr sz="1000" b="0" i="0">
                <a:solidFill>
                  <a:srgbClr val="D8E4F0"/>
                </a:solidFill>
                <a:latin typeface="Consolas"/>
              </a:rPr>
              <a:t>yosys -V &amp;&amp; iverilog -V &amp;&amp; python3 -c "import matplotlib; print('ok')"</a:t>
            </a:r>
          </a:p>
        </p:txBody>
      </p:sp>
      <p:sp>
        <p:nvSpPr>
          <p:cNvPr id="13" name="TextBox 12"/>
          <p:cNvSpPr txBox="1"/>
          <p:nvPr/>
        </p:nvSpPr>
        <p:spPr>
          <a:xfrm>
            <a:off x="411480" y="6004560"/>
            <a:ext cx="11247120" cy="228600"/>
          </a:xfrm>
          <a:prstGeom prst="rect">
            <a:avLst/>
          </a:prstGeom>
          <a:noFill/>
        </p:spPr>
        <p:txBody>
          <a:bodyPr wrap="square" lIns="0" rIns="0" tIns="0" bIns="0" anchor="t">
            <a:spAutoFit/>
          </a:bodyPr>
          <a:lstStyle/>
          <a:p>
            <a:pPr algn="l">
              <a:lnSpc>
                <a:spcPct val="103000"/>
              </a:lnSpc>
              <a:spcAft>
                <a:spcPts val="700"/>
              </a:spcAft>
            </a:pPr>
            <a:r>
              <a:rPr sz="1050" b="0" i="0">
                <a:solidFill>
                  <a:srgbClr val="33414F"/>
                </a:solidFill>
                <a:latin typeface="Calibri"/>
              </a:rPr>
              <a:t>On Windows: install WSL2 first (wsl --install), then run the same three lines inside it.</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TOOLS · INSTALL</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Tiers 2 and 3 - For the Last Four Exercises Only</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63</a:t>
            </a:r>
          </a:p>
        </p:txBody>
      </p:sp>
      <p:pic>
        <p:nvPicPr>
          <p:cNvPr id="9" name="Picture 8" descr="install_optional.png"/>
          <p:cNvPicPr>
            <a:picLocks noChangeAspect="1"/>
          </p:cNvPicPr>
          <p:nvPr/>
        </p:nvPicPr>
        <p:blipFill>
          <a:blip r:embed="rId2"/>
          <a:stretch>
            <a:fillRect/>
          </a:stretch>
        </p:blipFill>
        <p:spPr>
          <a:xfrm>
            <a:off x="2882209" y="1097280"/>
            <a:ext cx="6305662" cy="4114800"/>
          </a:xfrm>
          <a:prstGeom prst="rect">
            <a:avLst/>
          </a:prstGeom>
        </p:spPr>
      </p:pic>
      <p:sp>
        <p:nvSpPr>
          <p:cNvPr id="10" name="Rounded Rectangle 9"/>
          <p:cNvSpPr/>
          <p:nvPr/>
        </p:nvSpPr>
        <p:spPr>
          <a:xfrm>
            <a:off x="411480" y="5303520"/>
            <a:ext cx="11247120" cy="91440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76072" y="536752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Nothing in this course is gated behind a licence you cannot get</a:t>
            </a:r>
          </a:p>
        </p:txBody>
      </p:sp>
      <p:sp>
        <p:nvSpPr>
          <p:cNvPr id="12" name="TextBox 11"/>
          <p:cNvSpPr txBox="1"/>
          <p:nvPr/>
        </p:nvSpPr>
        <p:spPr>
          <a:xfrm>
            <a:off x="576072" y="5641848"/>
            <a:ext cx="10917936" cy="51206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57 of the 62 exercises run on tier 1 alone. Tier 2 (OpenSTA) lets you check your engine against a real one. Tier 3 (Vivado, ModelSim) is there because the syllabus names them and because you will meet them at work.</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TOOLS · VIVADO</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Installing Vivado, Step By Step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64</a:t>
            </a:r>
          </a:p>
        </p:txBody>
      </p:sp>
      <p:sp>
        <p:nvSpPr>
          <p:cNvPr id="9" name="Rectangle 8"/>
          <p:cNvSpPr/>
          <p:nvPr/>
        </p:nvSpPr>
        <p:spPr>
          <a:xfrm>
            <a:off x="411480" y="1143000"/>
            <a:ext cx="6858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5943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Step</a:t>
            </a:r>
          </a:p>
        </p:txBody>
      </p:sp>
      <p:sp>
        <p:nvSpPr>
          <p:cNvPr id="11" name="Rectangle 10"/>
          <p:cNvSpPr/>
          <p:nvPr/>
        </p:nvSpPr>
        <p:spPr>
          <a:xfrm>
            <a:off x="1097280" y="1143000"/>
            <a:ext cx="59436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143000" y="1143000"/>
            <a:ext cx="58521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to do</a:t>
            </a:r>
          </a:p>
        </p:txBody>
      </p:sp>
      <p:sp>
        <p:nvSpPr>
          <p:cNvPr id="13" name="Rectangle 12"/>
          <p:cNvSpPr/>
          <p:nvPr/>
        </p:nvSpPr>
        <p:spPr>
          <a:xfrm>
            <a:off x="7040880" y="1143000"/>
            <a:ext cx="46177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7086600" y="1143000"/>
            <a:ext cx="45262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Watch out for</a:t>
            </a:r>
          </a:p>
        </p:txBody>
      </p:sp>
      <p:sp>
        <p:nvSpPr>
          <p:cNvPr id="15" name="Rectangle 14"/>
          <p:cNvSpPr/>
          <p:nvPr/>
        </p:nvSpPr>
        <p:spPr>
          <a:xfrm>
            <a:off x="411480" y="1426464"/>
            <a:ext cx="6858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5943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1</a:t>
            </a:r>
          </a:p>
        </p:txBody>
      </p:sp>
      <p:sp>
        <p:nvSpPr>
          <p:cNvPr id="17" name="Rectangle 16"/>
          <p:cNvSpPr/>
          <p:nvPr/>
        </p:nvSpPr>
        <p:spPr>
          <a:xfrm>
            <a:off x="1097280" y="1426464"/>
            <a:ext cx="5943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143000" y="1426464"/>
            <a:ext cx="5852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Create a free AMD/Xilinx account</a:t>
            </a:r>
          </a:p>
        </p:txBody>
      </p:sp>
      <p:sp>
        <p:nvSpPr>
          <p:cNvPr id="19" name="Rectangle 18"/>
          <p:cNvSpPr/>
          <p:nvPr/>
        </p:nvSpPr>
        <p:spPr>
          <a:xfrm>
            <a:off x="7040880" y="1426464"/>
            <a:ext cx="4617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7086600" y="1426464"/>
            <a:ext cx="4526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download will not start without it</a:t>
            </a:r>
          </a:p>
        </p:txBody>
      </p:sp>
      <p:sp>
        <p:nvSpPr>
          <p:cNvPr id="21" name="Rectangle 20"/>
          <p:cNvSpPr/>
          <p:nvPr/>
        </p:nvSpPr>
        <p:spPr>
          <a:xfrm>
            <a:off x="411480" y="1709928"/>
            <a:ext cx="6858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5943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2</a:t>
            </a:r>
          </a:p>
        </p:txBody>
      </p:sp>
      <p:sp>
        <p:nvSpPr>
          <p:cNvPr id="23" name="Rectangle 22"/>
          <p:cNvSpPr/>
          <p:nvPr/>
        </p:nvSpPr>
        <p:spPr>
          <a:xfrm>
            <a:off x="1097280" y="1709928"/>
            <a:ext cx="5943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143000" y="1709928"/>
            <a:ext cx="5852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Download the Unified Installer (web installer, ~200 MB)</a:t>
            </a:r>
          </a:p>
        </p:txBody>
      </p:sp>
      <p:sp>
        <p:nvSpPr>
          <p:cNvPr id="25" name="Rectangle 24"/>
          <p:cNvSpPr/>
          <p:nvPr/>
        </p:nvSpPr>
        <p:spPr>
          <a:xfrm>
            <a:off x="7040880" y="1709928"/>
            <a:ext cx="4617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7086600" y="1709928"/>
            <a:ext cx="4526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not the full 40 GB archive</a:t>
            </a:r>
          </a:p>
        </p:txBody>
      </p:sp>
      <p:sp>
        <p:nvSpPr>
          <p:cNvPr id="27" name="Rectangle 26"/>
          <p:cNvSpPr/>
          <p:nvPr/>
        </p:nvSpPr>
        <p:spPr>
          <a:xfrm>
            <a:off x="411480" y="1993392"/>
            <a:ext cx="6858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5943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3</a:t>
            </a:r>
          </a:p>
        </p:txBody>
      </p:sp>
      <p:sp>
        <p:nvSpPr>
          <p:cNvPr id="29" name="Rectangle 28"/>
          <p:cNvSpPr/>
          <p:nvPr/>
        </p:nvSpPr>
        <p:spPr>
          <a:xfrm>
            <a:off x="1097280" y="1993392"/>
            <a:ext cx="5943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143000" y="1993392"/>
            <a:ext cx="5852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Choose "Vivado ML Edition" then "Vivado ML Standard"</a:t>
            </a:r>
          </a:p>
        </p:txBody>
      </p:sp>
      <p:sp>
        <p:nvSpPr>
          <p:cNvPr id="31" name="Rectangle 30"/>
          <p:cNvSpPr/>
          <p:nvPr/>
        </p:nvSpPr>
        <p:spPr>
          <a:xfrm>
            <a:off x="7040880" y="1993392"/>
            <a:ext cx="4617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086600" y="1993392"/>
            <a:ext cx="4526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Standard is the free one - no licence file needed</a:t>
            </a:r>
          </a:p>
        </p:txBody>
      </p:sp>
      <p:sp>
        <p:nvSpPr>
          <p:cNvPr id="33" name="Rectangle 32"/>
          <p:cNvSpPr/>
          <p:nvPr/>
        </p:nvSpPr>
        <p:spPr>
          <a:xfrm>
            <a:off x="411480" y="2276856"/>
            <a:ext cx="6858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5943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4</a:t>
            </a:r>
          </a:p>
        </p:txBody>
      </p:sp>
      <p:sp>
        <p:nvSpPr>
          <p:cNvPr id="35" name="Rectangle 34"/>
          <p:cNvSpPr/>
          <p:nvPr/>
        </p:nvSpPr>
        <p:spPr>
          <a:xfrm>
            <a:off x="1097280" y="2276856"/>
            <a:ext cx="5943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143000" y="2276856"/>
            <a:ext cx="5852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Deselect every device family except Artix-7</a:t>
            </a:r>
          </a:p>
        </p:txBody>
      </p:sp>
      <p:sp>
        <p:nvSpPr>
          <p:cNvPr id="37" name="Rectangle 36"/>
          <p:cNvSpPr/>
          <p:nvPr/>
        </p:nvSpPr>
        <p:spPr>
          <a:xfrm>
            <a:off x="7040880" y="2276856"/>
            <a:ext cx="4617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7086600" y="2276856"/>
            <a:ext cx="4526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this cuts 40 GB to about 8 GB</a:t>
            </a:r>
          </a:p>
        </p:txBody>
      </p:sp>
      <p:sp>
        <p:nvSpPr>
          <p:cNvPr id="39" name="Rectangle 38"/>
          <p:cNvSpPr/>
          <p:nvPr/>
        </p:nvSpPr>
        <p:spPr>
          <a:xfrm>
            <a:off x="411480" y="2560320"/>
            <a:ext cx="6858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5943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5</a:t>
            </a:r>
          </a:p>
        </p:txBody>
      </p:sp>
      <p:sp>
        <p:nvSpPr>
          <p:cNvPr id="41" name="Rectangle 40"/>
          <p:cNvSpPr/>
          <p:nvPr/>
        </p:nvSpPr>
        <p:spPr>
          <a:xfrm>
            <a:off x="1097280" y="2560320"/>
            <a:ext cx="59436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143000" y="2560320"/>
            <a:ext cx="5852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 Linux, install the cable drivers afterwards</a:t>
            </a:r>
          </a:p>
        </p:txBody>
      </p:sp>
      <p:sp>
        <p:nvSpPr>
          <p:cNvPr id="43" name="Rectangle 42"/>
          <p:cNvSpPr/>
          <p:nvPr/>
        </p:nvSpPr>
        <p:spPr>
          <a:xfrm>
            <a:off x="7040880" y="2560320"/>
            <a:ext cx="4617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7086600" y="2560320"/>
            <a:ext cx="4526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only needed if you program a real board</a:t>
            </a:r>
          </a:p>
        </p:txBody>
      </p:sp>
      <p:sp>
        <p:nvSpPr>
          <p:cNvPr id="45" name="Rectangle 44"/>
          <p:cNvSpPr/>
          <p:nvPr/>
        </p:nvSpPr>
        <p:spPr>
          <a:xfrm>
            <a:off x="411480" y="2843784"/>
            <a:ext cx="6858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843784"/>
            <a:ext cx="59436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6</a:t>
            </a:r>
          </a:p>
        </p:txBody>
      </p:sp>
      <p:sp>
        <p:nvSpPr>
          <p:cNvPr id="47" name="Rectangle 46"/>
          <p:cNvSpPr/>
          <p:nvPr/>
        </p:nvSpPr>
        <p:spPr>
          <a:xfrm>
            <a:off x="1097280" y="2843784"/>
            <a:ext cx="59436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143000" y="2843784"/>
            <a:ext cx="58521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Verify:  vivado -version</a:t>
            </a:r>
          </a:p>
        </p:txBody>
      </p:sp>
      <p:sp>
        <p:nvSpPr>
          <p:cNvPr id="49" name="Rectangle 48"/>
          <p:cNvSpPr/>
          <p:nvPr/>
        </p:nvSpPr>
        <p:spPr>
          <a:xfrm>
            <a:off x="7040880" y="2843784"/>
            <a:ext cx="4617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7086600" y="2843784"/>
            <a:ext cx="4526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then everything below runs headless</a:t>
            </a:r>
          </a:p>
        </p:txBody>
      </p:sp>
      <p:sp>
        <p:nvSpPr>
          <p:cNvPr id="51" name="Rounded Rectangle 50"/>
          <p:cNvSpPr/>
          <p:nvPr/>
        </p:nvSpPr>
        <p:spPr>
          <a:xfrm>
            <a:off x="411480" y="3218688"/>
            <a:ext cx="11247120" cy="59436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76072" y="3282696"/>
            <a:ext cx="10917936"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You do not need a board</a:t>
            </a:r>
          </a:p>
        </p:txBody>
      </p:sp>
      <p:sp>
        <p:nvSpPr>
          <p:cNvPr id="53" name="TextBox 52"/>
          <p:cNvSpPr txBox="1"/>
          <p:nvPr/>
        </p:nvSpPr>
        <p:spPr>
          <a:xfrm>
            <a:off x="576072" y="3557016"/>
            <a:ext cx="10917936" cy="1920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Every timing exercise in this topic is a synthesis-and-report exercise. Vivado will happily target a device it has never seen and give you a real timing report for it.</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TOOLS · THE FLOW</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RTL In, Slack Out - With No Black Box In Between</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65</a:t>
            </a:r>
          </a:p>
        </p:txBody>
      </p:sp>
      <p:pic>
        <p:nvPicPr>
          <p:cNvPr id="9" name="Picture 8" descr="lab_flow.png"/>
          <p:cNvPicPr>
            <a:picLocks noChangeAspect="1"/>
          </p:cNvPicPr>
          <p:nvPr/>
        </p:nvPicPr>
        <p:blipFill>
          <a:blip r:embed="rId2"/>
          <a:stretch>
            <a:fillRect/>
          </a:stretch>
        </p:blipFill>
        <p:spPr>
          <a:xfrm>
            <a:off x="3064873" y="1097280"/>
            <a:ext cx="5940334" cy="3474720"/>
          </a:xfrm>
          <a:prstGeom prst="rect">
            <a:avLst/>
          </a:prstGeom>
        </p:spPr>
      </p:pic>
      <p:sp>
        <p:nvSpPr>
          <p:cNvPr id="10" name="Rounded Rectangle 9"/>
          <p:cNvSpPr/>
          <p:nvPr/>
        </p:nvSpPr>
        <p:spPr>
          <a:xfrm>
            <a:off x="411480" y="4663440"/>
            <a:ext cx="11247120" cy="129997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777740"/>
            <a:ext cx="10881360" cy="1071372"/>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make lib      # read the Liberty file and print the cell table</a:t>
            </a:r>
          </a:p>
          <a:p>
            <a:pPr algn="l">
              <a:lnSpc>
                <a:spcPct val="112000"/>
              </a:lnSpc>
            </a:pPr>
            <a:r>
              <a:rPr sz="950" b="0" i="0">
                <a:solidFill>
                  <a:srgbClr val="D8E4F0"/>
                </a:solidFill>
                <a:latin typeface="Consolas"/>
              </a:rPr>
              <a:t>make tiny     # three flops - a report you can check by hand</a:t>
            </a:r>
          </a:p>
          <a:p>
            <a:pPr algn="l">
              <a:lnSpc>
                <a:spcPct val="112000"/>
              </a:lnSpc>
            </a:pPr>
            <a:r>
              <a:rPr sz="950" b="0" i="0">
                <a:solidFill>
                  <a:srgbClr val="D8E4F0"/>
                </a:solidFill>
                <a:latin typeface="Consolas"/>
              </a:rPr>
              <a:t>make sweep    # Fmax against width, for three adder styles</a:t>
            </a:r>
          </a:p>
          <a:p>
            <a:pPr algn="l">
              <a:lnSpc>
                <a:spcPct val="112000"/>
              </a:lnSpc>
            </a:pPr>
            <a:r>
              <a:rPr sz="950" b="0" i="0">
                <a:solidFill>
                  <a:srgbClr val="D8E4F0"/>
                </a:solidFill>
                <a:latin typeface="Consolas"/>
              </a:rPr>
              <a:t>make hold     # a hold violation, then the same design fixed</a:t>
            </a:r>
          </a:p>
          <a:p>
            <a:pPr algn="l">
              <a:lnSpc>
                <a:spcPct val="112000"/>
              </a:lnSpc>
            </a:pPr>
            <a:r>
              <a:rPr sz="950" b="0" i="0">
                <a:solidFill>
                  <a:srgbClr val="D8E4F0"/>
                </a:solidFill>
                <a:latin typeface="Consolas"/>
              </a:rPr>
              <a:t>make mcp      # a false violation, then the multicycle path that removes it</a:t>
            </a:r>
          </a:p>
          <a:p>
            <a:pPr algn="l">
              <a:lnSpc>
                <a:spcPct val="112000"/>
              </a:lnSpc>
            </a:pPr>
            <a:r>
              <a:rPr sz="950" b="0" i="0">
                <a:solidFill>
                  <a:srgbClr val="D8E4F0"/>
                </a:solidFill>
                <a:latin typeface="Consolas"/>
              </a:rPr>
              <a:t>make verify   # prove every optimised netlist still computes the right answer</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TOOLS · VIVADO</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Same Four Steps, In Vivado</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66</a:t>
            </a:r>
          </a:p>
        </p:txBody>
      </p:sp>
      <p:pic>
        <p:nvPicPr>
          <p:cNvPr id="9" name="Picture 8" descr="vivado_flow.png"/>
          <p:cNvPicPr>
            <a:picLocks noChangeAspect="1"/>
          </p:cNvPicPr>
          <p:nvPr/>
        </p:nvPicPr>
        <p:blipFill>
          <a:blip r:embed="rId2"/>
          <a:stretch>
            <a:fillRect/>
          </a:stretch>
        </p:blipFill>
        <p:spPr>
          <a:xfrm>
            <a:off x="2670362" y="1097280"/>
            <a:ext cx="6729356" cy="4846320"/>
          </a:xfrm>
          <a:prstGeom prst="rect">
            <a:avLst/>
          </a:prstGeom>
        </p:spPr>
      </p:pic>
      <p:sp>
        <p:nvSpPr>
          <p:cNvPr id="10" name="TextBox 9"/>
          <p:cNvSpPr txBox="1"/>
          <p:nvPr/>
        </p:nvSpPr>
        <p:spPr>
          <a:xfrm>
            <a:off x="411480" y="6035040"/>
            <a:ext cx="11247120" cy="274320"/>
          </a:xfrm>
          <a:prstGeom prst="rect">
            <a:avLst/>
          </a:prstGeom>
          <a:noFill/>
        </p:spPr>
        <p:txBody>
          <a:bodyPr wrap="square" lIns="0" rIns="0" tIns="0" bIns="0" anchor="t">
            <a:spAutoFit/>
          </a:bodyPr>
          <a:lstStyle/>
          <a:p>
            <a:pPr algn="l">
              <a:lnSpc>
                <a:spcPct val="103000"/>
              </a:lnSpc>
              <a:spcAft>
                <a:spcPts val="700"/>
              </a:spcAft>
            </a:pPr>
            <a:r>
              <a:rPr sz="1050" b="0" i="0">
                <a:solidFill>
                  <a:srgbClr val="33414F"/>
                </a:solidFill>
                <a:latin typeface="Calibri"/>
              </a:rPr>
              <a:t>Every line is the industrial equivalent of one line in your Makefile. The concepts do not change - only the command names.</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TOOLS · VIVADO</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Script, In Full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67</a:t>
            </a:r>
          </a:p>
        </p:txBody>
      </p:sp>
      <p:sp>
        <p:nvSpPr>
          <p:cNvPr id="9" name="Rounded Rectangle 8"/>
          <p:cNvSpPr/>
          <p:nvPr/>
        </p:nvSpPr>
        <p:spPr>
          <a:xfrm>
            <a:off x="411480" y="1143000"/>
            <a:ext cx="11247120" cy="3085592"/>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856992"/>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scripts/vivado_timing.tcl   -   run with:  vivado -mode batch -source this.tcl</a:t>
            </a:r>
          </a:p>
          <a:p>
            <a:pPr algn="l">
              <a:lnSpc>
                <a:spcPct val="112000"/>
              </a:lnSpc>
            </a:pPr>
            <a:r>
              <a:rPr sz="950" b="0" i="0">
                <a:solidFill>
                  <a:srgbClr val="D8E4F0"/>
                </a:solidFill>
                <a:latin typeface="Consolas"/>
              </a:rPr>
              <a:t>set part xc7a35tcpg236-1</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read_verilog [glob rtl/*.v]</a:t>
            </a:r>
          </a:p>
          <a:p>
            <a:pPr algn="l">
              <a:lnSpc>
                <a:spcPct val="112000"/>
              </a:lnSpc>
            </a:pPr>
            <a:r>
              <a:rPr sz="950" b="0" i="0">
                <a:solidFill>
                  <a:srgbClr val="D8E4F0"/>
                </a:solidFill>
                <a:latin typeface="Consolas"/>
              </a:rPr>
              <a:t>read_xdc     constraints/vivado.xdc</a:t>
            </a:r>
          </a:p>
          <a:p>
            <a:pPr algn="l">
              <a:lnSpc>
                <a:spcPct val="112000"/>
              </a:lnSpc>
            </a:pPr>
            <a:r>
              <a:rPr sz="950" b="0" i="0">
                <a:solidFill>
                  <a:srgbClr val="D8E4F0"/>
                </a:solidFill>
                <a:latin typeface="Consolas"/>
              </a:rPr>
              <a:t>synth_design -top add32 -part $part -flatten_hierarchy rebuilt</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report_timing_summary -file rpt/post_synth_summary.rpt</a:t>
            </a:r>
          </a:p>
          <a:p>
            <a:pPr algn="l">
              <a:lnSpc>
                <a:spcPct val="112000"/>
              </a:lnSpc>
            </a:pPr>
            <a:r>
              <a:rPr sz="950" b="0" i="0">
                <a:solidFill>
                  <a:srgbClr val="D8E4F0"/>
                </a:solidFill>
                <a:latin typeface="Consolas"/>
              </a:rPr>
              <a:t>report_timing -delay_type max -max_paths 10 -file rpt/post_synth_setup.rpt</a:t>
            </a:r>
          </a:p>
          <a:p>
            <a:pPr algn="l">
              <a:lnSpc>
                <a:spcPct val="112000"/>
              </a:lnSpc>
            </a:pPr>
            <a:r>
              <a:rPr sz="950" b="0" i="0">
                <a:solidFill>
                  <a:srgbClr val="D8E4F0"/>
                </a:solidFill>
                <a:latin typeface="Consolas"/>
              </a:rPr>
              <a:t>report_timing -delay_type min -max_paths 10 -file rpt/post_synth_hold.rpt</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opt_design ; place_design ; route_design</a:t>
            </a:r>
          </a:p>
          <a:p>
            <a:pPr algn="l">
              <a:lnSpc>
                <a:spcPct val="112000"/>
              </a:lnSpc>
            </a:pPr>
            <a:r>
              <a:rPr sz="950" b="0" i="0">
                <a:solidFill>
                  <a:srgbClr val="D8E4F0"/>
                </a:solidFill>
                <a:latin typeface="Consolas"/>
              </a:rPr>
              <a:t>report_timing_summary -file rpt/post_route_summary.rpt</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the number to compare against your own engine:</a:t>
            </a:r>
          </a:p>
          <a:p>
            <a:pPr algn="l">
              <a:lnSpc>
                <a:spcPct val="112000"/>
              </a:lnSpc>
            </a:pPr>
            <a:r>
              <a:rPr sz="950" b="0" i="0">
                <a:solidFill>
                  <a:srgbClr val="D8E4F0"/>
                </a:solidFill>
                <a:latin typeface="Consolas"/>
              </a:rPr>
              <a:t>puts "WNS = [get_property SLACK [get_timing_paths -delay_type max]]"</a:t>
            </a:r>
          </a:p>
        </p:txBody>
      </p:sp>
      <p:sp>
        <p:nvSpPr>
          <p:cNvPr id="11" name="Rounded Rectangle 10"/>
          <p:cNvSpPr/>
          <p:nvPr/>
        </p:nvSpPr>
        <p:spPr>
          <a:xfrm>
            <a:off x="411480" y="4320032"/>
            <a:ext cx="11247120" cy="82296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576072" y="4384040"/>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The comparison that makes the whole topic land</a:t>
            </a:r>
          </a:p>
        </p:txBody>
      </p:sp>
      <p:sp>
        <p:nvSpPr>
          <p:cNvPr id="13" name="TextBox 12"/>
          <p:cNvSpPr txBox="1"/>
          <p:nvPr/>
        </p:nvSpPr>
        <p:spPr>
          <a:xfrm>
            <a:off x="576072" y="4658360"/>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Run your engine and Vivado on the same RTL. The absolute numbers will differ - different technology, different delay model. The STRUCTURE of the report, the critical path it names, and the effect of every constraint change will be the same.</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TOOLS · SDC AND XDC</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Same Language, Two Names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68</a:t>
            </a:r>
          </a:p>
        </p:txBody>
      </p:sp>
      <p:pic>
        <p:nvPicPr>
          <p:cNvPr id="9" name="Picture 8" descr="sdc_vs_xdc.png"/>
          <p:cNvPicPr>
            <a:picLocks noChangeAspect="1"/>
          </p:cNvPicPr>
          <p:nvPr/>
        </p:nvPicPr>
        <p:blipFill>
          <a:blip r:embed="rId2"/>
          <a:stretch>
            <a:fillRect/>
          </a:stretch>
        </p:blipFill>
        <p:spPr>
          <a:xfrm>
            <a:off x="2941773" y="1097280"/>
            <a:ext cx="6186533" cy="3200400"/>
          </a:xfrm>
          <a:prstGeom prst="rect">
            <a:avLst/>
          </a:prstGeom>
        </p:spPr>
      </p:pic>
      <p:sp>
        <p:nvSpPr>
          <p:cNvPr id="10" name="Rounded Rectangle 9"/>
          <p:cNvSpPr/>
          <p:nvPr/>
        </p:nvSpPr>
        <p:spPr>
          <a:xfrm>
            <a:off x="411480" y="4389120"/>
            <a:ext cx="11247120" cy="112141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594360" y="4503420"/>
            <a:ext cx="10881360" cy="892810"/>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constraints/vivado.xdc  -  the timing half is identical to the SDC file</a:t>
            </a:r>
          </a:p>
          <a:p>
            <a:pPr algn="l">
              <a:lnSpc>
                <a:spcPct val="112000"/>
              </a:lnSpc>
            </a:pPr>
            <a:r>
              <a:rPr sz="950" b="0" i="0">
                <a:solidFill>
                  <a:srgbClr val="D8E4F0"/>
                </a:solidFill>
                <a:latin typeface="Consolas"/>
              </a:rPr>
              <a:t>create_clock -name clk -period 5.000 [get_ports clk]</a:t>
            </a:r>
          </a:p>
          <a:p>
            <a:pPr algn="l">
              <a:lnSpc>
                <a:spcPct val="112000"/>
              </a:lnSpc>
            </a:pPr>
            <a:r>
              <a:rPr sz="950" b="0" i="0">
                <a:solidFill>
                  <a:srgbClr val="D8E4F0"/>
                </a:solidFill>
                <a:latin typeface="Consolas"/>
              </a:rPr>
              <a:t>set_input_delay  -clock clk -max 1.20 [get_ports {a[*] b[*]}]</a:t>
            </a:r>
          </a:p>
          <a:p>
            <a:pPr algn="l">
              <a:lnSpc>
                <a:spcPct val="112000"/>
              </a:lnSpc>
            </a:pPr>
            <a:r>
              <a:rPr sz="950" b="0" i="0">
                <a:solidFill>
                  <a:srgbClr val="D8E4F0"/>
                </a:solidFill>
                <a:latin typeface="Consolas"/>
              </a:rPr>
              <a:t>set_property PACKAGE_PIN W5    [get_ports clk]     # &lt;- the XDC-only half</a:t>
            </a:r>
          </a:p>
          <a:p>
            <a:pPr algn="l">
              <a:lnSpc>
                <a:spcPct val="112000"/>
              </a:lnSpc>
            </a:pPr>
            <a:r>
              <a:rPr sz="950" b="0" i="0">
                <a:solidFill>
                  <a:srgbClr val="D8E4F0"/>
                </a:solidFill>
                <a:latin typeface="Consolas"/>
              </a:rPr>
              <a:t>set_property IOSTANDARD LVCMOS33 [get_ports clk]</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bg>
      <p:bgPr>
        <a:solidFill>
          <a:srgbClr val="0E2A47"/>
        </a:solidFill>
        <a:effectLst/>
      </p:bgPr>
    </p:bg>
    <p:spTree>
      <p:nvGrpSpPr>
        <p:cNvPr id="1" name=""/>
        <p:cNvGrpSpPr/>
        <p:nvPr/>
      </p:nvGrpSpPr>
      <p:grpSpPr/>
      <p:sp>
        <p:nvSpPr>
          <p:cNvPr id="2" name="Oval 1"/>
          <p:cNvSpPr/>
          <p:nvPr/>
        </p:nvSpPr>
        <p:spPr>
          <a:xfrm>
            <a:off x="9144000" y="-1828800"/>
            <a:ext cx="6400800" cy="6400800"/>
          </a:xfrm>
          <a:prstGeom prst="ellipse">
            <a:avLst/>
          </a:prstGeom>
          <a:solidFill>
            <a:srgbClr val="16395E"/>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TextBox 2"/>
          <p:cNvSpPr txBox="1"/>
          <p:nvPr/>
        </p:nvSpPr>
        <p:spPr>
          <a:xfrm>
            <a:off x="640080" y="1600200"/>
            <a:ext cx="7315200" cy="365760"/>
          </a:xfrm>
          <a:prstGeom prst="rect">
            <a:avLst/>
          </a:prstGeom>
          <a:noFill/>
        </p:spPr>
        <p:txBody>
          <a:bodyPr wrap="square" lIns="0" rIns="0" tIns="0" bIns="0" anchor="ctr">
            <a:spAutoFit/>
          </a:bodyPr>
          <a:lstStyle/>
          <a:p>
            <a:pPr algn="l">
              <a:lnSpc>
                <a:spcPct val="103000"/>
              </a:lnSpc>
            </a:pPr>
            <a:r>
              <a:rPr sz="1400" b="1" i="0" spc="300">
                <a:solidFill>
                  <a:srgbClr val="2A9D5C"/>
                </a:solidFill>
                <a:latin typeface="Calibri"/>
              </a:rPr>
              <a:t>LABS T1–T7</a:t>
            </a:r>
          </a:p>
        </p:txBody>
      </p:sp>
      <p:sp>
        <p:nvSpPr>
          <p:cNvPr id="4" name="TextBox 3"/>
          <p:cNvSpPr txBox="1"/>
          <p:nvPr/>
        </p:nvSpPr>
        <p:spPr>
          <a:xfrm>
            <a:off x="566928" y="2011680"/>
            <a:ext cx="9601200" cy="914400"/>
          </a:xfrm>
          <a:prstGeom prst="rect">
            <a:avLst/>
          </a:prstGeom>
          <a:noFill/>
        </p:spPr>
        <p:txBody>
          <a:bodyPr wrap="square" lIns="0" rIns="0" tIns="0" bIns="0" anchor="ctr">
            <a:spAutoFit/>
          </a:bodyPr>
          <a:lstStyle/>
          <a:p>
            <a:pPr algn="l">
              <a:lnSpc>
                <a:spcPct val="103000"/>
              </a:lnSpc>
            </a:pPr>
            <a:r>
              <a:rPr sz="3000" b="1" i="0">
                <a:solidFill>
                  <a:srgbClr val="FFFFFF"/>
                </a:solidFill>
                <a:latin typeface="Cambria"/>
              </a:rPr>
              <a:t>The Practical Component</a:t>
            </a:r>
          </a:p>
        </p:txBody>
      </p:sp>
      <p:sp>
        <p:nvSpPr>
          <p:cNvPr id="5" name="TextBox 4"/>
          <p:cNvSpPr txBox="1"/>
          <p:nvPr/>
        </p:nvSpPr>
        <p:spPr>
          <a:xfrm>
            <a:off x="640080" y="2971800"/>
            <a:ext cx="8686800" cy="640080"/>
          </a:xfrm>
          <a:prstGeom prst="rect">
            <a:avLst/>
          </a:prstGeom>
          <a:noFill/>
        </p:spPr>
        <p:txBody>
          <a:bodyPr wrap="square" lIns="0" rIns="0" tIns="0" bIns="0" anchor="ctr">
            <a:spAutoFit/>
          </a:bodyPr>
          <a:lstStyle/>
          <a:p>
            <a:pPr algn="l">
              <a:lnSpc>
                <a:spcPct val="103000"/>
              </a:lnSpc>
            </a:pPr>
            <a:r>
              <a:rPr sz="1350" b="0" i="0">
                <a:solidFill>
                  <a:srgbClr val="C9D6E3"/>
                </a:solidFill>
                <a:latin typeface="Calibri"/>
              </a:rPr>
              <a:t>25 hours of hands-on work: build the analyser, then use it on real violations, then prove the ideas transfer to an industrial tool.</a:t>
            </a:r>
          </a:p>
        </p:txBody>
      </p:sp>
      <p:sp>
        <p:nvSpPr>
          <p:cNvPr id="6" name="Rectangle 5"/>
          <p:cNvSpPr/>
          <p:nvPr/>
        </p:nvSpPr>
        <p:spPr>
          <a:xfrm>
            <a:off x="640080" y="394106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914400" y="384048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Syllabus: Timing Analysis and Closure Labs (10 h)</a:t>
            </a:r>
          </a:p>
        </p:txBody>
      </p:sp>
      <p:sp>
        <p:nvSpPr>
          <p:cNvPr id="8" name="Rectangle 7"/>
          <p:cNvSpPr/>
          <p:nvPr/>
        </p:nvSpPr>
        <p:spPr>
          <a:xfrm>
            <a:off x="640080" y="435254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9" name="TextBox 8"/>
          <p:cNvSpPr txBox="1"/>
          <p:nvPr/>
        </p:nvSpPr>
        <p:spPr>
          <a:xfrm>
            <a:off x="914400" y="425196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Syllabus: Design Synthesis and Optimisation Labs (15 h)</a:t>
            </a:r>
          </a:p>
        </p:txBody>
      </p:sp>
      <p:sp>
        <p:nvSpPr>
          <p:cNvPr id="10" name="Rectangle 9"/>
          <p:cNvSpPr/>
          <p:nvPr/>
        </p:nvSpPr>
        <p:spPr>
          <a:xfrm>
            <a:off x="640080" y="476402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1" name="TextBox 10"/>
          <p:cNvSpPr txBox="1"/>
          <p:nvPr/>
        </p:nvSpPr>
        <p:spPr>
          <a:xfrm>
            <a:off x="914400" y="466344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62 graded exercises, every one with a worked solution</a:t>
            </a:r>
          </a:p>
        </p:txBody>
      </p:sp>
      <p:sp>
        <p:nvSpPr>
          <p:cNvPr id="12" name="Rectangle 11"/>
          <p:cNvSpPr/>
          <p:nvPr/>
        </p:nvSpPr>
        <p:spPr>
          <a:xfrm>
            <a:off x="640080" y="5175504"/>
            <a:ext cx="91440" cy="182880"/>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914400" y="5074920"/>
            <a:ext cx="9875520" cy="365760"/>
          </a:xfrm>
          <a:prstGeom prst="rect">
            <a:avLst/>
          </a:prstGeom>
          <a:noFill/>
        </p:spPr>
        <p:txBody>
          <a:bodyPr wrap="square" lIns="0" rIns="0" tIns="0" bIns="0" anchor="ctr">
            <a:spAutoFit/>
          </a:bodyPr>
          <a:lstStyle/>
          <a:p>
            <a:pPr algn="l">
              <a:lnSpc>
                <a:spcPct val="103000"/>
              </a:lnSpc>
            </a:pPr>
            <a:r>
              <a:rPr sz="1300" b="0" i="0">
                <a:solidFill>
                  <a:srgbClr val="E7EEF5"/>
                </a:solidFill>
                <a:latin typeface="Calibri"/>
              </a:rPr>
              <a:t>Nothing quoted in this topic that you cannot reproduce with make</a:t>
            </a:r>
          </a:p>
        </p:txBody>
      </p:sp>
      <p:sp>
        <p:nvSpPr>
          <p:cNvPr id="14" name="TextBox 13"/>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7C8EA2"/>
                </a:solidFill>
                <a:latin typeface="Calibri"/>
              </a:rPr>
              <a:t>Chip Design Associate · Module 2 · Verilog RTL Coding for Synthesis · Topic 6: Timing Constraints and Analysis</a:t>
            </a:r>
          </a:p>
        </p:txBody>
      </p:sp>
      <p:sp>
        <p:nvSpPr>
          <p:cNvPr id="15" name="TextBox 14"/>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7C8EA2"/>
                </a:solidFill>
                <a:latin typeface="Calibri"/>
              </a:rPr>
              <a:t>M2-T6 · 69</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MAP</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Seven Parts, 25 Hours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70</a:t>
            </a:r>
          </a:p>
        </p:txBody>
      </p:sp>
      <p:pic>
        <p:nvPicPr>
          <p:cNvPr id="9" name="Picture 8" descr="lab_map.png"/>
          <p:cNvPicPr>
            <a:picLocks noChangeAspect="1"/>
          </p:cNvPicPr>
          <p:nvPr/>
        </p:nvPicPr>
        <p:blipFill>
          <a:blip r:embed="rId2"/>
          <a:stretch>
            <a:fillRect/>
          </a:stretch>
        </p:blipFill>
        <p:spPr>
          <a:xfrm>
            <a:off x="2701179" y="1097280"/>
            <a:ext cx="6667722" cy="5029200"/>
          </a:xfrm>
          <a:prstGeom prst="rect">
            <a:avLst/>
          </a:prstGeom>
        </p:spPr>
      </p:pic>
      <p:sp>
        <p:nvSpPr>
          <p:cNvPr id="10" name="TextBox 9"/>
          <p:cNvSpPr txBox="1"/>
          <p:nvPr/>
        </p:nvSpPr>
        <p:spPr>
          <a:xfrm>
            <a:off x="411480" y="6217920"/>
            <a:ext cx="11247120" cy="228600"/>
          </a:xfrm>
          <a:prstGeom prst="rect">
            <a:avLst/>
          </a:prstGeom>
          <a:noFill/>
        </p:spPr>
        <p:txBody>
          <a:bodyPr wrap="square" lIns="0" rIns="0" tIns="0" bIns="0" anchor="t">
            <a:spAutoFit/>
          </a:bodyPr>
          <a:lstStyle/>
          <a:p>
            <a:pPr algn="l">
              <a:lnSpc>
                <a:spcPct val="103000"/>
              </a:lnSpc>
              <a:spcAft>
                <a:spcPts val="700"/>
              </a:spcAft>
            </a:pPr>
            <a:r>
              <a:rPr sz="1050" b="1" i="0">
                <a:solidFill>
                  <a:srgbClr val="2A9D5C"/>
                </a:solidFill>
                <a:latin typeface="Calibri"/>
              </a:rPr>
              <a:t>Parts A-C build the tool. Parts D-F use it on real violations. Part G proves the ideas transfer.</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T1 AND T2</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Build the Delay Model, Then the Graph</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71</a:t>
            </a:r>
          </a:p>
        </p:txBody>
      </p:sp>
      <p:sp>
        <p:nvSpPr>
          <p:cNvPr id="9" name="Rounded Rectangle 8"/>
          <p:cNvSpPr/>
          <p:nvPr/>
        </p:nvSpPr>
        <p:spPr>
          <a:xfrm>
            <a:off x="411480" y="1143000"/>
            <a:ext cx="5532120" cy="301752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T1 · The delay model (2 h)</a:t>
            </a:r>
          </a:p>
        </p:txBody>
      </p:sp>
      <p:sp>
        <p:nvSpPr>
          <p:cNvPr id="11" name="TextBox 10"/>
          <p:cNvSpPr txBox="1"/>
          <p:nvPr/>
        </p:nvSpPr>
        <p:spPr>
          <a:xfrm>
            <a:off x="548640" y="1481328"/>
            <a:ext cx="5257800" cy="26151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Write lib/cda_edu.lib: 14 cells, each with an intrinsic delay, a load factor and an input capacitance.</a:t>
            </a:r>
          </a:p>
          <a:p>
            <a:pPr algn="l">
              <a:lnSpc>
                <a:spcPct val="103000"/>
              </a:lnSpc>
              <a:spcAft>
                <a:spcPts val="400"/>
              </a:spcAft>
            </a:pPr>
            <a:r>
              <a:rPr sz="1100" b="0" i="0">
                <a:solidFill>
                  <a:srgbClr val="33414F"/>
                </a:solidFill>
                <a:latin typeface="Calibri"/>
              </a:rPr>
              <a:t>Write sta/liberty.py to read it and print the cell table.</a:t>
            </a:r>
          </a:p>
          <a:p>
            <a:pPr algn="l">
              <a:lnSpc>
                <a:spcPct val="103000"/>
              </a:lnSpc>
              <a:spcAft>
                <a:spcPts val="400"/>
              </a:spcAft>
            </a:pPr>
            <a:r>
              <a:rPr sz="1100" b="0" i="0">
                <a:solidFill>
                  <a:srgbClr val="33414F"/>
                </a:solidFill>
                <a:latin typeface="Calibri"/>
              </a:rPr>
              <a:t>Deliverable: a table of 14 cells with every number accounted for.</a:t>
            </a:r>
          </a:p>
          <a:p>
            <a:pPr algn="l">
              <a:lnSpc>
                <a:spcPct val="103000"/>
              </a:lnSpc>
              <a:spcAft>
                <a:spcPts val="400"/>
              </a:spcAft>
            </a:pPr>
            <a:r>
              <a:rPr sz="1100" b="0" i="0">
                <a:solidFill>
                  <a:srgbClr val="33414F"/>
                </a:solidFill>
                <a:latin typeface="Calibri"/>
              </a:rPr>
              <a:t>Check:  make lib</a:t>
            </a:r>
          </a:p>
        </p:txBody>
      </p:sp>
      <p:sp>
        <p:nvSpPr>
          <p:cNvPr id="12" name="Rounded Rectangle 11"/>
          <p:cNvSpPr/>
          <p:nvPr/>
        </p:nvSpPr>
        <p:spPr>
          <a:xfrm>
            <a:off x="6126480" y="1143000"/>
            <a:ext cx="5532120" cy="301752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T2 · The timing graph (3 h)</a:t>
            </a:r>
          </a:p>
        </p:txBody>
      </p:sp>
      <p:sp>
        <p:nvSpPr>
          <p:cNvPr id="14" name="TextBox 13"/>
          <p:cNvSpPr txBox="1"/>
          <p:nvPr/>
        </p:nvSpPr>
        <p:spPr>
          <a:xfrm>
            <a:off x="6263640" y="1481328"/>
            <a:ext cx="5257800" cy="261518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Synthesise rtl/tiny.v with Yosys, write the netlist as JSON.</a:t>
            </a:r>
          </a:p>
          <a:p>
            <a:pPr algn="l">
              <a:lnSpc>
                <a:spcPct val="103000"/>
              </a:lnSpc>
              <a:spcAft>
                <a:spcPts val="400"/>
              </a:spcAft>
            </a:pPr>
            <a:r>
              <a:rPr sz="1100" b="0" i="0">
                <a:solidFill>
                  <a:srgbClr val="33414F"/>
                </a:solidFill>
                <a:latin typeface="Calibri"/>
              </a:rPr>
              <a:t>Turn the JSON into nodes and arcs: one node per pin, cell delay on the internal input-to-output arc.</a:t>
            </a:r>
          </a:p>
          <a:p>
            <a:pPr algn="l">
              <a:lnSpc>
                <a:spcPct val="103000"/>
              </a:lnSpc>
              <a:spcAft>
                <a:spcPts val="400"/>
              </a:spcAft>
            </a:pPr>
            <a:r>
              <a:rPr sz="1100" b="0" i="0">
                <a:solidFill>
                  <a:srgbClr val="33414F"/>
                </a:solidFill>
                <a:latin typeface="Calibri"/>
              </a:rPr>
              <a:t>Deliverable: the graph for a three-flop design, drawn on paper and printed by your code - and they agree.</a:t>
            </a:r>
          </a:p>
          <a:p>
            <a:pPr algn="l">
              <a:lnSpc>
                <a:spcPct val="103000"/>
              </a:lnSpc>
              <a:spcAft>
                <a:spcPts val="400"/>
              </a:spcAft>
            </a:pPr>
            <a:r>
              <a:rPr sz="1100" b="0" i="0">
                <a:solidFill>
                  <a:srgbClr val="33414F"/>
                </a:solidFill>
                <a:latin typeface="Calibri"/>
              </a:rPr>
              <a:t>Check:  make tiny</a:t>
            </a:r>
          </a:p>
        </p:txBody>
      </p:sp>
      <p:sp>
        <p:nvSpPr>
          <p:cNvPr id="15" name="Rounded Rectangle 14"/>
          <p:cNvSpPr/>
          <p:nvPr/>
        </p:nvSpPr>
        <p:spPr>
          <a:xfrm>
            <a:off x="411480" y="4251960"/>
            <a:ext cx="11247120" cy="82296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4315968"/>
            <a:ext cx="10917936"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The arc convention that makes reports readable</a:t>
            </a:r>
          </a:p>
        </p:txBody>
      </p:sp>
      <p:sp>
        <p:nvSpPr>
          <p:cNvPr id="17" name="TextBox 16"/>
          <p:cNvSpPr txBox="1"/>
          <p:nvPr/>
        </p:nvSpPr>
        <p:spPr>
          <a:xfrm>
            <a:off x="576072" y="459028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Charge the cell delay on the arc INSIDE the cell, using the load on its output net; charge clock-to-Q at the Q pin. Net arcs cost zero. Get this wrong and every report line is attributed to the wrong cell.</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T3</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Arrival, Required, Slack - the Engine Itself</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72</a:t>
            </a:r>
          </a:p>
        </p:txBody>
      </p:sp>
      <p:sp>
        <p:nvSpPr>
          <p:cNvPr id="9" name="Rounded Rectangle 8"/>
          <p:cNvSpPr/>
          <p:nvPr/>
        </p:nvSpPr>
        <p:spPr>
          <a:xfrm>
            <a:off x="411480" y="1143000"/>
            <a:ext cx="11247120" cy="318135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what your engine prints when T3 is finished</a:t>
            </a:r>
          </a:p>
        </p:txBody>
      </p:sp>
      <p:sp>
        <p:nvSpPr>
          <p:cNvPr id="11" name="TextBox 10"/>
          <p:cNvSpPr txBox="1"/>
          <p:nvPr/>
        </p:nvSpPr>
        <p:spPr>
          <a:xfrm>
            <a:off x="594360" y="1531620"/>
            <a:ext cx="10881360" cy="2678430"/>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./scripts/sta.sh tiny --paths 1 -p 1.0</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Path 1   endpoint q_reg/D  (DFF)</a:t>
            </a:r>
          </a:p>
          <a:p>
            <a:pPr algn="l">
              <a:lnSpc>
                <a:spcPct val="112000"/>
              </a:lnSpc>
            </a:pPr>
            <a:r>
              <a:rPr sz="950" b="0" i="0">
                <a:solidFill>
                  <a:srgbClr val="D8E4F0"/>
                </a:solidFill>
                <a:latin typeface="Consolas"/>
              </a:rPr>
              <a:t>           startpoint p_reg</a:t>
            </a:r>
          </a:p>
          <a:p>
            <a:pPr algn="l">
              <a:lnSpc>
                <a:spcPct val="112000"/>
              </a:lnSpc>
            </a:pPr>
            <a:r>
              <a:rPr sz="950" b="0" i="0">
                <a:solidFill>
                  <a:srgbClr val="D8E4F0"/>
                </a:solidFill>
                <a:latin typeface="Consolas"/>
              </a:rPr>
              <a:t>         incr   arrival   pin</a:t>
            </a:r>
          </a:p>
          <a:p>
            <a:pPr algn="l">
              <a:lnSpc>
                <a:spcPct val="112000"/>
              </a:lnSpc>
            </a:pPr>
            <a:r>
              <a:rPr sz="950" b="0" i="0">
                <a:solidFill>
                  <a:srgbClr val="D8E4F0"/>
                </a:solidFill>
                <a:latin typeface="Consolas"/>
              </a:rPr>
              <a:t>        0.000     0.000   clock edge at p_reg</a:t>
            </a:r>
          </a:p>
          <a:p>
            <a:pPr algn="l">
              <a:lnSpc>
                <a:spcPct val="112000"/>
              </a:lnSpc>
            </a:pPr>
            <a:r>
              <a:rPr sz="950" b="0" i="0">
                <a:solidFill>
                  <a:srgbClr val="D8E4F0"/>
                </a:solidFill>
                <a:latin typeface="Consolas"/>
              </a:rPr>
              <a:t>        0.164     0.164   p_reg/Q                    (DFF)</a:t>
            </a:r>
          </a:p>
          <a:p>
            <a:pPr algn="l">
              <a:lnSpc>
                <a:spcPct val="112000"/>
              </a:lnSpc>
            </a:pPr>
            <a:r>
              <a:rPr sz="950" b="0" i="0">
                <a:solidFill>
                  <a:srgbClr val="D8E4F0"/>
                </a:solidFill>
                <a:latin typeface="Consolas"/>
              </a:rPr>
              <a:t>        0.000     0.164   u97/B                      (XOR2)</a:t>
            </a:r>
          </a:p>
          <a:p>
            <a:pPr algn="l">
              <a:lnSpc>
                <a:spcPct val="112000"/>
              </a:lnSpc>
            </a:pPr>
            <a:r>
              <a:rPr sz="950" b="0" i="0">
                <a:solidFill>
                  <a:srgbClr val="D8E4F0"/>
                </a:solidFill>
                <a:latin typeface="Consolas"/>
              </a:rPr>
              <a:t>        0.117     0.281   u97/Y                      (XOR2)</a:t>
            </a:r>
          </a:p>
          <a:p>
            <a:pPr algn="l">
              <a:lnSpc>
                <a:spcPct val="112000"/>
              </a:lnSpc>
            </a:pPr>
            <a:r>
              <a:rPr sz="950" b="0" i="0">
                <a:solidFill>
                  <a:srgbClr val="D8E4F0"/>
                </a:solidFill>
                <a:latin typeface="Consolas"/>
              </a:rPr>
              <a:t>        0.000     0.281   q_reg/D                    (DFF)</a:t>
            </a:r>
          </a:p>
          <a:p>
            <a:pPr algn="l">
              <a:lnSpc>
                <a:spcPct val="112000"/>
              </a:lnSpc>
            </a:pPr>
            <a:r>
              <a:rPr sz="950" b="0" i="0">
                <a:solidFill>
                  <a:srgbClr val="D8E4F0"/>
                </a:solidFill>
                <a:latin typeface="Consolas"/>
              </a:rPr>
              <a:t>                  0.910   required (period - setup)</a:t>
            </a:r>
          </a:p>
          <a:p>
            <a:pPr algn="l">
              <a:lnSpc>
                <a:spcPct val="112000"/>
              </a:lnSpc>
            </a:pPr>
            <a:r>
              <a:rPr sz="950" b="0" i="0">
                <a:solidFill>
                  <a:srgbClr val="D8E4F0"/>
                </a:solidFill>
                <a:latin typeface="Consolas"/>
              </a:rPr>
              <a:t>                  0.629   SLACK   MET</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WNS (worst slack)  : +0.629 ns   MET</a:t>
            </a:r>
          </a:p>
          <a:p>
            <a:pPr algn="l">
              <a:lnSpc>
                <a:spcPct val="112000"/>
              </a:lnSpc>
            </a:pPr>
            <a:r>
              <a:rPr sz="950" b="0" i="0">
                <a:solidFill>
                  <a:srgbClr val="D8E4F0"/>
                </a:solidFill>
                <a:latin typeface="Consolas"/>
              </a:rPr>
              <a:t>  longest path       : 0.371 ns          Fmax : 2693.2 MHz</a:t>
            </a:r>
          </a:p>
        </p:txBody>
      </p:sp>
      <p:sp>
        <p:nvSpPr>
          <p:cNvPr id="12" name="Rounded Rectangle 11"/>
          <p:cNvSpPr/>
          <p:nvPr/>
        </p:nvSpPr>
        <p:spPr>
          <a:xfrm>
            <a:off x="411480" y="4415790"/>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76072" y="4479798"/>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 exercise that matters most in the whole topic</a:t>
            </a:r>
          </a:p>
        </p:txBody>
      </p:sp>
      <p:sp>
        <p:nvSpPr>
          <p:cNvPr id="14" name="TextBox 13"/>
          <p:cNvSpPr txBox="1"/>
          <p:nvPr/>
        </p:nvSpPr>
        <p:spPr>
          <a:xfrm>
            <a:off x="576072" y="4754118"/>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Compute +0.629 on paper before you run it. When your arithmetic and your code agree to three decimals, you understand static timing analysis - and no report from any vendor will ever be mysterious again.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T4</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Constraints - Watch the Report Change</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73</a:t>
            </a:r>
          </a:p>
        </p:txBody>
      </p:sp>
      <p:sp>
        <p:nvSpPr>
          <p:cNvPr id="9" name="Rectangle 8"/>
          <p:cNvSpPr/>
          <p:nvPr/>
        </p:nvSpPr>
        <p:spPr>
          <a:xfrm>
            <a:off x="411480" y="1143000"/>
            <a:ext cx="11887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10972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Exercise</a:t>
            </a:r>
          </a:p>
        </p:txBody>
      </p:sp>
      <p:sp>
        <p:nvSpPr>
          <p:cNvPr id="11" name="Rectangle 10"/>
          <p:cNvSpPr/>
          <p:nvPr/>
        </p:nvSpPr>
        <p:spPr>
          <a:xfrm>
            <a:off x="1600200" y="1143000"/>
            <a:ext cx="42976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645920" y="1143000"/>
            <a:ext cx="42062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you change</a:t>
            </a:r>
          </a:p>
        </p:txBody>
      </p:sp>
      <p:sp>
        <p:nvSpPr>
          <p:cNvPr id="13" name="Rectangle 12"/>
          <p:cNvSpPr/>
          <p:nvPr/>
        </p:nvSpPr>
        <p:spPr>
          <a:xfrm>
            <a:off x="5897880" y="1143000"/>
            <a:ext cx="57607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943600" y="1143000"/>
            <a:ext cx="56692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you must observe</a:t>
            </a:r>
          </a:p>
        </p:txBody>
      </p:sp>
      <p:sp>
        <p:nvSpPr>
          <p:cNvPr id="15" name="Rectangle 14"/>
          <p:cNvSpPr/>
          <p:nvPr/>
        </p:nvSpPr>
        <p:spPr>
          <a:xfrm>
            <a:off x="411480" y="1426464"/>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T4.1</a:t>
            </a:r>
          </a:p>
        </p:txBody>
      </p:sp>
      <p:sp>
        <p:nvSpPr>
          <p:cNvPr id="17" name="Rectangle 16"/>
          <p:cNvSpPr/>
          <p:nvPr/>
        </p:nvSpPr>
        <p:spPr>
          <a:xfrm>
            <a:off x="1600200" y="1426464"/>
            <a:ext cx="4297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645920" y="1426464"/>
            <a:ext cx="4206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period, from 5 ns down to 1 ns</a:t>
            </a:r>
          </a:p>
        </p:txBody>
      </p:sp>
      <p:sp>
        <p:nvSpPr>
          <p:cNvPr id="19" name="Rectangle 18"/>
          <p:cNvSpPr/>
          <p:nvPr/>
        </p:nvSpPr>
        <p:spPr>
          <a:xfrm>
            <a:off x="5897880" y="1426464"/>
            <a:ext cx="5760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5943600" y="1426464"/>
            <a:ext cx="5669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slack falls linearly; the path does not change</a:t>
            </a:r>
          </a:p>
        </p:txBody>
      </p:sp>
      <p:sp>
        <p:nvSpPr>
          <p:cNvPr id="21" name="Rectangle 20"/>
          <p:cNvSpPr/>
          <p:nvPr/>
        </p:nvSpPr>
        <p:spPr>
          <a:xfrm>
            <a:off x="411480" y="1709928"/>
            <a:ext cx="1188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T4.2</a:t>
            </a:r>
          </a:p>
        </p:txBody>
      </p:sp>
      <p:sp>
        <p:nvSpPr>
          <p:cNvPr id="23" name="Rectangle 22"/>
          <p:cNvSpPr/>
          <p:nvPr/>
        </p:nvSpPr>
        <p:spPr>
          <a:xfrm>
            <a:off x="1600200" y="1709928"/>
            <a:ext cx="4297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645920" y="1709928"/>
            <a:ext cx="4206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add set_input_delay for the first time</a:t>
            </a:r>
          </a:p>
        </p:txBody>
      </p:sp>
      <p:sp>
        <p:nvSpPr>
          <p:cNvPr id="25" name="Rectangle 24"/>
          <p:cNvSpPr/>
          <p:nvPr/>
        </p:nvSpPr>
        <p:spPr>
          <a:xfrm>
            <a:off x="5897880" y="1709928"/>
            <a:ext cx="5760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5943600" y="1709928"/>
            <a:ext cx="5669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new paths appear in the report that were not there before</a:t>
            </a:r>
          </a:p>
        </p:txBody>
      </p:sp>
      <p:sp>
        <p:nvSpPr>
          <p:cNvPr id="27" name="Rectangle 26"/>
          <p:cNvSpPr/>
          <p:nvPr/>
        </p:nvSpPr>
        <p:spPr>
          <a:xfrm>
            <a:off x="411480" y="1993392"/>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T4.3</a:t>
            </a:r>
          </a:p>
        </p:txBody>
      </p:sp>
      <p:sp>
        <p:nvSpPr>
          <p:cNvPr id="29" name="Rectangle 28"/>
          <p:cNvSpPr/>
          <p:nvPr/>
        </p:nvSpPr>
        <p:spPr>
          <a:xfrm>
            <a:off x="1600200" y="1993392"/>
            <a:ext cx="4297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645920" y="1993392"/>
            <a:ext cx="4206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remove it again</a:t>
            </a:r>
          </a:p>
        </p:txBody>
      </p:sp>
      <p:sp>
        <p:nvSpPr>
          <p:cNvPr id="31" name="Rectangle 30"/>
          <p:cNvSpPr/>
          <p:nvPr/>
        </p:nvSpPr>
        <p:spPr>
          <a:xfrm>
            <a:off x="5897880" y="1993392"/>
            <a:ext cx="5760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5943600" y="1993392"/>
            <a:ext cx="5669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unconstrained count goes up; the WNS improves. Explain that.</a:t>
            </a:r>
          </a:p>
        </p:txBody>
      </p:sp>
      <p:sp>
        <p:nvSpPr>
          <p:cNvPr id="33" name="Rectangle 32"/>
          <p:cNvSpPr/>
          <p:nvPr/>
        </p:nvSpPr>
        <p:spPr>
          <a:xfrm>
            <a:off x="411480" y="2276856"/>
            <a:ext cx="1188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T4.4</a:t>
            </a:r>
          </a:p>
        </p:txBody>
      </p:sp>
      <p:sp>
        <p:nvSpPr>
          <p:cNvPr id="35" name="Rectangle 34"/>
          <p:cNvSpPr/>
          <p:nvPr/>
        </p:nvSpPr>
        <p:spPr>
          <a:xfrm>
            <a:off x="1600200" y="2276856"/>
            <a:ext cx="4297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645920" y="2276856"/>
            <a:ext cx="4206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add 0.15 ns of uncertainty</a:t>
            </a:r>
          </a:p>
        </p:txBody>
      </p:sp>
      <p:sp>
        <p:nvSpPr>
          <p:cNvPr id="37" name="Rectangle 36"/>
          <p:cNvSpPr/>
          <p:nvPr/>
        </p:nvSpPr>
        <p:spPr>
          <a:xfrm>
            <a:off x="5897880" y="2276856"/>
            <a:ext cx="5760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943600" y="2276856"/>
            <a:ext cx="5669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every setup slack drops by exactly 0.15</a:t>
            </a:r>
          </a:p>
        </p:txBody>
      </p:sp>
      <p:sp>
        <p:nvSpPr>
          <p:cNvPr id="39" name="Rectangle 38"/>
          <p:cNvSpPr/>
          <p:nvPr/>
        </p:nvSpPr>
        <p:spPr>
          <a:xfrm>
            <a:off x="411480" y="2560320"/>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T4.5</a:t>
            </a:r>
          </a:p>
        </p:txBody>
      </p:sp>
      <p:sp>
        <p:nvSpPr>
          <p:cNvPr id="41" name="Rectangle 40"/>
          <p:cNvSpPr/>
          <p:nvPr/>
        </p:nvSpPr>
        <p:spPr>
          <a:xfrm>
            <a:off x="1600200" y="2560320"/>
            <a:ext cx="4297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645920" y="2560320"/>
            <a:ext cx="4206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add 0.30 ns of skew to one register</a:t>
            </a:r>
          </a:p>
        </p:txBody>
      </p:sp>
      <p:sp>
        <p:nvSpPr>
          <p:cNvPr id="43" name="Rectangle 42"/>
          <p:cNvSpPr/>
          <p:nvPr/>
        </p:nvSpPr>
        <p:spPr>
          <a:xfrm>
            <a:off x="5897880" y="2560320"/>
            <a:ext cx="5760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5943600" y="2560320"/>
            <a:ext cx="5669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its setup slack improves and its hold slack collapses</a:t>
            </a:r>
          </a:p>
        </p:txBody>
      </p:sp>
      <p:sp>
        <p:nvSpPr>
          <p:cNvPr id="45" name="Rectangle 44"/>
          <p:cNvSpPr/>
          <p:nvPr/>
        </p:nvSpPr>
        <p:spPr>
          <a:xfrm>
            <a:off x="411480" y="2843784"/>
            <a:ext cx="1188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2843784"/>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T4.6</a:t>
            </a:r>
          </a:p>
        </p:txBody>
      </p:sp>
      <p:sp>
        <p:nvSpPr>
          <p:cNvPr id="47" name="Rectangle 46"/>
          <p:cNvSpPr/>
          <p:nvPr/>
        </p:nvSpPr>
        <p:spPr>
          <a:xfrm>
            <a:off x="1600200" y="2843784"/>
            <a:ext cx="4297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1645920" y="2843784"/>
            <a:ext cx="4206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set_false_path on the critical path</a:t>
            </a:r>
          </a:p>
        </p:txBody>
      </p:sp>
      <p:sp>
        <p:nvSpPr>
          <p:cNvPr id="49" name="Rectangle 48"/>
          <p:cNvSpPr/>
          <p:nvPr/>
        </p:nvSpPr>
        <p:spPr>
          <a:xfrm>
            <a:off x="5897880" y="2843784"/>
            <a:ext cx="5760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5943600" y="2843784"/>
            <a:ext cx="566928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WNS jumps. Write down why that is dangerous.</a:t>
            </a:r>
          </a:p>
        </p:txBody>
      </p:sp>
      <p:sp>
        <p:nvSpPr>
          <p:cNvPr id="51" name="Rounded Rectangle 50"/>
          <p:cNvSpPr/>
          <p:nvPr/>
        </p:nvSpPr>
        <p:spPr>
          <a:xfrm>
            <a:off x="411480" y="3218688"/>
            <a:ext cx="11247120" cy="59436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576072" y="3282696"/>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T4.3 and T4.6 are the two that teach the most</a:t>
            </a:r>
          </a:p>
        </p:txBody>
      </p:sp>
      <p:sp>
        <p:nvSpPr>
          <p:cNvPr id="53" name="TextBox 52"/>
          <p:cNvSpPr txBox="1"/>
          <p:nvPr/>
        </p:nvSpPr>
        <p:spPr>
          <a:xfrm>
            <a:off x="576072" y="3557016"/>
            <a:ext cx="10917936" cy="192024"/>
          </a:xfrm>
          <a:prstGeom prst="rect">
            <a:avLst/>
          </a:prstGeom>
          <a:noFill/>
        </p:spPr>
        <p:txBody>
          <a:bodyPr wrap="square" lIns="0" rIns="0" tIns="0" bIns="0" anchor="t">
            <a:spAutoFit/>
          </a:bodyPr>
          <a:lstStyle/>
          <a:p>
            <a:pPr algn="l">
              <a:lnSpc>
                <a:spcPct val="103000"/>
              </a:lnSpc>
              <a:spcAft>
                <a:spcPts val="400"/>
              </a:spcAft>
            </a:pPr>
            <a:r>
              <a:rPr sz="1050" b="0" i="0">
                <a:solidFill>
                  <a:srgbClr val="C01F43"/>
                </a:solidFill>
                <a:latin typeface="Calibri"/>
              </a:rPr>
              <a:t>Both make the report look BETTER while making the analysis worse. Learning to distrust an improving number is the professional skill this topic is really about.</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T5</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Setup Closure - the Fmax Sweep</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74</a:t>
            </a:r>
          </a:p>
        </p:txBody>
      </p:sp>
      <p:sp>
        <p:nvSpPr>
          <p:cNvPr id="9" name="Rounded Rectangle 8"/>
          <p:cNvSpPr/>
          <p:nvPr/>
        </p:nvSpPr>
        <p:spPr>
          <a:xfrm>
            <a:off x="411480" y="1143000"/>
            <a:ext cx="11247120" cy="2645664"/>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the experiment that shows what synthesis actually did</a:t>
            </a:r>
          </a:p>
        </p:txBody>
      </p:sp>
      <p:sp>
        <p:nvSpPr>
          <p:cNvPr id="11" name="TextBox 10"/>
          <p:cNvSpPr txBox="1"/>
          <p:nvPr/>
        </p:nvSpPr>
        <p:spPr>
          <a:xfrm>
            <a:off x="594360" y="1531620"/>
            <a:ext cx="10881360" cy="2142744"/>
          </a:xfrm>
          <a:prstGeom prst="rect">
            <a:avLst/>
          </a:prstGeom>
          <a:noFill/>
        </p:spPr>
        <p:txBody>
          <a:bodyPr wrap="square" lIns="0" rIns="0" tIns="0" bIns="0" anchor="t">
            <a:spAutoFit/>
          </a:bodyPr>
          <a:lstStyle/>
          <a:p>
            <a:pPr algn="l">
              <a:lnSpc>
                <a:spcPct val="112000"/>
              </a:lnSpc>
            </a:pPr>
            <a:r>
              <a:rPr sz="950" b="0" i="0">
                <a:solidFill>
                  <a:srgbClr val="D8E4F0"/>
                </a:solidFill>
                <a:latin typeface="Consolas"/>
              </a:rPr>
              <a:t>$ make sweep</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 hand-written carry chain ===    === a + b, delay-driven mapping ===</a:t>
            </a:r>
          </a:p>
          <a:p>
            <a:pPr algn="l">
              <a:lnSpc>
                <a:spcPct val="112000"/>
              </a:lnSpc>
            </a:pPr>
            <a:r>
              <a:rPr sz="950" b="0" i="0">
                <a:solidFill>
                  <a:srgbClr val="D8E4F0"/>
                </a:solidFill>
                <a:latin typeface="Consolas"/>
              </a:rPr>
              <a:t>   W   cells  longest(ns)  ns/bit      W   cells  longest(ns)  ns/bit</a:t>
            </a:r>
          </a:p>
          <a:p>
            <a:pPr algn="l">
              <a:lnSpc>
                <a:spcPct val="112000"/>
              </a:lnSpc>
            </a:pPr>
            <a:r>
              <a:rPr sz="950" b="0" i="0">
                <a:solidFill>
                  <a:srgbClr val="D8E4F0"/>
                </a:solidFill>
                <a:latin typeface="Consolas"/>
              </a:rPr>
              <a:t>   4      30      0.773    0.1933      4      33      0.831    0.2077</a:t>
            </a:r>
          </a:p>
          <a:p>
            <a:pPr algn="l">
              <a:lnSpc>
                <a:spcPct val="112000"/>
              </a:lnSpc>
            </a:pPr>
            <a:r>
              <a:rPr sz="950" b="0" i="0">
                <a:solidFill>
                  <a:srgbClr val="D8E4F0"/>
                </a:solidFill>
                <a:latin typeface="Consolas"/>
              </a:rPr>
              <a:t>   8      62      1.247    0.1559      8      74      1.183    0.1479</a:t>
            </a:r>
          </a:p>
          <a:p>
            <a:pPr algn="l">
              <a:lnSpc>
                <a:spcPct val="112000"/>
              </a:lnSpc>
            </a:pPr>
            <a:r>
              <a:rPr sz="950" b="0" i="0">
                <a:solidFill>
                  <a:srgbClr val="D8E4F0"/>
                </a:solidFill>
                <a:latin typeface="Consolas"/>
              </a:rPr>
              <a:t>  16     126      2.196    0.1373     16     159      1.547    0.0967</a:t>
            </a:r>
          </a:p>
          <a:p>
            <a:pPr algn="l">
              <a:lnSpc>
                <a:spcPct val="112000"/>
              </a:lnSpc>
            </a:pPr>
            <a:r>
              <a:rPr sz="950" b="0" i="0">
                <a:solidFill>
                  <a:srgbClr val="D8E4F0"/>
                </a:solidFill>
                <a:latin typeface="Consolas"/>
              </a:rPr>
              <a:t>  32     254      4.094    0.1279     32     332      1.939    0.0606</a:t>
            </a:r>
          </a:p>
          <a:p>
            <a:pPr algn="l">
              <a:lnSpc>
                <a:spcPct val="112000"/>
              </a:lnSpc>
            </a:pPr>
            <a:r>
              <a:rPr sz="950" b="0" i="0">
                <a:solidFill>
                  <a:srgbClr val="D8E4F0"/>
                </a:solidFill>
                <a:latin typeface="Consolas"/>
              </a:rPr>
              <a:t>  64     510      7.889    0.1233     64     681      2.318    0.0362</a:t>
            </a:r>
          </a:p>
          <a:p>
            <a:pPr algn="l">
              <a:lnSpc>
                <a:spcPct val="112000"/>
              </a:lnSpc>
            </a:pPr>
            <a:r>
              <a:rPr sz="950" b="0" i="0">
                <a:solidFill>
                  <a:srgbClr val="D8E4F0"/>
                </a:solidFill>
                <a:latin typeface="Consolas"/>
              </a:rPr>
              <a:t> </a:t>
            </a:r>
          </a:p>
          <a:p>
            <a:pPr algn="l">
              <a:lnSpc>
                <a:spcPct val="112000"/>
              </a:lnSpc>
            </a:pPr>
            <a:r>
              <a:rPr sz="950" b="0" i="0">
                <a:solidFill>
                  <a:srgbClr val="D8E4F0"/>
                </a:solidFill>
                <a:latin typeface="Consolas"/>
              </a:rPr>
              <a:t>  ripple:    ns/bit converges on 0.123  -&gt;  delay is LINEAR in width</a:t>
            </a:r>
          </a:p>
          <a:p>
            <a:pPr algn="l">
              <a:lnSpc>
                <a:spcPct val="112000"/>
              </a:lnSpc>
            </a:pPr>
            <a:r>
              <a:rPr sz="950" b="0" i="0">
                <a:solidFill>
                  <a:srgbClr val="D8E4F0"/>
                </a:solidFill>
                <a:latin typeface="Consolas"/>
              </a:rPr>
              <a:t>  a+b fast:  ns/bit keeps FALLING       -&gt;  the tool built a carry tree</a:t>
            </a:r>
          </a:p>
        </p:txBody>
      </p:sp>
      <p:sp>
        <p:nvSpPr>
          <p:cNvPr id="12" name="Rounded Rectangle 11"/>
          <p:cNvSpPr/>
          <p:nvPr/>
        </p:nvSpPr>
        <p:spPr>
          <a:xfrm>
            <a:off x="411480" y="3880104"/>
            <a:ext cx="5532120" cy="1554480"/>
          </a:xfrm>
          <a:prstGeom prst="roundRect">
            <a:avLst>
              <a:gd name="adj" fmla="val 5714"/>
            </a:avLst>
          </a:prstGeom>
          <a:solidFill>
            <a:srgbClr val="FFF7EC"/>
          </a:solidFill>
          <a:ln w="13970">
            <a:solidFill>
              <a:srgbClr val="C77514"/>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548640" y="3944112"/>
            <a:ext cx="5257800" cy="274320"/>
          </a:xfrm>
          <a:prstGeom prst="rect">
            <a:avLst/>
          </a:prstGeom>
          <a:noFill/>
        </p:spPr>
        <p:txBody>
          <a:bodyPr wrap="square" lIns="0" rIns="0" tIns="0" bIns="0" anchor="ctr">
            <a:spAutoFit/>
          </a:bodyPr>
          <a:lstStyle/>
          <a:p>
            <a:pPr algn="l">
              <a:lnSpc>
                <a:spcPct val="103000"/>
              </a:lnSpc>
            </a:pPr>
            <a:r>
              <a:rPr sz="1150" b="1" i="0">
                <a:solidFill>
                  <a:srgbClr val="C77514"/>
                </a:solidFill>
                <a:latin typeface="Cambria"/>
              </a:rPr>
              <a:t>What you must explain</a:t>
            </a:r>
          </a:p>
        </p:txBody>
      </p:sp>
      <p:sp>
        <p:nvSpPr>
          <p:cNvPr id="14" name="TextBox 13"/>
          <p:cNvSpPr txBox="1"/>
          <p:nvPr/>
        </p:nvSpPr>
        <p:spPr>
          <a:xfrm>
            <a:off x="548640" y="4218432"/>
            <a:ext cx="5257800" cy="11521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Why ns/bit is constant for the ripple chain and falling for the tool's adder.</a:t>
            </a:r>
          </a:p>
          <a:p>
            <a:pPr algn="l">
              <a:lnSpc>
                <a:spcPct val="103000"/>
              </a:lnSpc>
              <a:spcAft>
                <a:spcPts val="400"/>
              </a:spcAft>
            </a:pPr>
            <a:r>
              <a:rPr sz="1100" b="0" i="0">
                <a:solidFill>
                  <a:srgbClr val="33414F"/>
                </a:solidFill>
                <a:latin typeface="Calibri"/>
              </a:rPr>
              <a:t>Why the plain a+b is SLOWER than the ripple chain under area mapping.</a:t>
            </a:r>
          </a:p>
        </p:txBody>
      </p:sp>
      <p:sp>
        <p:nvSpPr>
          <p:cNvPr id="15" name="Rounded Rectangle 14"/>
          <p:cNvSpPr/>
          <p:nvPr/>
        </p:nvSpPr>
        <p:spPr>
          <a:xfrm>
            <a:off x="6126480" y="3880104"/>
            <a:ext cx="5532120" cy="15544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6263640" y="3944112"/>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Then prove it still works</a:t>
            </a:r>
          </a:p>
        </p:txBody>
      </p:sp>
      <p:sp>
        <p:nvSpPr>
          <p:cNvPr id="17" name="TextBox 16"/>
          <p:cNvSpPr txBox="1"/>
          <p:nvPr/>
        </p:nvSpPr>
        <p:spPr>
          <a:xfrm>
            <a:off x="6263640" y="4218432"/>
            <a:ext cx="5257800" cy="11521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make verify runs all three netlists against a reference over 500 random vectors.</a:t>
            </a:r>
          </a:p>
          <a:p>
            <a:pPr algn="l">
              <a:lnSpc>
                <a:spcPct val="103000"/>
              </a:lnSpc>
              <a:spcAft>
                <a:spcPts val="400"/>
              </a:spcAft>
            </a:pPr>
            <a:r>
              <a:rPr sz="1100" b="1" i="0">
                <a:solidFill>
                  <a:srgbClr val="0E2A47"/>
                </a:solidFill>
                <a:latin typeface="Calibri"/>
              </a:rPr>
              <a:t>An optimisation you have not verified is not an optimisation.</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T6</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Hold Violations and Exceptions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75</a:t>
            </a:r>
          </a:p>
        </p:txBody>
      </p:sp>
      <p:sp>
        <p:nvSpPr>
          <p:cNvPr id="9" name="Rounded Rectangle 8"/>
          <p:cNvSpPr/>
          <p:nvPr/>
        </p:nvSpPr>
        <p:spPr>
          <a:xfrm>
            <a:off x="411480" y="1143000"/>
            <a:ext cx="11247120" cy="1818640"/>
          </a:xfrm>
          <a:prstGeom prst="roundRect">
            <a:avLst>
              <a:gd name="adj" fmla="val 3000"/>
            </a:avLst>
          </a:prstGeom>
          <a:solidFill>
            <a:srgbClr val="112233"/>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94360" y="1257300"/>
            <a:ext cx="10881360" cy="228600"/>
          </a:xfrm>
          <a:prstGeom prst="rect">
            <a:avLst/>
          </a:prstGeom>
          <a:noFill/>
        </p:spPr>
        <p:txBody>
          <a:bodyPr wrap="square" lIns="0" rIns="0" tIns="0" bIns="0" anchor="ctr">
            <a:spAutoFit/>
          </a:bodyPr>
          <a:lstStyle/>
          <a:p>
            <a:pPr algn="l">
              <a:lnSpc>
                <a:spcPct val="103000"/>
              </a:lnSpc>
            </a:pPr>
            <a:r>
              <a:rPr sz="1050" b="1" i="0">
                <a:solidFill>
                  <a:srgbClr val="1B9AAA"/>
                </a:solidFill>
                <a:latin typeface="Calibri"/>
              </a:rPr>
              <a:t>two violations, two different kinds of fix</a:t>
            </a:r>
          </a:p>
        </p:txBody>
      </p:sp>
      <p:sp>
        <p:nvSpPr>
          <p:cNvPr id="11" name="TextBox 10"/>
          <p:cNvSpPr txBox="1"/>
          <p:nvPr/>
        </p:nvSpPr>
        <p:spPr>
          <a:xfrm>
            <a:off x="594360" y="1531620"/>
            <a:ext cx="10881360" cy="1315720"/>
          </a:xfrm>
          <a:prstGeom prst="rect">
            <a:avLst/>
          </a:prstGeom>
          <a:noFill/>
        </p:spPr>
        <p:txBody>
          <a:bodyPr wrap="square" lIns="0" rIns="0" tIns="0" bIns="0" anchor="t">
            <a:spAutoFit/>
          </a:bodyPr>
          <a:lstStyle/>
          <a:p>
            <a:pPr algn="l">
              <a:lnSpc>
                <a:spcPct val="112000"/>
              </a:lnSpc>
            </a:pPr>
            <a:r>
              <a:rPr sz="1000" b="0" i="0">
                <a:solidFill>
                  <a:srgbClr val="D8E4F0"/>
                </a:solidFill>
                <a:latin typeface="Consolas"/>
              </a:rPr>
              <a:t>$ make hold</a:t>
            </a:r>
          </a:p>
          <a:p>
            <a:pPr algn="l">
              <a:lnSpc>
                <a:spcPct val="112000"/>
              </a:lnSpc>
            </a:pPr>
            <a:r>
              <a:rPr sz="1000" b="0" i="0">
                <a:solidFill>
                  <a:srgbClr val="D8E4F0"/>
                </a:solidFill>
                <a:latin typeface="Consolas"/>
              </a:rPr>
              <a:t>  WNS (worst slack)  : -0.165 ns   VIOLATED     (hold_demo, 0.30 ns skew)</a:t>
            </a:r>
          </a:p>
          <a:p>
            <a:pPr algn="l">
              <a:lnSpc>
                <a:spcPct val="112000"/>
              </a:lnSpc>
            </a:pPr>
            <a:r>
              <a:rPr sz="1000" b="0" i="0">
                <a:solidFill>
                  <a:srgbClr val="D8E4F0"/>
                </a:solidFill>
                <a:latin typeface="Consolas"/>
              </a:rPr>
              <a:t>  WNS (worst slack)  : +0.071 ns   MET          (hold_fixed, same skew)</a:t>
            </a:r>
          </a:p>
          <a:p>
            <a:pPr algn="l">
              <a:lnSpc>
                <a:spcPct val="112000"/>
              </a:lnSpc>
            </a:pPr>
            <a:r>
              <a:rPr sz="1000" b="0" i="0">
                <a:solidFill>
                  <a:srgbClr val="D8E4F0"/>
                </a:solidFill>
                <a:latin typeface="Consolas"/>
              </a:rPr>
              <a:t> </a:t>
            </a:r>
          </a:p>
          <a:p>
            <a:pPr algn="l">
              <a:lnSpc>
                <a:spcPct val="112000"/>
              </a:lnSpc>
            </a:pPr>
            <a:r>
              <a:rPr sz="1000" b="0" i="0">
                <a:solidFill>
                  <a:srgbClr val="D8E4F0"/>
                </a:solidFill>
                <a:latin typeface="Consolas"/>
              </a:rPr>
              <a:t>$ make mcp</a:t>
            </a:r>
          </a:p>
          <a:p>
            <a:pPr algn="l">
              <a:lnSpc>
                <a:spcPct val="112000"/>
              </a:lnSpc>
            </a:pPr>
            <a:r>
              <a:rPr sz="1000" b="0" i="0">
                <a:solidFill>
                  <a:srgbClr val="D8E4F0"/>
                </a:solidFill>
                <a:latin typeface="Consolas"/>
              </a:rPr>
              <a:t>  WNS (worst slack)  : -1.193 ns   VIOLATED     (slow_path, no multicycle)</a:t>
            </a:r>
          </a:p>
          <a:p>
            <a:pPr algn="l">
              <a:lnSpc>
                <a:spcPct val="112000"/>
              </a:lnSpc>
            </a:pPr>
            <a:r>
              <a:rPr sz="1000" b="0" i="0">
                <a:solidFill>
                  <a:srgbClr val="D8E4F0"/>
                </a:solidFill>
                <a:latin typeface="Consolas"/>
              </a:rPr>
              <a:t>  WNS (worst slack)  : +0.392 ns   MET          (slow_path, multicycle 4)</a:t>
            </a:r>
          </a:p>
        </p:txBody>
      </p:sp>
      <p:sp>
        <p:nvSpPr>
          <p:cNvPr id="12" name="Rectangle 11"/>
          <p:cNvSpPr/>
          <p:nvPr/>
        </p:nvSpPr>
        <p:spPr>
          <a:xfrm>
            <a:off x="411480" y="3053080"/>
            <a:ext cx="11887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457200" y="3053080"/>
            <a:ext cx="10972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Exercise</a:t>
            </a:r>
          </a:p>
        </p:txBody>
      </p:sp>
      <p:sp>
        <p:nvSpPr>
          <p:cNvPr id="14" name="Rectangle 13"/>
          <p:cNvSpPr/>
          <p:nvPr/>
        </p:nvSpPr>
        <p:spPr>
          <a:xfrm>
            <a:off x="1600200" y="3053080"/>
            <a:ext cx="1005840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5" name="TextBox 14"/>
          <p:cNvSpPr txBox="1"/>
          <p:nvPr/>
        </p:nvSpPr>
        <p:spPr>
          <a:xfrm>
            <a:off x="1645920" y="3053080"/>
            <a:ext cx="996696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Task</a:t>
            </a:r>
          </a:p>
        </p:txBody>
      </p:sp>
      <p:sp>
        <p:nvSpPr>
          <p:cNvPr id="16" name="Rectangle 15"/>
          <p:cNvSpPr/>
          <p:nvPr/>
        </p:nvSpPr>
        <p:spPr>
          <a:xfrm>
            <a:off x="411480" y="3336544"/>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7" name="TextBox 16"/>
          <p:cNvSpPr txBox="1"/>
          <p:nvPr/>
        </p:nvSpPr>
        <p:spPr>
          <a:xfrm>
            <a:off x="457200" y="3336544"/>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T6.1</a:t>
            </a:r>
          </a:p>
        </p:txBody>
      </p:sp>
      <p:sp>
        <p:nvSpPr>
          <p:cNvPr id="18" name="Rectangle 17"/>
          <p:cNvSpPr/>
          <p:nvPr/>
        </p:nvSpPr>
        <p:spPr>
          <a:xfrm>
            <a:off x="1600200" y="3336544"/>
            <a:ext cx="10058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9" name="TextBox 18"/>
          <p:cNvSpPr txBox="1"/>
          <p:nvPr/>
        </p:nvSpPr>
        <p:spPr>
          <a:xfrm>
            <a:off x="1645920" y="3336544"/>
            <a:ext cx="9966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Reproduce both violations, then explain in one sentence each why the fix works</a:t>
            </a:r>
          </a:p>
        </p:txBody>
      </p:sp>
      <p:sp>
        <p:nvSpPr>
          <p:cNvPr id="20" name="Rectangle 19"/>
          <p:cNvSpPr/>
          <p:nvPr/>
        </p:nvSpPr>
        <p:spPr>
          <a:xfrm>
            <a:off x="411480" y="3620008"/>
            <a:ext cx="1188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1" name="TextBox 20"/>
          <p:cNvSpPr txBox="1"/>
          <p:nvPr/>
        </p:nvSpPr>
        <p:spPr>
          <a:xfrm>
            <a:off x="457200" y="3620008"/>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T6.2</a:t>
            </a:r>
          </a:p>
        </p:txBody>
      </p:sp>
      <p:sp>
        <p:nvSpPr>
          <p:cNvPr id="22" name="Rectangle 21"/>
          <p:cNvSpPr/>
          <p:nvPr/>
        </p:nvSpPr>
        <p:spPr>
          <a:xfrm>
            <a:off x="1600200" y="3620008"/>
            <a:ext cx="10058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3" name="TextBox 22"/>
          <p:cNvSpPr txBox="1"/>
          <p:nvPr/>
        </p:nvSpPr>
        <p:spPr>
          <a:xfrm>
            <a:off x="1645920" y="3620008"/>
            <a:ext cx="9966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Increase the skew until hold_fixed also fails - how much delay would it need?</a:t>
            </a:r>
          </a:p>
        </p:txBody>
      </p:sp>
      <p:sp>
        <p:nvSpPr>
          <p:cNvPr id="24" name="Rectangle 23"/>
          <p:cNvSpPr/>
          <p:nvPr/>
        </p:nvSpPr>
        <p:spPr>
          <a:xfrm>
            <a:off x="411480" y="3903472"/>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5" name="TextBox 24"/>
          <p:cNvSpPr txBox="1"/>
          <p:nvPr/>
        </p:nvSpPr>
        <p:spPr>
          <a:xfrm>
            <a:off x="457200" y="3903472"/>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T6.3</a:t>
            </a:r>
          </a:p>
        </p:txBody>
      </p:sp>
      <p:sp>
        <p:nvSpPr>
          <p:cNvPr id="26" name="Rectangle 25"/>
          <p:cNvSpPr/>
          <p:nvPr/>
        </p:nvSpPr>
        <p:spPr>
          <a:xfrm>
            <a:off x="1600200" y="3903472"/>
            <a:ext cx="10058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7" name="TextBox 26"/>
          <p:cNvSpPr txBox="1"/>
          <p:nvPr/>
        </p:nvSpPr>
        <p:spPr>
          <a:xfrm>
            <a:off x="1645920" y="3903472"/>
            <a:ext cx="9966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Add the multicycle -setup line but NOT the -hold line. Predict, then measure.</a:t>
            </a:r>
          </a:p>
        </p:txBody>
      </p:sp>
      <p:sp>
        <p:nvSpPr>
          <p:cNvPr id="28" name="Rectangle 27"/>
          <p:cNvSpPr/>
          <p:nvPr/>
        </p:nvSpPr>
        <p:spPr>
          <a:xfrm>
            <a:off x="411480" y="4186936"/>
            <a:ext cx="1188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9" name="TextBox 28"/>
          <p:cNvSpPr txBox="1"/>
          <p:nvPr/>
        </p:nvSpPr>
        <p:spPr>
          <a:xfrm>
            <a:off x="457200" y="4186936"/>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T6.4</a:t>
            </a:r>
          </a:p>
        </p:txBody>
      </p:sp>
      <p:sp>
        <p:nvSpPr>
          <p:cNvPr id="30" name="Rectangle 29"/>
          <p:cNvSpPr/>
          <p:nvPr/>
        </p:nvSpPr>
        <p:spPr>
          <a:xfrm>
            <a:off x="1600200" y="4186936"/>
            <a:ext cx="1005840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1" name="TextBox 30"/>
          <p:cNvSpPr txBox="1"/>
          <p:nvPr/>
        </p:nvSpPr>
        <p:spPr>
          <a:xfrm>
            <a:off x="1645920" y="4186936"/>
            <a:ext cx="9966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Remove the enable from slow_path.v. The SDC is now a lie - show what breaks.</a:t>
            </a:r>
          </a:p>
        </p:txBody>
      </p:sp>
      <p:sp>
        <p:nvSpPr>
          <p:cNvPr id="32" name="Rectangle 31"/>
          <p:cNvSpPr/>
          <p:nvPr/>
        </p:nvSpPr>
        <p:spPr>
          <a:xfrm>
            <a:off x="411480" y="4470400"/>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3" name="TextBox 32"/>
          <p:cNvSpPr txBox="1"/>
          <p:nvPr/>
        </p:nvSpPr>
        <p:spPr>
          <a:xfrm>
            <a:off x="457200" y="4470400"/>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T6.5</a:t>
            </a:r>
          </a:p>
        </p:txBody>
      </p:sp>
      <p:sp>
        <p:nvSpPr>
          <p:cNvPr id="34" name="Rectangle 33"/>
          <p:cNvSpPr/>
          <p:nvPr/>
        </p:nvSpPr>
        <p:spPr>
          <a:xfrm>
            <a:off x="1600200" y="4470400"/>
            <a:ext cx="1005840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5" name="TextBox 34"/>
          <p:cNvSpPr txBox="1"/>
          <p:nvPr/>
        </p:nvSpPr>
        <p:spPr>
          <a:xfrm>
            <a:off x="1645920" y="4470400"/>
            <a:ext cx="996696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Write a false path that hides a real violation, then argue against yourself.</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T7</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The Same Design In an Industrial Tool</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76</a:t>
            </a:r>
          </a:p>
        </p:txBody>
      </p:sp>
      <p:sp>
        <p:nvSpPr>
          <p:cNvPr id="9" name="Rectangle 8"/>
          <p:cNvSpPr/>
          <p:nvPr/>
        </p:nvSpPr>
        <p:spPr>
          <a:xfrm>
            <a:off x="411480" y="1143000"/>
            <a:ext cx="11887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10972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Exercise</a:t>
            </a:r>
          </a:p>
        </p:txBody>
      </p:sp>
      <p:sp>
        <p:nvSpPr>
          <p:cNvPr id="11" name="Rectangle 10"/>
          <p:cNvSpPr/>
          <p:nvPr/>
        </p:nvSpPr>
        <p:spPr>
          <a:xfrm>
            <a:off x="1600200" y="1143000"/>
            <a:ext cx="1737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1645920" y="1143000"/>
            <a:ext cx="1645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Tool</a:t>
            </a:r>
          </a:p>
        </p:txBody>
      </p:sp>
      <p:sp>
        <p:nvSpPr>
          <p:cNvPr id="13" name="Rectangle 12"/>
          <p:cNvSpPr/>
          <p:nvPr/>
        </p:nvSpPr>
        <p:spPr>
          <a:xfrm>
            <a:off x="3337560" y="1143000"/>
            <a:ext cx="832104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3383280" y="1143000"/>
            <a:ext cx="822960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What you produce</a:t>
            </a:r>
          </a:p>
        </p:txBody>
      </p:sp>
      <p:sp>
        <p:nvSpPr>
          <p:cNvPr id="15" name="Rectangle 14"/>
          <p:cNvSpPr/>
          <p:nvPr/>
        </p:nvSpPr>
        <p:spPr>
          <a:xfrm>
            <a:off x="411480" y="1426464"/>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457200" y="1426464"/>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T7.1</a:t>
            </a:r>
          </a:p>
        </p:txBody>
      </p:sp>
      <p:sp>
        <p:nvSpPr>
          <p:cNvPr id="17" name="Rectangle 16"/>
          <p:cNvSpPr/>
          <p:nvPr/>
        </p:nvSpPr>
        <p:spPr>
          <a:xfrm>
            <a:off x="1600200" y="1426464"/>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1645920" y="1426464"/>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Vivado</a:t>
            </a:r>
          </a:p>
        </p:txBody>
      </p:sp>
      <p:sp>
        <p:nvSpPr>
          <p:cNvPr id="19" name="Rectangle 18"/>
          <p:cNvSpPr/>
          <p:nvPr/>
        </p:nvSpPr>
        <p:spPr>
          <a:xfrm>
            <a:off x="3337560" y="1426464"/>
            <a:ext cx="83210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383280" y="1426464"/>
            <a:ext cx="82296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same add32, synthesised for an Artix-7, with your own XDC</a:t>
            </a:r>
          </a:p>
        </p:txBody>
      </p:sp>
      <p:sp>
        <p:nvSpPr>
          <p:cNvPr id="21" name="Rectangle 20"/>
          <p:cNvSpPr/>
          <p:nvPr/>
        </p:nvSpPr>
        <p:spPr>
          <a:xfrm>
            <a:off x="411480" y="1709928"/>
            <a:ext cx="1188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709928"/>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T7.2</a:t>
            </a:r>
          </a:p>
        </p:txBody>
      </p:sp>
      <p:sp>
        <p:nvSpPr>
          <p:cNvPr id="23" name="Rectangle 22"/>
          <p:cNvSpPr/>
          <p:nvPr/>
        </p:nvSpPr>
        <p:spPr>
          <a:xfrm>
            <a:off x="1600200" y="1709928"/>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1645920" y="1709928"/>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Vivado</a:t>
            </a:r>
          </a:p>
        </p:txBody>
      </p:sp>
      <p:sp>
        <p:nvSpPr>
          <p:cNvPr id="25" name="Rectangle 24"/>
          <p:cNvSpPr/>
          <p:nvPr/>
        </p:nvSpPr>
        <p:spPr>
          <a:xfrm>
            <a:off x="3337560" y="1709928"/>
            <a:ext cx="83210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3383280" y="1709928"/>
            <a:ext cx="82296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post-synthesis and post-route timing summaries, compared</a:t>
            </a:r>
          </a:p>
        </p:txBody>
      </p:sp>
      <p:sp>
        <p:nvSpPr>
          <p:cNvPr id="27" name="Rectangle 26"/>
          <p:cNvSpPr/>
          <p:nvPr/>
        </p:nvSpPr>
        <p:spPr>
          <a:xfrm>
            <a:off x="411480" y="1993392"/>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457200" y="1993392"/>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T7.3</a:t>
            </a:r>
          </a:p>
        </p:txBody>
      </p:sp>
      <p:sp>
        <p:nvSpPr>
          <p:cNvPr id="29" name="Rectangle 28"/>
          <p:cNvSpPr/>
          <p:nvPr/>
        </p:nvSpPr>
        <p:spPr>
          <a:xfrm>
            <a:off x="1600200" y="1993392"/>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1645920" y="1993392"/>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Vivado</a:t>
            </a:r>
          </a:p>
        </p:txBody>
      </p:sp>
      <p:sp>
        <p:nvSpPr>
          <p:cNvPr id="31" name="Rectangle 30"/>
          <p:cNvSpPr/>
          <p:nvPr/>
        </p:nvSpPr>
        <p:spPr>
          <a:xfrm>
            <a:off x="3337560" y="1993392"/>
            <a:ext cx="83210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383280" y="1993392"/>
            <a:ext cx="82296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multicycle path applied in XDC - same effect, vendor syntax</a:t>
            </a:r>
          </a:p>
        </p:txBody>
      </p:sp>
      <p:sp>
        <p:nvSpPr>
          <p:cNvPr id="33" name="Rectangle 32"/>
          <p:cNvSpPr/>
          <p:nvPr/>
        </p:nvSpPr>
        <p:spPr>
          <a:xfrm>
            <a:off x="411480" y="2276856"/>
            <a:ext cx="11887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276856"/>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T7.4</a:t>
            </a:r>
          </a:p>
        </p:txBody>
      </p:sp>
      <p:sp>
        <p:nvSpPr>
          <p:cNvPr id="35" name="Rectangle 34"/>
          <p:cNvSpPr/>
          <p:nvPr/>
        </p:nvSpPr>
        <p:spPr>
          <a:xfrm>
            <a:off x="1600200" y="2276856"/>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1645920" y="2276856"/>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OpenSTA</a:t>
            </a:r>
          </a:p>
        </p:txBody>
      </p:sp>
      <p:sp>
        <p:nvSpPr>
          <p:cNvPr id="37" name="Rectangle 36"/>
          <p:cNvSpPr/>
          <p:nvPr/>
        </p:nvSpPr>
        <p:spPr>
          <a:xfrm>
            <a:off x="3337560" y="2276856"/>
            <a:ext cx="832104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3383280" y="2276856"/>
            <a:ext cx="82296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your netlist and a real .lib, read by a real STA tool</a:t>
            </a:r>
          </a:p>
        </p:txBody>
      </p:sp>
      <p:sp>
        <p:nvSpPr>
          <p:cNvPr id="39" name="Rectangle 38"/>
          <p:cNvSpPr/>
          <p:nvPr/>
        </p:nvSpPr>
        <p:spPr>
          <a:xfrm>
            <a:off x="411480" y="2560320"/>
            <a:ext cx="11887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457200" y="2560320"/>
            <a:ext cx="10972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T7.5</a:t>
            </a:r>
          </a:p>
        </p:txBody>
      </p:sp>
      <p:sp>
        <p:nvSpPr>
          <p:cNvPr id="41" name="Rectangle 40"/>
          <p:cNvSpPr/>
          <p:nvPr/>
        </p:nvSpPr>
        <p:spPr>
          <a:xfrm>
            <a:off x="1600200" y="2560320"/>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1645920" y="2560320"/>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both</a:t>
            </a:r>
          </a:p>
        </p:txBody>
      </p:sp>
      <p:sp>
        <p:nvSpPr>
          <p:cNvPr id="43" name="Rectangle 42"/>
          <p:cNvSpPr/>
          <p:nvPr/>
        </p:nvSpPr>
        <p:spPr>
          <a:xfrm>
            <a:off x="3337560" y="2560320"/>
            <a:ext cx="832104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383280" y="2560320"/>
            <a:ext cx="822960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one-page comparison: what matched, what did not, and why</a:t>
            </a:r>
          </a:p>
        </p:txBody>
      </p:sp>
      <p:sp>
        <p:nvSpPr>
          <p:cNvPr id="45" name="Rounded Rectangle 44"/>
          <p:cNvSpPr/>
          <p:nvPr/>
        </p:nvSpPr>
        <p:spPr>
          <a:xfrm>
            <a:off x="411480" y="2935224"/>
            <a:ext cx="11247120" cy="82296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76072" y="2999232"/>
            <a:ext cx="10917936"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T7.5 is the deliverable that proves you learned the topic</a:t>
            </a:r>
          </a:p>
        </p:txBody>
      </p:sp>
      <p:sp>
        <p:nvSpPr>
          <p:cNvPr id="47" name="TextBox 46"/>
          <p:cNvSpPr txBox="1"/>
          <p:nvPr/>
        </p:nvSpPr>
        <p:spPr>
          <a:xfrm>
            <a:off x="576072" y="3273552"/>
            <a:ext cx="10917936" cy="42062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The numbers will differ. The reasoning will not. If you can explain why Vivado's WNS differs from yours, and point at the delay model rather than shrugging, you can close timing on a real design.</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LABS · ASSESSMENT</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How the 62 Exercises Are Weighted</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77</a:t>
            </a:r>
          </a:p>
        </p:txBody>
      </p:sp>
      <p:sp>
        <p:nvSpPr>
          <p:cNvPr id="9" name="Rectangle 8"/>
          <p:cNvSpPr/>
          <p:nvPr/>
        </p:nvSpPr>
        <p:spPr>
          <a:xfrm>
            <a:off x="411480" y="1143000"/>
            <a:ext cx="301752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92608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Part</a:t>
            </a:r>
          </a:p>
        </p:txBody>
      </p:sp>
      <p:sp>
        <p:nvSpPr>
          <p:cNvPr id="11" name="Rectangle 10"/>
          <p:cNvSpPr/>
          <p:nvPr/>
        </p:nvSpPr>
        <p:spPr>
          <a:xfrm>
            <a:off x="3429000" y="1143000"/>
            <a:ext cx="201168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474720" y="1143000"/>
            <a:ext cx="192024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Exercises</a:t>
            </a:r>
          </a:p>
        </p:txBody>
      </p:sp>
      <p:sp>
        <p:nvSpPr>
          <p:cNvPr id="13" name="Rectangle 12"/>
          <p:cNvSpPr/>
          <p:nvPr/>
        </p:nvSpPr>
        <p:spPr>
          <a:xfrm>
            <a:off x="5440680" y="1143000"/>
            <a:ext cx="17373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5486400" y="1143000"/>
            <a:ext cx="16459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Weight</a:t>
            </a:r>
          </a:p>
        </p:txBody>
      </p:sp>
      <p:sp>
        <p:nvSpPr>
          <p:cNvPr id="15" name="Rectangle 14"/>
          <p:cNvSpPr/>
          <p:nvPr/>
        </p:nvSpPr>
        <p:spPr>
          <a:xfrm>
            <a:off x="7178040" y="1143000"/>
            <a:ext cx="4480560" cy="283464"/>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7223760" y="1143000"/>
            <a:ext cx="4389120" cy="283464"/>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Assessed on</a:t>
            </a:r>
          </a:p>
        </p:txBody>
      </p:sp>
      <p:sp>
        <p:nvSpPr>
          <p:cNvPr id="17" name="Rectangle 16"/>
          <p:cNvSpPr/>
          <p:nvPr/>
        </p:nvSpPr>
        <p:spPr>
          <a:xfrm>
            <a:off x="411480" y="1426464"/>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426464"/>
            <a:ext cx="29260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 · delay model</a:t>
            </a:r>
          </a:p>
        </p:txBody>
      </p:sp>
      <p:sp>
        <p:nvSpPr>
          <p:cNvPr id="19" name="Rectangle 18"/>
          <p:cNvSpPr/>
          <p:nvPr/>
        </p:nvSpPr>
        <p:spPr>
          <a:xfrm>
            <a:off x="3429000" y="1426464"/>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474720" y="1426464"/>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6</a:t>
            </a:r>
          </a:p>
        </p:txBody>
      </p:sp>
      <p:sp>
        <p:nvSpPr>
          <p:cNvPr id="21" name="Rectangle 20"/>
          <p:cNvSpPr/>
          <p:nvPr/>
        </p:nvSpPr>
        <p:spPr>
          <a:xfrm>
            <a:off x="5440680" y="1426464"/>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5486400" y="1426464"/>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8%</a:t>
            </a:r>
          </a:p>
        </p:txBody>
      </p:sp>
      <p:sp>
        <p:nvSpPr>
          <p:cNvPr id="23" name="Rectangle 22"/>
          <p:cNvSpPr/>
          <p:nvPr/>
        </p:nvSpPr>
        <p:spPr>
          <a:xfrm>
            <a:off x="7178040" y="1426464"/>
            <a:ext cx="44805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7223760" y="1426464"/>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every number traceable to the library</a:t>
            </a:r>
          </a:p>
        </p:txBody>
      </p:sp>
      <p:sp>
        <p:nvSpPr>
          <p:cNvPr id="25" name="Rectangle 24"/>
          <p:cNvSpPr/>
          <p:nvPr/>
        </p:nvSpPr>
        <p:spPr>
          <a:xfrm>
            <a:off x="411480" y="1709928"/>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1709928"/>
            <a:ext cx="29260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B · timing graph</a:t>
            </a:r>
          </a:p>
        </p:txBody>
      </p:sp>
      <p:sp>
        <p:nvSpPr>
          <p:cNvPr id="27" name="Rectangle 26"/>
          <p:cNvSpPr/>
          <p:nvPr/>
        </p:nvSpPr>
        <p:spPr>
          <a:xfrm>
            <a:off x="3429000" y="1709928"/>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474720" y="1709928"/>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8</a:t>
            </a:r>
          </a:p>
        </p:txBody>
      </p:sp>
      <p:sp>
        <p:nvSpPr>
          <p:cNvPr id="29" name="Rectangle 28"/>
          <p:cNvSpPr/>
          <p:nvPr/>
        </p:nvSpPr>
        <p:spPr>
          <a:xfrm>
            <a:off x="5440680" y="1709928"/>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5486400" y="1709928"/>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12%</a:t>
            </a:r>
          </a:p>
        </p:txBody>
      </p:sp>
      <p:sp>
        <p:nvSpPr>
          <p:cNvPr id="31" name="Rectangle 30"/>
          <p:cNvSpPr/>
          <p:nvPr/>
        </p:nvSpPr>
        <p:spPr>
          <a:xfrm>
            <a:off x="7178040" y="1709928"/>
            <a:ext cx="44805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7223760" y="1709928"/>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hand-drawn graph matches the code</a:t>
            </a:r>
          </a:p>
        </p:txBody>
      </p:sp>
      <p:sp>
        <p:nvSpPr>
          <p:cNvPr id="33" name="Rectangle 32"/>
          <p:cNvSpPr/>
          <p:nvPr/>
        </p:nvSpPr>
        <p:spPr>
          <a:xfrm>
            <a:off x="411480" y="1993392"/>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1993392"/>
            <a:ext cx="29260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 · the engine</a:t>
            </a:r>
          </a:p>
        </p:txBody>
      </p:sp>
      <p:sp>
        <p:nvSpPr>
          <p:cNvPr id="35" name="Rectangle 34"/>
          <p:cNvSpPr/>
          <p:nvPr/>
        </p:nvSpPr>
        <p:spPr>
          <a:xfrm>
            <a:off x="3429000" y="1993392"/>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474720" y="1993392"/>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10</a:t>
            </a:r>
          </a:p>
        </p:txBody>
      </p:sp>
      <p:sp>
        <p:nvSpPr>
          <p:cNvPr id="37" name="Rectangle 36"/>
          <p:cNvSpPr/>
          <p:nvPr/>
        </p:nvSpPr>
        <p:spPr>
          <a:xfrm>
            <a:off x="5440680" y="1993392"/>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5486400" y="1993392"/>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20%</a:t>
            </a:r>
          </a:p>
        </p:txBody>
      </p:sp>
      <p:sp>
        <p:nvSpPr>
          <p:cNvPr id="39" name="Rectangle 38"/>
          <p:cNvSpPr/>
          <p:nvPr/>
        </p:nvSpPr>
        <p:spPr>
          <a:xfrm>
            <a:off x="7178040" y="1993392"/>
            <a:ext cx="44805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7223760" y="1993392"/>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hand arithmetic matches the report</a:t>
            </a:r>
          </a:p>
        </p:txBody>
      </p:sp>
      <p:sp>
        <p:nvSpPr>
          <p:cNvPr id="41" name="Rectangle 40"/>
          <p:cNvSpPr/>
          <p:nvPr/>
        </p:nvSpPr>
        <p:spPr>
          <a:xfrm>
            <a:off x="411480" y="2276856"/>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2276856"/>
            <a:ext cx="29260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D · constraints</a:t>
            </a:r>
          </a:p>
        </p:txBody>
      </p:sp>
      <p:sp>
        <p:nvSpPr>
          <p:cNvPr id="43" name="Rectangle 42"/>
          <p:cNvSpPr/>
          <p:nvPr/>
        </p:nvSpPr>
        <p:spPr>
          <a:xfrm>
            <a:off x="3429000" y="2276856"/>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474720" y="2276856"/>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12</a:t>
            </a:r>
          </a:p>
        </p:txBody>
      </p:sp>
      <p:sp>
        <p:nvSpPr>
          <p:cNvPr id="45" name="Rectangle 44"/>
          <p:cNvSpPr/>
          <p:nvPr/>
        </p:nvSpPr>
        <p:spPr>
          <a:xfrm>
            <a:off x="5440680" y="2276856"/>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5486400" y="2276856"/>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15%</a:t>
            </a:r>
          </a:p>
        </p:txBody>
      </p:sp>
      <p:sp>
        <p:nvSpPr>
          <p:cNvPr id="47" name="Rectangle 46"/>
          <p:cNvSpPr/>
          <p:nvPr/>
        </p:nvSpPr>
        <p:spPr>
          <a:xfrm>
            <a:off x="7178040" y="2276856"/>
            <a:ext cx="44805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7223760" y="2276856"/>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defensible line-by-line SDC file</a:t>
            </a:r>
          </a:p>
        </p:txBody>
      </p:sp>
      <p:sp>
        <p:nvSpPr>
          <p:cNvPr id="49" name="Rectangle 48"/>
          <p:cNvSpPr/>
          <p:nvPr/>
        </p:nvSpPr>
        <p:spPr>
          <a:xfrm>
            <a:off x="411480" y="2560320"/>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2560320"/>
            <a:ext cx="29260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E · setup closure</a:t>
            </a:r>
          </a:p>
        </p:txBody>
      </p:sp>
      <p:sp>
        <p:nvSpPr>
          <p:cNvPr id="51" name="Rectangle 50"/>
          <p:cNvSpPr/>
          <p:nvPr/>
        </p:nvSpPr>
        <p:spPr>
          <a:xfrm>
            <a:off x="3429000" y="2560320"/>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474720" y="2560320"/>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12</a:t>
            </a:r>
          </a:p>
        </p:txBody>
      </p:sp>
      <p:sp>
        <p:nvSpPr>
          <p:cNvPr id="53" name="Rectangle 52"/>
          <p:cNvSpPr/>
          <p:nvPr/>
        </p:nvSpPr>
        <p:spPr>
          <a:xfrm>
            <a:off x="5440680" y="2560320"/>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5486400" y="2560320"/>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20%</a:t>
            </a:r>
          </a:p>
        </p:txBody>
      </p:sp>
      <p:sp>
        <p:nvSpPr>
          <p:cNvPr id="55" name="Rectangle 54"/>
          <p:cNvSpPr/>
          <p:nvPr/>
        </p:nvSpPr>
        <p:spPr>
          <a:xfrm>
            <a:off x="7178040" y="2560320"/>
            <a:ext cx="44805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7223760" y="2560320"/>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measured Fmax, plus verification</a:t>
            </a:r>
          </a:p>
        </p:txBody>
      </p:sp>
      <p:sp>
        <p:nvSpPr>
          <p:cNvPr id="57" name="Rectangle 56"/>
          <p:cNvSpPr/>
          <p:nvPr/>
        </p:nvSpPr>
        <p:spPr>
          <a:xfrm>
            <a:off x="411480" y="2843784"/>
            <a:ext cx="301752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2843784"/>
            <a:ext cx="29260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 · hold and exceptions</a:t>
            </a:r>
          </a:p>
        </p:txBody>
      </p:sp>
      <p:sp>
        <p:nvSpPr>
          <p:cNvPr id="59" name="Rectangle 58"/>
          <p:cNvSpPr/>
          <p:nvPr/>
        </p:nvSpPr>
        <p:spPr>
          <a:xfrm>
            <a:off x="3429000" y="2843784"/>
            <a:ext cx="201168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3474720" y="2843784"/>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9</a:t>
            </a:r>
          </a:p>
        </p:txBody>
      </p:sp>
      <p:sp>
        <p:nvSpPr>
          <p:cNvPr id="61" name="Rectangle 60"/>
          <p:cNvSpPr/>
          <p:nvPr/>
        </p:nvSpPr>
        <p:spPr>
          <a:xfrm>
            <a:off x="5440680" y="2843784"/>
            <a:ext cx="17373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2" name="TextBox 61"/>
          <p:cNvSpPr txBox="1"/>
          <p:nvPr/>
        </p:nvSpPr>
        <p:spPr>
          <a:xfrm>
            <a:off x="5486400" y="2843784"/>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15%</a:t>
            </a:r>
          </a:p>
        </p:txBody>
      </p:sp>
      <p:sp>
        <p:nvSpPr>
          <p:cNvPr id="63" name="Rectangle 62"/>
          <p:cNvSpPr/>
          <p:nvPr/>
        </p:nvSpPr>
        <p:spPr>
          <a:xfrm>
            <a:off x="7178040" y="2843784"/>
            <a:ext cx="4480560" cy="283464"/>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4" name="TextBox 63"/>
          <p:cNvSpPr txBox="1"/>
          <p:nvPr/>
        </p:nvSpPr>
        <p:spPr>
          <a:xfrm>
            <a:off x="7223760" y="2843784"/>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correct diagnosis before the fix</a:t>
            </a:r>
          </a:p>
        </p:txBody>
      </p:sp>
      <p:sp>
        <p:nvSpPr>
          <p:cNvPr id="65" name="Rectangle 64"/>
          <p:cNvSpPr/>
          <p:nvPr/>
        </p:nvSpPr>
        <p:spPr>
          <a:xfrm>
            <a:off x="411480" y="3127248"/>
            <a:ext cx="301752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6" name="TextBox 65"/>
          <p:cNvSpPr txBox="1"/>
          <p:nvPr/>
        </p:nvSpPr>
        <p:spPr>
          <a:xfrm>
            <a:off x="457200" y="3127248"/>
            <a:ext cx="2926080" cy="283464"/>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G · industrial tools</a:t>
            </a:r>
          </a:p>
        </p:txBody>
      </p:sp>
      <p:sp>
        <p:nvSpPr>
          <p:cNvPr id="67" name="Rectangle 66"/>
          <p:cNvSpPr/>
          <p:nvPr/>
        </p:nvSpPr>
        <p:spPr>
          <a:xfrm>
            <a:off x="3429000" y="3127248"/>
            <a:ext cx="201168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8" name="TextBox 67"/>
          <p:cNvSpPr txBox="1"/>
          <p:nvPr/>
        </p:nvSpPr>
        <p:spPr>
          <a:xfrm>
            <a:off x="3474720" y="3127248"/>
            <a:ext cx="192024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5</a:t>
            </a:r>
          </a:p>
        </p:txBody>
      </p:sp>
      <p:sp>
        <p:nvSpPr>
          <p:cNvPr id="69" name="Rectangle 68"/>
          <p:cNvSpPr/>
          <p:nvPr/>
        </p:nvSpPr>
        <p:spPr>
          <a:xfrm>
            <a:off x="5440680" y="3127248"/>
            <a:ext cx="17373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0" name="TextBox 69"/>
          <p:cNvSpPr txBox="1"/>
          <p:nvPr/>
        </p:nvSpPr>
        <p:spPr>
          <a:xfrm>
            <a:off x="5486400" y="3127248"/>
            <a:ext cx="16459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10%</a:t>
            </a:r>
          </a:p>
        </p:txBody>
      </p:sp>
      <p:sp>
        <p:nvSpPr>
          <p:cNvPr id="71" name="Rectangle 70"/>
          <p:cNvSpPr/>
          <p:nvPr/>
        </p:nvSpPr>
        <p:spPr>
          <a:xfrm>
            <a:off x="7178040" y="3127248"/>
            <a:ext cx="4480560" cy="283464"/>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2" name="TextBox 71"/>
          <p:cNvSpPr txBox="1"/>
          <p:nvPr/>
        </p:nvSpPr>
        <p:spPr>
          <a:xfrm>
            <a:off x="7223760" y="3127248"/>
            <a:ext cx="4389120" cy="283464"/>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comparison write-up</a:t>
            </a:r>
          </a:p>
        </p:txBody>
      </p:sp>
      <p:sp>
        <p:nvSpPr>
          <p:cNvPr id="73" name="Rounded Rectangle 72"/>
          <p:cNvSpPr/>
          <p:nvPr/>
        </p:nvSpPr>
        <p:spPr>
          <a:xfrm>
            <a:off x="411480" y="3502152"/>
            <a:ext cx="11247120" cy="868680"/>
          </a:xfrm>
          <a:prstGeom prst="roundRect">
            <a:avLst>
              <a:gd name="adj" fmla="val 5714"/>
            </a:avLst>
          </a:prstGeom>
          <a:solidFill>
            <a:srgbClr val="F4F8FB"/>
          </a:solidFill>
          <a:ln w="1397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4" name="TextBox 73"/>
          <p:cNvSpPr txBox="1"/>
          <p:nvPr/>
        </p:nvSpPr>
        <p:spPr>
          <a:xfrm>
            <a:off x="576072" y="3566160"/>
            <a:ext cx="10917936" cy="274320"/>
          </a:xfrm>
          <a:prstGeom prst="rect">
            <a:avLst/>
          </a:prstGeom>
          <a:noFill/>
        </p:spPr>
        <p:txBody>
          <a:bodyPr wrap="square" lIns="0" rIns="0" tIns="0" bIns="0" anchor="ctr">
            <a:spAutoFit/>
          </a:bodyPr>
          <a:lstStyle/>
          <a:p>
            <a:pPr algn="l">
              <a:lnSpc>
                <a:spcPct val="103000"/>
              </a:lnSpc>
            </a:pPr>
            <a:r>
              <a:rPr sz="1150" b="1" i="0">
                <a:solidFill>
                  <a:srgbClr val="0E2A47"/>
                </a:solidFill>
                <a:latin typeface="Cambria"/>
              </a:rPr>
              <a:t>The rule that runs through every part</a:t>
            </a:r>
          </a:p>
        </p:txBody>
      </p:sp>
      <p:sp>
        <p:nvSpPr>
          <p:cNvPr id="75" name="TextBox 74"/>
          <p:cNvSpPr txBox="1"/>
          <p:nvPr/>
        </p:nvSpPr>
        <p:spPr>
          <a:xfrm>
            <a:off x="576072" y="3840480"/>
            <a:ext cx="10917936" cy="466344"/>
          </a:xfrm>
          <a:prstGeom prst="rect">
            <a:avLst/>
          </a:prstGeom>
          <a:noFill/>
        </p:spPr>
        <p:txBody>
          <a:bodyPr wrap="square" lIns="0" rIns="0" tIns="0" bIns="0" anchor="t">
            <a:spAutoFit/>
          </a:bodyPr>
          <a:lstStyle/>
          <a:p>
            <a:pPr algn="l">
              <a:lnSpc>
                <a:spcPct val="103000"/>
              </a:lnSpc>
              <a:spcAft>
                <a:spcPts val="400"/>
              </a:spcAft>
            </a:pPr>
            <a:r>
              <a:rPr sz="1050" b="0" i="0">
                <a:solidFill>
                  <a:srgbClr val="33414F"/>
                </a:solidFill>
                <a:latin typeface="Calibri"/>
              </a:rPr>
              <a:t>A fix you cannot explain is not a fix. Marks are given for the reasoning, not for the green report - because in this field it is trivially easy to produce a green report on a broken design.</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Glossary - Terms Used In This Topic (1 of 2)</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78</a:t>
            </a:r>
          </a:p>
        </p:txBody>
      </p:sp>
      <p:sp>
        <p:nvSpPr>
          <p:cNvPr id="9" name="Rectangle 8"/>
          <p:cNvSpPr/>
          <p:nvPr/>
        </p:nvSpPr>
        <p:spPr>
          <a:xfrm>
            <a:off x="411480" y="1143000"/>
            <a:ext cx="2743200" cy="26517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651760" cy="26517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Term</a:t>
            </a:r>
          </a:p>
        </p:txBody>
      </p:sp>
      <p:sp>
        <p:nvSpPr>
          <p:cNvPr id="11" name="Rectangle 10"/>
          <p:cNvSpPr/>
          <p:nvPr/>
        </p:nvSpPr>
        <p:spPr>
          <a:xfrm>
            <a:off x="3154680" y="1143000"/>
            <a:ext cx="8503920" cy="26517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200400" y="1143000"/>
            <a:ext cx="8412480" cy="26517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Meaning</a:t>
            </a:r>
          </a:p>
        </p:txBody>
      </p:sp>
      <p:sp>
        <p:nvSpPr>
          <p:cNvPr id="13" name="Rectangle 12"/>
          <p:cNvSpPr/>
          <p:nvPr/>
        </p:nvSpPr>
        <p:spPr>
          <a:xfrm>
            <a:off x="411480" y="1408176"/>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7200" y="1408176"/>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arrival time</a:t>
            </a:r>
          </a:p>
        </p:txBody>
      </p:sp>
      <p:sp>
        <p:nvSpPr>
          <p:cNvPr id="15" name="Rectangle 14"/>
          <p:cNvSpPr/>
          <p:nvPr/>
        </p:nvSpPr>
        <p:spPr>
          <a:xfrm>
            <a:off x="3154680" y="1408176"/>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0400" y="1408176"/>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when the data actually reaches a pin, measured from the clock edge</a:t>
            </a:r>
          </a:p>
        </p:txBody>
      </p:sp>
      <p:sp>
        <p:nvSpPr>
          <p:cNvPr id="17" name="Rectangle 16"/>
          <p:cNvSpPr/>
          <p:nvPr/>
        </p:nvSpPr>
        <p:spPr>
          <a:xfrm>
            <a:off x="411480" y="1673352"/>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673352"/>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required time</a:t>
            </a:r>
          </a:p>
        </p:txBody>
      </p:sp>
      <p:sp>
        <p:nvSpPr>
          <p:cNvPr id="19" name="Rectangle 18"/>
          <p:cNvSpPr/>
          <p:nvPr/>
        </p:nvSpPr>
        <p:spPr>
          <a:xfrm>
            <a:off x="3154680" y="1673352"/>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0400" y="1673352"/>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when it had to be there by, for the check to pass</a:t>
            </a:r>
          </a:p>
        </p:txBody>
      </p:sp>
      <p:sp>
        <p:nvSpPr>
          <p:cNvPr id="21" name="Rectangle 20"/>
          <p:cNvSpPr/>
          <p:nvPr/>
        </p:nvSpPr>
        <p:spPr>
          <a:xfrm>
            <a:off x="411480" y="1938528"/>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938528"/>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slack</a:t>
            </a:r>
          </a:p>
        </p:txBody>
      </p:sp>
      <p:sp>
        <p:nvSpPr>
          <p:cNvPr id="23" name="Rectangle 22"/>
          <p:cNvSpPr/>
          <p:nvPr/>
        </p:nvSpPr>
        <p:spPr>
          <a:xfrm>
            <a:off x="3154680" y="1938528"/>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200400" y="1938528"/>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required minus arrival. Positive fits, negative does not</a:t>
            </a:r>
          </a:p>
        </p:txBody>
      </p:sp>
      <p:sp>
        <p:nvSpPr>
          <p:cNvPr id="25" name="Rectangle 24"/>
          <p:cNvSpPr/>
          <p:nvPr/>
        </p:nvSpPr>
        <p:spPr>
          <a:xfrm>
            <a:off x="411480" y="2203704"/>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2203704"/>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WNS</a:t>
            </a:r>
          </a:p>
        </p:txBody>
      </p:sp>
      <p:sp>
        <p:nvSpPr>
          <p:cNvPr id="27" name="Rectangle 26"/>
          <p:cNvSpPr/>
          <p:nvPr/>
        </p:nvSpPr>
        <p:spPr>
          <a:xfrm>
            <a:off x="3154680" y="2203704"/>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200400" y="2203704"/>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worst negative slack - the single worst path in the design</a:t>
            </a:r>
          </a:p>
        </p:txBody>
      </p:sp>
      <p:sp>
        <p:nvSpPr>
          <p:cNvPr id="29" name="Rectangle 28"/>
          <p:cNvSpPr/>
          <p:nvPr/>
        </p:nvSpPr>
        <p:spPr>
          <a:xfrm>
            <a:off x="411480" y="2468880"/>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2468880"/>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TNS</a:t>
            </a:r>
          </a:p>
        </p:txBody>
      </p:sp>
      <p:sp>
        <p:nvSpPr>
          <p:cNvPr id="31" name="Rectangle 30"/>
          <p:cNvSpPr/>
          <p:nvPr/>
        </p:nvSpPr>
        <p:spPr>
          <a:xfrm>
            <a:off x="3154680" y="2468880"/>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200400" y="2468880"/>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total negative slack - every negative slack added up</a:t>
            </a:r>
          </a:p>
        </p:txBody>
      </p:sp>
      <p:sp>
        <p:nvSpPr>
          <p:cNvPr id="33" name="Rectangle 32"/>
          <p:cNvSpPr/>
          <p:nvPr/>
        </p:nvSpPr>
        <p:spPr>
          <a:xfrm>
            <a:off x="411480" y="2734056"/>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734056"/>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setup time</a:t>
            </a:r>
          </a:p>
        </p:txBody>
      </p:sp>
      <p:sp>
        <p:nvSpPr>
          <p:cNvPr id="35" name="Rectangle 34"/>
          <p:cNvSpPr/>
          <p:nvPr/>
        </p:nvSpPr>
        <p:spPr>
          <a:xfrm>
            <a:off x="3154680" y="2734056"/>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200400" y="2734056"/>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how long D must be stable BEFORE the clock edge</a:t>
            </a:r>
          </a:p>
        </p:txBody>
      </p:sp>
      <p:sp>
        <p:nvSpPr>
          <p:cNvPr id="37" name="Rectangle 36"/>
          <p:cNvSpPr/>
          <p:nvPr/>
        </p:nvSpPr>
        <p:spPr>
          <a:xfrm>
            <a:off x="411480" y="2999232"/>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57200" y="2999232"/>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hold time</a:t>
            </a:r>
          </a:p>
        </p:txBody>
      </p:sp>
      <p:sp>
        <p:nvSpPr>
          <p:cNvPr id="39" name="Rectangle 38"/>
          <p:cNvSpPr/>
          <p:nvPr/>
        </p:nvSpPr>
        <p:spPr>
          <a:xfrm>
            <a:off x="3154680" y="2999232"/>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200400" y="2999232"/>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how long D must stay stable AFTER the clock edge</a:t>
            </a:r>
          </a:p>
        </p:txBody>
      </p:sp>
      <p:sp>
        <p:nvSpPr>
          <p:cNvPr id="41" name="Rectangle 40"/>
          <p:cNvSpPr/>
          <p:nvPr/>
        </p:nvSpPr>
        <p:spPr>
          <a:xfrm>
            <a:off x="411480" y="3264408"/>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3264408"/>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clock-to-Q</a:t>
            </a:r>
          </a:p>
        </p:txBody>
      </p:sp>
      <p:sp>
        <p:nvSpPr>
          <p:cNvPr id="43" name="Rectangle 42"/>
          <p:cNvSpPr/>
          <p:nvPr/>
        </p:nvSpPr>
        <p:spPr>
          <a:xfrm>
            <a:off x="3154680" y="3264408"/>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200400" y="3264408"/>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how long after the edge before Q is valid</a:t>
            </a:r>
          </a:p>
        </p:txBody>
      </p:sp>
      <p:sp>
        <p:nvSpPr>
          <p:cNvPr id="45" name="Rectangle 44"/>
          <p:cNvSpPr/>
          <p:nvPr/>
        </p:nvSpPr>
        <p:spPr>
          <a:xfrm>
            <a:off x="411480" y="3529584"/>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529584"/>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clock skew</a:t>
            </a:r>
          </a:p>
        </p:txBody>
      </p:sp>
      <p:sp>
        <p:nvSpPr>
          <p:cNvPr id="47" name="Rectangle 46"/>
          <p:cNvSpPr/>
          <p:nvPr/>
        </p:nvSpPr>
        <p:spPr>
          <a:xfrm>
            <a:off x="3154680" y="3529584"/>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200400" y="3529584"/>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difference in clock arrival between two registers</a:t>
            </a:r>
          </a:p>
        </p:txBody>
      </p:sp>
      <p:sp>
        <p:nvSpPr>
          <p:cNvPr id="49" name="Rectangle 48"/>
          <p:cNvSpPr/>
          <p:nvPr/>
        </p:nvSpPr>
        <p:spPr>
          <a:xfrm>
            <a:off x="411480" y="3794760"/>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3794760"/>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clock jitter</a:t>
            </a:r>
          </a:p>
        </p:txBody>
      </p:sp>
      <p:sp>
        <p:nvSpPr>
          <p:cNvPr id="51" name="Rectangle 50"/>
          <p:cNvSpPr/>
          <p:nvPr/>
        </p:nvSpPr>
        <p:spPr>
          <a:xfrm>
            <a:off x="3154680" y="3794760"/>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200400" y="3794760"/>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cycle-to-cycle variation in the clock edge position</a:t>
            </a:r>
          </a:p>
        </p:txBody>
      </p:sp>
      <p:sp>
        <p:nvSpPr>
          <p:cNvPr id="53" name="Rectangle 52"/>
          <p:cNvSpPr/>
          <p:nvPr/>
        </p:nvSpPr>
        <p:spPr>
          <a:xfrm>
            <a:off x="411480" y="4059936"/>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57200" y="4059936"/>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uncertainty</a:t>
            </a:r>
          </a:p>
        </p:txBody>
      </p:sp>
      <p:sp>
        <p:nvSpPr>
          <p:cNvPr id="55" name="Rectangle 54"/>
          <p:cNvSpPr/>
          <p:nvPr/>
        </p:nvSpPr>
        <p:spPr>
          <a:xfrm>
            <a:off x="3154680" y="4059936"/>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3200400" y="4059936"/>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margin that stands in for jitter and unmodelled skew</a:t>
            </a:r>
          </a:p>
        </p:txBody>
      </p:sp>
      <p:sp>
        <p:nvSpPr>
          <p:cNvPr id="57" name="Rectangle 56"/>
          <p:cNvSpPr/>
          <p:nvPr/>
        </p:nvSpPr>
        <p:spPr>
          <a:xfrm>
            <a:off x="411480" y="4325112"/>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4325112"/>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critical path</a:t>
            </a:r>
          </a:p>
        </p:txBody>
      </p:sp>
      <p:sp>
        <p:nvSpPr>
          <p:cNvPr id="59" name="Rectangle 58"/>
          <p:cNvSpPr/>
          <p:nvPr/>
        </p:nvSpPr>
        <p:spPr>
          <a:xfrm>
            <a:off x="3154680" y="4325112"/>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3200400" y="4325112"/>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path with the worst slack - the one that sets Fmax</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REFERENCE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Glossary - Terms Used In This Topic (2 of 2)</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79</a:t>
            </a:r>
          </a:p>
        </p:txBody>
      </p:sp>
      <p:sp>
        <p:nvSpPr>
          <p:cNvPr id="9" name="Rectangle 8"/>
          <p:cNvSpPr/>
          <p:nvPr/>
        </p:nvSpPr>
        <p:spPr>
          <a:xfrm>
            <a:off x="411480" y="1143000"/>
            <a:ext cx="2743200" cy="26517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457200" y="1143000"/>
            <a:ext cx="2651760" cy="26517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Term</a:t>
            </a:r>
          </a:p>
        </p:txBody>
      </p:sp>
      <p:sp>
        <p:nvSpPr>
          <p:cNvPr id="11" name="Rectangle 10"/>
          <p:cNvSpPr/>
          <p:nvPr/>
        </p:nvSpPr>
        <p:spPr>
          <a:xfrm>
            <a:off x="3154680" y="1143000"/>
            <a:ext cx="8503920" cy="265176"/>
          </a:xfrm>
          <a:prstGeom prst="rect">
            <a:avLst/>
          </a:prstGeom>
          <a:solidFill>
            <a:srgbClr val="0E2A47"/>
          </a:solidFill>
          <a:ln w="6350">
            <a:solidFill>
              <a:srgbClr val="0E2A47"/>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2" name="TextBox 11"/>
          <p:cNvSpPr txBox="1"/>
          <p:nvPr/>
        </p:nvSpPr>
        <p:spPr>
          <a:xfrm>
            <a:off x="3200400" y="1143000"/>
            <a:ext cx="8412480" cy="265176"/>
          </a:xfrm>
          <a:prstGeom prst="rect">
            <a:avLst/>
          </a:prstGeom>
          <a:noFill/>
        </p:spPr>
        <p:txBody>
          <a:bodyPr wrap="square" lIns="0" rIns="0" tIns="0" bIns="0" anchor="ctr">
            <a:spAutoFit/>
          </a:bodyPr>
          <a:lstStyle/>
          <a:p>
            <a:pPr algn="ctr">
              <a:lnSpc>
                <a:spcPct val="103000"/>
              </a:lnSpc>
            </a:pPr>
            <a:r>
              <a:rPr sz="1000" b="1" i="0">
                <a:solidFill>
                  <a:srgbClr val="FFFFFF"/>
                </a:solidFill>
                <a:latin typeface="Calibri"/>
              </a:rPr>
              <a:t>Meaning</a:t>
            </a:r>
          </a:p>
        </p:txBody>
      </p:sp>
      <p:sp>
        <p:nvSpPr>
          <p:cNvPr id="13" name="Rectangle 12"/>
          <p:cNvSpPr/>
          <p:nvPr/>
        </p:nvSpPr>
        <p:spPr>
          <a:xfrm>
            <a:off x="411480" y="1408176"/>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4" name="TextBox 13"/>
          <p:cNvSpPr txBox="1"/>
          <p:nvPr/>
        </p:nvSpPr>
        <p:spPr>
          <a:xfrm>
            <a:off x="457200" y="1408176"/>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Fmax</a:t>
            </a:r>
          </a:p>
        </p:txBody>
      </p:sp>
      <p:sp>
        <p:nvSpPr>
          <p:cNvPr id="15" name="Rectangle 14"/>
          <p:cNvSpPr/>
          <p:nvPr/>
        </p:nvSpPr>
        <p:spPr>
          <a:xfrm>
            <a:off x="3154680" y="1408176"/>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3200400" y="1408176"/>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1 divided by the longest path delay - the highest safe clock</a:t>
            </a:r>
          </a:p>
        </p:txBody>
      </p:sp>
      <p:sp>
        <p:nvSpPr>
          <p:cNvPr id="17" name="Rectangle 16"/>
          <p:cNvSpPr/>
          <p:nvPr/>
        </p:nvSpPr>
        <p:spPr>
          <a:xfrm>
            <a:off x="411480" y="1673352"/>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8" name="TextBox 17"/>
          <p:cNvSpPr txBox="1"/>
          <p:nvPr/>
        </p:nvSpPr>
        <p:spPr>
          <a:xfrm>
            <a:off x="457200" y="1673352"/>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endpoint</a:t>
            </a:r>
          </a:p>
        </p:txBody>
      </p:sp>
      <p:sp>
        <p:nvSpPr>
          <p:cNvPr id="19" name="Rectangle 18"/>
          <p:cNvSpPr/>
          <p:nvPr/>
        </p:nvSpPr>
        <p:spPr>
          <a:xfrm>
            <a:off x="3154680" y="1673352"/>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0" name="TextBox 19"/>
          <p:cNvSpPr txBox="1"/>
          <p:nvPr/>
        </p:nvSpPr>
        <p:spPr>
          <a:xfrm>
            <a:off x="3200400" y="1673352"/>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where a path ends: a flop's D pin, or an output port</a:t>
            </a:r>
          </a:p>
        </p:txBody>
      </p:sp>
      <p:sp>
        <p:nvSpPr>
          <p:cNvPr id="21" name="Rectangle 20"/>
          <p:cNvSpPr/>
          <p:nvPr/>
        </p:nvSpPr>
        <p:spPr>
          <a:xfrm>
            <a:off x="411480" y="1938528"/>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2" name="TextBox 21"/>
          <p:cNvSpPr txBox="1"/>
          <p:nvPr/>
        </p:nvSpPr>
        <p:spPr>
          <a:xfrm>
            <a:off x="457200" y="1938528"/>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startpoint</a:t>
            </a:r>
          </a:p>
        </p:txBody>
      </p:sp>
      <p:sp>
        <p:nvSpPr>
          <p:cNvPr id="23" name="Rectangle 22"/>
          <p:cNvSpPr/>
          <p:nvPr/>
        </p:nvSpPr>
        <p:spPr>
          <a:xfrm>
            <a:off x="3154680" y="1938528"/>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4" name="TextBox 23"/>
          <p:cNvSpPr txBox="1"/>
          <p:nvPr/>
        </p:nvSpPr>
        <p:spPr>
          <a:xfrm>
            <a:off x="3200400" y="1938528"/>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where it begins: a flop's Q pin, or an input port</a:t>
            </a:r>
          </a:p>
        </p:txBody>
      </p:sp>
      <p:sp>
        <p:nvSpPr>
          <p:cNvPr id="25" name="Rectangle 24"/>
          <p:cNvSpPr/>
          <p:nvPr/>
        </p:nvSpPr>
        <p:spPr>
          <a:xfrm>
            <a:off x="411480" y="2203704"/>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6" name="TextBox 25"/>
          <p:cNvSpPr txBox="1"/>
          <p:nvPr/>
        </p:nvSpPr>
        <p:spPr>
          <a:xfrm>
            <a:off x="457200" y="2203704"/>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path group</a:t>
            </a:r>
          </a:p>
        </p:txBody>
      </p:sp>
      <p:sp>
        <p:nvSpPr>
          <p:cNvPr id="27" name="Rectangle 26"/>
          <p:cNvSpPr/>
          <p:nvPr/>
        </p:nvSpPr>
        <p:spPr>
          <a:xfrm>
            <a:off x="3154680" y="2203704"/>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28" name="TextBox 27"/>
          <p:cNvSpPr txBox="1"/>
          <p:nvPr/>
        </p:nvSpPr>
        <p:spPr>
          <a:xfrm>
            <a:off x="3200400" y="2203704"/>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reg-to-reg, in-to-reg, reg-to-out, in-to-out</a:t>
            </a:r>
          </a:p>
        </p:txBody>
      </p:sp>
      <p:sp>
        <p:nvSpPr>
          <p:cNvPr id="29" name="Rectangle 28"/>
          <p:cNvSpPr/>
          <p:nvPr/>
        </p:nvSpPr>
        <p:spPr>
          <a:xfrm>
            <a:off x="411480" y="2468880"/>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0" name="TextBox 29"/>
          <p:cNvSpPr txBox="1"/>
          <p:nvPr/>
        </p:nvSpPr>
        <p:spPr>
          <a:xfrm>
            <a:off x="457200" y="2468880"/>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false path</a:t>
            </a:r>
          </a:p>
        </p:txBody>
      </p:sp>
      <p:sp>
        <p:nvSpPr>
          <p:cNvPr id="31" name="Rectangle 30"/>
          <p:cNvSpPr/>
          <p:nvPr/>
        </p:nvSpPr>
        <p:spPr>
          <a:xfrm>
            <a:off x="3154680" y="2468880"/>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2" name="TextBox 31"/>
          <p:cNvSpPr txBox="1"/>
          <p:nvPr/>
        </p:nvSpPr>
        <p:spPr>
          <a:xfrm>
            <a:off x="3200400" y="2468880"/>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path the tool must not check, because it cannot be exercised</a:t>
            </a:r>
          </a:p>
        </p:txBody>
      </p:sp>
      <p:sp>
        <p:nvSpPr>
          <p:cNvPr id="33" name="Rectangle 32"/>
          <p:cNvSpPr/>
          <p:nvPr/>
        </p:nvSpPr>
        <p:spPr>
          <a:xfrm>
            <a:off x="411480" y="2734056"/>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4" name="TextBox 33"/>
          <p:cNvSpPr txBox="1"/>
          <p:nvPr/>
        </p:nvSpPr>
        <p:spPr>
          <a:xfrm>
            <a:off x="457200" y="2734056"/>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multicycle path</a:t>
            </a:r>
          </a:p>
        </p:txBody>
      </p:sp>
      <p:sp>
        <p:nvSpPr>
          <p:cNvPr id="35" name="Rectangle 34"/>
          <p:cNvSpPr/>
          <p:nvPr/>
        </p:nvSpPr>
        <p:spPr>
          <a:xfrm>
            <a:off x="3154680" y="2734056"/>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6" name="TextBox 35"/>
          <p:cNvSpPr txBox="1"/>
          <p:nvPr/>
        </p:nvSpPr>
        <p:spPr>
          <a:xfrm>
            <a:off x="3200400" y="2734056"/>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path allowed more than one cycle to complete</a:t>
            </a:r>
          </a:p>
        </p:txBody>
      </p:sp>
      <p:sp>
        <p:nvSpPr>
          <p:cNvPr id="37" name="Rectangle 36"/>
          <p:cNvSpPr/>
          <p:nvPr/>
        </p:nvSpPr>
        <p:spPr>
          <a:xfrm>
            <a:off x="411480" y="2999232"/>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8" name="TextBox 37"/>
          <p:cNvSpPr txBox="1"/>
          <p:nvPr/>
        </p:nvSpPr>
        <p:spPr>
          <a:xfrm>
            <a:off x="457200" y="2999232"/>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SDC / XDC</a:t>
            </a:r>
          </a:p>
        </p:txBody>
      </p:sp>
      <p:sp>
        <p:nvSpPr>
          <p:cNvPr id="39" name="Rectangle 38"/>
          <p:cNvSpPr/>
          <p:nvPr/>
        </p:nvSpPr>
        <p:spPr>
          <a:xfrm>
            <a:off x="3154680" y="2999232"/>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0" name="TextBox 39"/>
          <p:cNvSpPr txBox="1"/>
          <p:nvPr/>
        </p:nvSpPr>
        <p:spPr>
          <a:xfrm>
            <a:off x="3200400" y="2999232"/>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constraint language; XDC adds Xilinx physical constraints</a:t>
            </a:r>
          </a:p>
        </p:txBody>
      </p:sp>
      <p:sp>
        <p:nvSpPr>
          <p:cNvPr id="41" name="Rectangle 40"/>
          <p:cNvSpPr/>
          <p:nvPr/>
        </p:nvSpPr>
        <p:spPr>
          <a:xfrm>
            <a:off x="411480" y="3264408"/>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2" name="TextBox 41"/>
          <p:cNvSpPr txBox="1"/>
          <p:nvPr/>
        </p:nvSpPr>
        <p:spPr>
          <a:xfrm>
            <a:off x="457200" y="3264408"/>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Liberty (.lib)</a:t>
            </a:r>
          </a:p>
        </p:txBody>
      </p:sp>
      <p:sp>
        <p:nvSpPr>
          <p:cNvPr id="43" name="Rectangle 42"/>
          <p:cNvSpPr/>
          <p:nvPr/>
        </p:nvSpPr>
        <p:spPr>
          <a:xfrm>
            <a:off x="3154680" y="3264408"/>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4" name="TextBox 43"/>
          <p:cNvSpPr txBox="1"/>
          <p:nvPr/>
        </p:nvSpPr>
        <p:spPr>
          <a:xfrm>
            <a:off x="3200400" y="3264408"/>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file that gives each cell its delay, setup and hold</a:t>
            </a:r>
          </a:p>
        </p:txBody>
      </p:sp>
      <p:sp>
        <p:nvSpPr>
          <p:cNvPr id="45" name="Rectangle 44"/>
          <p:cNvSpPr/>
          <p:nvPr/>
        </p:nvSpPr>
        <p:spPr>
          <a:xfrm>
            <a:off x="411480" y="3529584"/>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6" name="TextBox 45"/>
          <p:cNvSpPr txBox="1"/>
          <p:nvPr/>
        </p:nvSpPr>
        <p:spPr>
          <a:xfrm>
            <a:off x="457200" y="3529584"/>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PVT corner</a:t>
            </a:r>
          </a:p>
        </p:txBody>
      </p:sp>
      <p:sp>
        <p:nvSpPr>
          <p:cNvPr id="47" name="Rectangle 46"/>
          <p:cNvSpPr/>
          <p:nvPr/>
        </p:nvSpPr>
        <p:spPr>
          <a:xfrm>
            <a:off x="3154680" y="3529584"/>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8" name="TextBox 47"/>
          <p:cNvSpPr txBox="1"/>
          <p:nvPr/>
        </p:nvSpPr>
        <p:spPr>
          <a:xfrm>
            <a:off x="3200400" y="3529584"/>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 process/voltage/temperature combination to analyse at</a:t>
            </a:r>
          </a:p>
        </p:txBody>
      </p:sp>
      <p:sp>
        <p:nvSpPr>
          <p:cNvPr id="49" name="Rectangle 48"/>
          <p:cNvSpPr/>
          <p:nvPr/>
        </p:nvSpPr>
        <p:spPr>
          <a:xfrm>
            <a:off x="411480" y="3794760"/>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0" name="TextBox 49"/>
          <p:cNvSpPr txBox="1"/>
          <p:nvPr/>
        </p:nvSpPr>
        <p:spPr>
          <a:xfrm>
            <a:off x="457200" y="3794760"/>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retiming</a:t>
            </a:r>
          </a:p>
        </p:txBody>
      </p:sp>
      <p:sp>
        <p:nvSpPr>
          <p:cNvPr id="51" name="Rectangle 50"/>
          <p:cNvSpPr/>
          <p:nvPr/>
        </p:nvSpPr>
        <p:spPr>
          <a:xfrm>
            <a:off x="3154680" y="3794760"/>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2" name="TextBox 51"/>
          <p:cNvSpPr txBox="1"/>
          <p:nvPr/>
        </p:nvSpPr>
        <p:spPr>
          <a:xfrm>
            <a:off x="3200400" y="3794760"/>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moving an existing register across logic to balance stages</a:t>
            </a:r>
          </a:p>
        </p:txBody>
      </p:sp>
      <p:sp>
        <p:nvSpPr>
          <p:cNvPr id="53" name="Rectangle 52"/>
          <p:cNvSpPr/>
          <p:nvPr/>
        </p:nvSpPr>
        <p:spPr>
          <a:xfrm>
            <a:off x="411480" y="4059936"/>
            <a:ext cx="274320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4" name="TextBox 53"/>
          <p:cNvSpPr txBox="1"/>
          <p:nvPr/>
        </p:nvSpPr>
        <p:spPr>
          <a:xfrm>
            <a:off x="457200" y="4059936"/>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pipelining</a:t>
            </a:r>
          </a:p>
        </p:txBody>
      </p:sp>
      <p:sp>
        <p:nvSpPr>
          <p:cNvPr id="55" name="Rectangle 54"/>
          <p:cNvSpPr/>
          <p:nvPr/>
        </p:nvSpPr>
        <p:spPr>
          <a:xfrm>
            <a:off x="3154680" y="4059936"/>
            <a:ext cx="8503920" cy="265176"/>
          </a:xfrm>
          <a:prstGeom prst="rect">
            <a:avLst/>
          </a:prstGeom>
          <a:solidFill>
            <a:srgbClr val="FFFFFF"/>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6" name="TextBox 55"/>
          <p:cNvSpPr txBox="1"/>
          <p:nvPr/>
        </p:nvSpPr>
        <p:spPr>
          <a:xfrm>
            <a:off x="3200400" y="4059936"/>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adding a register to cut a long path in two</a:t>
            </a:r>
          </a:p>
        </p:txBody>
      </p:sp>
      <p:sp>
        <p:nvSpPr>
          <p:cNvPr id="57" name="Rectangle 56"/>
          <p:cNvSpPr/>
          <p:nvPr/>
        </p:nvSpPr>
        <p:spPr>
          <a:xfrm>
            <a:off x="411480" y="4325112"/>
            <a:ext cx="274320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58" name="TextBox 57"/>
          <p:cNvSpPr txBox="1"/>
          <p:nvPr/>
        </p:nvSpPr>
        <p:spPr>
          <a:xfrm>
            <a:off x="457200" y="4325112"/>
            <a:ext cx="2651760" cy="265176"/>
          </a:xfrm>
          <a:prstGeom prst="rect">
            <a:avLst/>
          </a:prstGeom>
          <a:noFill/>
        </p:spPr>
        <p:txBody>
          <a:bodyPr wrap="square" lIns="0" rIns="0" tIns="0" bIns="0" anchor="ctr">
            <a:spAutoFit/>
          </a:bodyPr>
          <a:lstStyle/>
          <a:p>
            <a:pPr algn="ctr">
              <a:lnSpc>
                <a:spcPct val="103000"/>
              </a:lnSpc>
            </a:pPr>
            <a:r>
              <a:rPr sz="1000" b="1" i="0">
                <a:solidFill>
                  <a:srgbClr val="0E2A47"/>
                </a:solidFill>
                <a:latin typeface="Calibri"/>
              </a:rPr>
              <a:t>timing closure</a:t>
            </a:r>
          </a:p>
        </p:txBody>
      </p:sp>
      <p:sp>
        <p:nvSpPr>
          <p:cNvPr id="59" name="Rectangle 58"/>
          <p:cNvSpPr/>
          <p:nvPr/>
        </p:nvSpPr>
        <p:spPr>
          <a:xfrm>
            <a:off x="3154680" y="4325112"/>
            <a:ext cx="8503920" cy="265176"/>
          </a:xfrm>
          <a:prstGeom prst="rect">
            <a:avLst/>
          </a:prstGeom>
          <a:solidFill>
            <a:srgbClr val="F4F8FB"/>
          </a:solidFill>
          <a:ln w="6350">
            <a:solidFill>
              <a:srgbClr val="D8DEE5"/>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60" name="TextBox 59"/>
          <p:cNvSpPr txBox="1"/>
          <p:nvPr/>
        </p:nvSpPr>
        <p:spPr>
          <a:xfrm>
            <a:off x="3200400" y="4325112"/>
            <a:ext cx="8412480" cy="265176"/>
          </a:xfrm>
          <a:prstGeom prst="rect">
            <a:avLst/>
          </a:prstGeom>
          <a:noFill/>
        </p:spPr>
        <p:txBody>
          <a:bodyPr wrap="square" lIns="0" rIns="0" tIns="0" bIns="0" anchor="ctr">
            <a:spAutoFit/>
          </a:bodyPr>
          <a:lstStyle/>
          <a:p>
            <a:pPr algn="ctr">
              <a:lnSpc>
                <a:spcPct val="103000"/>
              </a:lnSpc>
            </a:pPr>
            <a:r>
              <a:rPr sz="1000" b="0" i="0">
                <a:solidFill>
                  <a:srgbClr val="33414F"/>
                </a:solidFill>
                <a:latin typeface="Calibri"/>
              </a:rPr>
              <a:t>the loop that ends when every check passes at every corner</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2A9D5C"/>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2A9D5C"/>
                </a:solidFill>
                <a:latin typeface="Calibri"/>
              </a:rPr>
              <a:t>SUMMARY</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Topic 6 In Ten Lines</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80</a:t>
            </a:r>
          </a:p>
        </p:txBody>
      </p:sp>
      <p:sp>
        <p:nvSpPr>
          <p:cNvPr id="9" name="TextBox 8"/>
          <p:cNvSpPr txBox="1"/>
          <p:nvPr/>
        </p:nvSpPr>
        <p:spPr>
          <a:xfrm>
            <a:off x="411480" y="1143000"/>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10" name="TextBox 9"/>
          <p:cNvSpPr txBox="1"/>
          <p:nvPr/>
        </p:nvSpPr>
        <p:spPr>
          <a:xfrm>
            <a:off x="640080" y="1143000"/>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A flip-flop samples over a WINDOW around the clock edge, not at an instant.</a:t>
            </a:r>
          </a:p>
        </p:txBody>
      </p:sp>
      <p:sp>
        <p:nvSpPr>
          <p:cNvPr id="11" name="TextBox 10"/>
          <p:cNvSpPr txBox="1"/>
          <p:nvPr/>
        </p:nvSpPr>
        <p:spPr>
          <a:xfrm>
            <a:off x="411480" y="1527048"/>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12" name="TextBox 11"/>
          <p:cNvSpPr txBox="1"/>
          <p:nvPr/>
        </p:nvSpPr>
        <p:spPr>
          <a:xfrm>
            <a:off x="640080" y="1527048"/>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Setup means the data was too late. Hold means it changed too soon.</a:t>
            </a:r>
          </a:p>
        </p:txBody>
      </p:sp>
      <p:sp>
        <p:nvSpPr>
          <p:cNvPr id="13" name="TextBox 12"/>
          <p:cNvSpPr txBox="1"/>
          <p:nvPr/>
        </p:nvSpPr>
        <p:spPr>
          <a:xfrm>
            <a:off x="411480" y="1911096"/>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14" name="TextBox 13"/>
          <p:cNvSpPr txBox="1"/>
          <p:nvPr/>
        </p:nvSpPr>
        <p:spPr>
          <a:xfrm>
            <a:off x="640080" y="1911096"/>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slack = required - arrival, computed at every endpoint. That is all STA does.</a:t>
            </a:r>
          </a:p>
        </p:txBody>
      </p:sp>
      <p:sp>
        <p:nvSpPr>
          <p:cNvPr id="15" name="TextBox 14"/>
          <p:cNvSpPr txBox="1"/>
          <p:nvPr/>
        </p:nvSpPr>
        <p:spPr>
          <a:xfrm>
            <a:off x="411480" y="2295144"/>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16" name="TextBox 15"/>
          <p:cNvSpPr txBox="1"/>
          <p:nvPr/>
        </p:nvSpPr>
        <p:spPr>
          <a:xfrm>
            <a:off x="640080" y="2295144"/>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The clock period is in the setup equation and nowhere in the hold equation.</a:t>
            </a:r>
          </a:p>
        </p:txBody>
      </p:sp>
      <p:sp>
        <p:nvSpPr>
          <p:cNvPr id="17" name="TextBox 16"/>
          <p:cNvSpPr txBox="1"/>
          <p:nvPr/>
        </p:nvSpPr>
        <p:spPr>
          <a:xfrm>
            <a:off x="411480" y="2679192"/>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18" name="TextBox 17"/>
          <p:cNvSpPr txBox="1"/>
          <p:nvPr/>
        </p:nvSpPr>
        <p:spPr>
          <a:xfrm>
            <a:off x="640080" y="2679192"/>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An unconstrained path is not a passing path - it is an unexamined one.</a:t>
            </a:r>
          </a:p>
        </p:txBody>
      </p:sp>
      <p:sp>
        <p:nvSpPr>
          <p:cNvPr id="19" name="TextBox 18"/>
          <p:cNvSpPr txBox="1"/>
          <p:nvPr/>
        </p:nvSpPr>
        <p:spPr>
          <a:xfrm>
            <a:off x="411480" y="3063240"/>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20" name="TextBox 19"/>
          <p:cNvSpPr txBox="1"/>
          <p:nvPr/>
        </p:nvSpPr>
        <p:spPr>
          <a:xfrm>
            <a:off x="640080" y="3063240"/>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An exception is a promise. The tool believes you without checking.</a:t>
            </a:r>
          </a:p>
        </p:txBody>
      </p:sp>
      <p:sp>
        <p:nvSpPr>
          <p:cNvPr id="21" name="TextBox 20"/>
          <p:cNvSpPr txBox="1"/>
          <p:nvPr/>
        </p:nvSpPr>
        <p:spPr>
          <a:xfrm>
            <a:off x="411480" y="3447288"/>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22" name="TextBox 21"/>
          <p:cNvSpPr txBox="1"/>
          <p:nvPr/>
        </p:nvSpPr>
        <p:spPr>
          <a:xfrm>
            <a:off x="640080" y="3447288"/>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Half of all reported violations are constraint bugs, not design bugs.</a:t>
            </a:r>
          </a:p>
        </p:txBody>
      </p:sp>
      <p:sp>
        <p:nvSpPr>
          <p:cNvPr id="23" name="TextBox 22"/>
          <p:cNvSpPr txBox="1"/>
          <p:nvPr/>
        </p:nvSpPr>
        <p:spPr>
          <a:xfrm>
            <a:off x="411480" y="3831336"/>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24" name="TextBox 23"/>
          <p:cNvSpPr txBox="1"/>
          <p:nvPr/>
        </p:nvSpPr>
        <p:spPr>
          <a:xfrm>
            <a:off x="640080" y="3831336"/>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Setup is fixed by less logic or a slower clock; hold only by MORE delay.</a:t>
            </a:r>
          </a:p>
        </p:txBody>
      </p:sp>
      <p:sp>
        <p:nvSpPr>
          <p:cNvPr id="25" name="TextBox 24"/>
          <p:cNvSpPr txBox="1"/>
          <p:nvPr/>
        </p:nvSpPr>
        <p:spPr>
          <a:xfrm>
            <a:off x="411480" y="4215384"/>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26" name="TextBox 25"/>
          <p:cNvSpPr txBox="1"/>
          <p:nvPr/>
        </p:nvSpPr>
        <p:spPr>
          <a:xfrm>
            <a:off x="640080" y="4215384"/>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The same RTL ran at 217 MHz and 516 MHz. Only a synthesis option changed.</a:t>
            </a:r>
          </a:p>
        </p:txBody>
      </p:sp>
      <p:sp>
        <p:nvSpPr>
          <p:cNvPr id="27" name="TextBox 26"/>
          <p:cNvSpPr txBox="1"/>
          <p:nvPr/>
        </p:nvSpPr>
        <p:spPr>
          <a:xfrm>
            <a:off x="411480" y="4599432"/>
            <a:ext cx="182880" cy="384048"/>
          </a:xfrm>
          <a:prstGeom prst="rect">
            <a:avLst/>
          </a:prstGeom>
          <a:noFill/>
        </p:spPr>
        <p:txBody>
          <a:bodyPr wrap="square" lIns="0" rIns="0" tIns="0" bIns="0" anchor="ctr">
            <a:spAutoFit/>
          </a:bodyPr>
          <a:lstStyle/>
          <a:p>
            <a:pPr algn="l">
              <a:lnSpc>
                <a:spcPct val="103000"/>
              </a:lnSpc>
            </a:pPr>
            <a:r>
              <a:rPr sz="1000" b="1" i="0">
                <a:solidFill>
                  <a:srgbClr val="2A9D5C"/>
                </a:solidFill>
                <a:latin typeface="Calibri"/>
              </a:rPr>
              <a:t>▪</a:t>
            </a:r>
          </a:p>
        </p:txBody>
      </p:sp>
      <p:sp>
        <p:nvSpPr>
          <p:cNvPr id="28" name="TextBox 27"/>
          <p:cNvSpPr txBox="1"/>
          <p:nvPr/>
        </p:nvSpPr>
        <p:spPr>
          <a:xfrm>
            <a:off x="640080" y="4599432"/>
            <a:ext cx="11018520" cy="384048"/>
          </a:xfrm>
          <a:prstGeom prst="rect">
            <a:avLst/>
          </a:prstGeom>
          <a:noFill/>
        </p:spPr>
        <p:txBody>
          <a:bodyPr wrap="square" lIns="0" rIns="0" tIns="0" bIns="0" anchor="ctr">
            <a:spAutoFit/>
          </a:bodyPr>
          <a:lstStyle/>
          <a:p>
            <a:pPr algn="l">
              <a:lnSpc>
                <a:spcPct val="103000"/>
              </a:lnSpc>
            </a:pPr>
            <a:r>
              <a:rPr sz="1250" b="0" i="0">
                <a:solidFill>
                  <a:srgbClr val="33414F"/>
                </a:solidFill>
                <a:latin typeface="Calibri"/>
              </a:rPr>
              <a:t>Describe intent, not structure - then check what your tool did with it.</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Oval 1"/>
          <p:cNvSpPr/>
          <p:nvPr/>
        </p:nvSpPr>
        <p:spPr>
          <a:xfrm>
            <a:off x="411480" y="292608"/>
            <a:ext cx="530352" cy="530352"/>
          </a:xfrm>
          <a:prstGeom prst="ellipse">
            <a:avLst/>
          </a:prstGeom>
          <a:solidFill>
            <a:srgbClr val="0E2A47"/>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3" name="Rectangle 2"/>
          <p:cNvSpPr/>
          <p:nvPr/>
        </p:nvSpPr>
        <p:spPr>
          <a:xfrm>
            <a:off x="594360" y="402336"/>
            <a:ext cx="155448" cy="310896"/>
          </a:xfrm>
          <a:prstGeom prst="rect">
            <a:avLst/>
          </a:prstGeom>
          <a:solidFill>
            <a:srgbClr val="1B9AA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4" name="TextBox 3"/>
          <p:cNvSpPr txBox="1"/>
          <p:nvPr/>
        </p:nvSpPr>
        <p:spPr>
          <a:xfrm>
            <a:off x="1078992" y="292608"/>
            <a:ext cx="10607040" cy="237744"/>
          </a:xfrm>
          <a:prstGeom prst="rect">
            <a:avLst/>
          </a:prstGeom>
          <a:noFill/>
        </p:spPr>
        <p:txBody>
          <a:bodyPr wrap="square" lIns="0" rIns="0" tIns="0" bIns="0" anchor="ctr">
            <a:spAutoFit/>
          </a:bodyPr>
          <a:lstStyle/>
          <a:p>
            <a:pPr algn="l">
              <a:lnSpc>
                <a:spcPct val="103000"/>
              </a:lnSpc>
            </a:pPr>
            <a:r>
              <a:rPr sz="1100" b="1" i="0" spc="200">
                <a:solidFill>
                  <a:srgbClr val="1B9AAA"/>
                </a:solidFill>
                <a:latin typeface="Calibri"/>
              </a:rPr>
              <a:t>CLOSE</a:t>
            </a:r>
          </a:p>
        </p:txBody>
      </p:sp>
      <p:sp>
        <p:nvSpPr>
          <p:cNvPr id="5" name="TextBox 4"/>
          <p:cNvSpPr txBox="1"/>
          <p:nvPr/>
        </p:nvSpPr>
        <p:spPr>
          <a:xfrm>
            <a:off x="1060704" y="502920"/>
            <a:ext cx="10607040" cy="457200"/>
          </a:xfrm>
          <a:prstGeom prst="rect">
            <a:avLst/>
          </a:prstGeom>
          <a:noFill/>
        </p:spPr>
        <p:txBody>
          <a:bodyPr wrap="square" lIns="0" rIns="0" tIns="0" bIns="0" anchor="ctr">
            <a:spAutoFit/>
          </a:bodyPr>
          <a:lstStyle/>
          <a:p>
            <a:pPr algn="l">
              <a:lnSpc>
                <a:spcPct val="103000"/>
              </a:lnSpc>
            </a:pPr>
            <a:r>
              <a:rPr sz="2100" b="1" i="0">
                <a:solidFill>
                  <a:srgbClr val="0E2A47"/>
                </a:solidFill>
                <a:latin typeface="Cambria"/>
              </a:rPr>
              <a:t>What To Do Next</a:t>
            </a:r>
          </a:p>
        </p:txBody>
      </p:sp>
      <p:sp>
        <p:nvSpPr>
          <p:cNvPr id="6" name="Rectangle 5"/>
          <p:cNvSpPr/>
          <p:nvPr/>
        </p:nvSpPr>
        <p:spPr>
          <a:xfrm>
            <a:off x="1078992" y="1024128"/>
            <a:ext cx="10579608" cy="9525"/>
          </a:xfrm>
          <a:prstGeom prst="rect">
            <a:avLst/>
          </a:prstGeom>
          <a:solidFill>
            <a:srgbClr val="D8DEE5"/>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7" name="TextBox 6"/>
          <p:cNvSpPr txBox="1"/>
          <p:nvPr/>
        </p:nvSpPr>
        <p:spPr>
          <a:xfrm>
            <a:off x="411480" y="6547104"/>
            <a:ext cx="7315200" cy="237744"/>
          </a:xfrm>
          <a:prstGeom prst="rect">
            <a:avLst/>
          </a:prstGeom>
          <a:noFill/>
        </p:spPr>
        <p:txBody>
          <a:bodyPr wrap="square" lIns="0" rIns="0" tIns="0" bIns="0" anchor="ctr">
            <a:spAutoFit/>
          </a:bodyPr>
          <a:lstStyle/>
          <a:p>
            <a:pPr algn="l">
              <a:lnSpc>
                <a:spcPct val="103000"/>
              </a:lnSpc>
            </a:pPr>
            <a:r>
              <a:rPr sz="800" b="0" i="0">
                <a:solidFill>
                  <a:srgbClr val="5A6B7B"/>
                </a:solidFill>
                <a:latin typeface="Calibri"/>
              </a:rPr>
              <a:t>Chip Design Associate · Module 2 · Verilog RTL Coding for Synthesis · Topic 6: Timing Constraints and Analysis</a:t>
            </a:r>
          </a:p>
        </p:txBody>
      </p:sp>
      <p:sp>
        <p:nvSpPr>
          <p:cNvPr id="8" name="TextBox 7"/>
          <p:cNvSpPr txBox="1"/>
          <p:nvPr/>
        </p:nvSpPr>
        <p:spPr>
          <a:xfrm>
            <a:off x="8686800" y="6547104"/>
            <a:ext cx="3108960" cy="237744"/>
          </a:xfrm>
          <a:prstGeom prst="rect">
            <a:avLst/>
          </a:prstGeom>
          <a:noFill/>
        </p:spPr>
        <p:txBody>
          <a:bodyPr wrap="square" lIns="0" rIns="0" tIns="0" bIns="0" anchor="ctr">
            <a:spAutoFit/>
          </a:bodyPr>
          <a:lstStyle/>
          <a:p>
            <a:pPr algn="r">
              <a:lnSpc>
                <a:spcPct val="103000"/>
              </a:lnSpc>
            </a:pPr>
            <a:r>
              <a:rPr sz="800" b="0" i="0">
                <a:solidFill>
                  <a:srgbClr val="5A6B7B"/>
                </a:solidFill>
                <a:latin typeface="Calibri"/>
              </a:rPr>
              <a:t>M2-T6 · 81</a:t>
            </a:r>
          </a:p>
        </p:txBody>
      </p:sp>
      <p:sp>
        <p:nvSpPr>
          <p:cNvPr id="9" name="Rounded Rectangle 8"/>
          <p:cNvSpPr/>
          <p:nvPr/>
        </p:nvSpPr>
        <p:spPr>
          <a:xfrm>
            <a:off x="411480" y="1143000"/>
            <a:ext cx="5532120" cy="2926080"/>
          </a:xfrm>
          <a:prstGeom prst="roundRect">
            <a:avLst>
              <a:gd name="adj" fmla="val 5714"/>
            </a:avLst>
          </a:prstGeom>
          <a:solidFill>
            <a:srgbClr val="F4F8FB"/>
          </a:solidFill>
          <a:ln w="13970">
            <a:solidFill>
              <a:srgbClr val="1B9AAA"/>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0" name="TextBox 9"/>
          <p:cNvSpPr txBox="1"/>
          <p:nvPr/>
        </p:nvSpPr>
        <p:spPr>
          <a:xfrm>
            <a:off x="548640" y="1207008"/>
            <a:ext cx="5257800" cy="274320"/>
          </a:xfrm>
          <a:prstGeom prst="rect">
            <a:avLst/>
          </a:prstGeom>
          <a:noFill/>
        </p:spPr>
        <p:txBody>
          <a:bodyPr wrap="square" lIns="0" rIns="0" tIns="0" bIns="0" anchor="ctr">
            <a:spAutoFit/>
          </a:bodyPr>
          <a:lstStyle/>
          <a:p>
            <a:pPr algn="l">
              <a:lnSpc>
                <a:spcPct val="103000"/>
              </a:lnSpc>
            </a:pPr>
            <a:r>
              <a:rPr sz="1150" b="1" i="0">
                <a:solidFill>
                  <a:srgbClr val="1B9AAA"/>
                </a:solidFill>
                <a:latin typeface="Cambria"/>
              </a:rPr>
              <a:t>Before the next session</a:t>
            </a:r>
          </a:p>
        </p:txBody>
      </p:sp>
      <p:sp>
        <p:nvSpPr>
          <p:cNvPr id="11" name="TextBox 10"/>
          <p:cNvSpPr txBox="1"/>
          <p:nvPr/>
        </p:nvSpPr>
        <p:spPr>
          <a:xfrm>
            <a:off x="548640" y="1481328"/>
            <a:ext cx="5257800" cy="25237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Install tier 1 and run  make  in the lab directory. It should end with "Topic 6 lab complete".</a:t>
            </a:r>
          </a:p>
          <a:p>
            <a:pPr algn="l">
              <a:lnSpc>
                <a:spcPct val="103000"/>
              </a:lnSpc>
              <a:spcAft>
                <a:spcPts val="400"/>
              </a:spcAft>
            </a:pPr>
            <a:r>
              <a:rPr sz="1100" b="0" i="0">
                <a:solidFill>
                  <a:srgbClr val="33414F"/>
                </a:solidFill>
                <a:latin typeface="Calibri"/>
              </a:rPr>
              <a:t>Compute the +0.629 ns slack on paper. Bring your working.</a:t>
            </a:r>
          </a:p>
          <a:p>
            <a:pPr algn="l">
              <a:lnSpc>
                <a:spcPct val="103000"/>
              </a:lnSpc>
              <a:spcAft>
                <a:spcPts val="400"/>
              </a:spcAft>
            </a:pPr>
            <a:r>
              <a:rPr sz="1100" b="0" i="0">
                <a:solidFill>
                  <a:srgbClr val="33414F"/>
                </a:solidFill>
                <a:latin typeface="Calibri"/>
              </a:rPr>
              <a:t>Read one timing report - any tool, any design - and find its critical path.</a:t>
            </a:r>
          </a:p>
        </p:txBody>
      </p:sp>
      <p:sp>
        <p:nvSpPr>
          <p:cNvPr id="12" name="Rounded Rectangle 11"/>
          <p:cNvSpPr/>
          <p:nvPr/>
        </p:nvSpPr>
        <p:spPr>
          <a:xfrm>
            <a:off x="6126480" y="1143000"/>
            <a:ext cx="5532120" cy="2926080"/>
          </a:xfrm>
          <a:prstGeom prst="roundRect">
            <a:avLst>
              <a:gd name="adj" fmla="val 5714"/>
            </a:avLst>
          </a:prstGeom>
          <a:solidFill>
            <a:srgbClr val="EEF7F1"/>
          </a:solidFill>
          <a:ln w="13970">
            <a:solidFill>
              <a:srgbClr val="2A9D5C"/>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3" name="TextBox 12"/>
          <p:cNvSpPr txBox="1"/>
          <p:nvPr/>
        </p:nvSpPr>
        <p:spPr>
          <a:xfrm>
            <a:off x="6263640" y="1207008"/>
            <a:ext cx="5257800" cy="274320"/>
          </a:xfrm>
          <a:prstGeom prst="rect">
            <a:avLst/>
          </a:prstGeom>
          <a:noFill/>
        </p:spPr>
        <p:txBody>
          <a:bodyPr wrap="square" lIns="0" rIns="0" tIns="0" bIns="0" anchor="ctr">
            <a:spAutoFit/>
          </a:bodyPr>
          <a:lstStyle/>
          <a:p>
            <a:pPr algn="l">
              <a:lnSpc>
                <a:spcPct val="103000"/>
              </a:lnSpc>
            </a:pPr>
            <a:r>
              <a:rPr sz="1150" b="1" i="0">
                <a:solidFill>
                  <a:srgbClr val="2A9D5C"/>
                </a:solidFill>
                <a:latin typeface="Cambria"/>
              </a:rPr>
              <a:t>Carry into every project after this</a:t>
            </a:r>
          </a:p>
        </p:txBody>
      </p:sp>
      <p:sp>
        <p:nvSpPr>
          <p:cNvPr id="14" name="TextBox 13"/>
          <p:cNvSpPr txBox="1"/>
          <p:nvPr/>
        </p:nvSpPr>
        <p:spPr>
          <a:xfrm>
            <a:off x="6263640" y="1481328"/>
            <a:ext cx="5257800" cy="2523744"/>
          </a:xfrm>
          <a:prstGeom prst="rect">
            <a:avLst/>
          </a:prstGeom>
          <a:noFill/>
        </p:spPr>
        <p:txBody>
          <a:bodyPr wrap="square" lIns="0" rIns="0" tIns="0" bIns="0" anchor="t">
            <a:spAutoFit/>
          </a:bodyPr>
          <a:lstStyle/>
          <a:p>
            <a:pPr algn="l">
              <a:lnSpc>
                <a:spcPct val="103000"/>
              </a:lnSpc>
              <a:spcAft>
                <a:spcPts val="400"/>
              </a:spcAft>
            </a:pPr>
            <a:r>
              <a:rPr sz="1100" b="0" i="0">
                <a:solidFill>
                  <a:srgbClr val="33414F"/>
                </a:solidFill>
                <a:latin typeface="Calibri"/>
              </a:rPr>
              <a:t>Write the constraint file before you write the RTL. It is the specification.</a:t>
            </a:r>
          </a:p>
          <a:p>
            <a:pPr algn="l">
              <a:lnSpc>
                <a:spcPct val="103000"/>
              </a:lnSpc>
              <a:spcAft>
                <a:spcPts val="400"/>
              </a:spcAft>
            </a:pPr>
            <a:r>
              <a:rPr sz="1100" b="0" i="0">
                <a:solidFill>
                  <a:srgbClr val="33414F"/>
                </a:solidFill>
                <a:latin typeface="Calibri"/>
              </a:rPr>
              <a:t>Check the unconstrained-endpoint count on every single run.</a:t>
            </a:r>
          </a:p>
          <a:p>
            <a:pPr algn="l">
              <a:lnSpc>
                <a:spcPct val="103000"/>
              </a:lnSpc>
              <a:spcAft>
                <a:spcPts val="400"/>
              </a:spcAft>
            </a:pPr>
            <a:r>
              <a:rPr sz="1100" b="0" i="0">
                <a:solidFill>
                  <a:srgbClr val="33414F"/>
                </a:solidFill>
                <a:latin typeface="Calibri"/>
              </a:rPr>
              <a:t>Never write an exception you cannot justify in one sentence.</a:t>
            </a:r>
          </a:p>
          <a:p>
            <a:pPr algn="l">
              <a:lnSpc>
                <a:spcPct val="103000"/>
              </a:lnSpc>
              <a:spcAft>
                <a:spcPts val="400"/>
              </a:spcAft>
            </a:pPr>
            <a:r>
              <a:rPr sz="1100" b="1" i="0">
                <a:solidFill>
                  <a:srgbClr val="0E2A47"/>
                </a:solidFill>
                <a:latin typeface="Calibri"/>
              </a:rPr>
              <a:t>Verify every optimisation. A faster design that computes the wrong answer is not faster.</a:t>
            </a:r>
          </a:p>
        </p:txBody>
      </p:sp>
      <p:sp>
        <p:nvSpPr>
          <p:cNvPr id="15" name="Rounded Rectangle 14"/>
          <p:cNvSpPr/>
          <p:nvPr/>
        </p:nvSpPr>
        <p:spPr>
          <a:xfrm>
            <a:off x="411480" y="4160520"/>
            <a:ext cx="11247120" cy="868680"/>
          </a:xfrm>
          <a:prstGeom prst="roundRect">
            <a:avLst>
              <a:gd name="adj" fmla="val 5714"/>
            </a:avLst>
          </a:prstGeom>
          <a:solidFill>
            <a:srgbClr val="FDECEF"/>
          </a:solidFill>
          <a:ln w="13970">
            <a:solidFill>
              <a:srgbClr val="C01F43"/>
            </a:solidFill>
          </a:ln>
          <a:effectLst/>
        </p:spPr>
        <p:style>
          <a:lnRef idx="1">
            <a:schemeClr val="accent1"/>
          </a:lnRef>
          <a:fillRef idx="3">
            <a:schemeClr val="accent1"/>
          </a:fillRef>
          <a:effectRef idx="2">
            <a:schemeClr val="accent1"/>
          </a:effectRef>
          <a:fontRef idx="minor">
            <a:schemeClr val="lt1"/>
          </a:fontRef>
        </p:style>
        <p:txBody>
          <a:bodyPr rtlCol="0" anchor="ctr" wrap="square"/>
          <a:lstStyle/>
          <a:p>
            <a:pPr algn="ctr"/>
          </a:p>
        </p:txBody>
      </p:sp>
      <p:sp>
        <p:nvSpPr>
          <p:cNvPr id="16" name="TextBox 15"/>
          <p:cNvSpPr txBox="1"/>
          <p:nvPr/>
        </p:nvSpPr>
        <p:spPr>
          <a:xfrm>
            <a:off x="576072" y="4224528"/>
            <a:ext cx="10917936" cy="274320"/>
          </a:xfrm>
          <a:prstGeom prst="rect">
            <a:avLst/>
          </a:prstGeom>
          <a:noFill/>
        </p:spPr>
        <p:txBody>
          <a:bodyPr wrap="square" lIns="0" rIns="0" tIns="0" bIns="0" anchor="ctr">
            <a:spAutoFit/>
          </a:bodyPr>
          <a:lstStyle/>
          <a:p>
            <a:pPr algn="l">
              <a:lnSpc>
                <a:spcPct val="103000"/>
              </a:lnSpc>
            </a:pPr>
            <a:r>
              <a:rPr sz="1150" b="1" i="0">
                <a:solidFill>
                  <a:srgbClr val="C01F43"/>
                </a:solidFill>
                <a:latin typeface="Cambria"/>
              </a:rPr>
              <a:t>The sentence to leave with</a:t>
            </a:r>
          </a:p>
        </p:txBody>
      </p:sp>
      <p:sp>
        <p:nvSpPr>
          <p:cNvPr id="17" name="TextBox 16"/>
          <p:cNvSpPr txBox="1"/>
          <p:nvPr/>
        </p:nvSpPr>
        <p:spPr>
          <a:xfrm>
            <a:off x="576072" y="4498848"/>
            <a:ext cx="10917936" cy="466344"/>
          </a:xfrm>
          <a:prstGeom prst="rect">
            <a:avLst/>
          </a:prstGeom>
          <a:noFill/>
        </p:spPr>
        <p:txBody>
          <a:bodyPr wrap="square" lIns="0" rIns="0" tIns="0" bIns="0" anchor="t">
            <a:spAutoFit/>
          </a:bodyPr>
          <a:lstStyle/>
          <a:p>
            <a:pPr algn="l">
              <a:lnSpc>
                <a:spcPct val="103000"/>
              </a:lnSpc>
              <a:spcAft>
                <a:spcPts val="400"/>
              </a:spcAft>
            </a:pPr>
            <a:r>
              <a:rPr sz="1100" b="1" i="0">
                <a:solidFill>
                  <a:srgbClr val="C01F43"/>
                </a:solidFill>
                <a:latin typeface="Calibri"/>
              </a:rPr>
              <a:t>A timing report is not a verdict on your design. It is a verdict on your design AND your constraints - and only one of those two is usually the problem.</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