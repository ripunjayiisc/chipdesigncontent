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Lst>
  <p:sldSz cx="121615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8595360" y="-2103120"/>
            <a:ext cx="7315200" cy="73152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966960" y="-822960"/>
            <a:ext cx="4572000" cy="4572000"/>
          </a:xfrm>
          <a:prstGeom prst="ellipse">
            <a:avLst/>
          </a:prstGeom>
          <a:solidFill>
            <a:srgbClr val="0E2A47"/>
          </a:solidFill>
          <a:ln w="1270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417320"/>
            <a:ext cx="7315200" cy="365760"/>
          </a:xfrm>
          <a:prstGeom prst="rect">
            <a:avLst/>
          </a:prstGeom>
          <a:noFill/>
        </p:spPr>
        <p:txBody>
          <a:bodyPr wrap="square" lIns="0" rIns="0" tIns="0" bIns="0" anchor="ctr">
            <a:spAutoFit/>
          </a:bodyPr>
          <a:lstStyle/>
          <a:p>
            <a:pPr algn="l">
              <a:lnSpc>
                <a:spcPct val="103000"/>
              </a:lnSpc>
            </a:pPr>
            <a:r>
              <a:rPr sz="1500" b="1" i="0" spc="300">
                <a:solidFill>
                  <a:srgbClr val="1B9AAA"/>
                </a:solidFill>
                <a:latin typeface="Calibri"/>
              </a:rPr>
              <a:t>TOPIC 3</a:t>
            </a:r>
          </a:p>
        </p:txBody>
      </p:sp>
      <p:sp>
        <p:nvSpPr>
          <p:cNvPr id="5" name="TextBox 4"/>
          <p:cNvSpPr txBox="1"/>
          <p:nvPr/>
        </p:nvSpPr>
        <p:spPr>
          <a:xfrm>
            <a:off x="566928" y="1874520"/>
            <a:ext cx="10424160" cy="1005840"/>
          </a:xfrm>
          <a:prstGeom prst="rect">
            <a:avLst/>
          </a:prstGeom>
          <a:noFill/>
        </p:spPr>
        <p:txBody>
          <a:bodyPr wrap="square" lIns="0" rIns="0" tIns="0" bIns="0" anchor="ctr">
            <a:spAutoFit/>
          </a:bodyPr>
          <a:lstStyle/>
          <a:p>
            <a:pPr algn="l">
              <a:lnSpc>
                <a:spcPct val="103000"/>
              </a:lnSpc>
            </a:pPr>
            <a:r>
              <a:rPr sz="3500" b="1" i="0">
                <a:solidFill>
                  <a:srgbClr val="FFFFFF"/>
                </a:solidFill>
                <a:latin typeface="Cambria"/>
              </a:rPr>
              <a:t>Digital Logic Design Principles</a:t>
            </a:r>
          </a:p>
        </p:txBody>
      </p:sp>
      <p:sp>
        <p:nvSpPr>
          <p:cNvPr id="6" name="TextBox 5"/>
          <p:cNvSpPr txBox="1"/>
          <p:nvPr/>
        </p:nvSpPr>
        <p:spPr>
          <a:xfrm>
            <a:off x="640080" y="2926080"/>
            <a:ext cx="9418320" cy="640080"/>
          </a:xfrm>
          <a:prstGeom prst="rect">
            <a:avLst/>
          </a:prstGeom>
          <a:noFill/>
        </p:spPr>
        <p:txBody>
          <a:bodyPr wrap="square" lIns="0" rIns="0" tIns="0" bIns="0" anchor="ctr">
            <a:spAutoFit/>
          </a:bodyPr>
          <a:lstStyle/>
          <a:p>
            <a:pPr algn="l">
              <a:lnSpc>
                <a:spcPct val="103000"/>
              </a:lnSpc>
            </a:pPr>
            <a:r>
              <a:rPr sz="1400" b="0" i="0">
                <a:solidFill>
                  <a:srgbClr val="C9D6E3"/>
                </a:solidFill>
                <a:latin typeface="Calibri"/>
              </a:rPr>
              <a:t>Subtopic 3a: Boolean algebra and logic gates  ·  3b: Combinational logic design  ·  3c: Sequential logic — flip-flops, registers and state machines</a:t>
            </a:r>
          </a:p>
        </p:txBody>
      </p:sp>
      <p:sp>
        <p:nvSpPr>
          <p:cNvPr id="7" name="Oval 6"/>
          <p:cNvSpPr/>
          <p:nvPr/>
        </p:nvSpPr>
        <p:spPr>
          <a:xfrm>
            <a:off x="713232" y="40142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97280" y="39319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3a · Binary, Boolean algebra, the seven gates, De Morgan, SOP/POS, K-map minimisation</a:t>
            </a:r>
          </a:p>
        </p:txBody>
      </p:sp>
      <p:sp>
        <p:nvSpPr>
          <p:cNvPr id="9" name="Oval 8"/>
          <p:cNvSpPr/>
          <p:nvPr/>
        </p:nvSpPr>
        <p:spPr>
          <a:xfrm>
            <a:off x="713232" y="44714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97280" y="43891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3b · Design procedure, adders, MUX, decoders, ALU, hazards, delay and fan-out</a:t>
            </a:r>
          </a:p>
        </p:txBody>
      </p:sp>
      <p:sp>
        <p:nvSpPr>
          <p:cNvPr id="11" name="Oval 10"/>
          <p:cNvSpPr/>
          <p:nvPr/>
        </p:nvSpPr>
        <p:spPr>
          <a:xfrm>
            <a:off x="713232" y="49286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97280" y="48463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3c · Latches, flip-flops, timing, metastability, registers, counters, FSMs</a:t>
            </a:r>
          </a:p>
        </p:txBody>
      </p:sp>
      <p:sp>
        <p:nvSpPr>
          <p:cNvPr id="13" name="Oval 12"/>
          <p:cNvSpPr/>
          <p:nvPr/>
        </p:nvSpPr>
        <p:spPr>
          <a:xfrm>
            <a:off x="713232" y="53858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97280" y="53035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Tools · Logisim-Evolution, Icarus Verilog, GTKWave, Yosys  ·  Tutorials T1–T4</a:t>
            </a:r>
          </a:p>
        </p:txBody>
      </p:sp>
      <p:sp>
        <p:nvSpPr>
          <p:cNvPr id="15" name="TextBox 14"/>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Module 2 · Verilog RTL Coding for Synthesis</a:t>
            </a:r>
          </a:p>
        </p:txBody>
      </p:sp>
      <p:sp>
        <p:nvSpPr>
          <p:cNvPr id="16" name="TextBox 15"/>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NIE/ELE/N0102 · Topic 3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 · ROADMAP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This Topic Covers and How the 4 Hours Are Spent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2</a:t>
            </a:r>
          </a:p>
        </p:txBody>
      </p:sp>
      <p:sp>
        <p:nvSpPr>
          <p:cNvPr id="9" name="TextBox 8"/>
          <p:cNvSpPr txBox="1"/>
          <p:nvPr/>
        </p:nvSpPr>
        <p:spPr>
          <a:xfrm>
            <a:off x="411480" y="1143000"/>
            <a:ext cx="11247120" cy="6400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Where this sits. </a:t>
            </a:r>
            <a:r>
              <a:rPr sz="1250" b="0" i="0">
                <a:solidFill>
                  <a:srgbClr val="33414F"/>
                </a:solidFill>
                <a:latin typeface="Calibri"/>
              </a:rPr>
              <a:t>Topic 2 gave you the RTL methodology — the idea that we describe hardware, not program it. Topic 3 gives you the </a:t>
            </a:r>
            <a:r>
              <a:rPr sz="1250" b="1" i="0">
                <a:solidFill>
                  <a:srgbClr val="1B9AAA"/>
                </a:solidFill>
                <a:latin typeface="Calibri"/>
              </a:rPr>
              <a:t>hardware vocabulary itself</a:t>
            </a:r>
            <a:r>
              <a:rPr sz="1250" b="0" i="0">
                <a:solidFill>
                  <a:srgbClr val="33414F"/>
                </a:solidFill>
                <a:latin typeface="Calibri"/>
              </a:rPr>
              <a:t>. Every Verilog construct you write in Topic 4 maps onto one of the structures in this topic. Without this, RTL coding is guesswork.</a:t>
            </a:r>
          </a:p>
        </p:txBody>
      </p:sp>
      <p:sp>
        <p:nvSpPr>
          <p:cNvPr id="10" name="Rectangle 9"/>
          <p:cNvSpPr/>
          <p:nvPr/>
        </p:nvSpPr>
        <p:spPr>
          <a:xfrm>
            <a:off x="411480" y="1874520"/>
            <a:ext cx="640080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874520"/>
            <a:ext cx="630936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Syllabus bullet (NIE/ELE/N0102, Topic 3 — 4 hours)</a:t>
            </a:r>
          </a:p>
        </p:txBody>
      </p:sp>
      <p:sp>
        <p:nvSpPr>
          <p:cNvPr id="12" name="Rectangle 11"/>
          <p:cNvSpPr/>
          <p:nvPr/>
        </p:nvSpPr>
        <p:spPr>
          <a:xfrm>
            <a:off x="6812280" y="1874520"/>
            <a:ext cx="320040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858000" y="1874520"/>
            <a:ext cx="310896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Covered by</a:t>
            </a:r>
          </a:p>
        </p:txBody>
      </p:sp>
      <p:sp>
        <p:nvSpPr>
          <p:cNvPr id="14" name="Rectangle 13"/>
          <p:cNvSpPr/>
          <p:nvPr/>
        </p:nvSpPr>
        <p:spPr>
          <a:xfrm>
            <a:off x="10012680" y="1874520"/>
            <a:ext cx="164592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0" y="1874520"/>
            <a:ext cx="155448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Time</a:t>
            </a:r>
          </a:p>
        </p:txBody>
      </p:sp>
      <p:sp>
        <p:nvSpPr>
          <p:cNvPr id="16" name="Rectangle 15"/>
          <p:cNvSpPr/>
          <p:nvPr/>
        </p:nvSpPr>
        <p:spPr>
          <a:xfrm>
            <a:off x="411480" y="2203704"/>
            <a:ext cx="64008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2203704"/>
            <a:ext cx="630936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Boolean algebra and logic gates</a:t>
            </a:r>
          </a:p>
        </p:txBody>
      </p:sp>
      <p:sp>
        <p:nvSpPr>
          <p:cNvPr id="18" name="Rectangle 17"/>
          <p:cNvSpPr/>
          <p:nvPr/>
        </p:nvSpPr>
        <p:spPr>
          <a:xfrm>
            <a:off x="6812280" y="2203704"/>
            <a:ext cx="32004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858000" y="2203704"/>
            <a:ext cx="310896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3a — slides 4–18</a:t>
            </a:r>
          </a:p>
        </p:txBody>
      </p:sp>
      <p:sp>
        <p:nvSpPr>
          <p:cNvPr id="20" name="Rectangle 19"/>
          <p:cNvSpPr/>
          <p:nvPr/>
        </p:nvSpPr>
        <p:spPr>
          <a:xfrm>
            <a:off x="10012680" y="2203704"/>
            <a:ext cx="1645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058400" y="2203704"/>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1 h 15 m</a:t>
            </a:r>
          </a:p>
        </p:txBody>
      </p:sp>
      <p:sp>
        <p:nvSpPr>
          <p:cNvPr id="22" name="Rectangle 21"/>
          <p:cNvSpPr/>
          <p:nvPr/>
        </p:nvSpPr>
        <p:spPr>
          <a:xfrm>
            <a:off x="411480" y="2532888"/>
            <a:ext cx="640080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532888"/>
            <a:ext cx="630936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Combinational logic design concepts</a:t>
            </a:r>
          </a:p>
        </p:txBody>
      </p:sp>
      <p:sp>
        <p:nvSpPr>
          <p:cNvPr id="24" name="Rectangle 23"/>
          <p:cNvSpPr/>
          <p:nvPr/>
        </p:nvSpPr>
        <p:spPr>
          <a:xfrm>
            <a:off x="6812280" y="2532888"/>
            <a:ext cx="320040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858000" y="2532888"/>
            <a:ext cx="310896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3b — slides 19–32</a:t>
            </a:r>
          </a:p>
        </p:txBody>
      </p:sp>
      <p:sp>
        <p:nvSpPr>
          <p:cNvPr id="26" name="Rectangle 25"/>
          <p:cNvSpPr/>
          <p:nvPr/>
        </p:nvSpPr>
        <p:spPr>
          <a:xfrm>
            <a:off x="10012680" y="2532888"/>
            <a:ext cx="1645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058400" y="2532888"/>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1 h 15 m</a:t>
            </a:r>
          </a:p>
        </p:txBody>
      </p:sp>
      <p:sp>
        <p:nvSpPr>
          <p:cNvPr id="28" name="Rectangle 27"/>
          <p:cNvSpPr/>
          <p:nvPr/>
        </p:nvSpPr>
        <p:spPr>
          <a:xfrm>
            <a:off x="411480" y="2862072"/>
            <a:ext cx="64008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862072"/>
            <a:ext cx="630936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Sequential logic design concepts</a:t>
            </a:r>
          </a:p>
        </p:txBody>
      </p:sp>
      <p:sp>
        <p:nvSpPr>
          <p:cNvPr id="30" name="Rectangle 29"/>
          <p:cNvSpPr/>
          <p:nvPr/>
        </p:nvSpPr>
        <p:spPr>
          <a:xfrm>
            <a:off x="6812280" y="2862072"/>
            <a:ext cx="32004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858000" y="2862072"/>
            <a:ext cx="310896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3c — slides 33–45</a:t>
            </a:r>
          </a:p>
        </p:txBody>
      </p:sp>
      <p:sp>
        <p:nvSpPr>
          <p:cNvPr id="32" name="Rectangle 31"/>
          <p:cNvSpPr/>
          <p:nvPr/>
        </p:nvSpPr>
        <p:spPr>
          <a:xfrm>
            <a:off x="10012680" y="2862072"/>
            <a:ext cx="1645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058400" y="2862072"/>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45 m</a:t>
            </a:r>
          </a:p>
        </p:txBody>
      </p:sp>
      <p:sp>
        <p:nvSpPr>
          <p:cNvPr id="34" name="Rectangle 33"/>
          <p:cNvSpPr/>
          <p:nvPr/>
        </p:nvSpPr>
        <p:spPr>
          <a:xfrm>
            <a:off x="411480" y="3191256"/>
            <a:ext cx="640080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3191256"/>
            <a:ext cx="630936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Flip-flops, registers and state machines</a:t>
            </a:r>
          </a:p>
        </p:txBody>
      </p:sp>
      <p:sp>
        <p:nvSpPr>
          <p:cNvPr id="36" name="Rectangle 35"/>
          <p:cNvSpPr/>
          <p:nvPr/>
        </p:nvSpPr>
        <p:spPr>
          <a:xfrm>
            <a:off x="6812280" y="3191256"/>
            <a:ext cx="320040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858000" y="3191256"/>
            <a:ext cx="310896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3c — slides 33–59</a:t>
            </a:r>
          </a:p>
        </p:txBody>
      </p:sp>
      <p:sp>
        <p:nvSpPr>
          <p:cNvPr id="38" name="Rectangle 37"/>
          <p:cNvSpPr/>
          <p:nvPr/>
        </p:nvSpPr>
        <p:spPr>
          <a:xfrm>
            <a:off x="10012680" y="3191256"/>
            <a:ext cx="1645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0058400" y="3191256"/>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45 m</a:t>
            </a:r>
          </a:p>
        </p:txBody>
      </p:sp>
      <p:sp>
        <p:nvSpPr>
          <p:cNvPr id="40" name="Rectangle 39"/>
          <p:cNvSpPr/>
          <p:nvPr/>
        </p:nvSpPr>
        <p:spPr>
          <a:xfrm>
            <a:off x="411480" y="3520440"/>
            <a:ext cx="64008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520440"/>
            <a:ext cx="630936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Hands-on tools and tutorials T1–T4</a:t>
            </a:r>
          </a:p>
        </p:txBody>
      </p:sp>
      <p:sp>
        <p:nvSpPr>
          <p:cNvPr id="42" name="Rectangle 41"/>
          <p:cNvSpPr/>
          <p:nvPr/>
        </p:nvSpPr>
        <p:spPr>
          <a:xfrm>
            <a:off x="6812280" y="3520440"/>
            <a:ext cx="32004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858000" y="3520440"/>
            <a:ext cx="310896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slides 60–66 + workbook</a:t>
            </a:r>
          </a:p>
        </p:txBody>
      </p:sp>
      <p:sp>
        <p:nvSpPr>
          <p:cNvPr id="44" name="Rectangle 43"/>
          <p:cNvSpPr/>
          <p:nvPr/>
        </p:nvSpPr>
        <p:spPr>
          <a:xfrm>
            <a:off x="10012680" y="3520440"/>
            <a:ext cx="1645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10058400" y="3520440"/>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lab time</a:t>
            </a:r>
          </a:p>
        </p:txBody>
      </p:sp>
      <p:sp>
        <p:nvSpPr>
          <p:cNvPr id="46" name="Rounded Rectangle 45"/>
          <p:cNvSpPr/>
          <p:nvPr/>
        </p:nvSpPr>
        <p:spPr>
          <a:xfrm>
            <a:off x="411480" y="3941064"/>
            <a:ext cx="11247120" cy="137160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76072" y="4005072"/>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Learning outcomes — by the end of this topic you can</a:t>
            </a:r>
          </a:p>
        </p:txBody>
      </p:sp>
      <p:sp>
        <p:nvSpPr>
          <p:cNvPr id="48" name="TextBox 47"/>
          <p:cNvSpPr txBox="1"/>
          <p:nvPr/>
        </p:nvSpPr>
        <p:spPr>
          <a:xfrm>
            <a:off x="576072" y="4279392"/>
            <a:ext cx="10917936" cy="96926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 Simplify any Boolean function algebraically and with a Karnaugh map, and justify why the minimal form matters in silicon.</a:t>
            </a:r>
          </a:p>
          <a:p>
            <a:pPr algn="l">
              <a:lnSpc>
                <a:spcPct val="103000"/>
              </a:lnSpc>
              <a:spcAft>
                <a:spcPts val="400"/>
              </a:spcAft>
            </a:pPr>
            <a:r>
              <a:rPr sz="1100" b="0" i="0">
                <a:solidFill>
                  <a:srgbClr val="33414F"/>
                </a:solidFill>
                <a:latin typeface="Calibri"/>
              </a:rPr>
              <a:t>· Design, analyse and hand-verify adders, multiplexers, decoders, comparators and an ALU.</a:t>
            </a:r>
          </a:p>
          <a:p>
            <a:pPr algn="l">
              <a:lnSpc>
                <a:spcPct val="103000"/>
              </a:lnSpc>
              <a:spcAft>
                <a:spcPts val="400"/>
              </a:spcAft>
            </a:pPr>
            <a:r>
              <a:rPr sz="1100" b="0" i="0">
                <a:solidFill>
                  <a:srgbClr val="33414F"/>
                </a:solidFill>
                <a:latin typeface="Calibri"/>
              </a:rPr>
              <a:t>· Explain latches vs flip-flops, compute fₘₐₓ from a timing path, and recognise setup/hold and metastability failures.</a:t>
            </a:r>
          </a:p>
          <a:p>
            <a:pPr algn="l">
              <a:lnSpc>
                <a:spcPct val="103000"/>
              </a:lnSpc>
              <a:spcAft>
                <a:spcPts val="400"/>
              </a:spcAft>
            </a:pPr>
            <a:r>
              <a:rPr sz="1100" b="0" i="0">
                <a:solidFill>
                  <a:srgbClr val="33414F"/>
                </a:solidFill>
                <a:latin typeface="Calibri"/>
              </a:rPr>
              <a:t>· Design a finite state machine end to end — state diagram → table → encoding → logic → Verilog → simulation → synthesis.</a:t>
            </a:r>
          </a:p>
        </p:txBody>
      </p:sp>
      <p:sp>
        <p:nvSpPr>
          <p:cNvPr id="49" name="Rounded Rectangle 48"/>
          <p:cNvSpPr/>
          <p:nvPr/>
        </p:nvSpPr>
        <p:spPr>
          <a:xfrm>
            <a:off x="411480" y="5312664"/>
            <a:ext cx="11247120" cy="10515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76072" y="5376672"/>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How to run the session</a:t>
            </a:r>
          </a:p>
        </p:txBody>
      </p:sp>
      <p:sp>
        <p:nvSpPr>
          <p:cNvPr id="51" name="TextBox 50"/>
          <p:cNvSpPr txBox="1"/>
          <p:nvPr/>
        </p:nvSpPr>
        <p:spPr>
          <a:xfrm>
            <a:off x="576072" y="5650992"/>
            <a:ext cx="10917936" cy="6492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Deliver 3a and 3b before the break, with a 10-minute Logisim demo after each; run 3c after the break and finish in the lab with tutorials T1–T4.</a:t>
            </a:r>
          </a:p>
          <a:p>
            <a:pPr algn="l">
              <a:lnSpc>
                <a:spcPct val="103000"/>
              </a:lnSpc>
              <a:spcAft>
                <a:spcPts val="400"/>
              </a:spcAft>
            </a:pPr>
            <a:r>
              <a:rPr sz="1100" b="0" i="0">
                <a:solidFill>
                  <a:srgbClr val="33414F"/>
                </a:solidFill>
                <a:latin typeface="Calibri"/>
              </a:rPr>
              <a:t>The six worked numerical examples are your checkpoints — if the room cannot follow one, slow down rather than skipping ahead.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 · MOTIVATION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Why a Verilog Engineer Still Needs Gate-Level Thinking</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3</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synthesiser turns your Verilog into gates — so why learn gates at all? </a:t>
            </a:r>
            <a:r>
              <a:rPr sz="1250" b="0" i="0">
                <a:solidFill>
                  <a:srgbClr val="33414F"/>
                </a:solidFill>
                <a:latin typeface="Calibri"/>
              </a:rPr>
              <a:t>Because the tool optimises what you WROTE, not what you MEANT. Every one of the following is a real, common bug that is invisible at the Verilog level and obvious at the logic level.</a:t>
            </a:r>
          </a:p>
        </p:txBody>
      </p:sp>
      <p:sp>
        <p:nvSpPr>
          <p:cNvPr id="10" name="Rounded Rectangle 9"/>
          <p:cNvSpPr/>
          <p:nvPr/>
        </p:nvSpPr>
        <p:spPr>
          <a:xfrm>
            <a:off x="411480" y="1783080"/>
            <a:ext cx="2674620" cy="1600200"/>
          </a:xfrm>
          <a:prstGeom prst="roundRect">
            <a:avLst>
              <a:gd name="adj" fmla="val 5714"/>
            </a:avLst>
          </a:prstGeom>
          <a:solidFill>
            <a:srgbClr val="F4F8FB"/>
          </a:solidFill>
          <a:ln w="13970">
            <a:solidFill>
              <a:srgbClr val="5A6B7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1847088"/>
            <a:ext cx="2400300" cy="274320"/>
          </a:xfrm>
          <a:prstGeom prst="rect">
            <a:avLst/>
          </a:prstGeom>
          <a:noFill/>
        </p:spPr>
        <p:txBody>
          <a:bodyPr wrap="square" lIns="0" rIns="0" tIns="0" bIns="0" anchor="ctr">
            <a:spAutoFit/>
          </a:bodyPr>
          <a:lstStyle/>
          <a:p>
            <a:pPr algn="l">
              <a:lnSpc>
                <a:spcPct val="103000"/>
              </a:lnSpc>
            </a:pPr>
            <a:r>
              <a:rPr sz="1150" b="1" i="0">
                <a:solidFill>
                  <a:srgbClr val="5A6B7B"/>
                </a:solidFill>
                <a:latin typeface="Cambria"/>
              </a:rPr>
              <a:t>You write</a:t>
            </a:r>
          </a:p>
        </p:txBody>
      </p:sp>
      <p:sp>
        <p:nvSpPr>
          <p:cNvPr id="12" name="TextBox 11"/>
          <p:cNvSpPr txBox="1"/>
          <p:nvPr/>
        </p:nvSpPr>
        <p:spPr>
          <a:xfrm>
            <a:off x="548640" y="2121408"/>
            <a:ext cx="2400300" cy="119786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an </a:t>
            </a:r>
          </a:p>
          <a:p>
            <a:pPr algn="l">
              <a:lnSpc>
                <a:spcPct val="103000"/>
              </a:lnSpc>
              <a:spcAft>
                <a:spcPts val="400"/>
              </a:spcAft>
            </a:pPr>
            <a:r>
              <a:rPr sz="1100" b="1" i="0">
                <a:solidFill>
                  <a:srgbClr val="C01F43"/>
                </a:solidFill>
                <a:latin typeface="Calibri"/>
              </a:rPr>
              <a:t>incomplete if/else</a:t>
            </a:r>
          </a:p>
          <a:p>
            <a:pPr algn="l">
              <a:lnSpc>
                <a:spcPct val="103000"/>
              </a:lnSpc>
              <a:spcAft>
                <a:spcPts val="400"/>
              </a:spcAft>
            </a:pPr>
            <a:r>
              <a:rPr sz="1050" b="0" i="0">
                <a:solidFill>
                  <a:srgbClr val="33414F"/>
                </a:solidFill>
                <a:latin typeface="Calibri"/>
              </a:rPr>
              <a:t>in a combinational block</a:t>
            </a:r>
          </a:p>
        </p:txBody>
      </p:sp>
      <p:sp>
        <p:nvSpPr>
          <p:cNvPr id="13" name="Rounded Rectangle 12"/>
          <p:cNvSpPr/>
          <p:nvPr/>
        </p:nvSpPr>
        <p:spPr>
          <a:xfrm>
            <a:off x="3268980" y="1783080"/>
            <a:ext cx="2674620" cy="160020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406140" y="1847088"/>
            <a:ext cx="24003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Tool infers</a:t>
            </a:r>
          </a:p>
        </p:txBody>
      </p:sp>
      <p:sp>
        <p:nvSpPr>
          <p:cNvPr id="15" name="TextBox 14"/>
          <p:cNvSpPr txBox="1"/>
          <p:nvPr/>
        </p:nvSpPr>
        <p:spPr>
          <a:xfrm>
            <a:off x="3406140" y="2121408"/>
            <a:ext cx="2400300" cy="119786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 </a:t>
            </a:r>
          </a:p>
          <a:p>
            <a:pPr algn="l">
              <a:lnSpc>
                <a:spcPct val="103000"/>
              </a:lnSpc>
              <a:spcAft>
                <a:spcPts val="400"/>
              </a:spcAft>
            </a:pPr>
            <a:r>
              <a:rPr sz="1100" b="1" i="0">
                <a:solidFill>
                  <a:srgbClr val="C01F43"/>
                </a:solidFill>
                <a:latin typeface="Calibri"/>
              </a:rPr>
              <a:t>transparent LATCH</a:t>
            </a:r>
          </a:p>
          <a:p>
            <a:pPr algn="l">
              <a:lnSpc>
                <a:spcPct val="103000"/>
              </a:lnSpc>
              <a:spcAft>
                <a:spcPts val="400"/>
              </a:spcAft>
            </a:pPr>
            <a:r>
              <a:rPr sz="1050" b="0" i="0">
                <a:solidFill>
                  <a:srgbClr val="33414F"/>
                </a:solidFill>
                <a:latin typeface="Calibri"/>
              </a:rPr>
              <a:t>instead of pure gates</a:t>
            </a:r>
          </a:p>
        </p:txBody>
      </p:sp>
      <p:sp>
        <p:nvSpPr>
          <p:cNvPr id="16" name="Rounded Rectangle 15"/>
          <p:cNvSpPr/>
          <p:nvPr/>
        </p:nvSpPr>
        <p:spPr>
          <a:xfrm>
            <a:off x="6126480" y="1783080"/>
            <a:ext cx="2674620" cy="160020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1847088"/>
            <a:ext cx="24003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Consequence</a:t>
            </a:r>
          </a:p>
        </p:txBody>
      </p:sp>
      <p:sp>
        <p:nvSpPr>
          <p:cNvPr id="18" name="TextBox 17"/>
          <p:cNvSpPr txBox="1"/>
          <p:nvPr/>
        </p:nvSpPr>
        <p:spPr>
          <a:xfrm>
            <a:off x="6263640" y="2121408"/>
            <a:ext cx="2400300" cy="119786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timing cannot be</a:t>
            </a:r>
          </a:p>
          <a:p>
            <a:pPr algn="l">
              <a:lnSpc>
                <a:spcPct val="103000"/>
              </a:lnSpc>
              <a:spcAft>
                <a:spcPts val="400"/>
              </a:spcAft>
            </a:pPr>
            <a:r>
              <a:rPr sz="1100" b="1" i="0">
                <a:solidFill>
                  <a:srgbClr val="C01F43"/>
                </a:solidFill>
                <a:latin typeface="Calibri"/>
              </a:rPr>
              <a:t>closed; chip fails</a:t>
            </a:r>
          </a:p>
          <a:p>
            <a:pPr algn="l">
              <a:lnSpc>
                <a:spcPct val="103000"/>
              </a:lnSpc>
              <a:spcAft>
                <a:spcPts val="400"/>
              </a:spcAft>
            </a:pPr>
            <a:r>
              <a:rPr sz="1050" b="0" i="0">
                <a:solidFill>
                  <a:srgbClr val="33414F"/>
                </a:solidFill>
                <a:latin typeface="Calibri"/>
              </a:rPr>
              <a:t>intermittently</a:t>
            </a:r>
          </a:p>
        </p:txBody>
      </p:sp>
      <p:sp>
        <p:nvSpPr>
          <p:cNvPr id="19" name="Rounded Rectangle 18"/>
          <p:cNvSpPr/>
          <p:nvPr/>
        </p:nvSpPr>
        <p:spPr>
          <a:xfrm>
            <a:off x="8983980" y="1783080"/>
            <a:ext cx="2674620" cy="160020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121140" y="1847088"/>
            <a:ext cx="24003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You needed to know</a:t>
            </a:r>
          </a:p>
        </p:txBody>
      </p:sp>
      <p:sp>
        <p:nvSpPr>
          <p:cNvPr id="21" name="TextBox 20"/>
          <p:cNvSpPr txBox="1"/>
          <p:nvPr/>
        </p:nvSpPr>
        <p:spPr>
          <a:xfrm>
            <a:off x="9121140" y="2121408"/>
            <a:ext cx="2400300" cy="1197864"/>
          </a:xfrm>
          <a:prstGeom prst="rect">
            <a:avLst/>
          </a:prstGeom>
          <a:noFill/>
        </p:spPr>
        <p:txBody>
          <a:bodyPr wrap="square" lIns="0" rIns="0" tIns="0" bIns="0" anchor="t">
            <a:spAutoFit/>
          </a:bodyPr>
          <a:lstStyle/>
          <a:p>
            <a:pPr algn="l">
              <a:lnSpc>
                <a:spcPct val="103000"/>
              </a:lnSpc>
              <a:spcAft>
                <a:spcPts val="400"/>
              </a:spcAft>
            </a:pPr>
            <a:r>
              <a:rPr sz="1100" b="1" i="0">
                <a:solidFill>
                  <a:srgbClr val="2A9D5C"/>
                </a:solidFill>
                <a:latin typeface="Calibri"/>
              </a:rPr>
              <a:t>what a latch IS</a:t>
            </a:r>
          </a:p>
          <a:p>
            <a:pPr algn="l">
              <a:lnSpc>
                <a:spcPct val="103000"/>
              </a:lnSpc>
              <a:spcAft>
                <a:spcPts val="400"/>
              </a:spcAft>
            </a:pPr>
            <a:r>
              <a:rPr sz="1050" b="0" i="0">
                <a:solidFill>
                  <a:srgbClr val="33414F"/>
                </a:solidFill>
                <a:latin typeface="Calibri"/>
              </a:rPr>
              <a:t>and why level-</a:t>
            </a:r>
          </a:p>
          <a:p>
            <a:pPr algn="l">
              <a:lnSpc>
                <a:spcPct val="103000"/>
              </a:lnSpc>
              <a:spcAft>
                <a:spcPts val="400"/>
              </a:spcAft>
            </a:pPr>
            <a:r>
              <a:rPr sz="1050" b="0" i="0">
                <a:solidFill>
                  <a:srgbClr val="33414F"/>
                </a:solidFill>
                <a:latin typeface="Calibri"/>
              </a:rPr>
              <a:t>sensitivity is deadly</a:t>
            </a:r>
          </a:p>
        </p:txBody>
      </p:sp>
      <p:sp>
        <p:nvSpPr>
          <p:cNvPr id="22" name="Rounded Rectangle 21"/>
          <p:cNvSpPr/>
          <p:nvPr/>
        </p:nvSpPr>
        <p:spPr>
          <a:xfrm>
            <a:off x="411480" y="3474720"/>
            <a:ext cx="11247120" cy="14173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76072" y="353872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Three more examples of the same pattern</a:t>
            </a:r>
          </a:p>
        </p:txBody>
      </p:sp>
      <p:sp>
        <p:nvSpPr>
          <p:cNvPr id="24" name="TextBox 23"/>
          <p:cNvSpPr txBox="1"/>
          <p:nvPr/>
        </p:nvSpPr>
        <p:spPr>
          <a:xfrm>
            <a:off x="576072" y="3813048"/>
            <a:ext cx="10917936" cy="101498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alibri"/>
              </a:rPr>
              <a:t>Async reset written as sync → </a:t>
            </a:r>
            <a:r>
              <a:rPr sz="1100" b="0" i="0">
                <a:solidFill>
                  <a:srgbClr val="33414F"/>
                </a:solidFill>
                <a:latin typeface="Calibri"/>
              </a:rPr>
              <a:t>the design never leaves an unknown state after power-up. You needed flip-flop reset behaviour.</a:t>
            </a:r>
          </a:p>
          <a:p>
            <a:pPr algn="l">
              <a:lnSpc>
                <a:spcPct val="103000"/>
              </a:lnSpc>
              <a:spcAft>
                <a:spcPts val="400"/>
              </a:spcAft>
            </a:pPr>
            <a:r>
              <a:rPr sz="1100" b="1" i="0">
                <a:solidFill>
                  <a:srgbClr val="0E2A47"/>
                </a:solidFill>
                <a:latin typeface="Calibri"/>
              </a:rPr>
              <a:t>A signal crossed from another clock → </a:t>
            </a:r>
            <a:r>
              <a:rPr sz="1100" b="0" i="0">
                <a:solidFill>
                  <a:srgbClr val="33414F"/>
                </a:solidFill>
                <a:latin typeface="Calibri"/>
              </a:rPr>
              <a:t>random one-in-a-million failures. You needed metastability.</a:t>
            </a:r>
          </a:p>
          <a:p>
            <a:pPr algn="l">
              <a:lnSpc>
                <a:spcPct val="103000"/>
              </a:lnSpc>
              <a:spcAft>
                <a:spcPts val="400"/>
              </a:spcAft>
            </a:pPr>
            <a:r>
              <a:rPr sz="1100" b="1" i="0">
                <a:solidFill>
                  <a:srgbClr val="0E2A47"/>
                </a:solidFill>
                <a:latin typeface="Calibri"/>
              </a:rPr>
              <a:t>A 32-bit ripple adder in a 1 GHz design → </a:t>
            </a:r>
            <a:r>
              <a:rPr sz="1100" b="0" i="0">
                <a:solidFill>
                  <a:srgbClr val="33414F"/>
                </a:solidFill>
                <a:latin typeface="Calibri"/>
              </a:rPr>
              <a:t>timing fails by 4 ns. You needed carry propagation delay.</a:t>
            </a:r>
          </a:p>
        </p:txBody>
      </p:sp>
      <p:sp>
        <p:nvSpPr>
          <p:cNvPr id="25" name="TextBox 24"/>
          <p:cNvSpPr txBox="1"/>
          <p:nvPr/>
        </p:nvSpPr>
        <p:spPr>
          <a:xfrm>
            <a:off x="411480" y="5029200"/>
            <a:ext cx="11247120" cy="320040"/>
          </a:xfrm>
          <a:prstGeom prst="rect">
            <a:avLst/>
          </a:prstGeom>
          <a:noFill/>
        </p:spPr>
        <p:txBody>
          <a:bodyPr wrap="square" lIns="0" rIns="0" tIns="0" bIns="0" anchor="t">
            <a:spAutoFit/>
          </a:bodyPr>
          <a:lstStyle/>
          <a:p>
            <a:pPr algn="l">
              <a:lnSpc>
                <a:spcPct val="103000"/>
              </a:lnSpc>
            </a:pPr>
            <a:r>
              <a:rPr sz="1150" b="1" i="0">
                <a:solidFill>
                  <a:srgbClr val="1B9AAA"/>
                </a:solidFill>
                <a:latin typeface="Calibri"/>
              </a:rPr>
              <a:t>The rule for this whole module: </a:t>
            </a:r>
            <a:r>
              <a:rPr sz="1150" b="1" i="0">
                <a:solidFill>
                  <a:srgbClr val="0E2A47"/>
                </a:solidFill>
                <a:latin typeface="Calibri"/>
              </a:rPr>
              <a:t>you must be able to picture the hardware your code will become — BEFORE you run synthesis.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1B9AAA"/>
                </a:solidFill>
                <a:latin typeface="Calibri"/>
              </a:rPr>
              <a:t>SUBTOPIC 3A</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Boolean Algebra and Logic Gates</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The mathematics of 0 and 1 — and the physical devices that implement it.</a:t>
            </a:r>
          </a:p>
        </p:txBody>
      </p:sp>
      <p:sp>
        <p:nvSpPr>
          <p:cNvPr id="6" name="Rectangle 5"/>
          <p:cNvSpPr/>
          <p:nvPr/>
        </p:nvSpPr>
        <p:spPr>
          <a:xfrm>
            <a:off x="640080" y="394106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Binary, the digital abstraction, number systems and codes</a:t>
            </a:r>
          </a:p>
        </p:txBody>
      </p:sp>
      <p:sp>
        <p:nvSpPr>
          <p:cNvPr id="8" name="Rectangle 7"/>
          <p:cNvSpPr/>
          <p:nvPr/>
        </p:nvSpPr>
        <p:spPr>
          <a:xfrm>
            <a:off x="640080" y="435254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seven gates, universal gates, and De Morgan's theorems</a:t>
            </a:r>
          </a:p>
        </p:txBody>
      </p:sp>
      <p:sp>
        <p:nvSpPr>
          <p:cNvPr id="10" name="Rectangle 9"/>
          <p:cNvSpPr/>
          <p:nvPr/>
        </p:nvSpPr>
        <p:spPr>
          <a:xfrm>
            <a:off x="640080" y="476402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Boolean axioms, laws and theorems — with proofs you can do on paper</a:t>
            </a:r>
          </a:p>
        </p:txBody>
      </p:sp>
      <p:sp>
        <p:nvSpPr>
          <p:cNvPr id="12" name="Rectangle 11"/>
          <p:cNvSpPr/>
          <p:nvPr/>
        </p:nvSpPr>
        <p:spPr>
          <a:xfrm>
            <a:off x="640080" y="517550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Canonical forms (SOP / POS) and Karnaugh-map minimisation</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Module 2 · Verilog RTL Coding for Synthesis</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NIE/ELE/N0102 · Topic 3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3A · FOUNDATION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Why Digital? The Two-Valued Abstraction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5</a:t>
            </a:r>
          </a:p>
        </p:txBody>
      </p:sp>
      <p:sp>
        <p:nvSpPr>
          <p:cNvPr id="9" name="TextBox 8"/>
          <p:cNvSpPr txBox="1"/>
          <p:nvPr/>
        </p:nvSpPr>
        <p:spPr>
          <a:xfrm>
            <a:off x="411480" y="1143000"/>
            <a:ext cx="11247120" cy="6858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digital circuit is an analog circuit that we have agreed to misread. </a:t>
            </a:r>
            <a:r>
              <a:rPr sz="1100" b="0" i="0">
                <a:solidFill>
                  <a:srgbClr val="33414F"/>
                </a:solidFill>
                <a:latin typeface="Calibri"/>
              </a:rPr>
              <a:t>The wire really does carry a continuous voltage. We simply declare two bands — anything below </a:t>
            </a:r>
            <a:r>
              <a:rPr sz="1100" b="1" i="0">
                <a:solidFill>
                  <a:srgbClr val="2A9D5C"/>
                </a:solidFill>
                <a:latin typeface="Calibri"/>
              </a:rPr>
              <a:t>Vᴵʟ</a:t>
            </a:r>
            <a:r>
              <a:rPr sz="1100" b="0" i="0">
                <a:solidFill>
                  <a:srgbClr val="33414F"/>
                </a:solidFill>
                <a:latin typeface="Calibri"/>
              </a:rPr>
              <a:t> counts as 0, anything above </a:t>
            </a:r>
            <a:r>
              <a:rPr sz="1100" b="1" i="0">
                <a:solidFill>
                  <a:srgbClr val="1B9AAA"/>
                </a:solidFill>
                <a:latin typeface="Calibri"/>
              </a:rPr>
              <a:t>Vᴵʜ</a:t>
            </a:r>
            <a:r>
              <a:rPr sz="1100" b="0" i="0">
                <a:solidFill>
                  <a:srgbClr val="33414F"/>
                </a:solidFill>
                <a:latin typeface="Calibri"/>
              </a:rPr>
              <a:t> counts as 1 — and design so a signal never rests in between. That single decision buys us noise immunity, testability, and the ability to reason with algebra instead of calculus.</a:t>
            </a:r>
          </a:p>
        </p:txBody>
      </p:sp>
      <p:pic>
        <p:nvPicPr>
          <p:cNvPr id="10" name="Picture 9" descr="digital_abstraction.png"/>
          <p:cNvPicPr>
            <a:picLocks noChangeAspect="1"/>
          </p:cNvPicPr>
          <p:nvPr/>
        </p:nvPicPr>
        <p:blipFill>
          <a:blip r:embed="rId2"/>
          <a:stretch>
            <a:fillRect/>
          </a:stretch>
        </p:blipFill>
        <p:spPr>
          <a:xfrm>
            <a:off x="1063853" y="1874520"/>
            <a:ext cx="9942375" cy="3383280"/>
          </a:xfrm>
          <a:prstGeom prst="rect">
            <a:avLst/>
          </a:prstGeom>
        </p:spPr>
      </p:pic>
      <p:sp>
        <p:nvSpPr>
          <p:cNvPr id="11" name="Rounded Rectangle 10"/>
          <p:cNvSpPr/>
          <p:nvPr/>
        </p:nvSpPr>
        <p:spPr>
          <a:xfrm>
            <a:off x="411480" y="5349240"/>
            <a:ext cx="11247120" cy="10058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41324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Terms you must be able to define</a:t>
            </a:r>
          </a:p>
        </p:txBody>
      </p:sp>
      <p:sp>
        <p:nvSpPr>
          <p:cNvPr id="13" name="TextBox 12"/>
          <p:cNvSpPr txBox="1"/>
          <p:nvPr/>
        </p:nvSpPr>
        <p:spPr>
          <a:xfrm>
            <a:off x="576072" y="5687568"/>
            <a:ext cx="10917936" cy="60350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alibri"/>
              </a:rPr>
              <a:t>Bit </a:t>
            </a:r>
            <a:r>
              <a:rPr sz="1100" b="0" i="0">
                <a:solidFill>
                  <a:srgbClr val="33414F"/>
                </a:solidFill>
                <a:latin typeface="Calibri"/>
              </a:rPr>
              <a:t>— one binary digit.   </a:t>
            </a:r>
            <a:r>
              <a:rPr sz="1100" b="1" i="0">
                <a:solidFill>
                  <a:srgbClr val="0E2A47"/>
                </a:solidFill>
                <a:latin typeface="Calibri"/>
              </a:rPr>
              <a:t>Logic level </a:t>
            </a:r>
            <a:r>
              <a:rPr sz="1100" b="0" i="0">
                <a:solidFill>
                  <a:srgbClr val="33414F"/>
                </a:solidFill>
                <a:latin typeface="Calibri"/>
              </a:rPr>
              <a:t>— the 0/1 interpretation of a voltage.   </a:t>
            </a:r>
            <a:r>
              <a:rPr sz="1100" b="1" i="0">
                <a:solidFill>
                  <a:srgbClr val="0E2A47"/>
                </a:solidFill>
                <a:latin typeface="Calibri"/>
              </a:rPr>
              <a:t>Noise margin </a:t>
            </a:r>
            <a:r>
              <a:rPr sz="1100" b="0" i="0">
                <a:solidFill>
                  <a:srgbClr val="33414F"/>
                </a:solidFill>
                <a:latin typeface="Calibri"/>
              </a:rPr>
              <a:t>— how much interference a signal can absorb and still be read correctly (NMᴸ = Vᴵʟ − Vᴼʟ, NMᴴ = Vᴼʜ − Vᴵʜ).   </a:t>
            </a:r>
            <a:r>
              <a:rPr sz="1100" b="1" i="0">
                <a:solidFill>
                  <a:srgbClr val="0E2A47"/>
                </a:solidFill>
                <a:latin typeface="Calibri"/>
              </a:rPr>
              <a:t>Restoring logic </a:t>
            </a:r>
            <a:r>
              <a:rPr sz="1100" b="0" i="0">
                <a:solidFill>
                  <a:srgbClr val="33414F"/>
                </a:solidFill>
                <a:latin typeface="Calibri"/>
              </a:rPr>
              <a:t>— every gate outputs a clean full-swing level, so noise never accumulates.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3A · REPRESENTATION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Number Systems and Codes You Will Meet in RTL</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6</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Hardware only stores bits. </a:t>
            </a:r>
            <a:r>
              <a:rPr sz="1100" b="0" i="0">
                <a:solidFill>
                  <a:srgbClr val="33414F"/>
                </a:solidFill>
                <a:latin typeface="Calibri"/>
              </a:rPr>
              <a:t>What those bits MEAN is a convention you choose and must apply consistently — the same 8 bits are 180 unsigned, −76 signed, 0xB4 in hex, or a BCD digit pair. Verilog will happily let you mix them up; the bug appears in silicon.</a:t>
            </a:r>
          </a:p>
        </p:txBody>
      </p:sp>
      <p:pic>
        <p:nvPicPr>
          <p:cNvPr id="10" name="Picture 9" descr="number_systems.png"/>
          <p:cNvPicPr>
            <a:picLocks noChangeAspect="1"/>
          </p:cNvPicPr>
          <p:nvPr/>
        </p:nvPicPr>
        <p:blipFill>
          <a:blip r:embed="rId2"/>
          <a:stretch>
            <a:fillRect/>
          </a:stretch>
        </p:blipFill>
        <p:spPr>
          <a:xfrm>
            <a:off x="2687683" y="1737360"/>
            <a:ext cx="6694714" cy="2971800"/>
          </a:xfrm>
          <a:prstGeom prst="rect">
            <a:avLst/>
          </a:prstGeom>
        </p:spPr>
      </p:pic>
      <p:sp>
        <p:nvSpPr>
          <p:cNvPr id="11" name="Rounded Rectangle 10"/>
          <p:cNvSpPr/>
          <p:nvPr/>
        </p:nvSpPr>
        <p:spPr>
          <a:xfrm>
            <a:off x="411480" y="4754880"/>
            <a:ext cx="3627120" cy="15087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481888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Gray code</a:t>
            </a:r>
          </a:p>
        </p:txBody>
      </p:sp>
      <p:sp>
        <p:nvSpPr>
          <p:cNvPr id="13" name="TextBox 12"/>
          <p:cNvSpPr txBox="1"/>
          <p:nvPr/>
        </p:nvSpPr>
        <p:spPr>
          <a:xfrm>
            <a:off x="548640" y="5093208"/>
            <a:ext cx="3352800" cy="110642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alibri"/>
              </a:rPr>
              <a:t>Successive values differ in exactly ONE bit.</a:t>
            </a:r>
          </a:p>
          <a:p>
            <a:pPr algn="l">
              <a:lnSpc>
                <a:spcPct val="103000"/>
              </a:lnSpc>
              <a:spcAft>
                <a:spcPts val="400"/>
              </a:spcAft>
            </a:pPr>
            <a:r>
              <a:rPr sz="1000" b="0" i="0">
                <a:solidFill>
                  <a:srgbClr val="33414F"/>
                </a:solidFill>
                <a:latin typeface="Calibri"/>
              </a:rPr>
              <a:t>Used for K-maps, FIFO pointers crossing clock domains, and shaft encoders — because a multi-bit change can be sampled mid-flight.</a:t>
            </a:r>
          </a:p>
        </p:txBody>
      </p:sp>
      <p:sp>
        <p:nvSpPr>
          <p:cNvPr id="14" name="Rounded Rectangle 13"/>
          <p:cNvSpPr/>
          <p:nvPr/>
        </p:nvSpPr>
        <p:spPr>
          <a:xfrm>
            <a:off x="4221480" y="4754880"/>
            <a:ext cx="3627120" cy="15087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358640" y="481888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BCD</a:t>
            </a:r>
          </a:p>
        </p:txBody>
      </p:sp>
      <p:sp>
        <p:nvSpPr>
          <p:cNvPr id="16" name="TextBox 15"/>
          <p:cNvSpPr txBox="1"/>
          <p:nvPr/>
        </p:nvSpPr>
        <p:spPr>
          <a:xfrm>
            <a:off x="4358640" y="5093208"/>
            <a:ext cx="3352800" cy="110642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alibri"/>
              </a:rPr>
              <a:t>Each decimal digit in its own 4-bit nibble.</a:t>
            </a:r>
          </a:p>
          <a:p>
            <a:pPr algn="l">
              <a:lnSpc>
                <a:spcPct val="103000"/>
              </a:lnSpc>
              <a:spcAft>
                <a:spcPts val="400"/>
              </a:spcAft>
            </a:pPr>
            <a:r>
              <a:rPr sz="1000" b="0" i="0">
                <a:solidFill>
                  <a:srgbClr val="33414F"/>
                </a:solidFill>
                <a:latin typeface="Calibri"/>
              </a:rPr>
              <a:t>Wastes 6 of 16 codes but makes decimal display and financial arithmetic exact. The mod-10 counter you build later is a BCD counter.</a:t>
            </a:r>
          </a:p>
        </p:txBody>
      </p:sp>
      <p:sp>
        <p:nvSpPr>
          <p:cNvPr id="17" name="Rounded Rectangle 16"/>
          <p:cNvSpPr/>
          <p:nvPr/>
        </p:nvSpPr>
        <p:spPr>
          <a:xfrm>
            <a:off x="8031480" y="4754880"/>
            <a:ext cx="3627120" cy="15087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68640" y="481888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Two's complement</a:t>
            </a:r>
          </a:p>
        </p:txBody>
      </p:sp>
      <p:sp>
        <p:nvSpPr>
          <p:cNvPr id="19" name="TextBox 18"/>
          <p:cNvSpPr txBox="1"/>
          <p:nvPr/>
        </p:nvSpPr>
        <p:spPr>
          <a:xfrm>
            <a:off x="8168640" y="5093208"/>
            <a:ext cx="3352800" cy="110642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alibri"/>
              </a:rPr>
              <a:t>The universal signed format.</a:t>
            </a:r>
          </a:p>
          <a:p>
            <a:pPr algn="l">
              <a:lnSpc>
                <a:spcPct val="103000"/>
              </a:lnSpc>
              <a:spcAft>
                <a:spcPts val="400"/>
              </a:spcAft>
            </a:pPr>
            <a:r>
              <a:rPr sz="1000" b="0" i="0">
                <a:solidFill>
                  <a:srgbClr val="33414F"/>
                </a:solidFill>
                <a:latin typeface="Calibri"/>
              </a:rPr>
              <a:t>One adder handles + and −; there is only one zero. In Verilog, declare `signed` or the tool assumes unsigned and your comparisons invert.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3A · THE ALGEBRA</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Boolean Variables, Operators and Truth Tables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7</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100" b="0" i="0">
                <a:solidFill>
                  <a:srgbClr val="33414F"/>
                </a:solidFill>
                <a:latin typeface="Calibri"/>
              </a:rPr>
              <a:t>Boolean algebra (George Boole, 1854; applied to switching circuits by Claude Shannon, 1937) </a:t>
            </a:r>
            <a:r>
              <a:rPr sz="1100" b="1" i="0">
                <a:solidFill>
                  <a:srgbClr val="0E2A47"/>
                </a:solidFill>
                <a:latin typeface="Calibri"/>
              </a:rPr>
              <a:t>is an algebra over exactly two values. </a:t>
            </a:r>
            <a:r>
              <a:rPr sz="1100" b="0" i="0">
                <a:solidFill>
                  <a:srgbClr val="33414F"/>
                </a:solidFill>
                <a:latin typeface="Calibri"/>
              </a:rPr>
              <a:t>A variable is 0 or 1. There are three primitive operators, and every digital circuit that has ever been built is a composition of these three.</a:t>
            </a:r>
          </a:p>
        </p:txBody>
      </p:sp>
      <p:sp>
        <p:nvSpPr>
          <p:cNvPr id="10" name="Rectangle 9"/>
          <p:cNvSpPr/>
          <p:nvPr/>
        </p:nvSpPr>
        <p:spPr>
          <a:xfrm>
            <a:off x="411480" y="1737360"/>
            <a:ext cx="1371600" cy="3657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737360"/>
            <a:ext cx="1280160" cy="3657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Operator</a:t>
            </a:r>
          </a:p>
        </p:txBody>
      </p:sp>
      <p:sp>
        <p:nvSpPr>
          <p:cNvPr id="12" name="Rectangle 11"/>
          <p:cNvSpPr/>
          <p:nvPr/>
        </p:nvSpPr>
        <p:spPr>
          <a:xfrm>
            <a:off x="1783080" y="1737360"/>
            <a:ext cx="3657600" cy="3657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28800" y="1737360"/>
            <a:ext cx="3566160" cy="3657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Symbols used</a:t>
            </a:r>
          </a:p>
        </p:txBody>
      </p:sp>
      <p:sp>
        <p:nvSpPr>
          <p:cNvPr id="14" name="Rectangle 13"/>
          <p:cNvSpPr/>
          <p:nvPr/>
        </p:nvSpPr>
        <p:spPr>
          <a:xfrm>
            <a:off x="5440680" y="1737360"/>
            <a:ext cx="2560320" cy="3657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486400" y="1737360"/>
            <a:ext cx="2468880" cy="3657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Reads as</a:t>
            </a:r>
          </a:p>
        </p:txBody>
      </p:sp>
      <p:sp>
        <p:nvSpPr>
          <p:cNvPr id="16" name="Rectangle 15"/>
          <p:cNvSpPr/>
          <p:nvPr/>
        </p:nvSpPr>
        <p:spPr>
          <a:xfrm>
            <a:off x="8001000" y="1737360"/>
            <a:ext cx="3657600" cy="3657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046720" y="1737360"/>
            <a:ext cx="3566160" cy="3657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Result is 1 when…</a:t>
            </a:r>
          </a:p>
        </p:txBody>
      </p:sp>
      <p:sp>
        <p:nvSpPr>
          <p:cNvPr id="18" name="Rectangle 17"/>
          <p:cNvSpPr/>
          <p:nvPr/>
        </p:nvSpPr>
        <p:spPr>
          <a:xfrm>
            <a:off x="411480" y="2103120"/>
            <a:ext cx="13716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7200" y="2103120"/>
            <a:ext cx="1280160" cy="36576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AND</a:t>
            </a:r>
          </a:p>
        </p:txBody>
      </p:sp>
      <p:sp>
        <p:nvSpPr>
          <p:cNvPr id="20" name="Rectangle 19"/>
          <p:cNvSpPr/>
          <p:nvPr/>
        </p:nvSpPr>
        <p:spPr>
          <a:xfrm>
            <a:off x="1783080" y="2103120"/>
            <a:ext cx="36576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828800" y="2103120"/>
            <a:ext cx="3566160" cy="36576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 B    A ∧ B    AB    A &amp; B</a:t>
            </a:r>
          </a:p>
        </p:txBody>
      </p:sp>
      <p:sp>
        <p:nvSpPr>
          <p:cNvPr id="22" name="Rectangle 21"/>
          <p:cNvSpPr/>
          <p:nvPr/>
        </p:nvSpPr>
        <p:spPr>
          <a:xfrm>
            <a:off x="5440680" y="2103120"/>
            <a:ext cx="256032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486400" y="2103120"/>
            <a:ext cx="2468880" cy="36576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conjunction</a:t>
            </a:r>
          </a:p>
        </p:txBody>
      </p:sp>
      <p:sp>
        <p:nvSpPr>
          <p:cNvPr id="24" name="Rectangle 23"/>
          <p:cNvSpPr/>
          <p:nvPr/>
        </p:nvSpPr>
        <p:spPr>
          <a:xfrm>
            <a:off x="8001000" y="2103120"/>
            <a:ext cx="36576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046720" y="2103120"/>
            <a:ext cx="3566160" cy="36576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BOTH inputs are 1</a:t>
            </a:r>
          </a:p>
        </p:txBody>
      </p:sp>
      <p:sp>
        <p:nvSpPr>
          <p:cNvPr id="26" name="Rectangle 25"/>
          <p:cNvSpPr/>
          <p:nvPr/>
        </p:nvSpPr>
        <p:spPr>
          <a:xfrm>
            <a:off x="411480" y="2468880"/>
            <a:ext cx="137160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57200" y="2468880"/>
            <a:ext cx="1280160" cy="36576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OR</a:t>
            </a:r>
          </a:p>
        </p:txBody>
      </p:sp>
      <p:sp>
        <p:nvSpPr>
          <p:cNvPr id="28" name="Rectangle 27"/>
          <p:cNvSpPr/>
          <p:nvPr/>
        </p:nvSpPr>
        <p:spPr>
          <a:xfrm>
            <a:off x="1783080" y="2468880"/>
            <a:ext cx="365760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828800" y="2468880"/>
            <a:ext cx="3566160" cy="36576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 B    A ∨ B    A | B</a:t>
            </a:r>
          </a:p>
        </p:txBody>
      </p:sp>
      <p:sp>
        <p:nvSpPr>
          <p:cNvPr id="30" name="Rectangle 29"/>
          <p:cNvSpPr/>
          <p:nvPr/>
        </p:nvSpPr>
        <p:spPr>
          <a:xfrm>
            <a:off x="5440680" y="2468880"/>
            <a:ext cx="256032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486400" y="2468880"/>
            <a:ext cx="2468880" cy="36576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disjunction</a:t>
            </a:r>
          </a:p>
        </p:txBody>
      </p:sp>
      <p:sp>
        <p:nvSpPr>
          <p:cNvPr id="32" name="Rectangle 31"/>
          <p:cNvSpPr/>
          <p:nvPr/>
        </p:nvSpPr>
        <p:spPr>
          <a:xfrm>
            <a:off x="8001000" y="2468880"/>
            <a:ext cx="365760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046720" y="2468880"/>
            <a:ext cx="3566160" cy="36576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AT LEAST ONE input is 1</a:t>
            </a:r>
          </a:p>
        </p:txBody>
      </p:sp>
      <p:sp>
        <p:nvSpPr>
          <p:cNvPr id="34" name="Rectangle 33"/>
          <p:cNvSpPr/>
          <p:nvPr/>
        </p:nvSpPr>
        <p:spPr>
          <a:xfrm>
            <a:off x="411480" y="2834640"/>
            <a:ext cx="13716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834640"/>
            <a:ext cx="1280160" cy="36576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NOT</a:t>
            </a:r>
          </a:p>
        </p:txBody>
      </p:sp>
      <p:sp>
        <p:nvSpPr>
          <p:cNvPr id="36" name="Rectangle 35"/>
          <p:cNvSpPr/>
          <p:nvPr/>
        </p:nvSpPr>
        <p:spPr>
          <a:xfrm>
            <a:off x="1783080" y="2834640"/>
            <a:ext cx="36576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828800" y="2834640"/>
            <a:ext cx="3566160" cy="36576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Ā    ¬A    ~A</a:t>
            </a:r>
          </a:p>
        </p:txBody>
      </p:sp>
      <p:sp>
        <p:nvSpPr>
          <p:cNvPr id="38" name="Rectangle 37"/>
          <p:cNvSpPr/>
          <p:nvPr/>
        </p:nvSpPr>
        <p:spPr>
          <a:xfrm>
            <a:off x="5440680" y="2834640"/>
            <a:ext cx="256032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486400" y="2834640"/>
            <a:ext cx="2468880" cy="36576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complement / negation</a:t>
            </a:r>
          </a:p>
        </p:txBody>
      </p:sp>
      <p:sp>
        <p:nvSpPr>
          <p:cNvPr id="40" name="Rectangle 39"/>
          <p:cNvSpPr/>
          <p:nvPr/>
        </p:nvSpPr>
        <p:spPr>
          <a:xfrm>
            <a:off x="8001000" y="2834640"/>
            <a:ext cx="36576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046720" y="2834640"/>
            <a:ext cx="3566160" cy="36576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input is 0</a:t>
            </a:r>
          </a:p>
        </p:txBody>
      </p:sp>
      <p:sp>
        <p:nvSpPr>
          <p:cNvPr id="42" name="Rounded Rectangle 41"/>
          <p:cNvSpPr/>
          <p:nvPr/>
        </p:nvSpPr>
        <p:spPr>
          <a:xfrm>
            <a:off x="411480" y="3291840"/>
            <a:ext cx="11247120" cy="15087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76072" y="335584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truth table — the ground truth of every combinational function</a:t>
            </a:r>
          </a:p>
        </p:txBody>
      </p:sp>
      <p:sp>
        <p:nvSpPr>
          <p:cNvPr id="44" name="TextBox 43"/>
          <p:cNvSpPr txBox="1"/>
          <p:nvPr/>
        </p:nvSpPr>
        <p:spPr>
          <a:xfrm>
            <a:off x="576072" y="3630168"/>
            <a:ext cx="10917936" cy="11064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 truth table lists the output for every possible input combination. For n inputs there are </a:t>
            </a:r>
            <a:r>
              <a:rPr sz="1100" b="1" i="0">
                <a:solidFill>
                  <a:srgbClr val="C77514"/>
                </a:solidFill>
                <a:latin typeface="Calibri"/>
              </a:rPr>
              <a:t>2ⁿ rows</a:t>
            </a:r>
            <a:r>
              <a:rPr sz="1100" b="0" i="0">
                <a:solidFill>
                  <a:srgbClr val="33414F"/>
                </a:solidFill>
                <a:latin typeface="Calibri"/>
              </a:rPr>
              <a:t> — 2 inputs → 4 rows, 4 inputs → 16 rows, 16 inputs → 65 536 rows. This exponential growth is exactly why we need algebra and K-maps rather than exhaustive tables.</a:t>
            </a:r>
          </a:p>
          <a:p>
            <a:pPr algn="l">
              <a:lnSpc>
                <a:spcPct val="103000"/>
              </a:lnSpc>
              <a:spcAft>
                <a:spcPts val="400"/>
              </a:spcAft>
            </a:pPr>
            <a:r>
              <a:rPr sz="1100" b="0" i="0">
                <a:solidFill>
                  <a:srgbClr val="33414F"/>
                </a:solidFill>
                <a:latin typeface="Calibri"/>
              </a:rPr>
              <a:t>Two circuits are </a:t>
            </a:r>
            <a:r>
              <a:rPr sz="1100" b="1" i="0">
                <a:solidFill>
                  <a:srgbClr val="0E2A47"/>
                </a:solidFill>
                <a:latin typeface="Calibri"/>
              </a:rPr>
              <a:t>functionally equivalent</a:t>
            </a:r>
            <a:r>
              <a:rPr sz="1100" b="0" i="0">
                <a:solidFill>
                  <a:srgbClr val="33414F"/>
                </a:solidFill>
                <a:latin typeface="Calibri"/>
              </a:rPr>
              <a:t> if and only if their truth tables match on every row — no matter how differently they are drawn. Equivalence checking (a signoff step in Topic 6) automates exactly this.</a:t>
            </a:r>
          </a:p>
        </p:txBody>
      </p:sp>
      <p:sp>
        <p:nvSpPr>
          <p:cNvPr id="45" name="TextBox 44"/>
          <p:cNvSpPr txBox="1"/>
          <p:nvPr/>
        </p:nvSpPr>
        <p:spPr>
          <a:xfrm>
            <a:off x="411480" y="4983480"/>
            <a:ext cx="11247120" cy="274320"/>
          </a:xfrm>
          <a:prstGeom prst="rect">
            <a:avLst/>
          </a:prstGeom>
          <a:noFill/>
        </p:spPr>
        <p:txBody>
          <a:bodyPr wrap="square" lIns="0" rIns="0" tIns="0" bIns="0" anchor="t">
            <a:spAutoFit/>
          </a:bodyPr>
          <a:lstStyle/>
          <a:p>
            <a:pPr algn="l">
              <a:lnSpc>
                <a:spcPct val="103000"/>
              </a:lnSpc>
            </a:pPr>
            <a:r>
              <a:rPr sz="1100" b="1" i="0">
                <a:solidFill>
                  <a:srgbClr val="0E2A47"/>
                </a:solidFill>
                <a:latin typeface="Calibri"/>
              </a:rPr>
              <a:t>Precedence: </a:t>
            </a:r>
            <a:r>
              <a:rPr sz="1100" b="0" i="0">
                <a:solidFill>
                  <a:srgbClr val="33414F"/>
                </a:solidFill>
                <a:latin typeface="Calibri"/>
              </a:rPr>
              <a:t>NOT binds tightest, then AND, then OR — so A + B·C means A + (B·C). When in doubt, bracket it. Verilog follows the same order.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3A · THE GATES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Seven Logic Gates — Symbol, Expression, Truth Table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8</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logic gate is a physical circuit (in CMOS, a handful of transistors) that computes one Boolean operator. </a:t>
            </a:r>
            <a:r>
              <a:rPr sz="1100" b="0" i="0">
                <a:solidFill>
                  <a:srgbClr val="33414F"/>
                </a:solidFill>
                <a:latin typeface="Calibri"/>
              </a:rPr>
              <a:t>Learn to read these symbols instantly — schematics, synthesis reports and datasheets all assume you can.</a:t>
            </a:r>
          </a:p>
        </p:txBody>
      </p:sp>
      <p:pic>
        <p:nvPicPr>
          <p:cNvPr id="10" name="Picture 9" descr="gate_gallery.png"/>
          <p:cNvPicPr>
            <a:picLocks noChangeAspect="1"/>
          </p:cNvPicPr>
          <p:nvPr/>
        </p:nvPicPr>
        <p:blipFill>
          <a:blip r:embed="rId2"/>
          <a:stretch>
            <a:fillRect/>
          </a:stretch>
        </p:blipFill>
        <p:spPr>
          <a:xfrm>
            <a:off x="2705520" y="1691640"/>
            <a:ext cx="6659041" cy="3657600"/>
          </a:xfrm>
          <a:prstGeom prst="rect">
            <a:avLst/>
          </a:prstGeom>
        </p:spPr>
      </p:pic>
      <p:sp>
        <p:nvSpPr>
          <p:cNvPr id="11" name="Rounded Rectangle 10"/>
          <p:cNvSpPr/>
          <p:nvPr/>
        </p:nvSpPr>
        <p:spPr>
          <a:xfrm>
            <a:off x="411480" y="5440680"/>
            <a:ext cx="11247120" cy="86868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50468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Transistor cost — why NAND and NOR are the cheapest gates in CMOS</a:t>
            </a:r>
          </a:p>
        </p:txBody>
      </p:sp>
      <p:sp>
        <p:nvSpPr>
          <p:cNvPr id="13" name="TextBox 12"/>
          <p:cNvSpPr txBox="1"/>
          <p:nvPr/>
        </p:nvSpPr>
        <p:spPr>
          <a:xfrm>
            <a:off x="576072" y="5779008"/>
            <a:ext cx="10917936" cy="4663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In static CMOS, an inverter costs 2 transistors, a 2-input NAND or NOR costs 4, but a 2-input AND or OR costs 6 </a:t>
            </a:r>
            <a:r>
              <a:rPr sz="1100" b="0" i="1">
                <a:solidFill>
                  <a:srgbClr val="5A6B7B"/>
                </a:solidFill>
                <a:latin typeface="Calibri"/>
              </a:rPr>
              <a:t>(they are built as NAND/NOR followed by an inverter)</a:t>
            </a:r>
            <a:r>
              <a:rPr sz="1100" b="0" i="0">
                <a:solidFill>
                  <a:srgbClr val="33414F"/>
                </a:solidFill>
                <a:latin typeface="Calibri"/>
              </a:rPr>
              <a:t>. XOR costs 8–12. This is why standard-cell libraries are dominated by NAND/NOR/inverter cells and why synthesis output rarely contains a literal AND gate.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77514"/>
                </a:solidFill>
                <a:latin typeface="Calibri"/>
              </a:rPr>
              <a:t>TOPIC 3A · UNIVERSALITY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Universal Gates — NAND and NOR Can Build Anything</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9</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gate is UNIVERSAL if any Boolean function can be built from copies of it alone. </a:t>
            </a:r>
            <a:r>
              <a:rPr sz="1100" b="0" i="0">
                <a:solidFill>
                  <a:srgbClr val="33414F"/>
                </a:solidFill>
                <a:latin typeface="Calibri"/>
              </a:rPr>
              <a:t>NAND and NOR are the only two-input gates with this property (AND, OR and XOR are not — none of them can produce a NOT). The proof is constructive: build NOT, AND and OR from it, and since every function has an SOP form, you are done.</a:t>
            </a:r>
          </a:p>
        </p:txBody>
      </p:sp>
      <p:pic>
        <p:nvPicPr>
          <p:cNvPr id="10" name="Picture 9" descr="universal_nand.png"/>
          <p:cNvPicPr>
            <a:picLocks noChangeAspect="1"/>
          </p:cNvPicPr>
          <p:nvPr/>
        </p:nvPicPr>
        <p:blipFill>
          <a:blip r:embed="rId2"/>
          <a:stretch>
            <a:fillRect/>
          </a:stretch>
        </p:blipFill>
        <p:spPr>
          <a:xfrm>
            <a:off x="2153781" y="1783080"/>
            <a:ext cx="7762517" cy="3200400"/>
          </a:xfrm>
          <a:prstGeom prst="rect">
            <a:avLst/>
          </a:prstGeom>
        </p:spPr>
      </p:pic>
      <p:sp>
        <p:nvSpPr>
          <p:cNvPr id="11" name="Rounded Rectangle 10"/>
          <p:cNvSpPr/>
          <p:nvPr/>
        </p:nvSpPr>
        <p:spPr>
          <a:xfrm>
            <a:off x="411480" y="5074920"/>
            <a:ext cx="5532120" cy="10058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13892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Why it matters in manufacturing</a:t>
            </a:r>
          </a:p>
        </p:txBody>
      </p:sp>
      <p:sp>
        <p:nvSpPr>
          <p:cNvPr id="13" name="TextBox 12"/>
          <p:cNvSpPr txBox="1"/>
          <p:nvPr/>
        </p:nvSpPr>
        <p:spPr>
          <a:xfrm>
            <a:off x="548640" y="5413248"/>
            <a:ext cx="5257800" cy="6035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One well-characterised cell can be tiled everywhere, so the foundry optimises, models and yields a small library instead of a large one.</a:t>
            </a:r>
          </a:p>
        </p:txBody>
      </p:sp>
      <p:sp>
        <p:nvSpPr>
          <p:cNvPr id="14" name="Rounded Rectangle 13"/>
          <p:cNvSpPr/>
          <p:nvPr/>
        </p:nvSpPr>
        <p:spPr>
          <a:xfrm>
            <a:off x="6126480" y="5074920"/>
            <a:ext cx="5532120" cy="10058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13892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Why it matters in design</a:t>
            </a:r>
          </a:p>
        </p:txBody>
      </p:sp>
      <p:sp>
        <p:nvSpPr>
          <p:cNvPr id="16" name="TextBox 15"/>
          <p:cNvSpPr txBox="1"/>
          <p:nvPr/>
        </p:nvSpPr>
        <p:spPr>
          <a:xfrm>
            <a:off x="6263640" y="5413248"/>
            <a:ext cx="5257800" cy="6035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Synthesis 'technology maps' your logic onto whatever cells the library actually has — so your AND gate may well appear as two NANDs in the netlist.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3A · LAWS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Boolean Axioms, Laws and Theorems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10</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Every one of these can be proved with a truth table, and every one is a legal, behaviour-preserving circuit transformation. </a:t>
            </a:r>
            <a:r>
              <a:rPr sz="1100" b="0" i="0">
                <a:solidFill>
                  <a:srgbClr val="33414F"/>
                </a:solidFill>
                <a:latin typeface="Calibri"/>
              </a:rPr>
              <a:t>Synthesis tools apply them thousands of times per second; you apply them by hand to check the tool and to simplify before you write the code.</a:t>
            </a:r>
          </a:p>
        </p:txBody>
      </p:sp>
      <p:sp>
        <p:nvSpPr>
          <p:cNvPr id="10" name="Rectangle 9"/>
          <p:cNvSpPr/>
          <p:nvPr/>
        </p:nvSpPr>
        <p:spPr>
          <a:xfrm>
            <a:off x="411480" y="1737360"/>
            <a:ext cx="228600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737360"/>
            <a:ext cx="219456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Law</a:t>
            </a:r>
          </a:p>
        </p:txBody>
      </p:sp>
      <p:sp>
        <p:nvSpPr>
          <p:cNvPr id="12" name="Rectangle 11"/>
          <p:cNvSpPr/>
          <p:nvPr/>
        </p:nvSpPr>
        <p:spPr>
          <a:xfrm>
            <a:off x="2697480" y="1737360"/>
            <a:ext cx="448056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743200" y="1737360"/>
            <a:ext cx="438912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OR form</a:t>
            </a:r>
          </a:p>
        </p:txBody>
      </p:sp>
      <p:sp>
        <p:nvSpPr>
          <p:cNvPr id="14" name="Rectangle 13"/>
          <p:cNvSpPr/>
          <p:nvPr/>
        </p:nvSpPr>
        <p:spPr>
          <a:xfrm>
            <a:off x="7178040" y="1737360"/>
            <a:ext cx="448056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223760" y="1737360"/>
            <a:ext cx="438912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AND form</a:t>
            </a:r>
          </a:p>
        </p:txBody>
      </p:sp>
      <p:sp>
        <p:nvSpPr>
          <p:cNvPr id="16" name="Rectangle 15"/>
          <p:cNvSpPr/>
          <p:nvPr/>
        </p:nvSpPr>
        <p:spPr>
          <a:xfrm>
            <a:off x="411480" y="2011680"/>
            <a:ext cx="22860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2011680"/>
            <a:ext cx="2194560" cy="27432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Identity</a:t>
            </a:r>
          </a:p>
        </p:txBody>
      </p:sp>
      <p:sp>
        <p:nvSpPr>
          <p:cNvPr id="18" name="Rectangle 17"/>
          <p:cNvSpPr/>
          <p:nvPr/>
        </p:nvSpPr>
        <p:spPr>
          <a:xfrm>
            <a:off x="2697480" y="2011680"/>
            <a:ext cx="44805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743200" y="201168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+ 0 = A</a:t>
            </a:r>
          </a:p>
        </p:txBody>
      </p:sp>
      <p:sp>
        <p:nvSpPr>
          <p:cNvPr id="20" name="Rectangle 19"/>
          <p:cNvSpPr/>
          <p:nvPr/>
        </p:nvSpPr>
        <p:spPr>
          <a:xfrm>
            <a:off x="7178040" y="2011680"/>
            <a:ext cx="44805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223760" y="201168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1 = A</a:t>
            </a:r>
          </a:p>
        </p:txBody>
      </p:sp>
      <p:sp>
        <p:nvSpPr>
          <p:cNvPr id="22" name="Rectangle 21"/>
          <p:cNvSpPr/>
          <p:nvPr/>
        </p:nvSpPr>
        <p:spPr>
          <a:xfrm>
            <a:off x="411480" y="2286000"/>
            <a:ext cx="22860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286000"/>
            <a:ext cx="2194560" cy="27432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Null / Dominance</a:t>
            </a:r>
          </a:p>
        </p:txBody>
      </p:sp>
      <p:sp>
        <p:nvSpPr>
          <p:cNvPr id="24" name="Rectangle 23"/>
          <p:cNvSpPr/>
          <p:nvPr/>
        </p:nvSpPr>
        <p:spPr>
          <a:xfrm>
            <a:off x="2697480" y="2286000"/>
            <a:ext cx="44805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743200" y="228600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+ 1 = 1</a:t>
            </a:r>
          </a:p>
        </p:txBody>
      </p:sp>
      <p:sp>
        <p:nvSpPr>
          <p:cNvPr id="26" name="Rectangle 25"/>
          <p:cNvSpPr/>
          <p:nvPr/>
        </p:nvSpPr>
        <p:spPr>
          <a:xfrm>
            <a:off x="7178040" y="2286000"/>
            <a:ext cx="44805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223760" y="228600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0 = 0</a:t>
            </a:r>
          </a:p>
        </p:txBody>
      </p:sp>
      <p:sp>
        <p:nvSpPr>
          <p:cNvPr id="28" name="Rectangle 27"/>
          <p:cNvSpPr/>
          <p:nvPr/>
        </p:nvSpPr>
        <p:spPr>
          <a:xfrm>
            <a:off x="411480" y="2560320"/>
            <a:ext cx="22860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560320"/>
            <a:ext cx="2194560" cy="27432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Idempotent</a:t>
            </a:r>
          </a:p>
        </p:txBody>
      </p:sp>
      <p:sp>
        <p:nvSpPr>
          <p:cNvPr id="30" name="Rectangle 29"/>
          <p:cNvSpPr/>
          <p:nvPr/>
        </p:nvSpPr>
        <p:spPr>
          <a:xfrm>
            <a:off x="2697480" y="2560320"/>
            <a:ext cx="44805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743200" y="256032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A = A</a:t>
            </a:r>
          </a:p>
        </p:txBody>
      </p:sp>
      <p:sp>
        <p:nvSpPr>
          <p:cNvPr id="32" name="Rectangle 31"/>
          <p:cNvSpPr/>
          <p:nvPr/>
        </p:nvSpPr>
        <p:spPr>
          <a:xfrm>
            <a:off x="7178040" y="2560320"/>
            <a:ext cx="44805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223760" y="256032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A = A</a:t>
            </a:r>
          </a:p>
        </p:txBody>
      </p:sp>
      <p:sp>
        <p:nvSpPr>
          <p:cNvPr id="34" name="Rectangle 33"/>
          <p:cNvSpPr/>
          <p:nvPr/>
        </p:nvSpPr>
        <p:spPr>
          <a:xfrm>
            <a:off x="411480" y="2834640"/>
            <a:ext cx="22860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834640"/>
            <a:ext cx="2194560" cy="27432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Complement</a:t>
            </a:r>
          </a:p>
        </p:txBody>
      </p:sp>
      <p:sp>
        <p:nvSpPr>
          <p:cNvPr id="36" name="Rectangle 35"/>
          <p:cNvSpPr/>
          <p:nvPr/>
        </p:nvSpPr>
        <p:spPr>
          <a:xfrm>
            <a:off x="2697480" y="2834640"/>
            <a:ext cx="44805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743200" y="283464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A' = 1</a:t>
            </a:r>
          </a:p>
        </p:txBody>
      </p:sp>
      <p:sp>
        <p:nvSpPr>
          <p:cNvPr id="38" name="Rectangle 37"/>
          <p:cNvSpPr/>
          <p:nvPr/>
        </p:nvSpPr>
        <p:spPr>
          <a:xfrm>
            <a:off x="7178040" y="2834640"/>
            <a:ext cx="44805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223760" y="283464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A' = 0</a:t>
            </a:r>
          </a:p>
        </p:txBody>
      </p:sp>
      <p:sp>
        <p:nvSpPr>
          <p:cNvPr id="40" name="Rectangle 39"/>
          <p:cNvSpPr/>
          <p:nvPr/>
        </p:nvSpPr>
        <p:spPr>
          <a:xfrm>
            <a:off x="411480" y="3108960"/>
            <a:ext cx="22860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108960"/>
            <a:ext cx="2194560" cy="27432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Involution</a:t>
            </a:r>
          </a:p>
        </p:txBody>
      </p:sp>
      <p:sp>
        <p:nvSpPr>
          <p:cNvPr id="42" name="Rectangle 41"/>
          <p:cNvSpPr/>
          <p:nvPr/>
        </p:nvSpPr>
        <p:spPr>
          <a:xfrm>
            <a:off x="2697480" y="3108960"/>
            <a:ext cx="44805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743200" y="310896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A</a:t>
            </a:r>
          </a:p>
        </p:txBody>
      </p:sp>
      <p:sp>
        <p:nvSpPr>
          <p:cNvPr id="44" name="Rectangle 43"/>
          <p:cNvSpPr/>
          <p:nvPr/>
        </p:nvSpPr>
        <p:spPr>
          <a:xfrm>
            <a:off x="7178040" y="3108960"/>
            <a:ext cx="44805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223760" y="310896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t>
            </a:r>
          </a:p>
        </p:txBody>
      </p:sp>
      <p:sp>
        <p:nvSpPr>
          <p:cNvPr id="46" name="Rectangle 45"/>
          <p:cNvSpPr/>
          <p:nvPr/>
        </p:nvSpPr>
        <p:spPr>
          <a:xfrm>
            <a:off x="411480" y="3383280"/>
            <a:ext cx="22860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57200" y="3383280"/>
            <a:ext cx="2194560" cy="27432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Commutative</a:t>
            </a:r>
          </a:p>
        </p:txBody>
      </p:sp>
      <p:sp>
        <p:nvSpPr>
          <p:cNvPr id="48" name="Rectangle 47"/>
          <p:cNvSpPr/>
          <p:nvPr/>
        </p:nvSpPr>
        <p:spPr>
          <a:xfrm>
            <a:off x="2697480" y="3383280"/>
            <a:ext cx="44805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2743200" y="338328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B = B + A</a:t>
            </a:r>
          </a:p>
        </p:txBody>
      </p:sp>
      <p:sp>
        <p:nvSpPr>
          <p:cNvPr id="50" name="Rectangle 49"/>
          <p:cNvSpPr/>
          <p:nvPr/>
        </p:nvSpPr>
        <p:spPr>
          <a:xfrm>
            <a:off x="7178040" y="3383280"/>
            <a:ext cx="44805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223760" y="338328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B = B · A</a:t>
            </a:r>
          </a:p>
        </p:txBody>
      </p:sp>
      <p:sp>
        <p:nvSpPr>
          <p:cNvPr id="52" name="Rectangle 51"/>
          <p:cNvSpPr/>
          <p:nvPr/>
        </p:nvSpPr>
        <p:spPr>
          <a:xfrm>
            <a:off x="411480" y="3657600"/>
            <a:ext cx="22860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57200" y="3657600"/>
            <a:ext cx="2194560" cy="27432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Associative</a:t>
            </a:r>
          </a:p>
        </p:txBody>
      </p:sp>
      <p:sp>
        <p:nvSpPr>
          <p:cNvPr id="54" name="Rectangle 53"/>
          <p:cNvSpPr/>
          <p:nvPr/>
        </p:nvSpPr>
        <p:spPr>
          <a:xfrm>
            <a:off x="2697480" y="3657600"/>
            <a:ext cx="44805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2743200" y="365760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(B + C) = (A + B) + C</a:t>
            </a:r>
          </a:p>
        </p:txBody>
      </p:sp>
      <p:sp>
        <p:nvSpPr>
          <p:cNvPr id="56" name="Rectangle 55"/>
          <p:cNvSpPr/>
          <p:nvPr/>
        </p:nvSpPr>
        <p:spPr>
          <a:xfrm>
            <a:off x="7178040" y="3657600"/>
            <a:ext cx="44805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223760" y="365760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(B · C) = (A · B) · C</a:t>
            </a:r>
          </a:p>
        </p:txBody>
      </p:sp>
      <p:sp>
        <p:nvSpPr>
          <p:cNvPr id="58" name="Rectangle 57"/>
          <p:cNvSpPr/>
          <p:nvPr/>
        </p:nvSpPr>
        <p:spPr>
          <a:xfrm>
            <a:off x="411480" y="3931920"/>
            <a:ext cx="22860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457200" y="3931920"/>
            <a:ext cx="2194560" cy="27432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Distributive</a:t>
            </a:r>
          </a:p>
        </p:txBody>
      </p:sp>
      <p:sp>
        <p:nvSpPr>
          <p:cNvPr id="60" name="Rectangle 59"/>
          <p:cNvSpPr/>
          <p:nvPr/>
        </p:nvSpPr>
        <p:spPr>
          <a:xfrm>
            <a:off x="2697480" y="3931920"/>
            <a:ext cx="44805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2743200" y="393192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(B + C) = A·B + A·C</a:t>
            </a:r>
          </a:p>
        </p:txBody>
      </p:sp>
      <p:sp>
        <p:nvSpPr>
          <p:cNvPr id="62" name="Rectangle 61"/>
          <p:cNvSpPr/>
          <p:nvPr/>
        </p:nvSpPr>
        <p:spPr>
          <a:xfrm>
            <a:off x="7178040" y="3931920"/>
            <a:ext cx="44805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223760" y="393192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(B · C) = (A+B) · (A+C)</a:t>
            </a:r>
          </a:p>
        </p:txBody>
      </p:sp>
      <p:sp>
        <p:nvSpPr>
          <p:cNvPr id="64" name="Rectangle 63"/>
          <p:cNvSpPr/>
          <p:nvPr/>
        </p:nvSpPr>
        <p:spPr>
          <a:xfrm>
            <a:off x="411480" y="4206240"/>
            <a:ext cx="22860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457200" y="4206240"/>
            <a:ext cx="2194560" cy="27432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Absorption</a:t>
            </a:r>
          </a:p>
        </p:txBody>
      </p:sp>
      <p:sp>
        <p:nvSpPr>
          <p:cNvPr id="66" name="Rectangle 65"/>
          <p:cNvSpPr/>
          <p:nvPr/>
        </p:nvSpPr>
        <p:spPr>
          <a:xfrm>
            <a:off x="2697480" y="4206240"/>
            <a:ext cx="44805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2743200" y="420624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A·B = A</a:t>
            </a:r>
          </a:p>
        </p:txBody>
      </p:sp>
      <p:sp>
        <p:nvSpPr>
          <p:cNvPr id="68" name="Rectangle 67"/>
          <p:cNvSpPr/>
          <p:nvPr/>
        </p:nvSpPr>
        <p:spPr>
          <a:xfrm>
            <a:off x="7178040" y="4206240"/>
            <a:ext cx="44805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7223760" y="420624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(A + B) = A</a:t>
            </a:r>
          </a:p>
        </p:txBody>
      </p:sp>
      <p:sp>
        <p:nvSpPr>
          <p:cNvPr id="70" name="Rectangle 69"/>
          <p:cNvSpPr/>
          <p:nvPr/>
        </p:nvSpPr>
        <p:spPr>
          <a:xfrm>
            <a:off x="411480" y="4480560"/>
            <a:ext cx="22860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457200" y="4480560"/>
            <a:ext cx="2194560" cy="27432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Simplification</a:t>
            </a:r>
          </a:p>
        </p:txBody>
      </p:sp>
      <p:sp>
        <p:nvSpPr>
          <p:cNvPr id="72" name="Rectangle 71"/>
          <p:cNvSpPr/>
          <p:nvPr/>
        </p:nvSpPr>
        <p:spPr>
          <a:xfrm>
            <a:off x="2697480" y="4480560"/>
            <a:ext cx="44805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2743200" y="448056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A'·B = A + B</a:t>
            </a:r>
          </a:p>
        </p:txBody>
      </p:sp>
      <p:sp>
        <p:nvSpPr>
          <p:cNvPr id="74" name="Rectangle 73"/>
          <p:cNvSpPr/>
          <p:nvPr/>
        </p:nvSpPr>
        <p:spPr>
          <a:xfrm>
            <a:off x="7178040" y="4480560"/>
            <a:ext cx="44805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7223760" y="448056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 · (A' + B) = A · B</a:t>
            </a:r>
          </a:p>
        </p:txBody>
      </p:sp>
      <p:sp>
        <p:nvSpPr>
          <p:cNvPr id="76" name="Rectangle 75"/>
          <p:cNvSpPr/>
          <p:nvPr/>
        </p:nvSpPr>
        <p:spPr>
          <a:xfrm>
            <a:off x="411480" y="4754880"/>
            <a:ext cx="22860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457200" y="4754880"/>
            <a:ext cx="2194560" cy="27432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Consensus</a:t>
            </a:r>
          </a:p>
        </p:txBody>
      </p:sp>
      <p:sp>
        <p:nvSpPr>
          <p:cNvPr id="78" name="Rectangle 77"/>
          <p:cNvSpPr/>
          <p:nvPr/>
        </p:nvSpPr>
        <p:spPr>
          <a:xfrm>
            <a:off x="2697480" y="4754880"/>
            <a:ext cx="44805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2743200" y="475488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AB + A'C + BC = AB + A'C</a:t>
            </a:r>
          </a:p>
        </p:txBody>
      </p:sp>
      <p:sp>
        <p:nvSpPr>
          <p:cNvPr id="80" name="Rectangle 79"/>
          <p:cNvSpPr/>
          <p:nvPr/>
        </p:nvSpPr>
        <p:spPr>
          <a:xfrm>
            <a:off x="7178040" y="4754880"/>
            <a:ext cx="44805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7223760" y="4754880"/>
            <a:ext cx="4389120" cy="274320"/>
          </a:xfrm>
          <a:prstGeom prst="rect">
            <a:avLst/>
          </a:prstGeom>
          <a:noFill/>
        </p:spPr>
        <p:txBody>
          <a:bodyPr wrap="square" lIns="0" rIns="0" tIns="0" bIns="0" anchor="ctr">
            <a:spAutoFit/>
          </a:bodyPr>
          <a:lstStyle/>
          <a:p>
            <a:pPr algn="ctr">
              <a:lnSpc>
                <a:spcPct val="103000"/>
              </a:lnSpc>
            </a:pPr>
            <a:r>
              <a:rPr sz="1000" b="0" i="0">
                <a:solidFill>
                  <a:srgbClr val="0E2A47"/>
                </a:solidFill>
                <a:latin typeface="Calibri"/>
              </a:rPr>
              <a:t>(A+B)(A'+C)(B+C) = (A+B)(A'+C)</a:t>
            </a:r>
          </a:p>
        </p:txBody>
      </p:sp>
      <p:sp>
        <p:nvSpPr>
          <p:cNvPr id="82" name="Rounded Rectangle 81"/>
          <p:cNvSpPr/>
          <p:nvPr/>
        </p:nvSpPr>
        <p:spPr>
          <a:xfrm>
            <a:off x="411480" y="5120640"/>
            <a:ext cx="11247120" cy="11887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576072" y="518464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Two ideas that make the table half as long</a:t>
            </a:r>
          </a:p>
        </p:txBody>
      </p:sp>
      <p:sp>
        <p:nvSpPr>
          <p:cNvPr id="84" name="TextBox 83"/>
          <p:cNvSpPr txBox="1"/>
          <p:nvPr/>
        </p:nvSpPr>
        <p:spPr>
          <a:xfrm>
            <a:off x="576072" y="5458968"/>
            <a:ext cx="10917936" cy="786384"/>
          </a:xfrm>
          <a:prstGeom prst="rect">
            <a:avLst/>
          </a:prstGeom>
          <a:noFill/>
        </p:spPr>
        <p:txBody>
          <a:bodyPr wrap="square" lIns="0" rIns="0" tIns="0" bIns="0" anchor="t">
            <a:spAutoFit/>
          </a:bodyPr>
          <a:lstStyle/>
          <a:p>
            <a:pPr algn="l">
              <a:lnSpc>
                <a:spcPct val="103000"/>
              </a:lnSpc>
              <a:spcAft>
                <a:spcPts val="400"/>
              </a:spcAft>
            </a:pPr>
            <a:r>
              <a:rPr sz="1100" b="1" i="0">
                <a:solidFill>
                  <a:srgbClr val="C77514"/>
                </a:solidFill>
                <a:latin typeface="Calibri"/>
              </a:rPr>
              <a:t>Duality. </a:t>
            </a:r>
            <a:r>
              <a:rPr sz="1100" b="0" i="0">
                <a:solidFill>
                  <a:srgbClr val="33414F"/>
                </a:solidFill>
                <a:latin typeface="Calibri"/>
              </a:rPr>
              <a:t>Swap every AND ↔ OR and every 0 ↔ 1 and a true statement stays true — which is why the two columns above are mirror images. You only have to memorise one column.</a:t>
            </a:r>
          </a:p>
          <a:p>
            <a:pPr algn="l">
              <a:lnSpc>
                <a:spcPct val="103000"/>
              </a:lnSpc>
              <a:spcAft>
                <a:spcPts val="400"/>
              </a:spcAft>
            </a:pPr>
            <a:r>
              <a:rPr sz="1100" b="1" i="0">
                <a:solidFill>
                  <a:srgbClr val="C77514"/>
                </a:solidFill>
                <a:latin typeface="Calibri"/>
              </a:rPr>
              <a:t>Why the second distributive law surprises people. </a:t>
            </a:r>
            <a:r>
              <a:rPr sz="1100" b="0" i="0">
                <a:solidFill>
                  <a:srgbClr val="33414F"/>
                </a:solidFill>
                <a:latin typeface="Calibri"/>
              </a:rPr>
              <a:t>A + B·C = (A+B)(A+C) has no counterpart in ordinary arithmetic. Verify it on all 8 rows once and you will trust it forever.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3A · DE MORGAN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De Morgan's Theorems — The Most-Used Identity in RTL</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11</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Break the bar, change the operator. </a:t>
            </a:r>
            <a:r>
              <a:rPr sz="1100" b="0" i="0">
                <a:solidFill>
                  <a:srgbClr val="33414F"/>
                </a:solidFill>
                <a:latin typeface="Calibri"/>
              </a:rPr>
              <a:t>These two identities let you push inversions through a network, convert any AND-OR structure into an all-NAND structure, and read active-low signals correctly. In practice this is the theorem you will use most often at a whiteboard.</a:t>
            </a:r>
          </a:p>
        </p:txBody>
      </p:sp>
      <p:pic>
        <p:nvPicPr>
          <p:cNvPr id="10" name="Picture 9" descr="demorgan.png"/>
          <p:cNvPicPr>
            <a:picLocks noChangeAspect="1"/>
          </p:cNvPicPr>
          <p:nvPr/>
        </p:nvPicPr>
        <p:blipFill>
          <a:blip r:embed="rId2"/>
          <a:stretch>
            <a:fillRect/>
          </a:stretch>
        </p:blipFill>
        <p:spPr>
          <a:xfrm>
            <a:off x="1493036" y="1737360"/>
            <a:ext cx="9084008" cy="2926080"/>
          </a:xfrm>
          <a:prstGeom prst="rect">
            <a:avLst/>
          </a:prstGeom>
        </p:spPr>
      </p:pic>
      <p:sp>
        <p:nvSpPr>
          <p:cNvPr id="11" name="Rounded Rectangle 10"/>
          <p:cNvSpPr/>
          <p:nvPr/>
        </p:nvSpPr>
        <p:spPr>
          <a:xfrm>
            <a:off x="411480" y="4754880"/>
            <a:ext cx="11247120" cy="10058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481888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Proof by perfect induction (exhaustive truth table)</a:t>
            </a:r>
          </a:p>
        </p:txBody>
      </p:sp>
      <p:sp>
        <p:nvSpPr>
          <p:cNvPr id="13" name="TextBox 12"/>
          <p:cNvSpPr txBox="1"/>
          <p:nvPr/>
        </p:nvSpPr>
        <p:spPr>
          <a:xfrm>
            <a:off x="576072" y="5093208"/>
            <a:ext cx="10917936" cy="6035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onsolas"/>
              </a:rPr>
              <a:t>A=0 B=0 → (A·B)' = 1, A'+B' = 1+1 = 1  ✓        A=0 B=1 → (A·B)' = 1, A'+B' = 1+0 = 1  ✓</a:t>
            </a:r>
          </a:p>
          <a:p>
            <a:pPr algn="l">
              <a:lnSpc>
                <a:spcPct val="103000"/>
              </a:lnSpc>
              <a:spcAft>
                <a:spcPts val="400"/>
              </a:spcAft>
            </a:pPr>
            <a:r>
              <a:rPr sz="1050" b="0" i="0">
                <a:solidFill>
                  <a:srgbClr val="33414F"/>
                </a:solidFill>
                <a:latin typeface="Consolas"/>
              </a:rPr>
              <a:t>A=1 B=0 → (A·B)' = 1, A'+B' = 0+1 = 1  ✓        A=1 B=1 → (A·B)' = 0, A'+B' = 0+0 = 0  ✓</a:t>
            </a:r>
          </a:p>
          <a:p>
            <a:pPr algn="l">
              <a:lnSpc>
                <a:spcPct val="103000"/>
              </a:lnSpc>
              <a:spcAft>
                <a:spcPts val="400"/>
              </a:spcAft>
            </a:pPr>
            <a:r>
              <a:rPr sz="1050" b="0" i="1">
                <a:solidFill>
                  <a:srgbClr val="5A6B7B"/>
                </a:solidFill>
                <a:latin typeface="Calibri"/>
              </a:rPr>
              <a:t>All four rows agree, so the two expressions are the same function. The theorem generalises to n variables: (ABC…)' = A'+B'+C'+…</a:t>
            </a:r>
          </a:p>
        </p:txBody>
      </p:sp>
      <p:sp>
        <p:nvSpPr>
          <p:cNvPr id="14" name="TextBox 13"/>
          <p:cNvSpPr txBox="1"/>
          <p:nvPr/>
        </p:nvSpPr>
        <p:spPr>
          <a:xfrm>
            <a:off x="411480" y="5852160"/>
            <a:ext cx="11247120" cy="274320"/>
          </a:xfrm>
          <a:prstGeom prst="rect">
            <a:avLst/>
          </a:prstGeom>
          <a:noFill/>
        </p:spPr>
        <p:txBody>
          <a:bodyPr wrap="square" lIns="0" rIns="0" tIns="0" bIns="0" anchor="t">
            <a:spAutoFit/>
          </a:bodyPr>
          <a:lstStyle/>
          <a:p>
            <a:pPr algn="l">
              <a:lnSpc>
                <a:spcPct val="103000"/>
              </a:lnSpc>
            </a:pPr>
            <a:r>
              <a:rPr sz="1100" b="1" i="0">
                <a:solidFill>
                  <a:srgbClr val="C01F43"/>
                </a:solidFill>
                <a:latin typeface="Calibri"/>
              </a:rPr>
              <a:t>Active-low reading: </a:t>
            </a:r>
            <a:r>
              <a:rPr sz="1100" b="0" i="0">
                <a:solidFill>
                  <a:srgbClr val="33414F"/>
                </a:solidFill>
                <a:latin typeface="Calibri"/>
              </a:rPr>
              <a:t>a signal named  rst_n  asserted low means 'reset when rst_n = 0'. De Morgan is how you convert a spec written in active-low language into positive logic without errors.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3A · TIERED DEPTH</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Understanding Boolean Algebra at Four Levels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12</a:t>
            </a:r>
          </a:p>
        </p:txBody>
      </p:sp>
      <p:sp>
        <p:nvSpPr>
          <p:cNvPr id="9" name="TextBox 8"/>
          <p:cNvSpPr txBox="1"/>
          <p:nvPr/>
        </p:nvSpPr>
        <p:spPr>
          <a:xfrm>
            <a:off x="411480" y="1143000"/>
            <a:ext cx="11247120" cy="36576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The same idea, deepened. Use the level that matches your audience — and make sure you can climb all four.</a:t>
            </a:r>
          </a:p>
        </p:txBody>
      </p:sp>
      <p:sp>
        <p:nvSpPr>
          <p:cNvPr id="10" name="Rounded Rectangle 9"/>
          <p:cNvSpPr/>
          <p:nvPr/>
        </p:nvSpPr>
        <p:spPr>
          <a:xfrm>
            <a:off x="411480" y="1600200"/>
            <a:ext cx="11247120" cy="91440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411480" y="1600200"/>
            <a:ext cx="1737360" cy="914400"/>
          </a:xfrm>
          <a:prstGeom prst="roundRect">
            <a:avLst>
              <a:gd name="adj" fmla="val 5714"/>
            </a:avLst>
          </a:prstGeom>
          <a:solidFill>
            <a:srgbClr val="1B9AAA"/>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11480" y="1600200"/>
            <a:ext cx="1737360" cy="91440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BASIC</a:t>
            </a:r>
          </a:p>
        </p:txBody>
      </p:sp>
      <p:sp>
        <p:nvSpPr>
          <p:cNvPr id="13" name="TextBox 12"/>
          <p:cNvSpPr txBox="1"/>
          <p:nvPr/>
        </p:nvSpPr>
        <p:spPr>
          <a:xfrm>
            <a:off x="2331720" y="1645920"/>
            <a:ext cx="9144000" cy="82296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Circuits work with just two values, 0 and 1. Three operations — AND, OR and NOT — combine them, and a truth table lists what comes out for every possible input.</a:t>
            </a:r>
          </a:p>
        </p:txBody>
      </p:sp>
      <p:sp>
        <p:nvSpPr>
          <p:cNvPr id="14" name="Rounded Rectangle 13"/>
          <p:cNvSpPr/>
          <p:nvPr/>
        </p:nvSpPr>
        <p:spPr>
          <a:xfrm>
            <a:off x="411480" y="2583180"/>
            <a:ext cx="11247120" cy="91440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411480" y="2583180"/>
            <a:ext cx="1737360" cy="914400"/>
          </a:xfrm>
          <a:prstGeom prst="roundRect">
            <a:avLst>
              <a:gd name="adj" fmla="val 5714"/>
            </a:avLst>
          </a:prstGeom>
          <a:solidFill>
            <a:srgbClr val="1B9AAA"/>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11480" y="2583180"/>
            <a:ext cx="1737360" cy="91440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INTERMEDIATE</a:t>
            </a:r>
          </a:p>
        </p:txBody>
      </p:sp>
      <p:sp>
        <p:nvSpPr>
          <p:cNvPr id="17" name="TextBox 16"/>
          <p:cNvSpPr txBox="1"/>
          <p:nvPr/>
        </p:nvSpPr>
        <p:spPr>
          <a:xfrm>
            <a:off x="2331720" y="2628900"/>
            <a:ext cx="9144000" cy="82296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Boolean algebra is a formal algebra with its own laws. Those laws let you rewrite an expression into an equivalent one that needs fewer gates — which is exactly what minimisation means.</a:t>
            </a:r>
          </a:p>
        </p:txBody>
      </p:sp>
      <p:sp>
        <p:nvSpPr>
          <p:cNvPr id="18" name="Rounded Rectangle 17"/>
          <p:cNvSpPr/>
          <p:nvPr/>
        </p:nvSpPr>
        <p:spPr>
          <a:xfrm>
            <a:off x="411480" y="3566160"/>
            <a:ext cx="11247120" cy="91440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11480" y="3566160"/>
            <a:ext cx="1737360" cy="914400"/>
          </a:xfrm>
          <a:prstGeom prst="roundRect">
            <a:avLst>
              <a:gd name="adj" fmla="val 5714"/>
            </a:avLst>
          </a:prstGeom>
          <a:solidFill>
            <a:srgbClr val="C77514"/>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11480" y="3566160"/>
            <a:ext cx="1737360" cy="91440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ADVANCED</a:t>
            </a:r>
          </a:p>
        </p:txBody>
      </p:sp>
      <p:sp>
        <p:nvSpPr>
          <p:cNvPr id="21" name="TextBox 20"/>
          <p:cNvSpPr txBox="1"/>
          <p:nvPr/>
        </p:nvSpPr>
        <p:spPr>
          <a:xfrm>
            <a:off x="2331720" y="3611880"/>
            <a:ext cx="9144000" cy="82296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Any function has canonical SOP and POS forms derived directly from its truth table. Minimisation (K-map, Quine–McCluskey, Espresso) finds a cover of prime implicants that is cheapest under a chosen cost model — literals, gates, or area.</a:t>
            </a:r>
          </a:p>
        </p:txBody>
      </p:sp>
      <p:sp>
        <p:nvSpPr>
          <p:cNvPr id="22" name="Rounded Rectangle 21"/>
          <p:cNvSpPr/>
          <p:nvPr/>
        </p:nvSpPr>
        <p:spPr>
          <a:xfrm>
            <a:off x="411480" y="4549140"/>
            <a:ext cx="11247120" cy="91440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11480" y="4549140"/>
            <a:ext cx="1737360" cy="914400"/>
          </a:xfrm>
          <a:prstGeom prst="roundRect">
            <a:avLst>
              <a:gd name="adj" fmla="val 5714"/>
            </a:avLst>
          </a:prstGeom>
          <a:solidFill>
            <a:srgbClr val="2A9D5C"/>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11480" y="4549140"/>
            <a:ext cx="1737360" cy="91440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INDUSTRY</a:t>
            </a:r>
          </a:p>
        </p:txBody>
      </p:sp>
      <p:sp>
        <p:nvSpPr>
          <p:cNvPr id="25" name="TextBox 24"/>
          <p:cNvSpPr txBox="1"/>
          <p:nvPr/>
        </p:nvSpPr>
        <p:spPr>
          <a:xfrm>
            <a:off x="2331720" y="4594860"/>
            <a:ext cx="9144000" cy="82296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Nobody minimises by hand at scale. Synthesis uses BDDs, AIGs and SAT-based rewriting (ABC) against a real standard-cell library, optimising area, timing and power together. Your job is to write clean RTL, set correct constraints, and read the report critically.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TOPIC 3A · PRACTICAL EXAMPLE 1</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Worked: Algebraic Simplification, Step by Step</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13</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Problem. </a:t>
            </a:r>
            <a:r>
              <a:rPr sz="1250" b="0" i="0">
                <a:solidFill>
                  <a:srgbClr val="33414F"/>
                </a:solidFill>
                <a:latin typeface="Calibri"/>
              </a:rPr>
              <a:t>Simplify  F = A·B·C + A·B·C' + A·B'·C + A'·B·C  and state how many gates you saved.</a:t>
            </a:r>
          </a:p>
        </p:txBody>
      </p:sp>
      <p:sp>
        <p:nvSpPr>
          <p:cNvPr id="10" name="Rounded Rectangle 9"/>
          <p:cNvSpPr/>
          <p:nvPr/>
        </p:nvSpPr>
        <p:spPr>
          <a:xfrm>
            <a:off x="411480" y="1645920"/>
            <a:ext cx="11247120" cy="3510280"/>
          </a:xfrm>
          <a:prstGeom prst="roundRect">
            <a:avLst>
              <a:gd name="adj" fmla="val 3000"/>
            </a:avLst>
          </a:prstGeom>
          <a:solidFill>
            <a:srgbClr val="112233"/>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7602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Each line names the law that justifies it — never skip that column</a:t>
            </a:r>
          </a:p>
        </p:txBody>
      </p:sp>
      <p:sp>
        <p:nvSpPr>
          <p:cNvPr id="12" name="TextBox 11"/>
          <p:cNvSpPr txBox="1"/>
          <p:nvPr/>
        </p:nvSpPr>
        <p:spPr>
          <a:xfrm>
            <a:off x="594360" y="2034540"/>
            <a:ext cx="10881360" cy="300736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F = ABC + ABC' + AB'C + A'BC</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 AB(C + C')  + AB'C + A'BC        group terms 1 and 2  (distributive)</a:t>
            </a:r>
          </a:p>
          <a:p>
            <a:pPr algn="l">
              <a:lnSpc>
                <a:spcPct val="112000"/>
              </a:lnSpc>
            </a:pPr>
            <a:r>
              <a:rPr sz="1000" b="0" i="0">
                <a:solidFill>
                  <a:srgbClr val="D8E4F0"/>
                </a:solidFill>
                <a:latin typeface="Consolas"/>
              </a:rPr>
              <a:t>  = AB(1)       + AB'C + A'BC        complement:  C + C' = 1</a:t>
            </a:r>
          </a:p>
          <a:p>
            <a:pPr algn="l">
              <a:lnSpc>
                <a:spcPct val="112000"/>
              </a:lnSpc>
            </a:pPr>
            <a:r>
              <a:rPr sz="1000" b="0" i="0">
                <a:solidFill>
                  <a:srgbClr val="D8E4F0"/>
                </a:solidFill>
                <a:latin typeface="Consolas"/>
              </a:rPr>
              <a:t>  = AB          + AB'C + A'BC        identity:    X · 1  = X</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 A(B + B'C)  + A'BC               factor A out of terms 1 and 2</a:t>
            </a:r>
          </a:p>
          <a:p>
            <a:pPr algn="l">
              <a:lnSpc>
                <a:spcPct val="112000"/>
              </a:lnSpc>
            </a:pPr>
            <a:r>
              <a:rPr sz="1000" b="0" i="0">
                <a:solidFill>
                  <a:srgbClr val="D8E4F0"/>
                </a:solidFill>
                <a:latin typeface="Consolas"/>
              </a:rPr>
              <a:t>  = A(B + C)    + A'BC               simplification:  B + B'C = B + C</a:t>
            </a:r>
          </a:p>
          <a:p>
            <a:pPr algn="l">
              <a:lnSpc>
                <a:spcPct val="112000"/>
              </a:lnSpc>
            </a:pPr>
            <a:r>
              <a:rPr sz="1000" b="0" i="0">
                <a:solidFill>
                  <a:srgbClr val="D8E4F0"/>
                </a:solidFill>
                <a:latin typeface="Consolas"/>
              </a:rPr>
              <a:t>  = AB + AC     + A'BC               expand</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 AB + A'BC   + AC                 reorder</a:t>
            </a:r>
          </a:p>
          <a:p>
            <a:pPr algn="l">
              <a:lnSpc>
                <a:spcPct val="112000"/>
              </a:lnSpc>
            </a:pPr>
            <a:r>
              <a:rPr sz="1000" b="0" i="0">
                <a:solidFill>
                  <a:srgbClr val="D8E4F0"/>
                </a:solidFill>
                <a:latin typeface="Consolas"/>
              </a:rPr>
              <a:t>  = B(A + A'C)  + AC                 factor B</a:t>
            </a:r>
          </a:p>
          <a:p>
            <a:pPr algn="l">
              <a:lnSpc>
                <a:spcPct val="112000"/>
              </a:lnSpc>
            </a:pPr>
            <a:r>
              <a:rPr sz="1000" b="0" i="0">
                <a:solidFill>
                  <a:srgbClr val="D8E4F0"/>
                </a:solidFill>
                <a:latin typeface="Consolas"/>
              </a:rPr>
              <a:t>  = B(A + C)    + AC                 simplification again</a:t>
            </a:r>
          </a:p>
          <a:p>
            <a:pPr algn="l">
              <a:lnSpc>
                <a:spcPct val="112000"/>
              </a:lnSpc>
            </a:pPr>
            <a:r>
              <a:rPr sz="1000" b="0" i="0">
                <a:solidFill>
                  <a:srgbClr val="D8E4F0"/>
                </a:solidFill>
                <a:latin typeface="Consolas"/>
              </a:rPr>
              <a:t>  = AB + BC     + AC</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F = AB + BC + AC        ←  the 'majority' function: 1 when ≥ 2 inputs are 1</a:t>
            </a:r>
          </a:p>
        </p:txBody>
      </p:sp>
      <p:sp>
        <p:nvSpPr>
          <p:cNvPr id="13" name="Rounded Rectangle 12"/>
          <p:cNvSpPr/>
          <p:nvPr/>
        </p:nvSpPr>
        <p:spPr>
          <a:xfrm>
            <a:off x="411480" y="5247640"/>
            <a:ext cx="3627120" cy="10515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5311648"/>
            <a:ext cx="3352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Cost before</a:t>
            </a:r>
          </a:p>
        </p:txBody>
      </p:sp>
      <p:sp>
        <p:nvSpPr>
          <p:cNvPr id="15" name="TextBox 14"/>
          <p:cNvSpPr txBox="1"/>
          <p:nvPr/>
        </p:nvSpPr>
        <p:spPr>
          <a:xfrm>
            <a:off x="548640" y="5585968"/>
            <a:ext cx="3352800" cy="6492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4 AND gates (3-input)</a:t>
            </a:r>
          </a:p>
          <a:p>
            <a:pPr algn="l">
              <a:lnSpc>
                <a:spcPct val="103000"/>
              </a:lnSpc>
              <a:spcAft>
                <a:spcPts val="400"/>
              </a:spcAft>
            </a:pPr>
            <a:r>
              <a:rPr sz="1050" b="0" i="0">
                <a:solidFill>
                  <a:srgbClr val="33414F"/>
                </a:solidFill>
                <a:latin typeface="Calibri"/>
              </a:rPr>
              <a:t>1 OR gate (4-input)</a:t>
            </a:r>
          </a:p>
          <a:p>
            <a:pPr algn="l">
              <a:lnSpc>
                <a:spcPct val="103000"/>
              </a:lnSpc>
              <a:spcAft>
                <a:spcPts val="400"/>
              </a:spcAft>
            </a:pPr>
            <a:r>
              <a:rPr sz="1050" b="1" i="0">
                <a:solidFill>
                  <a:srgbClr val="C01F43"/>
                </a:solidFill>
                <a:latin typeface="Calibri"/>
              </a:rPr>
              <a:t>3 inverters · 12 literals</a:t>
            </a:r>
          </a:p>
        </p:txBody>
      </p:sp>
      <p:sp>
        <p:nvSpPr>
          <p:cNvPr id="16" name="Rounded Rectangle 15"/>
          <p:cNvSpPr/>
          <p:nvPr/>
        </p:nvSpPr>
        <p:spPr>
          <a:xfrm>
            <a:off x="4221480" y="5247640"/>
            <a:ext cx="3627120" cy="10515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58640" y="531164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Cost after</a:t>
            </a:r>
          </a:p>
        </p:txBody>
      </p:sp>
      <p:sp>
        <p:nvSpPr>
          <p:cNvPr id="18" name="TextBox 17"/>
          <p:cNvSpPr txBox="1"/>
          <p:nvPr/>
        </p:nvSpPr>
        <p:spPr>
          <a:xfrm>
            <a:off x="4358640" y="5585968"/>
            <a:ext cx="3352800" cy="6492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3 AND gates (2-input)</a:t>
            </a:r>
          </a:p>
          <a:p>
            <a:pPr algn="l">
              <a:lnSpc>
                <a:spcPct val="103000"/>
              </a:lnSpc>
              <a:spcAft>
                <a:spcPts val="400"/>
              </a:spcAft>
            </a:pPr>
            <a:r>
              <a:rPr sz="1050" b="0" i="0">
                <a:solidFill>
                  <a:srgbClr val="33414F"/>
                </a:solidFill>
                <a:latin typeface="Calibri"/>
              </a:rPr>
              <a:t>1 OR gate (3-input)</a:t>
            </a:r>
          </a:p>
          <a:p>
            <a:pPr algn="l">
              <a:lnSpc>
                <a:spcPct val="103000"/>
              </a:lnSpc>
              <a:spcAft>
                <a:spcPts val="400"/>
              </a:spcAft>
            </a:pPr>
            <a:r>
              <a:rPr sz="1050" b="1" i="0">
                <a:solidFill>
                  <a:srgbClr val="2A9D5C"/>
                </a:solidFill>
                <a:latin typeface="Calibri"/>
              </a:rPr>
              <a:t>0 inverters · 6 literals</a:t>
            </a:r>
          </a:p>
        </p:txBody>
      </p:sp>
      <p:sp>
        <p:nvSpPr>
          <p:cNvPr id="19" name="Rounded Rectangle 18"/>
          <p:cNvSpPr/>
          <p:nvPr/>
        </p:nvSpPr>
        <p:spPr>
          <a:xfrm>
            <a:off x="8031480" y="5247640"/>
            <a:ext cx="3627120" cy="10515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168640" y="531164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Sanity check</a:t>
            </a:r>
          </a:p>
        </p:txBody>
      </p:sp>
      <p:sp>
        <p:nvSpPr>
          <p:cNvPr id="21" name="TextBox 20"/>
          <p:cNvSpPr txBox="1"/>
          <p:nvPr/>
        </p:nvSpPr>
        <p:spPr>
          <a:xfrm>
            <a:off x="8168640" y="5585968"/>
            <a:ext cx="3352800" cy="6492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Build the truth table for both forms and compare all 8 rows. Never trust an algebraic simplification you have not checked.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3A · CANONICAL FORMS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SOP and POS — Reading Algebra Straight Off a Truth Table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14</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Given any truth table you can write down two exact expressions immediately, with no thinking required. </a:t>
            </a:r>
            <a:r>
              <a:rPr sz="1100" b="0" i="0">
                <a:solidFill>
                  <a:srgbClr val="33414F"/>
                </a:solidFill>
                <a:latin typeface="Calibri"/>
              </a:rPr>
              <a:t>They are called canonical because they are unique. They are also usually far from minimal — which is what the next two slides fix.</a:t>
            </a:r>
          </a:p>
        </p:txBody>
      </p:sp>
      <p:pic>
        <p:nvPicPr>
          <p:cNvPr id="10" name="Picture 9" descr="sop_pos.png"/>
          <p:cNvPicPr>
            <a:picLocks noChangeAspect="1"/>
          </p:cNvPicPr>
          <p:nvPr/>
        </p:nvPicPr>
        <p:blipFill>
          <a:blip r:embed="rId2"/>
          <a:stretch>
            <a:fillRect/>
          </a:stretch>
        </p:blipFill>
        <p:spPr>
          <a:xfrm>
            <a:off x="2224203" y="1691640"/>
            <a:ext cx="7621675" cy="3383280"/>
          </a:xfrm>
          <a:prstGeom prst="rect">
            <a:avLst/>
          </a:prstGeom>
        </p:spPr>
      </p:pic>
      <p:sp>
        <p:nvSpPr>
          <p:cNvPr id="11" name="Rounded Rectangle 10"/>
          <p:cNvSpPr/>
          <p:nvPr/>
        </p:nvSpPr>
        <p:spPr>
          <a:xfrm>
            <a:off x="411480" y="5166360"/>
            <a:ext cx="3627120" cy="10058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23036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Minterm  mᵢ</a:t>
            </a:r>
          </a:p>
        </p:txBody>
      </p:sp>
      <p:sp>
        <p:nvSpPr>
          <p:cNvPr id="13" name="TextBox 12"/>
          <p:cNvSpPr txBox="1"/>
          <p:nvPr/>
        </p:nvSpPr>
        <p:spPr>
          <a:xfrm>
            <a:off x="548640" y="5504688"/>
            <a:ext cx="3352800" cy="6035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The AND term that is 1 for exactly ONE input combination. Write the variable plain if its bit is 1, complemented if 0.</a:t>
            </a:r>
          </a:p>
        </p:txBody>
      </p:sp>
      <p:sp>
        <p:nvSpPr>
          <p:cNvPr id="14" name="Rounded Rectangle 13"/>
          <p:cNvSpPr/>
          <p:nvPr/>
        </p:nvSpPr>
        <p:spPr>
          <a:xfrm>
            <a:off x="4221480" y="5166360"/>
            <a:ext cx="3627120" cy="10058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358640" y="523036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Maxterm  Mᵢ</a:t>
            </a:r>
          </a:p>
        </p:txBody>
      </p:sp>
      <p:sp>
        <p:nvSpPr>
          <p:cNvPr id="16" name="TextBox 15"/>
          <p:cNvSpPr txBox="1"/>
          <p:nvPr/>
        </p:nvSpPr>
        <p:spPr>
          <a:xfrm>
            <a:off x="4358640" y="5504688"/>
            <a:ext cx="3352800" cy="6035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The OR term that is 0 for exactly ONE input combination — the complement rule is reversed.</a:t>
            </a:r>
          </a:p>
        </p:txBody>
      </p:sp>
      <p:sp>
        <p:nvSpPr>
          <p:cNvPr id="17" name="Rounded Rectangle 16"/>
          <p:cNvSpPr/>
          <p:nvPr/>
        </p:nvSpPr>
        <p:spPr>
          <a:xfrm>
            <a:off x="8031480" y="5166360"/>
            <a:ext cx="3627120" cy="10058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68640" y="523036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Relationship</a:t>
            </a:r>
          </a:p>
        </p:txBody>
      </p:sp>
      <p:sp>
        <p:nvSpPr>
          <p:cNvPr id="19" name="TextBox 18"/>
          <p:cNvSpPr txBox="1"/>
          <p:nvPr/>
        </p:nvSpPr>
        <p:spPr>
          <a:xfrm>
            <a:off x="8168640" y="5504688"/>
            <a:ext cx="3352800" cy="6035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Mᵢ = (mᵢ)'.  A function's SOP minterm list and POS maxterm list are complementary sets of the same 2ⁿ indices.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3A · MINIMISATION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Karnaugh Maps — Minimisation You Can Do by Eye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15</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K-map is a truth table redrawn so that physically adjacent cells differ in exactly one variable. </a:t>
            </a:r>
            <a:r>
              <a:rPr sz="1100" b="0" i="0">
                <a:solidFill>
                  <a:srgbClr val="33414F"/>
                </a:solidFill>
                <a:latin typeface="Calibri"/>
              </a:rPr>
              <a:t>That turns the algebraic law  X·Y + X·Y' = X  into a visual one: any group of adjacent 1s collapses into a single, shorter product term. Practical up to 4 variables (5–6 with effort).</a:t>
            </a:r>
          </a:p>
        </p:txBody>
      </p:sp>
      <p:pic>
        <p:nvPicPr>
          <p:cNvPr id="10" name="Picture 9" descr="kmap_method.png"/>
          <p:cNvPicPr>
            <a:picLocks noChangeAspect="1"/>
          </p:cNvPicPr>
          <p:nvPr/>
        </p:nvPicPr>
        <p:blipFill>
          <a:blip r:embed="rId2"/>
          <a:stretch>
            <a:fillRect/>
          </a:stretch>
        </p:blipFill>
        <p:spPr>
          <a:xfrm>
            <a:off x="1977249" y="1737360"/>
            <a:ext cx="8115582" cy="3840480"/>
          </a:xfrm>
          <a:prstGeom prst="rect">
            <a:avLst/>
          </a:prstGeom>
        </p:spPr>
      </p:pic>
      <p:sp>
        <p:nvSpPr>
          <p:cNvPr id="11" name="TextBox 10"/>
          <p:cNvSpPr txBox="1"/>
          <p:nvPr/>
        </p:nvSpPr>
        <p:spPr>
          <a:xfrm>
            <a:off x="411480" y="5669280"/>
            <a:ext cx="11247120" cy="274320"/>
          </a:xfrm>
          <a:prstGeom prst="rect">
            <a:avLst/>
          </a:prstGeom>
          <a:noFill/>
        </p:spPr>
        <p:txBody>
          <a:bodyPr wrap="square" lIns="0" rIns="0" tIns="0" bIns="0" anchor="t">
            <a:spAutoFit/>
          </a:bodyPr>
          <a:lstStyle/>
          <a:p>
            <a:pPr algn="l">
              <a:lnSpc>
                <a:spcPct val="103000"/>
              </a:lnSpc>
            </a:pPr>
            <a:r>
              <a:rPr sz="1100" b="1" i="0">
                <a:solidFill>
                  <a:srgbClr val="0E2A47"/>
                </a:solidFill>
                <a:latin typeface="Calibri"/>
              </a:rPr>
              <a:t>Vocabulary: </a:t>
            </a:r>
            <a:r>
              <a:rPr sz="1100" b="0" i="0">
                <a:solidFill>
                  <a:srgbClr val="33414F"/>
                </a:solidFill>
                <a:latin typeface="Calibri"/>
              </a:rPr>
              <a:t>an </a:t>
            </a:r>
            <a:r>
              <a:rPr sz="1100" b="1" i="0">
                <a:solidFill>
                  <a:srgbClr val="1B9AAA"/>
                </a:solidFill>
                <a:latin typeface="Calibri"/>
              </a:rPr>
              <a:t>implicant</a:t>
            </a:r>
            <a:r>
              <a:rPr sz="1100" b="0" i="0">
                <a:solidFill>
                  <a:srgbClr val="33414F"/>
                </a:solidFill>
                <a:latin typeface="Calibri"/>
              </a:rPr>
              <a:t> is any legal group; a </a:t>
            </a:r>
            <a:r>
              <a:rPr sz="1100" b="1" i="0">
                <a:solidFill>
                  <a:srgbClr val="1B9AAA"/>
                </a:solidFill>
                <a:latin typeface="Calibri"/>
              </a:rPr>
              <a:t>prime implicant</a:t>
            </a:r>
            <a:r>
              <a:rPr sz="1100" b="0" i="0">
                <a:solidFill>
                  <a:srgbClr val="33414F"/>
                </a:solidFill>
                <a:latin typeface="Calibri"/>
              </a:rPr>
              <a:t> is one that cannot be made larger; an </a:t>
            </a:r>
            <a:r>
              <a:rPr sz="1100" b="1" i="0">
                <a:solidFill>
                  <a:srgbClr val="C77514"/>
                </a:solidFill>
                <a:latin typeface="Calibri"/>
              </a:rPr>
              <a:t>essential prime implicant</a:t>
            </a:r>
            <a:r>
              <a:rPr sz="1100" b="0" i="0">
                <a:solidFill>
                  <a:srgbClr val="33414F"/>
                </a:solidFill>
                <a:latin typeface="Calibri"/>
              </a:rPr>
              <a:t> is the only group covering some particular 1 — it must appear in every minimal solution.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TOPIC 3A · WORKED EXAMPLE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4-Variable K-Map with Don't-Cares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16</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Don't-cares (X) are input combinations that can never occur, or whose output nobody reads. </a:t>
            </a:r>
            <a:r>
              <a:rPr sz="1100" b="0" i="0">
                <a:solidFill>
                  <a:srgbClr val="33414F"/>
                </a:solidFill>
                <a:latin typeface="Calibri"/>
              </a:rPr>
              <a:t>You may assign each one 0 or 1 — whichever makes your groups bigger. They are free optimisation, and forgetting to declare them is a common source of oversized logic.</a:t>
            </a:r>
          </a:p>
        </p:txBody>
      </p:sp>
      <p:pic>
        <p:nvPicPr>
          <p:cNvPr id="10" name="Picture 9" descr="kmap_worked.png"/>
          <p:cNvPicPr>
            <a:picLocks noChangeAspect="1"/>
          </p:cNvPicPr>
          <p:nvPr/>
        </p:nvPicPr>
        <p:blipFill>
          <a:blip r:embed="rId2"/>
          <a:stretch>
            <a:fillRect/>
          </a:stretch>
        </p:blipFill>
        <p:spPr>
          <a:xfrm>
            <a:off x="1744922" y="1737360"/>
            <a:ext cx="8580235" cy="3337560"/>
          </a:xfrm>
          <a:prstGeom prst="rect">
            <a:avLst/>
          </a:prstGeom>
        </p:spPr>
      </p:pic>
      <p:sp>
        <p:nvSpPr>
          <p:cNvPr id="11" name="Rounded Rectangle 10"/>
          <p:cNvSpPr/>
          <p:nvPr/>
        </p:nvSpPr>
        <p:spPr>
          <a:xfrm>
            <a:off x="411480" y="5166360"/>
            <a:ext cx="11247120" cy="10515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23036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procedure, in the order you should always follow it</a:t>
            </a:r>
          </a:p>
        </p:txBody>
      </p:sp>
      <p:sp>
        <p:nvSpPr>
          <p:cNvPr id="13" name="TextBox 12"/>
          <p:cNvSpPr txBox="1"/>
          <p:nvPr/>
        </p:nvSpPr>
        <p:spPr>
          <a:xfrm>
            <a:off x="576072" y="5504688"/>
            <a:ext cx="10917936" cy="6492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1. Fill the map from the truth table.   2. Circle every ESSENTIAL prime implicant first.   3. Cover the remaining 1s with the fewest, largest groups.   4. Read each group as a product term: keep the variables that stay constant, drop those that change.   5. OR the terms together.   6. Verify against the original truth 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TOPIC 3A · PRACTICAL EXAMPLE 2</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Numerical: What Minimisation Buys You in Silicon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17</a:t>
            </a:r>
          </a:p>
        </p:txBody>
      </p:sp>
      <p:pic>
        <p:nvPicPr>
          <p:cNvPr id="9" name="Picture 8" descr="gate_cost.png"/>
          <p:cNvPicPr>
            <a:picLocks noChangeAspect="1"/>
          </p:cNvPicPr>
          <p:nvPr/>
        </p:nvPicPr>
        <p:blipFill>
          <a:blip r:embed="rId2"/>
          <a:stretch>
            <a:fillRect/>
          </a:stretch>
        </p:blipFill>
        <p:spPr>
          <a:xfrm>
            <a:off x="1080951" y="1143000"/>
            <a:ext cx="9908177" cy="3383280"/>
          </a:xfrm>
          <a:prstGeom prst="rect">
            <a:avLst/>
          </a:prstGeom>
        </p:spPr>
      </p:pic>
      <p:sp>
        <p:nvSpPr>
          <p:cNvPr id="10" name="Rounded Rectangle 9"/>
          <p:cNvSpPr/>
          <p:nvPr/>
        </p:nvSpPr>
        <p:spPr>
          <a:xfrm>
            <a:off x="411480" y="4617720"/>
            <a:ext cx="11247120" cy="12344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468172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Work it through with real numbers</a:t>
            </a:r>
          </a:p>
        </p:txBody>
      </p:sp>
      <p:sp>
        <p:nvSpPr>
          <p:cNvPr id="12" name="TextBox 11"/>
          <p:cNvSpPr txBox="1"/>
          <p:nvPr/>
        </p:nvSpPr>
        <p:spPr>
          <a:xfrm>
            <a:off x="576072" y="4956048"/>
            <a:ext cx="10917936" cy="8321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Assume a 28 nm library where 1 gate-equivalent (GE) ≈ 0.5 µm² and a 2-input gate switching at 500 MHz burns ≈ 0.6 µW.</a:t>
            </a:r>
          </a:p>
          <a:p>
            <a:pPr algn="l">
              <a:lnSpc>
                <a:spcPct val="103000"/>
              </a:lnSpc>
              <a:spcAft>
                <a:spcPts val="400"/>
              </a:spcAft>
            </a:pPr>
            <a:r>
              <a:rPr sz="1100" b="1" i="0">
                <a:solidFill>
                  <a:srgbClr val="C01F43"/>
                </a:solidFill>
                <a:latin typeface="Calibri"/>
              </a:rPr>
              <a:t>Before: </a:t>
            </a:r>
            <a:r>
              <a:rPr sz="1100" b="0" i="0">
                <a:solidFill>
                  <a:srgbClr val="33414F"/>
                </a:solidFill>
                <a:latin typeface="Calibri"/>
              </a:rPr>
              <a:t>12 GE → 6.0 µm², ≈ 7.2 µW.        </a:t>
            </a:r>
            <a:r>
              <a:rPr sz="1100" b="1" i="0">
                <a:solidFill>
                  <a:srgbClr val="2A9D5C"/>
                </a:solidFill>
                <a:latin typeface="Calibri"/>
              </a:rPr>
              <a:t>After: </a:t>
            </a:r>
            <a:r>
              <a:rPr sz="1100" b="0" i="0">
                <a:solidFill>
                  <a:srgbClr val="33414F"/>
                </a:solidFill>
                <a:latin typeface="Calibri"/>
              </a:rPr>
              <a:t>5 GE → 2.5 µm², ≈ 3.0 µW.        </a:t>
            </a:r>
            <a:r>
              <a:rPr sz="1100" b="1" i="0">
                <a:solidFill>
                  <a:srgbClr val="0E2A47"/>
                </a:solidFill>
                <a:latin typeface="Calibri"/>
              </a:rPr>
              <a:t>Saving: 58 % area and power.</a:t>
            </a:r>
          </a:p>
          <a:p>
            <a:pPr algn="l">
              <a:lnSpc>
                <a:spcPct val="103000"/>
              </a:lnSpc>
              <a:spcAft>
                <a:spcPts val="400"/>
              </a:spcAft>
            </a:pPr>
            <a:r>
              <a:rPr sz="1100" b="0" i="1">
                <a:solidFill>
                  <a:srgbClr val="5A6B7B"/>
                </a:solidFill>
                <a:latin typeface="Calibri"/>
              </a:rPr>
              <a:t>Now multiply by 200 000 instances of this block on a real SoC: 0.7 mm² of die and 0.84 W of dynamic power. That is the difference between a product that ships and one that does not.</a:t>
            </a:r>
          </a:p>
        </p:txBody>
      </p:sp>
      <p:sp>
        <p:nvSpPr>
          <p:cNvPr id="13" name="TextBox 12"/>
          <p:cNvSpPr txBox="1"/>
          <p:nvPr/>
        </p:nvSpPr>
        <p:spPr>
          <a:xfrm>
            <a:off x="411480" y="5943600"/>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Numbers are illustrative, chosen to show the method — always use your own library's datasheet.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3A · SCALING UP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Beyond K-Maps — What Real Tools Do</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18</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K-maps stop working past about 5 variables, and real blocks have hundreds of inputs. </a:t>
            </a:r>
            <a:r>
              <a:rPr sz="1100" b="0" i="0">
                <a:solidFill>
                  <a:srgbClr val="33414F"/>
                </a:solidFill>
                <a:latin typeface="Calibri"/>
              </a:rPr>
              <a:t>The algorithms below do the same job systematically. You will not implement them, but you must know their names and limits because they appear in every synthesis log.</a:t>
            </a:r>
          </a:p>
        </p:txBody>
      </p:sp>
      <p:sp>
        <p:nvSpPr>
          <p:cNvPr id="10" name="Rectangle 9"/>
          <p:cNvSpPr/>
          <p:nvPr/>
        </p:nvSpPr>
        <p:spPr>
          <a:xfrm>
            <a:off x="411480" y="1783080"/>
            <a:ext cx="201168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783080"/>
            <a:ext cx="192024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Method</a:t>
            </a:r>
          </a:p>
        </p:txBody>
      </p:sp>
      <p:sp>
        <p:nvSpPr>
          <p:cNvPr id="12" name="Rectangle 11"/>
          <p:cNvSpPr/>
          <p:nvPr/>
        </p:nvSpPr>
        <p:spPr>
          <a:xfrm>
            <a:off x="2423160" y="1783080"/>
            <a:ext cx="402336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468880" y="1783080"/>
            <a:ext cx="393192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How it works</a:t>
            </a:r>
          </a:p>
        </p:txBody>
      </p:sp>
      <p:sp>
        <p:nvSpPr>
          <p:cNvPr id="14" name="Rectangle 13"/>
          <p:cNvSpPr/>
          <p:nvPr/>
        </p:nvSpPr>
        <p:spPr>
          <a:xfrm>
            <a:off x="6446520" y="1783080"/>
            <a:ext cx="155448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92240" y="1783080"/>
            <a:ext cx="146304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Scales to</a:t>
            </a:r>
          </a:p>
        </p:txBody>
      </p:sp>
      <p:sp>
        <p:nvSpPr>
          <p:cNvPr id="16" name="Rectangle 15"/>
          <p:cNvSpPr/>
          <p:nvPr/>
        </p:nvSpPr>
        <p:spPr>
          <a:xfrm>
            <a:off x="8001000" y="1783080"/>
            <a:ext cx="365760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046720" y="1783080"/>
            <a:ext cx="356616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Where you meet it</a:t>
            </a:r>
          </a:p>
        </p:txBody>
      </p:sp>
      <p:sp>
        <p:nvSpPr>
          <p:cNvPr id="18" name="Rectangle 17"/>
          <p:cNvSpPr/>
          <p:nvPr/>
        </p:nvSpPr>
        <p:spPr>
          <a:xfrm>
            <a:off x="411480" y="2240280"/>
            <a:ext cx="201168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7200" y="2240280"/>
            <a:ext cx="1920240" cy="45720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Karnaugh map</a:t>
            </a:r>
          </a:p>
        </p:txBody>
      </p:sp>
      <p:sp>
        <p:nvSpPr>
          <p:cNvPr id="20" name="Rectangle 19"/>
          <p:cNvSpPr/>
          <p:nvPr/>
        </p:nvSpPr>
        <p:spPr>
          <a:xfrm>
            <a:off x="2423160" y="2240280"/>
            <a:ext cx="402336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468880" y="2240280"/>
            <a:ext cx="393192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visual grouping on a Gray-coded grid</a:t>
            </a:r>
          </a:p>
        </p:txBody>
      </p:sp>
      <p:sp>
        <p:nvSpPr>
          <p:cNvPr id="22" name="Rectangle 21"/>
          <p:cNvSpPr/>
          <p:nvPr/>
        </p:nvSpPr>
        <p:spPr>
          <a:xfrm>
            <a:off x="6446520" y="2240280"/>
            <a:ext cx="155448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92240" y="2240280"/>
            <a:ext cx="146304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 5–6 vars</a:t>
            </a:r>
          </a:p>
        </p:txBody>
      </p:sp>
      <p:sp>
        <p:nvSpPr>
          <p:cNvPr id="24" name="Rectangle 23"/>
          <p:cNvSpPr/>
          <p:nvPr/>
        </p:nvSpPr>
        <p:spPr>
          <a:xfrm>
            <a:off x="8001000" y="2240280"/>
            <a:ext cx="365760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046720" y="2240280"/>
            <a:ext cx="356616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exams, whiteboards, intuition</a:t>
            </a:r>
          </a:p>
        </p:txBody>
      </p:sp>
      <p:sp>
        <p:nvSpPr>
          <p:cNvPr id="26" name="Rectangle 25"/>
          <p:cNvSpPr/>
          <p:nvPr/>
        </p:nvSpPr>
        <p:spPr>
          <a:xfrm>
            <a:off x="411480" y="2697480"/>
            <a:ext cx="201168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57200" y="2697480"/>
            <a:ext cx="1920240" cy="45720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Quine–McCluskey</a:t>
            </a:r>
          </a:p>
        </p:txBody>
      </p:sp>
      <p:sp>
        <p:nvSpPr>
          <p:cNvPr id="28" name="Rectangle 27"/>
          <p:cNvSpPr/>
          <p:nvPr/>
        </p:nvSpPr>
        <p:spPr>
          <a:xfrm>
            <a:off x="2423160" y="2697480"/>
            <a:ext cx="402336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468880" y="2697480"/>
            <a:ext cx="393192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tabular; finds ALL prime implicants, then solves a covering problem</a:t>
            </a:r>
          </a:p>
        </p:txBody>
      </p:sp>
      <p:sp>
        <p:nvSpPr>
          <p:cNvPr id="30" name="Rectangle 29"/>
          <p:cNvSpPr/>
          <p:nvPr/>
        </p:nvSpPr>
        <p:spPr>
          <a:xfrm>
            <a:off x="6446520" y="2697480"/>
            <a:ext cx="155448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92240" y="2697480"/>
            <a:ext cx="146304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 ~15 vars</a:t>
            </a:r>
          </a:p>
        </p:txBody>
      </p:sp>
      <p:sp>
        <p:nvSpPr>
          <p:cNvPr id="32" name="Rectangle 31"/>
          <p:cNvSpPr/>
          <p:nvPr/>
        </p:nvSpPr>
        <p:spPr>
          <a:xfrm>
            <a:off x="8001000" y="2697480"/>
            <a:ext cx="365760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046720" y="2697480"/>
            <a:ext cx="356616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exact algorithm K-maps approximate</a:t>
            </a:r>
          </a:p>
        </p:txBody>
      </p:sp>
      <p:sp>
        <p:nvSpPr>
          <p:cNvPr id="34" name="Rectangle 33"/>
          <p:cNvSpPr/>
          <p:nvPr/>
        </p:nvSpPr>
        <p:spPr>
          <a:xfrm>
            <a:off x="411480" y="3154680"/>
            <a:ext cx="201168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3154680"/>
            <a:ext cx="1920240" cy="45720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Espresso</a:t>
            </a:r>
          </a:p>
        </p:txBody>
      </p:sp>
      <p:sp>
        <p:nvSpPr>
          <p:cNvPr id="36" name="Rectangle 35"/>
          <p:cNvSpPr/>
          <p:nvPr/>
        </p:nvSpPr>
        <p:spPr>
          <a:xfrm>
            <a:off x="2423160" y="3154680"/>
            <a:ext cx="402336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468880" y="3154680"/>
            <a:ext cx="393192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heuristic expand / reduce / irredundant loop — near-optimal, very fast</a:t>
            </a:r>
          </a:p>
        </p:txBody>
      </p:sp>
      <p:sp>
        <p:nvSpPr>
          <p:cNvPr id="38" name="Rectangle 37"/>
          <p:cNvSpPr/>
          <p:nvPr/>
        </p:nvSpPr>
        <p:spPr>
          <a:xfrm>
            <a:off x="6446520" y="3154680"/>
            <a:ext cx="155448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92240" y="3154680"/>
            <a:ext cx="146304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hundreds</a:t>
            </a:r>
          </a:p>
        </p:txBody>
      </p:sp>
      <p:sp>
        <p:nvSpPr>
          <p:cNvPr id="40" name="Rectangle 39"/>
          <p:cNvSpPr/>
          <p:nvPr/>
        </p:nvSpPr>
        <p:spPr>
          <a:xfrm>
            <a:off x="8001000" y="3154680"/>
            <a:ext cx="365760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046720" y="3154680"/>
            <a:ext cx="356616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classic two-level logic minimiser</a:t>
            </a:r>
          </a:p>
        </p:txBody>
      </p:sp>
      <p:sp>
        <p:nvSpPr>
          <p:cNvPr id="42" name="Rectangle 41"/>
          <p:cNvSpPr/>
          <p:nvPr/>
        </p:nvSpPr>
        <p:spPr>
          <a:xfrm>
            <a:off x="411480" y="3611880"/>
            <a:ext cx="201168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57200" y="3611880"/>
            <a:ext cx="1920240" cy="45720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ABC / AIG rewriting</a:t>
            </a:r>
          </a:p>
        </p:txBody>
      </p:sp>
      <p:sp>
        <p:nvSpPr>
          <p:cNvPr id="44" name="Rectangle 43"/>
          <p:cNvSpPr/>
          <p:nvPr/>
        </p:nvSpPr>
        <p:spPr>
          <a:xfrm>
            <a:off x="2423160" y="3611880"/>
            <a:ext cx="402336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2468880" y="3611880"/>
            <a:ext cx="393192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multi-level: And-Inverter Graphs, cut rewriting, SAT sweeping</a:t>
            </a:r>
          </a:p>
        </p:txBody>
      </p:sp>
      <p:sp>
        <p:nvSpPr>
          <p:cNvPr id="46" name="Rectangle 45"/>
          <p:cNvSpPr/>
          <p:nvPr/>
        </p:nvSpPr>
        <p:spPr>
          <a:xfrm>
            <a:off x="6446520" y="3611880"/>
            <a:ext cx="155448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492240" y="3611880"/>
            <a:ext cx="146304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millions</a:t>
            </a:r>
          </a:p>
        </p:txBody>
      </p:sp>
      <p:sp>
        <p:nvSpPr>
          <p:cNvPr id="48" name="Rectangle 47"/>
          <p:cNvSpPr/>
          <p:nvPr/>
        </p:nvSpPr>
        <p:spPr>
          <a:xfrm>
            <a:off x="8001000" y="3611880"/>
            <a:ext cx="365760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046720" y="3611880"/>
            <a:ext cx="356616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inside Yosys and every commercial tool</a:t>
            </a:r>
          </a:p>
        </p:txBody>
      </p:sp>
      <p:sp>
        <p:nvSpPr>
          <p:cNvPr id="50" name="Rectangle 49"/>
          <p:cNvSpPr/>
          <p:nvPr/>
        </p:nvSpPr>
        <p:spPr>
          <a:xfrm>
            <a:off x="411480" y="4069080"/>
            <a:ext cx="201168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57200" y="4069080"/>
            <a:ext cx="1920240" cy="45720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BDD</a:t>
            </a:r>
          </a:p>
        </p:txBody>
      </p:sp>
      <p:sp>
        <p:nvSpPr>
          <p:cNvPr id="52" name="Rectangle 51"/>
          <p:cNvSpPr/>
          <p:nvPr/>
        </p:nvSpPr>
        <p:spPr>
          <a:xfrm>
            <a:off x="2423160" y="4069080"/>
            <a:ext cx="402336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2468880" y="4069080"/>
            <a:ext cx="393192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canonical decision-diagram form of the function</a:t>
            </a:r>
          </a:p>
        </p:txBody>
      </p:sp>
      <p:sp>
        <p:nvSpPr>
          <p:cNvPr id="54" name="Rectangle 53"/>
          <p:cNvSpPr/>
          <p:nvPr/>
        </p:nvSpPr>
        <p:spPr>
          <a:xfrm>
            <a:off x="6446520" y="4069080"/>
            <a:ext cx="155448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6492240" y="4069080"/>
            <a:ext cx="146304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varies wildly</a:t>
            </a:r>
          </a:p>
        </p:txBody>
      </p:sp>
      <p:sp>
        <p:nvSpPr>
          <p:cNvPr id="56" name="Rectangle 55"/>
          <p:cNvSpPr/>
          <p:nvPr/>
        </p:nvSpPr>
        <p:spPr>
          <a:xfrm>
            <a:off x="8001000" y="4069080"/>
            <a:ext cx="365760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8046720" y="4069080"/>
            <a:ext cx="356616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equivalence checking, formal verification</a:t>
            </a:r>
          </a:p>
        </p:txBody>
      </p:sp>
      <p:sp>
        <p:nvSpPr>
          <p:cNvPr id="58" name="Rounded Rectangle 57"/>
          <p:cNvSpPr/>
          <p:nvPr/>
        </p:nvSpPr>
        <p:spPr>
          <a:xfrm>
            <a:off x="411480" y="4617720"/>
            <a:ext cx="11247120" cy="11887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576072" y="468172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So why learn K-maps at all?</a:t>
            </a:r>
          </a:p>
        </p:txBody>
      </p:sp>
      <p:sp>
        <p:nvSpPr>
          <p:cNvPr id="60" name="TextBox 59"/>
          <p:cNvSpPr txBox="1"/>
          <p:nvPr/>
        </p:nvSpPr>
        <p:spPr>
          <a:xfrm>
            <a:off x="576072" y="4956048"/>
            <a:ext cx="10917936" cy="7863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Because you must be able to read what the tool produced and decide whether it is right. A synthesis report showing 4 000 gates for a function you know needs 40 means your RTL is wrong — an unintended latch, a runaway loop, or a missing don't-care. Minimisation intuition is your only defence against silently accepting bad hardware.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1B9AAA"/>
                </a:solidFill>
                <a:latin typeface="Calibri"/>
              </a:rPr>
              <a:t>SUBTOPIC 3B</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Combinational Logic Design</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Circuits with no memory — the output is a pure function of the inputs, right now.</a:t>
            </a:r>
          </a:p>
        </p:txBody>
      </p:sp>
      <p:sp>
        <p:nvSpPr>
          <p:cNvPr id="6" name="Rectangle 5"/>
          <p:cNvSpPr/>
          <p:nvPr/>
        </p:nvSpPr>
        <p:spPr>
          <a:xfrm>
            <a:off x="640080" y="394106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defining property, and the seven-step design procedure</a:t>
            </a:r>
          </a:p>
        </p:txBody>
      </p:sp>
      <p:sp>
        <p:nvSpPr>
          <p:cNvPr id="8" name="Rectangle 7"/>
          <p:cNvSpPr/>
          <p:nvPr/>
        </p:nvSpPr>
        <p:spPr>
          <a:xfrm>
            <a:off x="640080" y="435254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standard building blocks: adders, MUX, decoders, comparators, ALUs</a:t>
            </a:r>
          </a:p>
        </p:txBody>
      </p:sp>
      <p:sp>
        <p:nvSpPr>
          <p:cNvPr id="10" name="Rectangle 9"/>
          <p:cNvSpPr/>
          <p:nvPr/>
        </p:nvSpPr>
        <p:spPr>
          <a:xfrm>
            <a:off x="640080" y="476402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What limits them: propagation delay, fan-in, fan-out and hazards</a:t>
            </a:r>
          </a:p>
        </p:txBody>
      </p:sp>
      <p:sp>
        <p:nvSpPr>
          <p:cNvPr id="12" name="Rectangle 11"/>
          <p:cNvSpPr/>
          <p:nvPr/>
        </p:nvSpPr>
        <p:spPr>
          <a:xfrm>
            <a:off x="640080" y="517550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How they are written in Verilog — and the inferred-latch trap</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Module 2 · Verilog RTL Coding for Synthesis</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NIE/ELE/N0102 · Topic 3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3B · DEFINITION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Combinational vs Sequential — The Only Real Difference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20</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One structural feature separates the two families: </a:t>
            </a:r>
            <a:r>
              <a:rPr sz="1100" b="0" i="0">
                <a:solidFill>
                  <a:srgbClr val="33414F"/>
                </a:solidFill>
                <a:latin typeface="Calibri"/>
              </a:rPr>
              <a:t>a feedback path through a storage element. Everything else — that sequential circuits have memory, need a clock, and are analysed with state diagrams — follows from that one fact.</a:t>
            </a:r>
          </a:p>
        </p:txBody>
      </p:sp>
      <p:pic>
        <p:nvPicPr>
          <p:cNvPr id="10" name="Picture 9" descr="comb_vs_seq.png"/>
          <p:cNvPicPr>
            <a:picLocks noChangeAspect="1"/>
          </p:cNvPicPr>
          <p:nvPr/>
        </p:nvPicPr>
        <p:blipFill>
          <a:blip r:embed="rId2"/>
          <a:stretch>
            <a:fillRect/>
          </a:stretch>
        </p:blipFill>
        <p:spPr>
          <a:xfrm>
            <a:off x="1915216" y="1691640"/>
            <a:ext cx="8239648" cy="3657600"/>
          </a:xfrm>
          <a:prstGeom prst="rect">
            <a:avLst/>
          </a:prstGeom>
        </p:spPr>
      </p:pic>
      <p:sp>
        <p:nvSpPr>
          <p:cNvPr id="11" name="Rounded Rectangle 10"/>
          <p:cNvSpPr/>
          <p:nvPr/>
        </p:nvSpPr>
        <p:spPr>
          <a:xfrm>
            <a:off x="411480" y="5440680"/>
            <a:ext cx="11247120" cy="8229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50468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formal definitions, worth memorising verbatim</a:t>
            </a:r>
          </a:p>
        </p:txBody>
      </p:sp>
      <p:sp>
        <p:nvSpPr>
          <p:cNvPr id="13" name="TextBox 12"/>
          <p:cNvSpPr txBox="1"/>
          <p:nvPr/>
        </p:nvSpPr>
        <p:spPr>
          <a:xfrm>
            <a:off x="576072" y="5779008"/>
            <a:ext cx="10917936" cy="420624"/>
          </a:xfrm>
          <a:prstGeom prst="rect">
            <a:avLst/>
          </a:prstGeom>
          <a:noFill/>
        </p:spPr>
        <p:txBody>
          <a:bodyPr wrap="square" lIns="0" rIns="0" tIns="0" bIns="0" anchor="t">
            <a:spAutoFit/>
          </a:bodyPr>
          <a:lstStyle/>
          <a:p>
            <a:pPr algn="l">
              <a:lnSpc>
                <a:spcPct val="103000"/>
              </a:lnSpc>
              <a:spcAft>
                <a:spcPts val="400"/>
              </a:spcAft>
            </a:pPr>
            <a:r>
              <a:rPr sz="1100" b="1" i="0">
                <a:solidFill>
                  <a:srgbClr val="1B9AAA"/>
                </a:solidFill>
                <a:latin typeface="Calibri"/>
              </a:rPr>
              <a:t>Combinational: </a:t>
            </a:r>
            <a:r>
              <a:rPr sz="1100" b="0" i="0">
                <a:solidFill>
                  <a:srgbClr val="33414F"/>
                </a:solidFill>
                <a:latin typeface="Calibri"/>
              </a:rPr>
              <a:t>the output at any instant depends ONLY on the inputs at that instant (after a bounded settling delay).  </a:t>
            </a:r>
          </a:p>
          <a:p>
            <a:pPr algn="l">
              <a:lnSpc>
                <a:spcPct val="103000"/>
              </a:lnSpc>
              <a:spcAft>
                <a:spcPts val="400"/>
              </a:spcAft>
            </a:pPr>
            <a:r>
              <a:rPr sz="1100" b="1" i="0">
                <a:solidFill>
                  <a:srgbClr val="C77514"/>
                </a:solidFill>
                <a:latin typeface="Calibri"/>
              </a:rPr>
              <a:t>Sequential: </a:t>
            </a:r>
            <a:r>
              <a:rPr sz="1100" b="0" i="0">
                <a:solidFill>
                  <a:srgbClr val="33414F"/>
                </a:solidFill>
                <a:latin typeface="Calibri"/>
              </a:rPr>
              <a:t>the output depends on the present inputs AND on the sequence of past inputs, summarised in a finite amount of stored STATE.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3B · PROCEDURE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Seven-Step Combinational Design Procedure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21</a:t>
            </a:r>
          </a:p>
        </p:txBody>
      </p:sp>
      <p:sp>
        <p:nvSpPr>
          <p:cNvPr id="9" name="TextBox 8"/>
          <p:cNvSpPr txBox="1"/>
          <p:nvPr/>
        </p:nvSpPr>
        <p:spPr>
          <a:xfrm>
            <a:off x="411480" y="1143000"/>
            <a:ext cx="11247120" cy="4572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Follow this every time, even when the answer looks obvious. </a:t>
            </a:r>
            <a:r>
              <a:rPr sz="1100" b="0" i="0">
                <a:solidFill>
                  <a:srgbClr val="33414F"/>
                </a:solidFill>
                <a:latin typeface="Calibri"/>
              </a:rPr>
              <a:t>Most combinational bugs come from an incomplete truth table at step 3 — a missing row, or a case nobody thought about.</a:t>
            </a:r>
          </a:p>
        </p:txBody>
      </p:sp>
      <p:pic>
        <p:nvPicPr>
          <p:cNvPr id="10" name="Picture 9" descr="comb_design_flow.png"/>
          <p:cNvPicPr>
            <a:picLocks noChangeAspect="1"/>
          </p:cNvPicPr>
          <p:nvPr/>
        </p:nvPicPr>
        <p:blipFill>
          <a:blip r:embed="rId2"/>
          <a:stretch>
            <a:fillRect/>
          </a:stretch>
        </p:blipFill>
        <p:spPr>
          <a:xfrm>
            <a:off x="1097595" y="1691640"/>
            <a:ext cx="9874889" cy="3200400"/>
          </a:xfrm>
          <a:prstGeom prst="rect">
            <a:avLst/>
          </a:prstGeom>
        </p:spPr>
      </p:pic>
      <p:sp>
        <p:nvSpPr>
          <p:cNvPr id="11" name="Rounded Rectangle 10"/>
          <p:cNvSpPr/>
          <p:nvPr/>
        </p:nvSpPr>
        <p:spPr>
          <a:xfrm>
            <a:off x="411480" y="4983480"/>
            <a:ext cx="5532120" cy="12344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04748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Worked micro-example — steps 1 to 3</a:t>
            </a:r>
          </a:p>
        </p:txBody>
      </p:sp>
      <p:sp>
        <p:nvSpPr>
          <p:cNvPr id="13" name="TextBox 12"/>
          <p:cNvSpPr txBox="1"/>
          <p:nvPr/>
        </p:nvSpPr>
        <p:spPr>
          <a:xfrm>
            <a:off x="548640" y="5321808"/>
            <a:ext cx="5257800" cy="8321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1. 'Light a warning LED when at least two of three sensors read high.'</a:t>
            </a:r>
          </a:p>
          <a:p>
            <a:pPr algn="l">
              <a:lnSpc>
                <a:spcPct val="103000"/>
              </a:lnSpc>
              <a:spcAft>
                <a:spcPts val="400"/>
              </a:spcAft>
            </a:pPr>
            <a:r>
              <a:rPr sz="1050" b="0" i="0">
                <a:solidFill>
                  <a:srgbClr val="33414F"/>
                </a:solidFill>
                <a:latin typeface="Calibri"/>
              </a:rPr>
              <a:t>2. Inputs A, B, C (1 bit each); output W (1 bit).</a:t>
            </a:r>
          </a:p>
          <a:p>
            <a:pPr algn="l">
              <a:lnSpc>
                <a:spcPct val="103000"/>
              </a:lnSpc>
              <a:spcAft>
                <a:spcPts val="400"/>
              </a:spcAft>
            </a:pPr>
            <a:r>
              <a:rPr sz="1050" b="0" i="0">
                <a:solidFill>
                  <a:srgbClr val="33414F"/>
                </a:solidFill>
                <a:latin typeface="Calibri"/>
              </a:rPr>
              <a:t>3. Truth table: W = 1 for ABC = 011, 101, 110, 111 — four of the eight rows.</a:t>
            </a:r>
          </a:p>
        </p:txBody>
      </p:sp>
      <p:sp>
        <p:nvSpPr>
          <p:cNvPr id="14" name="Rounded Rectangle 13"/>
          <p:cNvSpPr/>
          <p:nvPr/>
        </p:nvSpPr>
        <p:spPr>
          <a:xfrm>
            <a:off x="6126480" y="4983480"/>
            <a:ext cx="5532120" cy="12344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04748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Steps 4 to 7</a:t>
            </a:r>
          </a:p>
        </p:txBody>
      </p:sp>
      <p:sp>
        <p:nvSpPr>
          <p:cNvPr id="16" name="TextBox 15"/>
          <p:cNvSpPr txBox="1"/>
          <p:nvPr/>
        </p:nvSpPr>
        <p:spPr>
          <a:xfrm>
            <a:off x="6263640" y="5321808"/>
            <a:ext cx="5257800" cy="8321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4. W = A'BC + AB'C + ABC' + ABC   (canonical SOP)</a:t>
            </a:r>
          </a:p>
          <a:p>
            <a:pPr algn="l">
              <a:lnSpc>
                <a:spcPct val="103000"/>
              </a:lnSpc>
              <a:spcAft>
                <a:spcPts val="400"/>
              </a:spcAft>
            </a:pPr>
            <a:r>
              <a:rPr sz="1050" b="0" i="0">
                <a:solidFill>
                  <a:srgbClr val="33414F"/>
                </a:solidFill>
                <a:latin typeface="Calibri"/>
              </a:rPr>
              <a:t>5. K-map → W = AB + BC + AC   — the majority function again.</a:t>
            </a:r>
          </a:p>
          <a:p>
            <a:pPr algn="l">
              <a:lnSpc>
                <a:spcPct val="103000"/>
              </a:lnSpc>
              <a:spcAft>
                <a:spcPts val="400"/>
              </a:spcAft>
            </a:pPr>
            <a:r>
              <a:rPr sz="1050" b="0" i="0">
                <a:solidFill>
                  <a:srgbClr val="33414F"/>
                </a:solidFill>
                <a:latin typeface="Calibri"/>
              </a:rPr>
              <a:t>6. Three 2-input ANDs into one 3-input OR.   7. Simulate all 8 input cases.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3B · TIERED DEPTH</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Understanding Combinational Logic at Four Levels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22</a:t>
            </a:r>
          </a:p>
        </p:txBody>
      </p:sp>
      <p:sp>
        <p:nvSpPr>
          <p:cNvPr id="9" name="TextBox 8"/>
          <p:cNvSpPr txBox="1"/>
          <p:nvPr/>
        </p:nvSpPr>
        <p:spPr>
          <a:xfrm>
            <a:off x="411480" y="1143000"/>
            <a:ext cx="11247120" cy="36576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The same idea at four depths — pick the one that fits the room.</a:t>
            </a:r>
          </a:p>
        </p:txBody>
      </p:sp>
      <p:sp>
        <p:nvSpPr>
          <p:cNvPr id="10" name="Rounded Rectangle 9"/>
          <p:cNvSpPr/>
          <p:nvPr/>
        </p:nvSpPr>
        <p:spPr>
          <a:xfrm>
            <a:off x="411480" y="1600200"/>
            <a:ext cx="11247120" cy="91440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411480" y="1600200"/>
            <a:ext cx="1737360" cy="914400"/>
          </a:xfrm>
          <a:prstGeom prst="roundRect">
            <a:avLst>
              <a:gd name="adj" fmla="val 5714"/>
            </a:avLst>
          </a:prstGeom>
          <a:solidFill>
            <a:srgbClr val="1B9AAA"/>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11480" y="1600200"/>
            <a:ext cx="1737360" cy="91440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BASIC</a:t>
            </a:r>
          </a:p>
        </p:txBody>
      </p:sp>
      <p:sp>
        <p:nvSpPr>
          <p:cNvPr id="13" name="TextBox 12"/>
          <p:cNvSpPr txBox="1"/>
          <p:nvPr/>
        </p:nvSpPr>
        <p:spPr>
          <a:xfrm>
            <a:off x="2331720" y="1645920"/>
            <a:ext cx="9144000" cy="82296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A circuit with no memory. Change the inputs and, after a short delay, the outputs follow. Ask it the same question twice and you always get the same answer.</a:t>
            </a:r>
          </a:p>
        </p:txBody>
      </p:sp>
      <p:sp>
        <p:nvSpPr>
          <p:cNvPr id="14" name="Rounded Rectangle 13"/>
          <p:cNvSpPr/>
          <p:nvPr/>
        </p:nvSpPr>
        <p:spPr>
          <a:xfrm>
            <a:off x="411480" y="2583180"/>
            <a:ext cx="11247120" cy="91440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411480" y="2583180"/>
            <a:ext cx="1737360" cy="914400"/>
          </a:xfrm>
          <a:prstGeom prst="roundRect">
            <a:avLst>
              <a:gd name="adj" fmla="val 5714"/>
            </a:avLst>
          </a:prstGeom>
          <a:solidFill>
            <a:srgbClr val="1B9AAA"/>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11480" y="2583180"/>
            <a:ext cx="1737360" cy="91440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INTERMEDIATE</a:t>
            </a:r>
          </a:p>
        </p:txBody>
      </p:sp>
      <p:sp>
        <p:nvSpPr>
          <p:cNvPr id="17" name="TextBox 16"/>
          <p:cNvSpPr txBox="1"/>
          <p:nvPr/>
        </p:nvSpPr>
        <p:spPr>
          <a:xfrm>
            <a:off x="2331720" y="2628900"/>
            <a:ext cx="9144000" cy="82296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Built entirely from gates in an acyclic network. Fully described by a truth table. Standard blocks — adders, multiplexers, decoders, comparators — are reusable, well-understood patterns.</a:t>
            </a:r>
          </a:p>
        </p:txBody>
      </p:sp>
      <p:sp>
        <p:nvSpPr>
          <p:cNvPr id="18" name="Rounded Rectangle 17"/>
          <p:cNvSpPr/>
          <p:nvPr/>
        </p:nvSpPr>
        <p:spPr>
          <a:xfrm>
            <a:off x="411480" y="3566160"/>
            <a:ext cx="11247120" cy="91440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11480" y="3566160"/>
            <a:ext cx="1737360" cy="914400"/>
          </a:xfrm>
          <a:prstGeom prst="roundRect">
            <a:avLst>
              <a:gd name="adj" fmla="val 5714"/>
            </a:avLst>
          </a:prstGeom>
          <a:solidFill>
            <a:srgbClr val="C77514"/>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11480" y="3566160"/>
            <a:ext cx="1737360" cy="91440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ADVANCED</a:t>
            </a:r>
          </a:p>
        </p:txBody>
      </p:sp>
      <p:sp>
        <p:nvSpPr>
          <p:cNvPr id="21" name="TextBox 20"/>
          <p:cNvSpPr txBox="1"/>
          <p:nvPr/>
        </p:nvSpPr>
        <p:spPr>
          <a:xfrm>
            <a:off x="2331720" y="3611880"/>
            <a:ext cx="9144000" cy="82296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Its speed is set by the critical path: the slowest input-to-output route, measured as a sum of gate delays plus wire RC. Multiple unequal paths to one output create hazards (glitches) even when the logic is correct.</a:t>
            </a:r>
          </a:p>
        </p:txBody>
      </p:sp>
      <p:sp>
        <p:nvSpPr>
          <p:cNvPr id="22" name="Rounded Rectangle 21"/>
          <p:cNvSpPr/>
          <p:nvPr/>
        </p:nvSpPr>
        <p:spPr>
          <a:xfrm>
            <a:off x="411480" y="4549140"/>
            <a:ext cx="11247120" cy="91440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11480" y="4549140"/>
            <a:ext cx="1737360" cy="914400"/>
          </a:xfrm>
          <a:prstGeom prst="roundRect">
            <a:avLst>
              <a:gd name="adj" fmla="val 5714"/>
            </a:avLst>
          </a:prstGeom>
          <a:solidFill>
            <a:srgbClr val="2A9D5C"/>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11480" y="4549140"/>
            <a:ext cx="1737360" cy="91440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INDUSTRY</a:t>
            </a:r>
          </a:p>
        </p:txBody>
      </p:sp>
      <p:sp>
        <p:nvSpPr>
          <p:cNvPr id="25" name="TextBox 24"/>
          <p:cNvSpPr txBox="1"/>
          <p:nvPr/>
        </p:nvSpPr>
        <p:spPr>
          <a:xfrm>
            <a:off x="2331720" y="4594860"/>
            <a:ext cx="9144000" cy="82296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Written as `assign` or `always @(*)` in RTL and left to synthesis, which restructures, resizes, buffers and technology-maps it against a timing constraint. Arithmetic is usually mapped to hand-tuned carry-lookahead or Wallace-tree macros, not to your literal gates.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3B · ARITHMETIC</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Half Adder and Full Adder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23</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Binary addition is the most-used combinational function on any chip. </a:t>
            </a:r>
            <a:r>
              <a:rPr sz="1100" b="0" i="0">
                <a:solidFill>
                  <a:srgbClr val="33414F"/>
                </a:solidFill>
                <a:latin typeface="Calibri"/>
              </a:rPr>
              <a:t>It is built from one tiny cell — the full adder — repeated once per bit. Derive it once and you understand every adder, subtractor, multiplier and ALU that follows.</a:t>
            </a:r>
          </a:p>
        </p:txBody>
      </p:sp>
      <p:pic>
        <p:nvPicPr>
          <p:cNvPr id="10" name="Picture 9" descr="adders.png"/>
          <p:cNvPicPr>
            <a:picLocks noChangeAspect="1"/>
          </p:cNvPicPr>
          <p:nvPr/>
        </p:nvPicPr>
        <p:blipFill>
          <a:blip r:embed="rId2"/>
          <a:stretch>
            <a:fillRect/>
          </a:stretch>
        </p:blipFill>
        <p:spPr>
          <a:xfrm>
            <a:off x="1851733" y="1691640"/>
            <a:ext cx="8366614" cy="3840480"/>
          </a:xfrm>
          <a:prstGeom prst="rect">
            <a:avLst/>
          </a:prstGeom>
        </p:spPr>
      </p:pic>
      <p:sp>
        <p:nvSpPr>
          <p:cNvPr id="11" name="Rounded Rectangle 10"/>
          <p:cNvSpPr/>
          <p:nvPr/>
        </p:nvSpPr>
        <p:spPr>
          <a:xfrm>
            <a:off x="411480" y="5623560"/>
            <a:ext cx="11247120" cy="776224"/>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68756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Subtraction comes free</a:t>
            </a:r>
          </a:p>
        </p:txBody>
      </p:sp>
      <p:sp>
        <p:nvSpPr>
          <p:cNvPr id="13" name="TextBox 12"/>
          <p:cNvSpPr txBox="1"/>
          <p:nvPr/>
        </p:nvSpPr>
        <p:spPr>
          <a:xfrm>
            <a:off x="576072" y="5961888"/>
            <a:ext cx="10917936" cy="373888"/>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 − B  =  A + (−B)  =  A + B' + 1. Feed B through XOR gates controlled by a  sub  signal (XOR with 1 inverts, XOR with 0 passes through) and tie that same  sub  to Cᵢₙ. One adder now does both operations — this is exactly the ADDER / SUBTRACTOR block in the ALU slide.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3B · THE CARRY PROBLEM</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4-Bit Ripple-Carry Adder — Correct but Slow</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24</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Chain n full adders and you have an n-bit adder. </a:t>
            </a:r>
            <a:r>
              <a:rPr sz="1100" b="0" i="0">
                <a:solidFill>
                  <a:srgbClr val="33414F"/>
                </a:solidFill>
                <a:latin typeface="Calibri"/>
              </a:rPr>
              <a:t>It is minimal in area and trivially correct — and its delay grows linearly with n, which makes it the classic critical path in any first-attempt design.</a:t>
            </a:r>
          </a:p>
        </p:txBody>
      </p:sp>
      <p:pic>
        <p:nvPicPr>
          <p:cNvPr id="10" name="Picture 9" descr="ripple_adder.png"/>
          <p:cNvPicPr>
            <a:picLocks noChangeAspect="1"/>
          </p:cNvPicPr>
          <p:nvPr/>
        </p:nvPicPr>
        <p:blipFill>
          <a:blip r:embed="rId2"/>
          <a:stretch>
            <a:fillRect/>
          </a:stretch>
        </p:blipFill>
        <p:spPr>
          <a:xfrm>
            <a:off x="1866793" y="1691640"/>
            <a:ext cx="8336493" cy="3200400"/>
          </a:xfrm>
          <a:prstGeom prst="rect">
            <a:avLst/>
          </a:prstGeom>
        </p:spPr>
      </p:pic>
      <p:sp>
        <p:nvSpPr>
          <p:cNvPr id="11" name="Rounded Rectangle 10"/>
          <p:cNvSpPr/>
          <p:nvPr/>
        </p:nvSpPr>
        <p:spPr>
          <a:xfrm>
            <a:off x="411480" y="4983480"/>
            <a:ext cx="3627120" cy="14173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04748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Generate and Propagate</a:t>
            </a:r>
          </a:p>
        </p:txBody>
      </p:sp>
      <p:sp>
        <p:nvSpPr>
          <p:cNvPr id="13" name="TextBox 12"/>
          <p:cNvSpPr txBox="1"/>
          <p:nvPr/>
        </p:nvSpPr>
        <p:spPr>
          <a:xfrm>
            <a:off x="548640" y="5321808"/>
            <a:ext cx="3352800" cy="10149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Gᵢ = AᵢBᵢ  — this bit generates a carry regardless of Cᵢₙ.</a:t>
            </a:r>
          </a:p>
          <a:p>
            <a:pPr algn="l">
              <a:lnSpc>
                <a:spcPct val="103000"/>
              </a:lnSpc>
              <a:spcAft>
                <a:spcPts val="400"/>
              </a:spcAft>
            </a:pPr>
            <a:r>
              <a:rPr sz="1050" b="0" i="0">
                <a:solidFill>
                  <a:srgbClr val="33414F"/>
                </a:solidFill>
                <a:latin typeface="Calibri"/>
              </a:rPr>
              <a:t>Pᵢ = Aᵢ ⊕ Bᵢ — this bit propagates an incoming carry.</a:t>
            </a:r>
          </a:p>
          <a:p>
            <a:pPr algn="l">
              <a:lnSpc>
                <a:spcPct val="103000"/>
              </a:lnSpc>
              <a:spcAft>
                <a:spcPts val="400"/>
              </a:spcAft>
            </a:pPr>
            <a:r>
              <a:rPr sz="1050" b="1" i="0">
                <a:solidFill>
                  <a:srgbClr val="0E2A47"/>
                </a:solidFill>
                <a:latin typeface="Calibri"/>
              </a:rPr>
              <a:t>Cᵢ₊₁ = Gᵢ + PᵢCᵢ</a:t>
            </a:r>
          </a:p>
        </p:txBody>
      </p:sp>
      <p:sp>
        <p:nvSpPr>
          <p:cNvPr id="14" name="Rounded Rectangle 13"/>
          <p:cNvSpPr/>
          <p:nvPr/>
        </p:nvSpPr>
        <p:spPr>
          <a:xfrm>
            <a:off x="4221480" y="4983480"/>
            <a:ext cx="3627120" cy="14173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358640" y="504748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Carry-lookahead</a:t>
            </a:r>
          </a:p>
        </p:txBody>
      </p:sp>
      <p:sp>
        <p:nvSpPr>
          <p:cNvPr id="16" name="TextBox 15"/>
          <p:cNvSpPr txBox="1"/>
          <p:nvPr/>
        </p:nvSpPr>
        <p:spPr>
          <a:xfrm>
            <a:off x="4358640" y="5321808"/>
            <a:ext cx="3352800" cy="10149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Expand the recursion so every carry is a function of G/P only:</a:t>
            </a:r>
          </a:p>
          <a:p>
            <a:pPr algn="l">
              <a:lnSpc>
                <a:spcPct val="103000"/>
              </a:lnSpc>
              <a:spcAft>
                <a:spcPts val="400"/>
              </a:spcAft>
            </a:pPr>
            <a:r>
              <a:rPr sz="1050" b="0" i="0">
                <a:solidFill>
                  <a:srgbClr val="33414F"/>
                </a:solidFill>
                <a:latin typeface="Consolas"/>
              </a:rPr>
              <a:t>C₂ = G₁ + P₁G₀ + P₁P₀C₀ …</a:t>
            </a:r>
          </a:p>
          <a:p>
            <a:pPr algn="l">
              <a:lnSpc>
                <a:spcPct val="103000"/>
              </a:lnSpc>
              <a:spcAft>
                <a:spcPts val="400"/>
              </a:spcAft>
            </a:pPr>
            <a:r>
              <a:rPr sz="1050" b="0" i="0">
                <a:solidFill>
                  <a:srgbClr val="33414F"/>
                </a:solidFill>
                <a:latin typeface="Calibri"/>
              </a:rPr>
              <a:t>Delay ∝ log n instead of n — at the cost of much more area.</a:t>
            </a:r>
          </a:p>
        </p:txBody>
      </p:sp>
      <p:sp>
        <p:nvSpPr>
          <p:cNvPr id="17" name="Rounded Rectangle 16"/>
          <p:cNvSpPr/>
          <p:nvPr/>
        </p:nvSpPr>
        <p:spPr>
          <a:xfrm>
            <a:off x="8031480" y="4983480"/>
            <a:ext cx="3627120" cy="14173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68640" y="504748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Others you will meet</a:t>
            </a:r>
          </a:p>
        </p:txBody>
      </p:sp>
      <p:sp>
        <p:nvSpPr>
          <p:cNvPr id="19" name="TextBox 18"/>
          <p:cNvSpPr txBox="1"/>
          <p:nvPr/>
        </p:nvSpPr>
        <p:spPr>
          <a:xfrm>
            <a:off x="8168640" y="5321808"/>
            <a:ext cx="3352800" cy="10149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Carry-select, carry-skip, Brent–Kung, Kogge–Stone prefix adders.</a:t>
            </a:r>
          </a:p>
          <a:p>
            <a:pPr algn="l">
              <a:lnSpc>
                <a:spcPct val="103000"/>
              </a:lnSpc>
              <a:spcAft>
                <a:spcPts val="400"/>
              </a:spcAft>
            </a:pPr>
            <a:r>
              <a:rPr sz="1050" b="0" i="0">
                <a:solidFill>
                  <a:srgbClr val="33414F"/>
                </a:solidFill>
                <a:latin typeface="Calibri"/>
              </a:rPr>
              <a:t>Synthesis picks one for you from a `+` in Verilog, guided by your timing constraint.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TOPIC 3B · PRACTICAL EXAMPLE 3</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Numerical: Critical Path and fₘₐₓ of a Ripple Adder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25</a:t>
            </a:r>
          </a:p>
        </p:txBody>
      </p:sp>
      <p:sp>
        <p:nvSpPr>
          <p:cNvPr id="9" name="Rounded Rectangle 8"/>
          <p:cNvSpPr/>
          <p:nvPr/>
        </p:nvSpPr>
        <p:spPr>
          <a:xfrm>
            <a:off x="411480" y="1143000"/>
            <a:ext cx="11247120" cy="8229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76072" y="12070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Given</a:t>
            </a:r>
          </a:p>
        </p:txBody>
      </p:sp>
      <p:sp>
        <p:nvSpPr>
          <p:cNvPr id="11" name="TextBox 10"/>
          <p:cNvSpPr txBox="1"/>
          <p:nvPr/>
        </p:nvSpPr>
        <p:spPr>
          <a:xfrm>
            <a:off x="576072" y="148132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 4-bit ripple-carry adder built from full adders in a library where: carry-in to carry-out delay t_c = 90 ps, carry-in to sum delay t_s = 120 ps, and the input operands are driven by registers with t_cq = 60 ps into registers needing t_setup = 50 ps.</a:t>
            </a:r>
          </a:p>
        </p:txBody>
      </p:sp>
      <p:sp>
        <p:nvSpPr>
          <p:cNvPr id="12" name="Rounded Rectangle 11"/>
          <p:cNvSpPr/>
          <p:nvPr/>
        </p:nvSpPr>
        <p:spPr>
          <a:xfrm>
            <a:off x="411480" y="2057400"/>
            <a:ext cx="11247120" cy="3322320"/>
          </a:xfrm>
          <a:prstGeom prst="roundRect">
            <a:avLst>
              <a:gd name="adj" fmla="val 3000"/>
            </a:avLst>
          </a:prstGeom>
          <a:solidFill>
            <a:srgbClr val="112233"/>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94360" y="21717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Answer the question in five steps — always state the path first</a:t>
            </a:r>
          </a:p>
        </p:txBody>
      </p:sp>
      <p:sp>
        <p:nvSpPr>
          <p:cNvPr id="14" name="TextBox 13"/>
          <p:cNvSpPr txBox="1"/>
          <p:nvPr/>
        </p:nvSpPr>
        <p:spPr>
          <a:xfrm>
            <a:off x="594360" y="2446020"/>
            <a:ext cx="10881360" cy="281940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Step 1  Identify the critical path.</a:t>
            </a:r>
          </a:p>
          <a:p>
            <a:pPr algn="l">
              <a:lnSpc>
                <a:spcPct val="112000"/>
              </a:lnSpc>
            </a:pPr>
            <a:r>
              <a:rPr sz="1000" b="0" i="0">
                <a:solidFill>
                  <a:srgbClr val="D8E4F0"/>
                </a:solidFill>
                <a:latin typeface="Consolas"/>
              </a:rPr>
              <a:t>        It runs A0/B0 -&gt; C1 -&gt; C2 -&gt; C3 -&gt; S3  (the last SUM, not the last carry).</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Step 2  Count the stages on that path.</a:t>
            </a:r>
          </a:p>
          <a:p>
            <a:pPr algn="l">
              <a:lnSpc>
                <a:spcPct val="112000"/>
              </a:lnSpc>
            </a:pPr>
            <a:r>
              <a:rPr sz="1000" b="0" i="0">
                <a:solidFill>
                  <a:srgbClr val="D8E4F0"/>
                </a:solidFill>
                <a:latin typeface="Consolas"/>
              </a:rPr>
              <a:t>        3 carry hops (FA0, FA1, FA2)  +  1 final sum (FA3)</a:t>
            </a:r>
          </a:p>
          <a:p>
            <a:pPr algn="l">
              <a:lnSpc>
                <a:spcPct val="112000"/>
              </a:lnSpc>
            </a:pPr>
            <a:r>
              <a:rPr sz="1000" b="0" i="0">
                <a:solidFill>
                  <a:srgbClr val="D8E4F0"/>
                </a:solidFill>
                <a:latin typeface="Consolas"/>
              </a:rPr>
              <a:t>        t_adder = 3 x t_c + t_s = 3 x 90 + 120 = 270 + 120 = 390 ps</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Step 3  Add the register overhead to get the clock period.</a:t>
            </a:r>
          </a:p>
          <a:p>
            <a:pPr algn="l">
              <a:lnSpc>
                <a:spcPct val="112000"/>
              </a:lnSpc>
            </a:pPr>
            <a:r>
              <a:rPr sz="1000" b="0" i="0">
                <a:solidFill>
                  <a:srgbClr val="D8E4F0"/>
                </a:solidFill>
                <a:latin typeface="Consolas"/>
              </a:rPr>
              <a:t>        T_clk &gt;= t_cq + t_adder + t_setup</a:t>
            </a:r>
          </a:p>
          <a:p>
            <a:pPr algn="l">
              <a:lnSpc>
                <a:spcPct val="112000"/>
              </a:lnSpc>
            </a:pPr>
            <a:r>
              <a:rPr sz="1000" b="0" i="0">
                <a:solidFill>
                  <a:srgbClr val="D8E4F0"/>
                </a:solidFill>
                <a:latin typeface="Consolas"/>
              </a:rPr>
              <a:t>               = 60 + 390 + 50 = 500 ps</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Step 4  f_max = 1 / T_clk = 1 / 500 ps = 2.0 GHz</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Step 5  Generalise to n bits:  t_adder = (n-1) x t_c + t_s</a:t>
            </a:r>
          </a:p>
          <a:p>
            <a:pPr algn="l">
              <a:lnSpc>
                <a:spcPct val="112000"/>
              </a:lnSpc>
            </a:pPr>
            <a:r>
              <a:rPr sz="1000" b="0" i="0">
                <a:solidFill>
                  <a:srgbClr val="D8E4F0"/>
                </a:solidFill>
                <a:latin typeface="Consolas"/>
              </a:rPr>
              <a:t>        n = 32  -&gt;  31 x 90 + 120 = 2910 ps  -&gt;  T_clk = 3020 ps  -&gt;  f_max = 331 MHz</a:t>
            </a:r>
          </a:p>
        </p:txBody>
      </p:sp>
      <p:sp>
        <p:nvSpPr>
          <p:cNvPr id="15" name="Rounded Rectangle 14"/>
          <p:cNvSpPr/>
          <p:nvPr/>
        </p:nvSpPr>
        <p:spPr>
          <a:xfrm>
            <a:off x="411480" y="5471160"/>
            <a:ext cx="11247120" cy="8686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76072" y="553516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lesson</a:t>
            </a:r>
          </a:p>
        </p:txBody>
      </p:sp>
      <p:sp>
        <p:nvSpPr>
          <p:cNvPr id="17" name="TextBox 16"/>
          <p:cNvSpPr txBox="1"/>
          <p:nvPr/>
        </p:nvSpPr>
        <p:spPr>
          <a:xfrm>
            <a:off x="576072" y="5809488"/>
            <a:ext cx="10917936" cy="4663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The 4-bit adder runs at 2 GHz; the same design at 32 bits collapses to 331 MHz. </a:t>
            </a:r>
            <a:r>
              <a:rPr sz="1100" b="1" i="0">
                <a:solidFill>
                  <a:srgbClr val="C01F43"/>
                </a:solidFill>
                <a:latin typeface="Calibri"/>
              </a:rPr>
              <a:t>Delay is linear in n, so frequency is roughly inverse-linear. </a:t>
            </a:r>
            <a:r>
              <a:rPr sz="1100" b="0" i="0">
                <a:solidFill>
                  <a:srgbClr val="33414F"/>
                </a:solidFill>
                <a:latin typeface="Calibri"/>
              </a:rPr>
              <a:t>This is precisely the calculation that forces a designer to move from ripple-carry to carry-lookahead, or to pipeline the adder across two clock cycles.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3B · DATA ROUTING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Multiplexers and De-multiplexers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26</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multiplexer is a controllable switch: n select lines choose one of 2ⁿ data inputs to appear at the output. </a:t>
            </a:r>
            <a:r>
              <a:rPr sz="1100" b="0" i="0">
                <a:solidFill>
                  <a:srgbClr val="33414F"/>
                </a:solidFill>
                <a:latin typeface="Calibri"/>
              </a:rPr>
              <a:t>It is the single most common structure in real hardware — every  if,  every  case,  every shared bus and every ALU function select becomes a MUX after synthesis.</a:t>
            </a:r>
          </a:p>
        </p:txBody>
      </p:sp>
      <p:pic>
        <p:nvPicPr>
          <p:cNvPr id="10" name="Picture 9" descr="mux_demux.png"/>
          <p:cNvPicPr>
            <a:picLocks noChangeAspect="1"/>
          </p:cNvPicPr>
          <p:nvPr/>
        </p:nvPicPr>
        <p:blipFill>
          <a:blip r:embed="rId2"/>
          <a:stretch>
            <a:fillRect/>
          </a:stretch>
        </p:blipFill>
        <p:spPr>
          <a:xfrm>
            <a:off x="1945580" y="1737360"/>
            <a:ext cx="8178920" cy="3383280"/>
          </a:xfrm>
          <a:prstGeom prst="rect">
            <a:avLst/>
          </a:prstGeom>
        </p:spPr>
      </p:pic>
      <p:sp>
        <p:nvSpPr>
          <p:cNvPr id="11" name="Rounded Rectangle 10"/>
          <p:cNvSpPr/>
          <p:nvPr/>
        </p:nvSpPr>
        <p:spPr>
          <a:xfrm>
            <a:off x="411480" y="5212080"/>
            <a:ext cx="5532120" cy="10972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27608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In Verilog, all of these are MUXes</a:t>
            </a:r>
          </a:p>
        </p:txBody>
      </p:sp>
      <p:sp>
        <p:nvSpPr>
          <p:cNvPr id="13" name="TextBox 12"/>
          <p:cNvSpPr txBox="1"/>
          <p:nvPr/>
        </p:nvSpPr>
        <p:spPr>
          <a:xfrm>
            <a:off x="548640" y="5550408"/>
            <a:ext cx="5257800" cy="69494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onsolas"/>
              </a:rPr>
              <a:t>assign y = sel ? a : b;</a:t>
            </a:r>
          </a:p>
          <a:p>
            <a:pPr algn="l">
              <a:lnSpc>
                <a:spcPct val="103000"/>
              </a:lnSpc>
              <a:spcAft>
                <a:spcPts val="400"/>
              </a:spcAft>
            </a:pPr>
            <a:r>
              <a:rPr sz="1000" b="0" i="0">
                <a:solidFill>
                  <a:srgbClr val="33414F"/>
                </a:solidFill>
                <a:latin typeface="Consolas"/>
              </a:rPr>
              <a:t>if (sel) y = a; else y = b;</a:t>
            </a:r>
          </a:p>
          <a:p>
            <a:pPr algn="l">
              <a:lnSpc>
                <a:spcPct val="103000"/>
              </a:lnSpc>
              <a:spcAft>
                <a:spcPts val="400"/>
              </a:spcAft>
            </a:pPr>
            <a:r>
              <a:rPr sz="1000" b="0" i="0">
                <a:solidFill>
                  <a:srgbClr val="33414F"/>
                </a:solidFill>
                <a:latin typeface="Consolas"/>
              </a:rPr>
              <a:t>case (sel) 2'b00: y = i0; ...</a:t>
            </a:r>
          </a:p>
        </p:txBody>
      </p:sp>
      <p:sp>
        <p:nvSpPr>
          <p:cNvPr id="14" name="Rounded Rectangle 13"/>
          <p:cNvSpPr/>
          <p:nvPr/>
        </p:nvSpPr>
        <p:spPr>
          <a:xfrm>
            <a:off x="6126480" y="5212080"/>
            <a:ext cx="5532120" cy="109728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27608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Why the size matters</a:t>
            </a:r>
          </a:p>
        </p:txBody>
      </p:sp>
      <p:sp>
        <p:nvSpPr>
          <p:cNvPr id="16" name="TextBox 15"/>
          <p:cNvSpPr txBox="1"/>
          <p:nvPr/>
        </p:nvSpPr>
        <p:spPr>
          <a:xfrm>
            <a:off x="6263640" y="5550408"/>
            <a:ext cx="5257800" cy="6949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 2ⁿ:1 MUX on an m-bit bus costs roughly 2ⁿ × m AND-OR pairs. A careless 16-way case on a 32-bit bus is 512 gates — and its delay grows with the number of select levels.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3B · A USEFUL TRICK</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Multiplexer as a Universal Logic Element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27</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2ⁿ:1 MUX can implement ANY function of n variables </a:t>
            </a:r>
            <a:r>
              <a:rPr sz="1100" b="0" i="0">
                <a:solidFill>
                  <a:srgbClr val="33414F"/>
                </a:solidFill>
                <a:latin typeface="Calibri"/>
              </a:rPr>
              <a:t>— just wire the truth-table output column to the data inputs and the variables to the select lines. This is not a curiosity: it is exactly how an FPGA look-up table (LUT) works.</a:t>
            </a:r>
          </a:p>
        </p:txBody>
      </p:sp>
      <p:sp>
        <p:nvSpPr>
          <p:cNvPr id="10" name="Rounded Rectangle 9"/>
          <p:cNvSpPr/>
          <p:nvPr/>
        </p:nvSpPr>
        <p:spPr>
          <a:xfrm>
            <a:off x="411480" y="1783080"/>
            <a:ext cx="3627120" cy="21945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184708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construction</a:t>
            </a:r>
          </a:p>
        </p:txBody>
      </p:sp>
      <p:sp>
        <p:nvSpPr>
          <p:cNvPr id="12" name="TextBox 11"/>
          <p:cNvSpPr txBox="1"/>
          <p:nvPr/>
        </p:nvSpPr>
        <p:spPr>
          <a:xfrm>
            <a:off x="548640" y="2121408"/>
            <a:ext cx="3352800" cy="17922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Target: F(A,B,C) = Σm(1,3,5,6).</a:t>
            </a:r>
          </a:p>
          <a:p>
            <a:pPr algn="l">
              <a:lnSpc>
                <a:spcPct val="103000"/>
              </a:lnSpc>
              <a:spcAft>
                <a:spcPts val="400"/>
              </a:spcAft>
            </a:pPr>
            <a:r>
              <a:rPr sz="1050" b="0" i="0">
                <a:solidFill>
                  <a:srgbClr val="33414F"/>
                </a:solidFill>
                <a:latin typeface="Calibri"/>
              </a:rPr>
              <a:t>Use an 8:1 MUX with S₂S₁S₀ = A,B,C.</a:t>
            </a:r>
          </a:p>
          <a:p>
            <a:pPr algn="l">
              <a:lnSpc>
                <a:spcPct val="103000"/>
              </a:lnSpc>
              <a:spcAft>
                <a:spcPts val="400"/>
              </a:spcAft>
            </a:pPr>
            <a:r>
              <a:rPr sz="1050" b="0" i="0">
                <a:solidFill>
                  <a:srgbClr val="33414F"/>
                </a:solidFill>
                <a:latin typeface="Calibri"/>
              </a:rPr>
              <a:t>Tie I₁ = I₃ = I₅ = I₆ = 1 and every other data input to 0.</a:t>
            </a:r>
          </a:p>
          <a:p>
            <a:pPr algn="l">
              <a:lnSpc>
                <a:spcPct val="103000"/>
              </a:lnSpc>
              <a:spcAft>
                <a:spcPts val="400"/>
              </a:spcAft>
            </a:pPr>
            <a:r>
              <a:rPr sz="1050" b="1" i="0">
                <a:solidFill>
                  <a:srgbClr val="2A9D5C"/>
                </a:solidFill>
                <a:latin typeface="Calibri"/>
              </a:rPr>
              <a:t>Done — no minimisation needed at all.</a:t>
            </a:r>
          </a:p>
        </p:txBody>
      </p:sp>
      <p:sp>
        <p:nvSpPr>
          <p:cNvPr id="13" name="Rounded Rectangle 12"/>
          <p:cNvSpPr/>
          <p:nvPr/>
        </p:nvSpPr>
        <p:spPr>
          <a:xfrm>
            <a:off x="4221480" y="1783080"/>
            <a:ext cx="3627120" cy="21945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58640" y="184708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Halving the MUX</a:t>
            </a:r>
          </a:p>
        </p:txBody>
      </p:sp>
      <p:sp>
        <p:nvSpPr>
          <p:cNvPr id="15" name="TextBox 14"/>
          <p:cNvSpPr txBox="1"/>
          <p:nvPr/>
        </p:nvSpPr>
        <p:spPr>
          <a:xfrm>
            <a:off x="4358640" y="2121408"/>
            <a:ext cx="3352800" cy="17922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 4:1 MUX also suffices: use A,B as select and feed each data input with one of 0, 1, C or C'.</a:t>
            </a:r>
          </a:p>
          <a:p>
            <a:pPr algn="l">
              <a:lnSpc>
                <a:spcPct val="103000"/>
              </a:lnSpc>
              <a:spcAft>
                <a:spcPts val="400"/>
              </a:spcAft>
            </a:pPr>
            <a:r>
              <a:rPr sz="1050" b="0" i="0">
                <a:solidFill>
                  <a:srgbClr val="33414F"/>
                </a:solidFill>
                <a:latin typeface="Calibri"/>
              </a:rPr>
              <a:t>Read pairs of truth-table rows: 00 → C, 01 → C, 10 → C, 11 → C'.</a:t>
            </a:r>
          </a:p>
          <a:p>
            <a:pPr algn="l">
              <a:lnSpc>
                <a:spcPct val="103000"/>
              </a:lnSpc>
              <a:spcAft>
                <a:spcPts val="400"/>
              </a:spcAft>
            </a:pPr>
            <a:r>
              <a:rPr sz="1050" b="0" i="0">
                <a:solidFill>
                  <a:srgbClr val="33414F"/>
                </a:solidFill>
                <a:latin typeface="Calibri"/>
              </a:rPr>
              <a:t>In general an n-variable function needs only a 2ⁿ⁻¹:1 MUX.</a:t>
            </a:r>
          </a:p>
        </p:txBody>
      </p:sp>
      <p:sp>
        <p:nvSpPr>
          <p:cNvPr id="16" name="Rounded Rectangle 15"/>
          <p:cNvSpPr/>
          <p:nvPr/>
        </p:nvSpPr>
        <p:spPr>
          <a:xfrm>
            <a:off x="8031480" y="1783080"/>
            <a:ext cx="3627120" cy="21945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68640" y="184708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Why FPGAs are built this way</a:t>
            </a:r>
          </a:p>
        </p:txBody>
      </p:sp>
      <p:sp>
        <p:nvSpPr>
          <p:cNvPr id="18" name="TextBox 17"/>
          <p:cNvSpPr txBox="1"/>
          <p:nvPr/>
        </p:nvSpPr>
        <p:spPr>
          <a:xfrm>
            <a:off x="8168640" y="2121408"/>
            <a:ext cx="3352800" cy="17922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An FPGA logic cell is a small SRAM (typically a 6-input LUT = a 64:1 MUX with programmable data bits) plus a flip-flop.</a:t>
            </a:r>
          </a:p>
          <a:p>
            <a:pPr algn="l">
              <a:lnSpc>
                <a:spcPct val="103000"/>
              </a:lnSpc>
              <a:spcAft>
                <a:spcPts val="400"/>
              </a:spcAft>
            </a:pPr>
            <a:r>
              <a:rPr sz="1050" b="1" i="0">
                <a:solidFill>
                  <a:srgbClr val="C77514"/>
                </a:solidFill>
                <a:latin typeface="Calibri"/>
              </a:rPr>
              <a:t>Programming an FPGA literally means writing truth tables into those SRAM cells.</a:t>
            </a:r>
          </a:p>
        </p:txBody>
      </p:sp>
      <p:sp>
        <p:nvSpPr>
          <p:cNvPr id="19" name="Rounded Rectangle 18"/>
          <p:cNvSpPr/>
          <p:nvPr/>
        </p:nvSpPr>
        <p:spPr>
          <a:xfrm>
            <a:off x="411480" y="4114800"/>
            <a:ext cx="11247120" cy="9601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76072" y="41788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Consequence for your RTL</a:t>
            </a:r>
          </a:p>
        </p:txBody>
      </p:sp>
      <p:sp>
        <p:nvSpPr>
          <p:cNvPr id="21" name="TextBox 20"/>
          <p:cNvSpPr txBox="1"/>
          <p:nvPr/>
        </p:nvSpPr>
        <p:spPr>
          <a:xfrm>
            <a:off x="576072" y="4453128"/>
            <a:ext cx="10917936" cy="5577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On an FPGA, a 6-input function and a 2-input function cost the SAME single LUT. Deliberately splitting logic into tiny pieces therefore buys you nothing and can cost you levels of delay. On an ASIC the opposite is true. </a:t>
            </a:r>
            <a:r>
              <a:rPr sz="1100" b="1" i="0">
                <a:solidFill>
                  <a:srgbClr val="0E2A47"/>
                </a:solidFill>
                <a:latin typeface="Calibri"/>
              </a:rPr>
              <a:t>Know your target before you optimise.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3B · CODE CONVERSION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Decoders, Encoders and Priority Encoders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28</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decoder turns a compact binary code into one-hot select lines; an encoder does the reverse. </a:t>
            </a:r>
            <a:r>
              <a:rPr sz="1100" b="0" i="0">
                <a:solidFill>
                  <a:srgbClr val="33414F"/>
                </a:solidFill>
                <a:latin typeface="Calibri"/>
              </a:rPr>
              <a:t>Address decode, instruction decode, chip-select generation and interrupt arbitration are all this one pattern.</a:t>
            </a:r>
          </a:p>
        </p:txBody>
      </p:sp>
      <p:pic>
        <p:nvPicPr>
          <p:cNvPr id="10" name="Picture 9" descr="decoder_encoder.png"/>
          <p:cNvPicPr>
            <a:picLocks noChangeAspect="1"/>
          </p:cNvPicPr>
          <p:nvPr/>
        </p:nvPicPr>
        <p:blipFill>
          <a:blip r:embed="rId2"/>
          <a:stretch>
            <a:fillRect/>
          </a:stretch>
        </p:blipFill>
        <p:spPr>
          <a:xfrm>
            <a:off x="2018211" y="1691640"/>
            <a:ext cx="8033657" cy="3566160"/>
          </a:xfrm>
          <a:prstGeom prst="rect">
            <a:avLst/>
          </a:prstGeom>
        </p:spPr>
      </p:pic>
      <p:sp>
        <p:nvSpPr>
          <p:cNvPr id="11" name="Rounded Rectangle 10"/>
          <p:cNvSpPr/>
          <p:nvPr/>
        </p:nvSpPr>
        <p:spPr>
          <a:xfrm>
            <a:off x="411480" y="5349240"/>
            <a:ext cx="5532120" cy="10058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41324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Enable inputs</a:t>
            </a:r>
          </a:p>
        </p:txBody>
      </p:sp>
      <p:sp>
        <p:nvSpPr>
          <p:cNvPr id="13" name="TextBox 12"/>
          <p:cNvSpPr txBox="1"/>
          <p:nvPr/>
        </p:nvSpPr>
        <p:spPr>
          <a:xfrm>
            <a:off x="548640" y="5687568"/>
            <a:ext cx="5257800" cy="6035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Real decoders have an EN pin: when EN = 0 every output is inactive. This is how several decoders are cascaded to build a larger one (two 2:4 + one 1:2 = a 3:8 decoder).</a:t>
            </a:r>
          </a:p>
        </p:txBody>
      </p:sp>
      <p:sp>
        <p:nvSpPr>
          <p:cNvPr id="14" name="Rounded Rectangle 13"/>
          <p:cNvSpPr/>
          <p:nvPr/>
        </p:nvSpPr>
        <p:spPr>
          <a:xfrm>
            <a:off x="6126480" y="5349240"/>
            <a:ext cx="5532120" cy="100584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41324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Why plain encoders are broken</a:t>
            </a:r>
          </a:p>
        </p:txBody>
      </p:sp>
      <p:sp>
        <p:nvSpPr>
          <p:cNvPr id="16" name="TextBox 15"/>
          <p:cNvSpPr txBox="1"/>
          <p:nvPr/>
        </p:nvSpPr>
        <p:spPr>
          <a:xfrm>
            <a:off x="6263640" y="5687568"/>
            <a:ext cx="5257800" cy="6035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 plain 4:2 encoder assumes exactly one input is high. If two are, it outputs the OR of their codes — a value that is simply wrong. A PRIORITY encoder resolves this, and the V (valid) output distinguishes 'input 0 active' from 'nothing active'.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3B · MORE BLOCKS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Comparators, Parity and Other Standard Cells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29</a:t>
            </a:r>
          </a:p>
        </p:txBody>
      </p:sp>
      <p:pic>
        <p:nvPicPr>
          <p:cNvPr id="9" name="Picture 8" descr="comparator_parity.png"/>
          <p:cNvPicPr>
            <a:picLocks noChangeAspect="1"/>
          </p:cNvPicPr>
          <p:nvPr/>
        </p:nvPicPr>
        <p:blipFill>
          <a:blip r:embed="rId2"/>
          <a:stretch>
            <a:fillRect/>
          </a:stretch>
        </p:blipFill>
        <p:spPr>
          <a:xfrm>
            <a:off x="1628608" y="1143000"/>
            <a:ext cx="8812864" cy="3383280"/>
          </a:xfrm>
          <a:prstGeom prst="rect">
            <a:avLst/>
          </a:prstGeom>
        </p:spPr>
      </p:pic>
      <p:sp>
        <p:nvSpPr>
          <p:cNvPr id="10" name="Rounded Rectangle 9"/>
          <p:cNvSpPr/>
          <p:nvPr/>
        </p:nvSpPr>
        <p:spPr>
          <a:xfrm>
            <a:off x="411480" y="4617720"/>
            <a:ext cx="3627120" cy="17373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468172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Comparator — building it up</a:t>
            </a:r>
          </a:p>
        </p:txBody>
      </p:sp>
      <p:sp>
        <p:nvSpPr>
          <p:cNvPr id="12" name="TextBox 11"/>
          <p:cNvSpPr txBox="1"/>
          <p:nvPr/>
        </p:nvSpPr>
        <p:spPr>
          <a:xfrm>
            <a:off x="548640" y="4956048"/>
            <a:ext cx="3352800" cy="13350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onsolas"/>
              </a:rPr>
              <a:t>1-bit equal:  e = (A ⊕ B)'</a:t>
            </a:r>
          </a:p>
          <a:p>
            <a:pPr algn="l">
              <a:lnSpc>
                <a:spcPct val="103000"/>
              </a:lnSpc>
              <a:spcAft>
                <a:spcPts val="400"/>
              </a:spcAft>
            </a:pPr>
            <a:r>
              <a:rPr sz="1050" b="0" i="0">
                <a:solidFill>
                  <a:srgbClr val="33414F"/>
                </a:solidFill>
                <a:latin typeface="Consolas"/>
              </a:rPr>
              <a:t>n-bit equal:  AND all n of those</a:t>
            </a:r>
          </a:p>
          <a:p>
            <a:pPr algn="l">
              <a:lnSpc>
                <a:spcPct val="103000"/>
              </a:lnSpc>
              <a:spcAft>
                <a:spcPts val="400"/>
              </a:spcAft>
            </a:pPr>
            <a:r>
              <a:rPr sz="1050" b="0" i="0">
                <a:solidFill>
                  <a:srgbClr val="33414F"/>
                </a:solidFill>
                <a:latin typeface="Calibri"/>
              </a:rPr>
              <a:t>Greater-than works MSB-first: A &gt; B if the highest bit where they differ has A = 1. In Verilog this is just `A &gt; B` and synthesis builds the ripple for you.</a:t>
            </a:r>
          </a:p>
        </p:txBody>
      </p:sp>
      <p:sp>
        <p:nvSpPr>
          <p:cNvPr id="13" name="Rounded Rectangle 12"/>
          <p:cNvSpPr/>
          <p:nvPr/>
        </p:nvSpPr>
        <p:spPr>
          <a:xfrm>
            <a:off x="4221480" y="4617720"/>
            <a:ext cx="3627120" cy="17373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58640" y="468172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Parity — one XOR tree</a:t>
            </a:r>
          </a:p>
        </p:txBody>
      </p:sp>
      <p:sp>
        <p:nvSpPr>
          <p:cNvPr id="15" name="TextBox 14"/>
          <p:cNvSpPr txBox="1"/>
          <p:nvPr/>
        </p:nvSpPr>
        <p:spPr>
          <a:xfrm>
            <a:off x="4358640" y="4956048"/>
            <a:ext cx="3352800" cy="13350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Even parity bit P = XOR of all data bits.</a:t>
            </a:r>
          </a:p>
          <a:p>
            <a:pPr algn="l">
              <a:lnSpc>
                <a:spcPct val="103000"/>
              </a:lnSpc>
              <a:spcAft>
                <a:spcPts val="400"/>
              </a:spcAft>
            </a:pPr>
            <a:r>
              <a:rPr sz="1050" b="0" i="0">
                <a:solidFill>
                  <a:srgbClr val="33414F"/>
                </a:solidFill>
                <a:latin typeface="Calibri"/>
              </a:rPr>
              <a:t>Detects ANY odd number of bit flips, but cannot correct and misses even ones. For real protection use Hamming or ECC — the same XOR-tree idea, more bits.</a:t>
            </a:r>
          </a:p>
        </p:txBody>
      </p:sp>
      <p:sp>
        <p:nvSpPr>
          <p:cNvPr id="16" name="Rounded Rectangle 15"/>
          <p:cNvSpPr/>
          <p:nvPr/>
        </p:nvSpPr>
        <p:spPr>
          <a:xfrm>
            <a:off x="8031480" y="4617720"/>
            <a:ext cx="3627120" cy="17373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68640" y="468172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Also in every library</a:t>
            </a:r>
          </a:p>
        </p:txBody>
      </p:sp>
      <p:sp>
        <p:nvSpPr>
          <p:cNvPr id="18" name="TextBox 17"/>
          <p:cNvSpPr txBox="1"/>
          <p:nvPr/>
        </p:nvSpPr>
        <p:spPr>
          <a:xfrm>
            <a:off x="8168640" y="4956048"/>
            <a:ext cx="3352800" cy="13350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Barrel shifter (a MUX per output bit)</a:t>
            </a:r>
          </a:p>
          <a:p>
            <a:pPr algn="l">
              <a:lnSpc>
                <a:spcPct val="103000"/>
              </a:lnSpc>
              <a:spcAft>
                <a:spcPts val="400"/>
              </a:spcAft>
            </a:pPr>
            <a:r>
              <a:rPr sz="1050" b="0" i="0">
                <a:solidFill>
                  <a:srgbClr val="33414F"/>
                </a:solidFill>
                <a:latin typeface="Calibri"/>
              </a:rPr>
              <a:t>· Priority arbiter</a:t>
            </a:r>
          </a:p>
          <a:p>
            <a:pPr algn="l">
              <a:lnSpc>
                <a:spcPct val="103000"/>
              </a:lnSpc>
              <a:spcAft>
                <a:spcPts val="400"/>
              </a:spcAft>
            </a:pPr>
            <a:r>
              <a:rPr sz="1050" b="0" i="0">
                <a:solidFill>
                  <a:srgbClr val="33414F"/>
                </a:solidFill>
                <a:latin typeface="Calibri"/>
              </a:rPr>
              <a:t>· Binary ↔ Gray converter</a:t>
            </a:r>
          </a:p>
          <a:p>
            <a:pPr algn="l">
              <a:lnSpc>
                <a:spcPct val="103000"/>
              </a:lnSpc>
              <a:spcAft>
                <a:spcPts val="400"/>
              </a:spcAft>
            </a:pPr>
            <a:r>
              <a:rPr sz="1050" b="0" i="0">
                <a:solidFill>
                  <a:srgbClr val="33414F"/>
                </a:solidFill>
                <a:latin typeface="Calibri"/>
              </a:rPr>
              <a:t>· Leading-zero counter</a:t>
            </a:r>
          </a:p>
        </p:txBody>
      </p:sp>
      <p:sp>
        <p:nvSpPr>
          <p:cNvPr id="19" name="TextBox 18"/>
          <p:cNvSpPr txBox="1"/>
          <p:nvPr/>
        </p:nvSpPr>
        <p:spPr>
          <a:xfrm>
            <a:off x="411480" y="6446520"/>
            <a:ext cx="11247120" cy="274320"/>
          </a:xfrm>
          <a:prstGeom prst="rect">
            <a:avLst/>
          </a:prstGeom>
          <a:noFill/>
        </p:spPr>
        <p:txBody>
          <a:bodyPr wrap="square" lIns="0" rIns="0" tIns="0" bIns="0" anchor="t">
            <a:spAutoFit/>
          </a:bodyPr>
          <a:lstStyle/>
          <a:p>
            <a:pPr algn="l">
              <a:lnSpc>
                <a:spcPct val="103000"/>
              </a:lnSpc>
            </a:pPr>
            <a:r>
              <a:rPr sz="1050" b="1" i="0">
                <a:solidFill>
                  <a:srgbClr val="5A6B7B"/>
                </a:solidFill>
                <a:latin typeface="Calibri"/>
              </a:rPr>
              <a:t>Trainer note: </a:t>
            </a:r>
            <a:r>
              <a:rPr sz="1050" b="0" i="1">
                <a:solidFill>
                  <a:srgbClr val="33414F"/>
                </a:solidFill>
                <a:latin typeface="Calibri"/>
              </a:rPr>
              <a:t>ask the class to derive the 1-bit equality gate before you show it — XNOR-as-equality is the single most useful gate identity in this whole topic.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3B · PUTTING BLOCKS TOGETHER</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An Arithmetic Logic Unit Is Just a MUX of Blocks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30</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An ALU looks intimidating and is structurally trivial: </a:t>
            </a:r>
            <a:r>
              <a:rPr sz="1100" b="0" i="0">
                <a:solidFill>
                  <a:srgbClr val="33414F"/>
                </a:solidFill>
                <a:latin typeface="Calibri"/>
              </a:rPr>
              <a:t>run every operation in parallel on the same operands and use the opcode to select which answer leaves the block. It wastes power computing results you throw away — and it is fast, regular and easy to verify, which usually wins.</a:t>
            </a:r>
          </a:p>
        </p:txBody>
      </p:sp>
      <p:pic>
        <p:nvPicPr>
          <p:cNvPr id="10" name="Picture 9" descr="alu_block.png"/>
          <p:cNvPicPr>
            <a:picLocks noChangeAspect="1"/>
          </p:cNvPicPr>
          <p:nvPr/>
        </p:nvPicPr>
        <p:blipFill>
          <a:blip r:embed="rId2"/>
          <a:stretch>
            <a:fillRect/>
          </a:stretch>
        </p:blipFill>
        <p:spPr>
          <a:xfrm>
            <a:off x="1695873" y="1737360"/>
            <a:ext cx="8678333" cy="3200400"/>
          </a:xfrm>
          <a:prstGeom prst="rect">
            <a:avLst/>
          </a:prstGeom>
        </p:spPr>
      </p:pic>
      <p:sp>
        <p:nvSpPr>
          <p:cNvPr id="11" name="Rounded Rectangle 10"/>
          <p:cNvSpPr/>
          <p:nvPr/>
        </p:nvSpPr>
        <p:spPr>
          <a:xfrm>
            <a:off x="411480" y="5029200"/>
            <a:ext cx="11247120" cy="12801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09320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status flags — and the mistake everyone makes with V</a:t>
            </a:r>
          </a:p>
        </p:txBody>
      </p:sp>
      <p:sp>
        <p:nvSpPr>
          <p:cNvPr id="13" name="TextBox 12"/>
          <p:cNvSpPr txBox="1"/>
          <p:nvPr/>
        </p:nvSpPr>
        <p:spPr>
          <a:xfrm>
            <a:off x="576072" y="5367528"/>
            <a:ext cx="10917936" cy="877824"/>
          </a:xfrm>
          <a:prstGeom prst="rect">
            <a:avLst/>
          </a:prstGeom>
          <a:noFill/>
        </p:spPr>
        <p:txBody>
          <a:bodyPr wrap="square" lIns="0" rIns="0" tIns="0" bIns="0" anchor="t">
            <a:spAutoFit/>
          </a:bodyPr>
          <a:lstStyle/>
          <a:p>
            <a:pPr algn="l">
              <a:lnSpc>
                <a:spcPct val="103000"/>
              </a:lnSpc>
              <a:spcAft>
                <a:spcPts val="400"/>
              </a:spcAft>
            </a:pPr>
            <a:r>
              <a:rPr sz="1100" b="1" i="0">
                <a:solidFill>
                  <a:srgbClr val="C01F43"/>
                </a:solidFill>
                <a:latin typeface="Calibri"/>
              </a:rPr>
              <a:t>Z </a:t>
            </a:r>
            <a:r>
              <a:rPr sz="1100" b="0" i="0">
                <a:solidFill>
                  <a:srgbClr val="33414F"/>
                </a:solidFill>
                <a:latin typeface="Calibri"/>
              </a:rPr>
              <a:t>= result is all zeros (a NOR of every result bit).    </a:t>
            </a:r>
            <a:r>
              <a:rPr sz="1100" b="1" i="0">
                <a:solidFill>
                  <a:srgbClr val="C01F43"/>
                </a:solidFill>
                <a:latin typeface="Calibri"/>
              </a:rPr>
              <a:t>N </a:t>
            </a:r>
            <a:r>
              <a:rPr sz="1100" b="0" i="0">
                <a:solidFill>
                  <a:srgbClr val="33414F"/>
                </a:solidFill>
                <a:latin typeface="Calibri"/>
              </a:rPr>
              <a:t>= MSB of the result (the sign bit in two's complement).    </a:t>
            </a:r>
            <a:r>
              <a:rPr sz="1100" b="1" i="0">
                <a:solidFill>
                  <a:srgbClr val="C01F43"/>
                </a:solidFill>
                <a:latin typeface="Calibri"/>
              </a:rPr>
              <a:t>C </a:t>
            </a:r>
            <a:r>
              <a:rPr sz="1100" b="0" i="0">
                <a:solidFill>
                  <a:srgbClr val="33414F"/>
                </a:solidFill>
                <a:latin typeface="Calibri"/>
              </a:rPr>
              <a:t>= carry out of the MSB — meaningful for UNSIGNED overflow.</a:t>
            </a:r>
          </a:p>
          <a:p>
            <a:pPr algn="l">
              <a:lnSpc>
                <a:spcPct val="103000"/>
              </a:lnSpc>
              <a:spcAft>
                <a:spcPts val="400"/>
              </a:spcAft>
            </a:pPr>
            <a:r>
              <a:rPr sz="1100" b="1" i="0">
                <a:solidFill>
                  <a:srgbClr val="C01F43"/>
                </a:solidFill>
                <a:latin typeface="Calibri"/>
              </a:rPr>
              <a:t>V </a:t>
            </a:r>
            <a:r>
              <a:rPr sz="1100" b="0" i="0">
                <a:solidFill>
                  <a:srgbClr val="33414F"/>
                </a:solidFill>
                <a:latin typeface="Calibri"/>
              </a:rPr>
              <a:t>= SIGNED overflow, and it is NOT the same as C. V = Cₙ ⊕ Cₙ₋₁ : the carry INTO the sign bit differs from the carry OUT of it. Adding two positives and getting a negative is the classic case.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3B · HAZARDS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Glitches — When Correct Logic Produces a Wrong Pulse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31</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hazard is a momentary wrong output caused purely by unequal path delays. </a:t>
            </a:r>
            <a:r>
              <a:rPr sz="1100" b="0" i="0">
                <a:solidFill>
                  <a:srgbClr val="33414F"/>
                </a:solidFill>
                <a:latin typeface="Calibri"/>
              </a:rPr>
              <a:t>The steady-state logic is perfectly correct; the transient is not. Understanding this is what makes the case for synchronous design.</a:t>
            </a:r>
          </a:p>
        </p:txBody>
      </p:sp>
      <p:pic>
        <p:nvPicPr>
          <p:cNvPr id="10" name="Picture 9" descr="hazards.png"/>
          <p:cNvPicPr>
            <a:picLocks noChangeAspect="1"/>
          </p:cNvPicPr>
          <p:nvPr/>
        </p:nvPicPr>
        <p:blipFill>
          <a:blip r:embed="rId2"/>
          <a:stretch>
            <a:fillRect/>
          </a:stretch>
        </p:blipFill>
        <p:spPr>
          <a:xfrm>
            <a:off x="2275700" y="1691640"/>
            <a:ext cx="7518679" cy="3337560"/>
          </a:xfrm>
          <a:prstGeom prst="rect">
            <a:avLst/>
          </a:prstGeom>
        </p:spPr>
      </p:pic>
      <p:sp>
        <p:nvSpPr>
          <p:cNvPr id="11" name="Rounded Rectangle 10"/>
          <p:cNvSpPr/>
          <p:nvPr/>
        </p:nvSpPr>
        <p:spPr>
          <a:xfrm>
            <a:off x="411480" y="5120640"/>
            <a:ext cx="11247120" cy="10972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18464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Where a glitch is harmless — and where it kills the chip</a:t>
            </a:r>
          </a:p>
        </p:txBody>
      </p:sp>
      <p:sp>
        <p:nvSpPr>
          <p:cNvPr id="13" name="TextBox 12"/>
          <p:cNvSpPr txBox="1"/>
          <p:nvPr/>
        </p:nvSpPr>
        <p:spPr>
          <a:xfrm>
            <a:off x="576072" y="5458968"/>
            <a:ext cx="10917936" cy="694944"/>
          </a:xfrm>
          <a:prstGeom prst="rect">
            <a:avLst/>
          </a:prstGeom>
          <a:noFill/>
        </p:spPr>
        <p:txBody>
          <a:bodyPr wrap="square" lIns="0" rIns="0" tIns="0" bIns="0" anchor="t">
            <a:spAutoFit/>
          </a:bodyPr>
          <a:lstStyle/>
          <a:p>
            <a:pPr algn="l">
              <a:lnSpc>
                <a:spcPct val="103000"/>
              </a:lnSpc>
              <a:spcAft>
                <a:spcPts val="400"/>
              </a:spcAft>
            </a:pPr>
            <a:r>
              <a:rPr sz="1100" b="1" i="0">
                <a:solidFill>
                  <a:srgbClr val="2A9D5C"/>
                </a:solidFill>
                <a:latin typeface="Calibri"/>
              </a:rPr>
              <a:t>Harmless: </a:t>
            </a:r>
            <a:r>
              <a:rPr sz="1100" b="0" i="0">
                <a:solidFill>
                  <a:srgbClr val="33414F"/>
                </a:solidFill>
                <a:latin typeface="Calibri"/>
              </a:rPr>
              <a:t>feeding the D input of a flip-flop, provided it settles before the next clock edge. This is the normal case and why we design synchronously.</a:t>
            </a:r>
          </a:p>
          <a:p>
            <a:pPr algn="l">
              <a:lnSpc>
                <a:spcPct val="103000"/>
              </a:lnSpc>
              <a:spcAft>
                <a:spcPts val="400"/>
              </a:spcAft>
            </a:pPr>
            <a:r>
              <a:rPr sz="1100" b="1" i="0">
                <a:solidFill>
                  <a:srgbClr val="C01F43"/>
                </a:solidFill>
                <a:latin typeface="Calibri"/>
              </a:rPr>
              <a:t>Fatal: </a:t>
            </a:r>
            <a:r>
              <a:rPr sz="1100" b="0" i="0">
                <a:solidFill>
                  <a:srgbClr val="33414F"/>
                </a:solidFill>
                <a:latin typeface="Calibri"/>
              </a:rPr>
              <a:t>on a clock line, a reset line, an asynchronous set/clear, a write-enable to memory, or any signal leaving the chip. Never generate a clock from combinational logic.</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3B · WHAT LIMITS SPEED</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Propagation Delay, Fan-In and Fan-Out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32</a:t>
            </a:r>
          </a:p>
        </p:txBody>
      </p:sp>
      <p:pic>
        <p:nvPicPr>
          <p:cNvPr id="9" name="Picture 8" descr="delay_fanout.png"/>
          <p:cNvPicPr>
            <a:picLocks noChangeAspect="1"/>
          </p:cNvPicPr>
          <p:nvPr/>
        </p:nvPicPr>
        <p:blipFill>
          <a:blip r:embed="rId2"/>
          <a:stretch>
            <a:fillRect/>
          </a:stretch>
        </p:blipFill>
        <p:spPr>
          <a:xfrm>
            <a:off x="1340515" y="1143000"/>
            <a:ext cx="9389050" cy="3383280"/>
          </a:xfrm>
          <a:prstGeom prst="rect">
            <a:avLst/>
          </a:prstGeom>
        </p:spPr>
      </p:pic>
      <p:sp>
        <p:nvSpPr>
          <p:cNvPr id="10" name="Rounded Rectangle 9"/>
          <p:cNvSpPr/>
          <p:nvPr/>
        </p:nvSpPr>
        <p:spPr>
          <a:xfrm>
            <a:off x="411480" y="4617720"/>
            <a:ext cx="3627120" cy="160020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468172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Terms</a:t>
            </a:r>
          </a:p>
        </p:txBody>
      </p:sp>
      <p:sp>
        <p:nvSpPr>
          <p:cNvPr id="12" name="TextBox 11"/>
          <p:cNvSpPr txBox="1"/>
          <p:nvPr/>
        </p:nvSpPr>
        <p:spPr>
          <a:xfrm>
            <a:off x="548640" y="4956048"/>
            <a:ext cx="3352800" cy="1197864"/>
          </a:xfrm>
          <a:prstGeom prst="rect">
            <a:avLst/>
          </a:prstGeom>
          <a:noFill/>
        </p:spPr>
        <p:txBody>
          <a:bodyPr wrap="square" lIns="0" rIns="0" tIns="0" bIns="0" anchor="t">
            <a:spAutoFit/>
          </a:bodyPr>
          <a:lstStyle/>
          <a:p>
            <a:pPr algn="l">
              <a:lnSpc>
                <a:spcPct val="103000"/>
              </a:lnSpc>
              <a:spcAft>
                <a:spcPts val="400"/>
              </a:spcAft>
            </a:pPr>
            <a:r>
              <a:rPr sz="1050" b="1" i="0">
                <a:solidFill>
                  <a:srgbClr val="0E2A47"/>
                </a:solidFill>
                <a:latin typeface="Calibri"/>
              </a:rPr>
              <a:t>t_pd </a:t>
            </a:r>
            <a:r>
              <a:rPr sz="1050" b="0" i="0">
                <a:solidFill>
                  <a:srgbClr val="33414F"/>
                </a:solidFill>
                <a:latin typeface="Calibri"/>
              </a:rPr>
              <a:t>propagation delay of one gate</a:t>
            </a:r>
          </a:p>
          <a:p>
            <a:pPr algn="l">
              <a:lnSpc>
                <a:spcPct val="103000"/>
              </a:lnSpc>
              <a:spcAft>
                <a:spcPts val="400"/>
              </a:spcAft>
            </a:pPr>
            <a:r>
              <a:rPr sz="1050" b="1" i="0">
                <a:solidFill>
                  <a:srgbClr val="0E2A47"/>
                </a:solidFill>
                <a:latin typeface="Calibri"/>
              </a:rPr>
              <a:t>Fan-in </a:t>
            </a:r>
            <a:r>
              <a:rPr sz="1050" b="0" i="0">
                <a:solidFill>
                  <a:srgbClr val="33414F"/>
                </a:solidFill>
                <a:latin typeface="Calibri"/>
              </a:rPr>
              <a:t>inputs on one gate</a:t>
            </a:r>
          </a:p>
          <a:p>
            <a:pPr algn="l">
              <a:lnSpc>
                <a:spcPct val="103000"/>
              </a:lnSpc>
              <a:spcAft>
                <a:spcPts val="400"/>
              </a:spcAft>
            </a:pPr>
            <a:r>
              <a:rPr sz="1050" b="1" i="0">
                <a:solidFill>
                  <a:srgbClr val="0E2A47"/>
                </a:solidFill>
                <a:latin typeface="Calibri"/>
              </a:rPr>
              <a:t>Fan-out </a:t>
            </a:r>
            <a:r>
              <a:rPr sz="1050" b="0" i="0">
                <a:solidFill>
                  <a:srgbClr val="33414F"/>
                </a:solidFill>
                <a:latin typeface="Calibri"/>
              </a:rPr>
              <a:t>loads driven by one output</a:t>
            </a:r>
          </a:p>
          <a:p>
            <a:pPr algn="l">
              <a:lnSpc>
                <a:spcPct val="103000"/>
              </a:lnSpc>
              <a:spcAft>
                <a:spcPts val="400"/>
              </a:spcAft>
            </a:pPr>
            <a:r>
              <a:rPr sz="1050" b="1" i="0">
                <a:solidFill>
                  <a:srgbClr val="0E2A47"/>
                </a:solidFill>
                <a:latin typeface="Calibri"/>
              </a:rPr>
              <a:t>Critical path </a:t>
            </a:r>
            <a:r>
              <a:rPr sz="1050" b="0" i="0">
                <a:solidFill>
                  <a:srgbClr val="33414F"/>
                </a:solidFill>
                <a:latin typeface="Calibri"/>
              </a:rPr>
              <a:t>slowest route through the block</a:t>
            </a:r>
          </a:p>
        </p:txBody>
      </p:sp>
      <p:sp>
        <p:nvSpPr>
          <p:cNvPr id="13" name="Rounded Rectangle 12"/>
          <p:cNvSpPr/>
          <p:nvPr/>
        </p:nvSpPr>
        <p:spPr>
          <a:xfrm>
            <a:off x="4221480" y="4617720"/>
            <a:ext cx="3627120" cy="160020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58640" y="468172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Why fan-out costs time</a:t>
            </a:r>
          </a:p>
        </p:txBody>
      </p:sp>
      <p:sp>
        <p:nvSpPr>
          <p:cNvPr id="15" name="TextBox 14"/>
          <p:cNvSpPr txBox="1"/>
          <p:nvPr/>
        </p:nvSpPr>
        <p:spPr>
          <a:xfrm>
            <a:off x="4358640" y="4956048"/>
            <a:ext cx="3352800" cy="119786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Each load adds gate capacitance. Charging more capacitance through the same driver resistance takes longer — delay rises roughly linearly with load.</a:t>
            </a:r>
          </a:p>
          <a:p>
            <a:pPr algn="l">
              <a:lnSpc>
                <a:spcPct val="103000"/>
              </a:lnSpc>
              <a:spcAft>
                <a:spcPts val="400"/>
              </a:spcAft>
            </a:pPr>
            <a:r>
              <a:rPr sz="1050" b="1" i="0">
                <a:solidFill>
                  <a:srgbClr val="2A9D5C"/>
                </a:solidFill>
                <a:latin typeface="Calibri"/>
              </a:rPr>
              <a:t>Fix: insert buffers, or size the driver up.</a:t>
            </a:r>
          </a:p>
        </p:txBody>
      </p:sp>
      <p:sp>
        <p:nvSpPr>
          <p:cNvPr id="16" name="Rounded Rectangle 15"/>
          <p:cNvSpPr/>
          <p:nvPr/>
        </p:nvSpPr>
        <p:spPr>
          <a:xfrm>
            <a:off x="8031480" y="4617720"/>
            <a:ext cx="3627120" cy="160020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68640" y="468172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Why fan-in costs time</a:t>
            </a:r>
          </a:p>
        </p:txBody>
      </p:sp>
      <p:sp>
        <p:nvSpPr>
          <p:cNvPr id="18" name="TextBox 17"/>
          <p:cNvSpPr txBox="1"/>
          <p:nvPr/>
        </p:nvSpPr>
        <p:spPr>
          <a:xfrm>
            <a:off x="8168640" y="4956048"/>
            <a:ext cx="3352800" cy="119786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 CMOS gate stacks transistors in series per input, so a 6-input NAND is far slower than a tree of 2-input NANDs.</a:t>
            </a:r>
          </a:p>
          <a:p>
            <a:pPr algn="l">
              <a:lnSpc>
                <a:spcPct val="103000"/>
              </a:lnSpc>
              <a:spcAft>
                <a:spcPts val="400"/>
              </a:spcAft>
            </a:pPr>
            <a:r>
              <a:rPr sz="1050" b="1" i="0">
                <a:solidFill>
                  <a:srgbClr val="2A9D5C"/>
                </a:solidFill>
                <a:latin typeface="Calibri"/>
              </a:rPr>
              <a:t>Fix: let synthesis restructure — or write balanced expressions yourself.</a:t>
            </a:r>
          </a:p>
        </p:txBody>
      </p:sp>
      <p:sp>
        <p:nvSpPr>
          <p:cNvPr id="19" name="TextBox 18"/>
          <p:cNvSpPr txBox="1"/>
          <p:nvPr/>
        </p:nvSpPr>
        <p:spPr>
          <a:xfrm>
            <a:off x="411480" y="6309360"/>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Static timing analysis (STA), covered in Topic 6, is nothing more than this arithmetic done automatically over every path in the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3B · IN VERILOG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Writing Combinational Logic — and the Inferred-Latch Trap</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33</a:t>
            </a:r>
          </a:p>
        </p:txBody>
      </p:sp>
      <p:sp>
        <p:nvSpPr>
          <p:cNvPr id="9" name="TextBox 8"/>
          <p:cNvSpPr txBox="1"/>
          <p:nvPr/>
        </p:nvSpPr>
        <p:spPr>
          <a:xfrm>
            <a:off x="411480" y="1143000"/>
            <a:ext cx="11247120" cy="3657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Three ways to write pure combinational logic, and one way to get it catastrophically wrong.</a:t>
            </a:r>
          </a:p>
        </p:txBody>
      </p:sp>
      <p:sp>
        <p:nvSpPr>
          <p:cNvPr id="10" name="Rounded Rectangle 9"/>
          <p:cNvSpPr/>
          <p:nvPr/>
        </p:nvSpPr>
        <p:spPr>
          <a:xfrm>
            <a:off x="411480" y="1600200"/>
            <a:ext cx="11247120" cy="3250885"/>
          </a:xfrm>
          <a:prstGeom prst="roundRect">
            <a:avLst>
              <a:gd name="adj" fmla="val 3000"/>
            </a:avLst>
          </a:prstGeom>
          <a:solidFill>
            <a:srgbClr val="112233"/>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7145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Combinational always blocks: blocking assignments, complete assignment</a:t>
            </a:r>
          </a:p>
        </p:txBody>
      </p:sp>
      <p:sp>
        <p:nvSpPr>
          <p:cNvPr id="12" name="TextBox 11"/>
          <p:cNvSpPr txBox="1"/>
          <p:nvPr/>
        </p:nvSpPr>
        <p:spPr>
          <a:xfrm>
            <a:off x="594360" y="1988820"/>
            <a:ext cx="10881360" cy="2747965"/>
          </a:xfrm>
          <a:prstGeom prst="rect">
            <a:avLst/>
          </a:prstGeom>
          <a:noFill/>
        </p:spPr>
        <p:txBody>
          <a:bodyPr wrap="square" lIns="0" rIns="0" tIns="0" bIns="0" anchor="t">
            <a:spAutoFit/>
          </a:bodyPr>
          <a:lstStyle/>
          <a:p>
            <a:pPr algn="l">
              <a:lnSpc>
                <a:spcPct val="112000"/>
              </a:lnSpc>
            </a:pPr>
            <a:r>
              <a:rPr sz="860" b="0" i="0">
                <a:solidFill>
                  <a:srgbClr val="D8E4F0"/>
                </a:solidFill>
                <a:latin typeface="Consolas"/>
              </a:rPr>
              <a:t>// 1. Continuous assignment - always safe, always combinational</a:t>
            </a:r>
          </a:p>
          <a:p>
            <a:pPr algn="l">
              <a:lnSpc>
                <a:spcPct val="112000"/>
              </a:lnSpc>
            </a:pPr>
            <a:r>
              <a:rPr sz="860" b="0" i="0">
                <a:solidFill>
                  <a:srgbClr val="D8E4F0"/>
                </a:solidFill>
                <a:latin typeface="Consolas"/>
              </a:rPr>
              <a:t>assign y = (a &amp; b) | (~a &amp; c);</a:t>
            </a:r>
          </a:p>
          <a:p>
            <a:pPr algn="l">
              <a:lnSpc>
                <a:spcPct val="112000"/>
              </a:lnSpc>
            </a:pPr>
            <a:r>
              <a:rPr sz="860" b="0" i="0">
                <a:solidFill>
                  <a:srgbClr val="D8E4F0"/>
                </a:solidFill>
                <a:latin typeface="Consolas"/>
              </a:rPr>
              <a:t> </a:t>
            </a:r>
          </a:p>
          <a:p>
            <a:pPr algn="l">
              <a:lnSpc>
                <a:spcPct val="112000"/>
              </a:lnSpc>
            </a:pPr>
            <a:r>
              <a:rPr sz="860" b="0" i="0">
                <a:solidFill>
                  <a:srgbClr val="D8E4F0"/>
                </a:solidFill>
                <a:latin typeface="Consolas"/>
              </a:rPr>
              <a:t>// 2. always @(*) with BLOCKING assignments (=) and a DEFAULT</a:t>
            </a:r>
          </a:p>
          <a:p>
            <a:pPr algn="l">
              <a:lnSpc>
                <a:spcPct val="112000"/>
              </a:lnSpc>
            </a:pPr>
            <a:r>
              <a:rPr sz="860" b="0" i="0">
                <a:solidFill>
                  <a:srgbClr val="D8E4F0"/>
                </a:solidFill>
                <a:latin typeface="Consolas"/>
              </a:rPr>
              <a:t>always @(*) begin</a:t>
            </a:r>
          </a:p>
          <a:p>
            <a:pPr algn="l">
              <a:lnSpc>
                <a:spcPct val="112000"/>
              </a:lnSpc>
            </a:pPr>
            <a:r>
              <a:rPr sz="860" b="0" i="0">
                <a:solidFill>
                  <a:srgbClr val="D8E4F0"/>
                </a:solidFill>
                <a:latin typeface="Consolas"/>
              </a:rPr>
              <a:t>    y = 1'b0;                 // &lt;-- default first: kills every latch</a:t>
            </a:r>
          </a:p>
          <a:p>
            <a:pPr algn="l">
              <a:lnSpc>
                <a:spcPct val="112000"/>
              </a:lnSpc>
            </a:pPr>
            <a:r>
              <a:rPr sz="860" b="0" i="0">
                <a:solidFill>
                  <a:srgbClr val="D8E4F0"/>
                </a:solidFill>
                <a:latin typeface="Consolas"/>
              </a:rPr>
              <a:t>    case (sel)</a:t>
            </a:r>
          </a:p>
          <a:p>
            <a:pPr algn="l">
              <a:lnSpc>
                <a:spcPct val="112000"/>
              </a:lnSpc>
            </a:pPr>
            <a:r>
              <a:rPr sz="860" b="0" i="0">
                <a:solidFill>
                  <a:srgbClr val="D8E4F0"/>
                </a:solidFill>
                <a:latin typeface="Consolas"/>
              </a:rPr>
              <a:t>        2'b00: y = i0;</a:t>
            </a:r>
          </a:p>
          <a:p>
            <a:pPr algn="l">
              <a:lnSpc>
                <a:spcPct val="112000"/>
              </a:lnSpc>
            </a:pPr>
            <a:r>
              <a:rPr sz="860" b="0" i="0">
                <a:solidFill>
                  <a:srgbClr val="D8E4F0"/>
                </a:solidFill>
                <a:latin typeface="Consolas"/>
              </a:rPr>
              <a:t>        2'b01: y = i1;</a:t>
            </a:r>
          </a:p>
          <a:p>
            <a:pPr algn="l">
              <a:lnSpc>
                <a:spcPct val="112000"/>
              </a:lnSpc>
            </a:pPr>
            <a:r>
              <a:rPr sz="860" b="0" i="0">
                <a:solidFill>
                  <a:srgbClr val="D8E4F0"/>
                </a:solidFill>
                <a:latin typeface="Consolas"/>
              </a:rPr>
              <a:t>        default: y = 1'b0;</a:t>
            </a:r>
          </a:p>
          <a:p>
            <a:pPr algn="l">
              <a:lnSpc>
                <a:spcPct val="112000"/>
              </a:lnSpc>
            </a:pPr>
            <a:r>
              <a:rPr sz="860" b="0" i="0">
                <a:solidFill>
                  <a:srgbClr val="D8E4F0"/>
                </a:solidFill>
                <a:latin typeface="Consolas"/>
              </a:rPr>
              <a:t>    endcase</a:t>
            </a:r>
          </a:p>
          <a:p>
            <a:pPr algn="l">
              <a:lnSpc>
                <a:spcPct val="112000"/>
              </a:lnSpc>
            </a:pPr>
            <a:r>
              <a:rPr sz="860" b="0" i="0">
                <a:solidFill>
                  <a:srgbClr val="D8E4F0"/>
                </a:solidFill>
                <a:latin typeface="Consolas"/>
              </a:rPr>
              <a:t>end</a:t>
            </a:r>
          </a:p>
          <a:p>
            <a:pPr algn="l">
              <a:lnSpc>
                <a:spcPct val="112000"/>
              </a:lnSpc>
            </a:pPr>
            <a:r>
              <a:rPr sz="860" b="0" i="0">
                <a:solidFill>
                  <a:srgbClr val="D8E4F0"/>
                </a:solidFill>
                <a:latin typeface="Consolas"/>
              </a:rPr>
              <a:t> </a:t>
            </a:r>
          </a:p>
          <a:p>
            <a:pPr algn="l">
              <a:lnSpc>
                <a:spcPct val="112000"/>
              </a:lnSpc>
            </a:pPr>
            <a:r>
              <a:rPr sz="860" b="0" i="0">
                <a:solidFill>
                  <a:srgbClr val="D8E4F0"/>
                </a:solidFill>
                <a:latin typeface="Consolas"/>
              </a:rPr>
              <a:t>// 3. WRONG - incomplete assignment infers a transparent LATCH</a:t>
            </a:r>
          </a:p>
          <a:p>
            <a:pPr algn="l">
              <a:lnSpc>
                <a:spcPct val="112000"/>
              </a:lnSpc>
            </a:pPr>
            <a:r>
              <a:rPr sz="860" b="0" i="0">
                <a:solidFill>
                  <a:srgbClr val="D8E4F0"/>
                </a:solidFill>
                <a:latin typeface="Consolas"/>
              </a:rPr>
              <a:t>always @(*) begin</a:t>
            </a:r>
          </a:p>
          <a:p>
            <a:pPr algn="l">
              <a:lnSpc>
                <a:spcPct val="112000"/>
              </a:lnSpc>
            </a:pPr>
            <a:r>
              <a:rPr sz="860" b="0" i="0">
                <a:solidFill>
                  <a:srgbClr val="D8E4F0"/>
                </a:solidFill>
                <a:latin typeface="Consolas"/>
              </a:rPr>
              <a:t>    if (enable) y = d;        // no else -&gt; 'hold y' -&gt; latch</a:t>
            </a:r>
          </a:p>
          <a:p>
            <a:pPr algn="l">
              <a:lnSpc>
                <a:spcPct val="112000"/>
              </a:lnSpc>
            </a:pPr>
            <a:r>
              <a:rPr sz="860" b="0" i="0">
                <a:solidFill>
                  <a:srgbClr val="D8E4F0"/>
                </a:solidFill>
                <a:latin typeface="Consolas"/>
              </a:rPr>
              <a:t>end</a:t>
            </a:r>
          </a:p>
        </p:txBody>
      </p:sp>
      <p:sp>
        <p:nvSpPr>
          <p:cNvPr id="13" name="Rounded Rectangle 12"/>
          <p:cNvSpPr/>
          <p:nvPr/>
        </p:nvSpPr>
        <p:spPr>
          <a:xfrm>
            <a:off x="411480" y="4942525"/>
            <a:ext cx="5532120" cy="12801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5006533"/>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three rules</a:t>
            </a:r>
          </a:p>
        </p:txBody>
      </p:sp>
      <p:sp>
        <p:nvSpPr>
          <p:cNvPr id="15" name="TextBox 14"/>
          <p:cNvSpPr txBox="1"/>
          <p:nvPr/>
        </p:nvSpPr>
        <p:spPr>
          <a:xfrm>
            <a:off x="548640" y="5280853"/>
            <a:ext cx="5257800" cy="8778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1. Use  =  (blocking) in combinational blocks, never  &lt;=.</a:t>
            </a:r>
          </a:p>
          <a:p>
            <a:pPr algn="l">
              <a:lnSpc>
                <a:spcPct val="103000"/>
              </a:lnSpc>
              <a:spcAft>
                <a:spcPts val="400"/>
              </a:spcAft>
            </a:pPr>
            <a:r>
              <a:rPr sz="1050" b="0" i="0">
                <a:solidFill>
                  <a:srgbClr val="33414F"/>
                </a:solidFill>
                <a:latin typeface="Calibri"/>
              </a:rPr>
              <a:t>2. Assign every output on every path — a default at the top is the easiest way.</a:t>
            </a:r>
          </a:p>
          <a:p>
            <a:pPr algn="l">
              <a:lnSpc>
                <a:spcPct val="103000"/>
              </a:lnSpc>
              <a:spcAft>
                <a:spcPts val="400"/>
              </a:spcAft>
            </a:pPr>
            <a:r>
              <a:rPr sz="1050" b="0" i="0">
                <a:solidFill>
                  <a:srgbClr val="33414F"/>
                </a:solidFill>
                <a:latin typeface="Calibri"/>
              </a:rPr>
              <a:t>3. Use  always @(*)  never a hand-written sensitivity list.</a:t>
            </a:r>
          </a:p>
        </p:txBody>
      </p:sp>
      <p:sp>
        <p:nvSpPr>
          <p:cNvPr id="16" name="Rounded Rectangle 15"/>
          <p:cNvSpPr/>
          <p:nvPr/>
        </p:nvSpPr>
        <p:spPr>
          <a:xfrm>
            <a:off x="6126480" y="4942525"/>
            <a:ext cx="5532120" cy="12801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5006533"/>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How to catch it</a:t>
            </a:r>
          </a:p>
        </p:txBody>
      </p:sp>
      <p:sp>
        <p:nvSpPr>
          <p:cNvPr id="18" name="TextBox 17"/>
          <p:cNvSpPr txBox="1"/>
          <p:nvPr/>
        </p:nvSpPr>
        <p:spPr>
          <a:xfrm>
            <a:off x="6263640" y="5280853"/>
            <a:ext cx="5257800" cy="8778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onsolas"/>
              </a:rPr>
              <a:t>Yosys prints:  $_DLATCH_  cells in the statistics.</a:t>
            </a:r>
          </a:p>
          <a:p>
            <a:pPr algn="l">
              <a:lnSpc>
                <a:spcPct val="103000"/>
              </a:lnSpc>
              <a:spcAft>
                <a:spcPts val="400"/>
              </a:spcAft>
            </a:pPr>
            <a:r>
              <a:rPr sz="1050" b="0" i="0">
                <a:solidFill>
                  <a:srgbClr val="33414F"/>
                </a:solidFill>
                <a:latin typeface="Calibri"/>
              </a:rPr>
              <a:t>Commercial tools warn 'inferred latch for signal y'.</a:t>
            </a:r>
          </a:p>
          <a:p>
            <a:pPr algn="l">
              <a:lnSpc>
                <a:spcPct val="103000"/>
              </a:lnSpc>
              <a:spcAft>
                <a:spcPts val="400"/>
              </a:spcAft>
            </a:pPr>
            <a:r>
              <a:rPr sz="1050" b="1" i="0">
                <a:solidFill>
                  <a:srgbClr val="C01F43"/>
                </a:solidFill>
                <a:latin typeface="Calibri"/>
              </a:rPr>
              <a:t>Treat every such warning as an ERROR. There is no case in this course where you want an unintended latch.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C77514"/>
                </a:solidFill>
                <a:latin typeface="Calibri"/>
              </a:rPr>
              <a:t>SUBTOPIC 3C</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Sequential Logic, Flip-Flops, Registers and State Machines</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Circuits that remember — where time, the clock and state enter the design.</a:t>
            </a:r>
          </a:p>
        </p:txBody>
      </p:sp>
      <p:sp>
        <p:nvSpPr>
          <p:cNvPr id="6" name="Rectangle 5"/>
          <p:cNvSpPr/>
          <p:nvPr/>
        </p:nvSpPr>
        <p:spPr>
          <a:xfrm>
            <a:off x="640080" y="3941064"/>
            <a:ext cx="91440" cy="182880"/>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clock, latches, flip-flops and how edge-triggering is actually built</a:t>
            </a:r>
          </a:p>
        </p:txBody>
      </p:sp>
      <p:sp>
        <p:nvSpPr>
          <p:cNvPr id="8" name="Rectangle 7"/>
          <p:cNvSpPr/>
          <p:nvPr/>
        </p:nvSpPr>
        <p:spPr>
          <a:xfrm>
            <a:off x="640080" y="4352544"/>
            <a:ext cx="91440" cy="182880"/>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Setup, hold, clock-to-Q, metastability, skew and the fₘₐₓ calculation</a:t>
            </a:r>
          </a:p>
        </p:txBody>
      </p:sp>
      <p:sp>
        <p:nvSpPr>
          <p:cNvPr id="10" name="Rectangle 9"/>
          <p:cNvSpPr/>
          <p:nvPr/>
        </p:nvSpPr>
        <p:spPr>
          <a:xfrm>
            <a:off x="640080" y="4764024"/>
            <a:ext cx="91440" cy="182880"/>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Registers, shift registers and counters</a:t>
            </a:r>
          </a:p>
        </p:txBody>
      </p:sp>
      <p:sp>
        <p:nvSpPr>
          <p:cNvPr id="12" name="Rectangle 11"/>
          <p:cNvSpPr/>
          <p:nvPr/>
        </p:nvSpPr>
        <p:spPr>
          <a:xfrm>
            <a:off x="640080" y="5175504"/>
            <a:ext cx="91440" cy="182880"/>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Finite state machines: Moore, Mealy, encoding, and the Verilog template</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Module 2 · Verilog RTL Coding for Synthesis</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NIE/ELE/N0102 · Topic 3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77514"/>
                </a:solidFill>
                <a:latin typeface="Calibri"/>
              </a:rPr>
              <a:t>TOPIC 3C · THE CLOCK</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Clock — One Heartbeat for the Whole Design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35</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Synchronous design means every storage element in a block changes at the same instant, on the same edge of one clock. </a:t>
            </a:r>
            <a:r>
              <a:rPr sz="1100" b="0" i="0">
                <a:solidFill>
                  <a:srgbClr val="33414F"/>
                </a:solidFill>
                <a:latin typeface="Calibri"/>
              </a:rPr>
              <a:t>That single convention is what makes a billion-transistor chip analysable at all: it reduces 'does this circuit work?' to a set of arithmetic checks on one clock period.</a:t>
            </a:r>
          </a:p>
        </p:txBody>
      </p:sp>
      <p:pic>
        <p:nvPicPr>
          <p:cNvPr id="10" name="Picture 9" descr="clock_anatomy.png"/>
          <p:cNvPicPr>
            <a:picLocks noChangeAspect="1"/>
          </p:cNvPicPr>
          <p:nvPr/>
        </p:nvPicPr>
        <p:blipFill>
          <a:blip r:embed="rId2"/>
          <a:stretch>
            <a:fillRect/>
          </a:stretch>
        </p:blipFill>
        <p:spPr>
          <a:xfrm>
            <a:off x="1945580" y="1737360"/>
            <a:ext cx="8178920" cy="3383280"/>
          </a:xfrm>
          <a:prstGeom prst="rect">
            <a:avLst/>
          </a:prstGeom>
        </p:spPr>
      </p:pic>
      <p:sp>
        <p:nvSpPr>
          <p:cNvPr id="11" name="Rounded Rectangle 10"/>
          <p:cNvSpPr/>
          <p:nvPr/>
        </p:nvSpPr>
        <p:spPr>
          <a:xfrm>
            <a:off x="411480" y="5212080"/>
            <a:ext cx="5532120" cy="10972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27608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Worked conversions</a:t>
            </a:r>
          </a:p>
        </p:txBody>
      </p:sp>
      <p:sp>
        <p:nvSpPr>
          <p:cNvPr id="13" name="TextBox 12"/>
          <p:cNvSpPr txBox="1"/>
          <p:nvPr/>
        </p:nvSpPr>
        <p:spPr>
          <a:xfrm>
            <a:off x="548640" y="5550408"/>
            <a:ext cx="5257800" cy="6949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T = 10 ns → f = 100 MHz.   T = 2 ns → f = 500 MHz.   T = 400 ps → f = 2.5 GHz.</a:t>
            </a:r>
          </a:p>
          <a:p>
            <a:pPr algn="l">
              <a:lnSpc>
                <a:spcPct val="103000"/>
              </a:lnSpc>
              <a:spcAft>
                <a:spcPts val="400"/>
              </a:spcAft>
            </a:pPr>
            <a:r>
              <a:rPr sz="1050" b="0" i="0">
                <a:solidFill>
                  <a:srgbClr val="33414F"/>
                </a:solidFill>
                <a:latin typeface="Calibri"/>
              </a:rPr>
              <a:t>f = 3.2 GHz → T = 312.5 ps.</a:t>
            </a:r>
          </a:p>
        </p:txBody>
      </p:sp>
      <p:sp>
        <p:nvSpPr>
          <p:cNvPr id="14" name="Rounded Rectangle 13"/>
          <p:cNvSpPr/>
          <p:nvPr/>
        </p:nvSpPr>
        <p:spPr>
          <a:xfrm>
            <a:off x="6126480" y="5212080"/>
            <a:ext cx="5532120" cy="10972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27608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Two rules that are never broken in RTL</a:t>
            </a:r>
          </a:p>
        </p:txBody>
      </p:sp>
      <p:sp>
        <p:nvSpPr>
          <p:cNvPr id="16" name="TextBox 15"/>
          <p:cNvSpPr txBox="1"/>
          <p:nvPr/>
        </p:nvSpPr>
        <p:spPr>
          <a:xfrm>
            <a:off x="6263640" y="5550408"/>
            <a:ext cx="5257800" cy="694944"/>
          </a:xfrm>
          <a:prstGeom prst="rect">
            <a:avLst/>
          </a:prstGeom>
          <a:noFill/>
        </p:spPr>
        <p:txBody>
          <a:bodyPr wrap="square" lIns="0" rIns="0" tIns="0" bIns="0" anchor="t">
            <a:spAutoFit/>
          </a:bodyPr>
          <a:lstStyle/>
          <a:p>
            <a:pPr algn="l">
              <a:lnSpc>
                <a:spcPct val="103000"/>
              </a:lnSpc>
              <a:spcAft>
                <a:spcPts val="400"/>
              </a:spcAft>
            </a:pPr>
            <a:r>
              <a:rPr sz="1050" b="1" i="0">
                <a:solidFill>
                  <a:srgbClr val="C01F43"/>
                </a:solidFill>
                <a:latin typeface="Calibri"/>
              </a:rPr>
              <a:t>1. Never generate a clock in combinational logic — use a clock enable instead.</a:t>
            </a:r>
          </a:p>
          <a:p>
            <a:pPr algn="l">
              <a:lnSpc>
                <a:spcPct val="103000"/>
              </a:lnSpc>
              <a:spcAft>
                <a:spcPts val="400"/>
              </a:spcAft>
            </a:pPr>
            <a:r>
              <a:rPr sz="1050" b="1" i="0">
                <a:solidFill>
                  <a:srgbClr val="C01F43"/>
                </a:solidFill>
                <a:latin typeface="Calibri"/>
              </a:rPr>
              <a:t>2. Never mix posedge and negedge of the same clock in one design without a very good, documented reason.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77514"/>
                </a:solidFill>
                <a:latin typeface="Calibri"/>
              </a:rPr>
              <a:t>TOPIC 3C · THE FIRST MEMORY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SR Latch — Cross-Coupling Creates Memory</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36</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Take two NOR gates and feed each one's output back into the other. </a:t>
            </a:r>
            <a:r>
              <a:rPr sz="1100" b="0" i="0">
                <a:solidFill>
                  <a:srgbClr val="33414F"/>
                </a:solidFill>
                <a:latin typeface="Calibri"/>
              </a:rPr>
              <a:t>The circuit now has two stable configurations and will sit in whichever one you last pushed it into. That is memory — and it is the ancestor of every flip-flop, register and SRAM cell on the chip.</a:t>
            </a:r>
          </a:p>
        </p:txBody>
      </p:sp>
      <p:pic>
        <p:nvPicPr>
          <p:cNvPr id="10" name="Picture 9" descr="sr_latch.png"/>
          <p:cNvPicPr>
            <a:picLocks noChangeAspect="1"/>
          </p:cNvPicPr>
          <p:nvPr/>
        </p:nvPicPr>
        <p:blipFill>
          <a:blip r:embed="rId2"/>
          <a:stretch>
            <a:fillRect/>
          </a:stretch>
        </p:blipFill>
        <p:spPr>
          <a:xfrm>
            <a:off x="1795600" y="1737360"/>
            <a:ext cx="8478880" cy="3383280"/>
          </a:xfrm>
          <a:prstGeom prst="rect">
            <a:avLst/>
          </a:prstGeom>
        </p:spPr>
      </p:pic>
      <p:sp>
        <p:nvSpPr>
          <p:cNvPr id="11" name="Rounded Rectangle 10"/>
          <p:cNvSpPr/>
          <p:nvPr/>
        </p:nvSpPr>
        <p:spPr>
          <a:xfrm>
            <a:off x="411480" y="5212080"/>
            <a:ext cx="11247120" cy="8229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27608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Where you actually meet an SR latch</a:t>
            </a:r>
          </a:p>
        </p:txBody>
      </p:sp>
      <p:sp>
        <p:nvSpPr>
          <p:cNvPr id="13" name="TextBox 12"/>
          <p:cNvSpPr txBox="1"/>
          <p:nvPr/>
        </p:nvSpPr>
        <p:spPr>
          <a:xfrm>
            <a:off x="576072" y="555040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Rarely by choice in RTL — but it is the internal structure of every D latch, and a NAND version (active-low S̄R̄) is the standard hardware de-bouncer for a mechanical switch. It is also what an accidental combinational feedback loop in your Verilog turns into, which is why simulators warn about them.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3C · THE KEY DISTINCTION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Latch vs Flip-Flop — The Difference That Matters Most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37</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latch is LEVEL-sensitive: it is transparent for as long as its enable is high. A flip-flop is EDGE-triggered: it samples once, at one instant. </a:t>
            </a:r>
            <a:r>
              <a:rPr sz="1100" b="0" i="0">
                <a:solidFill>
                  <a:srgbClr val="33414F"/>
                </a:solidFill>
                <a:latin typeface="Calibri"/>
              </a:rPr>
              <a:t>Everything about timing analysis assumes flip-flops. Get this wrong and nothing downstream works.</a:t>
            </a:r>
          </a:p>
        </p:txBody>
      </p:sp>
      <p:pic>
        <p:nvPicPr>
          <p:cNvPr id="10" name="Picture 9" descr="latch_vs_ff.png"/>
          <p:cNvPicPr>
            <a:picLocks noChangeAspect="1"/>
          </p:cNvPicPr>
          <p:nvPr/>
        </p:nvPicPr>
        <p:blipFill>
          <a:blip r:embed="rId2"/>
          <a:stretch>
            <a:fillRect/>
          </a:stretch>
        </p:blipFill>
        <p:spPr>
          <a:xfrm>
            <a:off x="838216" y="1783080"/>
            <a:ext cx="10393648" cy="3200400"/>
          </a:xfrm>
          <a:prstGeom prst="rect">
            <a:avLst/>
          </a:prstGeom>
        </p:spPr>
      </p:pic>
      <p:sp>
        <p:nvSpPr>
          <p:cNvPr id="11" name="Rounded Rectangle 10"/>
          <p:cNvSpPr/>
          <p:nvPr/>
        </p:nvSpPr>
        <p:spPr>
          <a:xfrm>
            <a:off x="411480" y="5074920"/>
            <a:ext cx="5532120" cy="11887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13892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Latch</a:t>
            </a:r>
          </a:p>
        </p:txBody>
      </p:sp>
      <p:sp>
        <p:nvSpPr>
          <p:cNvPr id="13" name="TextBox 12"/>
          <p:cNvSpPr txBox="1"/>
          <p:nvPr/>
        </p:nvSpPr>
        <p:spPr>
          <a:xfrm>
            <a:off x="548640" y="5413248"/>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Transparent while EN = 1</a:t>
            </a:r>
          </a:p>
          <a:p>
            <a:pPr algn="l">
              <a:lnSpc>
                <a:spcPct val="103000"/>
              </a:lnSpc>
              <a:spcAft>
                <a:spcPts val="400"/>
              </a:spcAft>
            </a:pPr>
            <a:r>
              <a:rPr sz="1050" b="0" i="0">
                <a:solidFill>
                  <a:srgbClr val="33414F"/>
                </a:solidFill>
                <a:latin typeface="Calibri"/>
              </a:rPr>
              <a:t>Output may change many times per cycle</a:t>
            </a:r>
          </a:p>
          <a:p>
            <a:pPr algn="l">
              <a:lnSpc>
                <a:spcPct val="103000"/>
              </a:lnSpc>
              <a:spcAft>
                <a:spcPts val="400"/>
              </a:spcAft>
            </a:pPr>
            <a:r>
              <a:rPr sz="1050" b="0" i="0">
                <a:solidFill>
                  <a:srgbClr val="33414F"/>
                </a:solidFill>
                <a:latin typeface="Calibri"/>
              </a:rPr>
              <a:t>Smaller and lower power</a:t>
            </a:r>
          </a:p>
          <a:p>
            <a:pPr algn="l">
              <a:lnSpc>
                <a:spcPct val="103000"/>
              </a:lnSpc>
              <a:spcAft>
                <a:spcPts val="400"/>
              </a:spcAft>
            </a:pPr>
            <a:r>
              <a:rPr sz="1050" b="1" i="0">
                <a:solidFill>
                  <a:srgbClr val="C01F43"/>
                </a:solidFill>
                <a:latin typeface="Calibri"/>
              </a:rPr>
              <a:t>Hard to time; usually unintended</a:t>
            </a:r>
          </a:p>
        </p:txBody>
      </p:sp>
      <p:sp>
        <p:nvSpPr>
          <p:cNvPr id="14" name="Rounded Rectangle 13"/>
          <p:cNvSpPr/>
          <p:nvPr/>
        </p:nvSpPr>
        <p:spPr>
          <a:xfrm>
            <a:off x="6126480" y="5074920"/>
            <a:ext cx="5532120" cy="11887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13892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Flip-flop</a:t>
            </a:r>
          </a:p>
        </p:txBody>
      </p:sp>
      <p:sp>
        <p:nvSpPr>
          <p:cNvPr id="16" name="TextBox 15"/>
          <p:cNvSpPr txBox="1"/>
          <p:nvPr/>
        </p:nvSpPr>
        <p:spPr>
          <a:xfrm>
            <a:off x="6263640" y="5413248"/>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Samples only on the clock edge</a:t>
            </a:r>
          </a:p>
          <a:p>
            <a:pPr algn="l">
              <a:lnSpc>
                <a:spcPct val="103000"/>
              </a:lnSpc>
              <a:spcAft>
                <a:spcPts val="400"/>
              </a:spcAft>
            </a:pPr>
            <a:r>
              <a:rPr sz="1050" b="0" i="0">
                <a:solidFill>
                  <a:srgbClr val="33414F"/>
                </a:solidFill>
                <a:latin typeface="Calibri"/>
              </a:rPr>
              <a:t>Exactly one change per cycle</a:t>
            </a:r>
          </a:p>
          <a:p>
            <a:pPr algn="l">
              <a:lnSpc>
                <a:spcPct val="103000"/>
              </a:lnSpc>
              <a:spcAft>
                <a:spcPts val="400"/>
              </a:spcAft>
            </a:pPr>
            <a:r>
              <a:rPr sz="1050" b="0" i="0">
                <a:solidFill>
                  <a:srgbClr val="33414F"/>
                </a:solidFill>
                <a:latin typeface="Calibri"/>
              </a:rPr>
              <a:t>About twice the area of a latch</a:t>
            </a:r>
          </a:p>
          <a:p>
            <a:pPr algn="l">
              <a:lnSpc>
                <a:spcPct val="103000"/>
              </a:lnSpc>
              <a:spcAft>
                <a:spcPts val="400"/>
              </a:spcAft>
            </a:pPr>
            <a:r>
              <a:rPr sz="1050" b="1" i="0">
                <a:solidFill>
                  <a:srgbClr val="2A9D5C"/>
                </a:solidFill>
                <a:latin typeface="Calibri"/>
              </a:rPr>
              <a:t>The only element you should infer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77514"/>
                </a:solidFill>
                <a:latin typeface="Calibri"/>
              </a:rPr>
              <a:t>TOPIC 3C · CONSTRUCTION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How Edge-Triggering Is Built — The Master–Slave Pair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38</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flip-flop is two latches in series driven by opposite clock phases. </a:t>
            </a:r>
            <a:r>
              <a:rPr sz="1100" b="0" i="0">
                <a:solidFill>
                  <a:srgbClr val="33414F"/>
                </a:solidFill>
                <a:latin typeface="Calibri"/>
              </a:rPr>
              <a:t>Because they are never transparent at the same time, data cannot race through both in one clock phase — and that, precisely, is edge-triggering.</a:t>
            </a:r>
          </a:p>
        </p:txBody>
      </p:sp>
      <p:pic>
        <p:nvPicPr>
          <p:cNvPr id="10" name="Picture 9" descr="master_slave.png"/>
          <p:cNvPicPr>
            <a:picLocks noChangeAspect="1"/>
          </p:cNvPicPr>
          <p:nvPr/>
        </p:nvPicPr>
        <p:blipFill>
          <a:blip r:embed="rId2"/>
          <a:stretch>
            <a:fillRect/>
          </a:stretch>
        </p:blipFill>
        <p:spPr>
          <a:xfrm>
            <a:off x="850455" y="1691640"/>
            <a:ext cx="10369170" cy="3383280"/>
          </a:xfrm>
          <a:prstGeom prst="rect">
            <a:avLst/>
          </a:prstGeom>
        </p:spPr>
      </p:pic>
      <p:sp>
        <p:nvSpPr>
          <p:cNvPr id="11" name="Rounded Rectangle 10"/>
          <p:cNvSpPr/>
          <p:nvPr/>
        </p:nvSpPr>
        <p:spPr>
          <a:xfrm>
            <a:off x="411480" y="5166360"/>
            <a:ext cx="11247120" cy="8229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23036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Why this matters to you as an RTL designer</a:t>
            </a:r>
          </a:p>
        </p:txBody>
      </p:sp>
      <p:sp>
        <p:nvSpPr>
          <p:cNvPr id="13" name="TextBox 12"/>
          <p:cNvSpPr txBox="1"/>
          <p:nvPr/>
        </p:nvSpPr>
        <p:spPr>
          <a:xfrm>
            <a:off x="576072" y="550468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It explains where t_setup, t_hold and t_cq physically come from: setup is the time the master latch needs to capture, hold is the time before the master closes, and t_cq is the delay through the slave. It also explains why a flip-flop is roughly twice the area of a latch — you are paying for two storage nodes.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3C · THE FAMILY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D, T, JK and SR Flip-Flops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39</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Four behaviours, one clocked structure. </a:t>
            </a:r>
            <a:r>
              <a:rPr sz="1100" b="0" i="0">
                <a:solidFill>
                  <a:srgbClr val="33414F"/>
                </a:solidFill>
                <a:latin typeface="Calibri"/>
              </a:rPr>
              <a:t>In modern design only the D flip-flop is ever instantiated — but you must be able to read and convert between all four, because textbooks, exams and legacy schematics use them all.</a:t>
            </a:r>
          </a:p>
        </p:txBody>
      </p:sp>
      <p:pic>
        <p:nvPicPr>
          <p:cNvPr id="10" name="Picture 9" descr="ff_family.png"/>
          <p:cNvPicPr>
            <a:picLocks noChangeAspect="1"/>
          </p:cNvPicPr>
          <p:nvPr/>
        </p:nvPicPr>
        <p:blipFill>
          <a:blip r:embed="rId2"/>
          <a:stretch>
            <a:fillRect/>
          </a:stretch>
        </p:blipFill>
        <p:spPr>
          <a:xfrm>
            <a:off x="2069709" y="1691640"/>
            <a:ext cx="7930662" cy="3520440"/>
          </a:xfrm>
          <a:prstGeom prst="rect">
            <a:avLst/>
          </a:prstGeom>
        </p:spPr>
      </p:pic>
      <p:sp>
        <p:nvSpPr>
          <p:cNvPr id="11" name="Rounded Rectangle 10"/>
          <p:cNvSpPr/>
          <p:nvPr/>
        </p:nvSpPr>
        <p:spPr>
          <a:xfrm>
            <a:off x="411480" y="5303520"/>
            <a:ext cx="11247120" cy="9601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36752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Why the D flip-flop won</a:t>
            </a:r>
          </a:p>
        </p:txBody>
      </p:sp>
      <p:sp>
        <p:nvSpPr>
          <p:cNvPr id="13" name="TextBox 12"/>
          <p:cNvSpPr txBox="1"/>
          <p:nvPr/>
        </p:nvSpPr>
        <p:spPr>
          <a:xfrm>
            <a:off x="576072" y="5641848"/>
            <a:ext cx="10917936" cy="5577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It has no forbidden state, no toggle surprise, and its next state is simply its input — which means synthesis can map any state equation directly onto it. Standard-cell libraries therefore contain dozens of D flip-flop variants (with/without reset, set, enable, scan) and no JK at all. </a:t>
            </a:r>
            <a:r>
              <a:rPr sz="1100" b="1" i="0">
                <a:solidFill>
                  <a:srgbClr val="0E2A47"/>
                </a:solidFill>
                <a:latin typeface="Calibri"/>
              </a:rPr>
              <a:t>If you need a T or JK, build it from a D plus a little logic.</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3C · TABLES YOU NEED</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Characteristic and Excitation Tables, and FF Conversion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40</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characteristic table answers 'given the inputs, what is the next state?'. An excitation table answers the reverse — 'to make this transition happen, what inputs do I need?'. </a:t>
            </a:r>
            <a:r>
              <a:rPr sz="1100" b="0" i="0">
                <a:solidFill>
                  <a:srgbClr val="33414F"/>
                </a:solidFill>
                <a:latin typeface="Calibri"/>
              </a:rPr>
              <a:t>You use the characteristic table to ANALYSE a circuit and the excitation table to DESIGN one.</a:t>
            </a:r>
          </a:p>
        </p:txBody>
      </p:sp>
      <p:sp>
        <p:nvSpPr>
          <p:cNvPr id="10" name="Rectangle 9"/>
          <p:cNvSpPr/>
          <p:nvPr/>
        </p:nvSpPr>
        <p:spPr>
          <a:xfrm>
            <a:off x="411480" y="1828800"/>
            <a:ext cx="2560320" cy="3657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828800"/>
            <a:ext cx="2468880" cy="3657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Q → Q_next</a:t>
            </a:r>
          </a:p>
        </p:txBody>
      </p:sp>
      <p:sp>
        <p:nvSpPr>
          <p:cNvPr id="12" name="Rectangle 11"/>
          <p:cNvSpPr/>
          <p:nvPr/>
        </p:nvSpPr>
        <p:spPr>
          <a:xfrm>
            <a:off x="2971800" y="1828800"/>
            <a:ext cx="1828800" cy="3657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017520" y="1828800"/>
            <a:ext cx="1737360" cy="3657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D</a:t>
            </a:r>
          </a:p>
        </p:txBody>
      </p:sp>
      <p:sp>
        <p:nvSpPr>
          <p:cNvPr id="14" name="Rectangle 13"/>
          <p:cNvSpPr/>
          <p:nvPr/>
        </p:nvSpPr>
        <p:spPr>
          <a:xfrm>
            <a:off x="4800600" y="1828800"/>
            <a:ext cx="1828800" cy="3657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846320" y="1828800"/>
            <a:ext cx="1737360" cy="3657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a:t>
            </a:r>
          </a:p>
        </p:txBody>
      </p:sp>
      <p:sp>
        <p:nvSpPr>
          <p:cNvPr id="16" name="Rectangle 15"/>
          <p:cNvSpPr/>
          <p:nvPr/>
        </p:nvSpPr>
        <p:spPr>
          <a:xfrm>
            <a:off x="6629400" y="1828800"/>
            <a:ext cx="2514600" cy="3657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675120" y="1828800"/>
            <a:ext cx="2423160" cy="3657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J   K</a:t>
            </a:r>
          </a:p>
        </p:txBody>
      </p:sp>
      <p:sp>
        <p:nvSpPr>
          <p:cNvPr id="18" name="Rectangle 17"/>
          <p:cNvSpPr/>
          <p:nvPr/>
        </p:nvSpPr>
        <p:spPr>
          <a:xfrm>
            <a:off x="9144000" y="1828800"/>
            <a:ext cx="2514600" cy="3657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89720" y="1828800"/>
            <a:ext cx="2423160" cy="3657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   R</a:t>
            </a:r>
          </a:p>
        </p:txBody>
      </p:sp>
      <p:sp>
        <p:nvSpPr>
          <p:cNvPr id="20" name="Rectangle 19"/>
          <p:cNvSpPr/>
          <p:nvPr/>
        </p:nvSpPr>
        <p:spPr>
          <a:xfrm>
            <a:off x="411480" y="2194560"/>
            <a:ext cx="256032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57200" y="2194560"/>
            <a:ext cx="2468880" cy="365760"/>
          </a:xfrm>
          <a:prstGeom prst="rect">
            <a:avLst/>
          </a:prstGeom>
          <a:noFill/>
        </p:spPr>
        <p:txBody>
          <a:bodyPr wrap="square" lIns="0" rIns="0" tIns="0" bIns="0" anchor="ctr">
            <a:spAutoFit/>
          </a:bodyPr>
          <a:lstStyle/>
          <a:p>
            <a:pPr algn="ctr">
              <a:lnSpc>
                <a:spcPct val="103000"/>
              </a:lnSpc>
            </a:pPr>
            <a:r>
              <a:rPr sz="1100" b="1" i="0">
                <a:solidFill>
                  <a:srgbClr val="1B9AAA"/>
                </a:solidFill>
                <a:latin typeface="Calibri"/>
              </a:rPr>
              <a:t>0  →  0</a:t>
            </a:r>
          </a:p>
        </p:txBody>
      </p:sp>
      <p:sp>
        <p:nvSpPr>
          <p:cNvPr id="22" name="Rectangle 21"/>
          <p:cNvSpPr/>
          <p:nvPr/>
        </p:nvSpPr>
        <p:spPr>
          <a:xfrm>
            <a:off x="2971800" y="2194560"/>
            <a:ext cx="18288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017520" y="2194560"/>
            <a:ext cx="17373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0</a:t>
            </a:r>
          </a:p>
        </p:txBody>
      </p:sp>
      <p:sp>
        <p:nvSpPr>
          <p:cNvPr id="24" name="Rectangle 23"/>
          <p:cNvSpPr/>
          <p:nvPr/>
        </p:nvSpPr>
        <p:spPr>
          <a:xfrm>
            <a:off x="4800600" y="2194560"/>
            <a:ext cx="18288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846320" y="2194560"/>
            <a:ext cx="17373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0</a:t>
            </a:r>
          </a:p>
        </p:txBody>
      </p:sp>
      <p:sp>
        <p:nvSpPr>
          <p:cNvPr id="26" name="Rectangle 25"/>
          <p:cNvSpPr/>
          <p:nvPr/>
        </p:nvSpPr>
        <p:spPr>
          <a:xfrm>
            <a:off x="6629400" y="2194560"/>
            <a:ext cx="25146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675120" y="2194560"/>
            <a:ext cx="24231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0   ×</a:t>
            </a:r>
          </a:p>
        </p:txBody>
      </p:sp>
      <p:sp>
        <p:nvSpPr>
          <p:cNvPr id="28" name="Rectangle 27"/>
          <p:cNvSpPr/>
          <p:nvPr/>
        </p:nvSpPr>
        <p:spPr>
          <a:xfrm>
            <a:off x="9144000" y="2194560"/>
            <a:ext cx="25146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189720" y="2194560"/>
            <a:ext cx="24231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0   ×</a:t>
            </a:r>
          </a:p>
        </p:txBody>
      </p:sp>
      <p:sp>
        <p:nvSpPr>
          <p:cNvPr id="30" name="Rectangle 29"/>
          <p:cNvSpPr/>
          <p:nvPr/>
        </p:nvSpPr>
        <p:spPr>
          <a:xfrm>
            <a:off x="411480" y="2560320"/>
            <a:ext cx="256032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57200" y="2560320"/>
            <a:ext cx="2468880" cy="365760"/>
          </a:xfrm>
          <a:prstGeom prst="rect">
            <a:avLst/>
          </a:prstGeom>
          <a:noFill/>
        </p:spPr>
        <p:txBody>
          <a:bodyPr wrap="square" lIns="0" rIns="0" tIns="0" bIns="0" anchor="ctr">
            <a:spAutoFit/>
          </a:bodyPr>
          <a:lstStyle/>
          <a:p>
            <a:pPr algn="ctr">
              <a:lnSpc>
                <a:spcPct val="103000"/>
              </a:lnSpc>
            </a:pPr>
            <a:r>
              <a:rPr sz="1100" b="1" i="0">
                <a:solidFill>
                  <a:srgbClr val="1B9AAA"/>
                </a:solidFill>
                <a:latin typeface="Calibri"/>
              </a:rPr>
              <a:t>0  →  1</a:t>
            </a:r>
          </a:p>
        </p:txBody>
      </p:sp>
      <p:sp>
        <p:nvSpPr>
          <p:cNvPr id="32" name="Rectangle 31"/>
          <p:cNvSpPr/>
          <p:nvPr/>
        </p:nvSpPr>
        <p:spPr>
          <a:xfrm>
            <a:off x="2971800" y="2560320"/>
            <a:ext cx="182880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017520" y="2560320"/>
            <a:ext cx="17373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1</a:t>
            </a:r>
          </a:p>
        </p:txBody>
      </p:sp>
      <p:sp>
        <p:nvSpPr>
          <p:cNvPr id="34" name="Rectangle 33"/>
          <p:cNvSpPr/>
          <p:nvPr/>
        </p:nvSpPr>
        <p:spPr>
          <a:xfrm>
            <a:off x="4800600" y="2560320"/>
            <a:ext cx="182880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846320" y="2560320"/>
            <a:ext cx="17373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1</a:t>
            </a:r>
          </a:p>
        </p:txBody>
      </p:sp>
      <p:sp>
        <p:nvSpPr>
          <p:cNvPr id="36" name="Rectangle 35"/>
          <p:cNvSpPr/>
          <p:nvPr/>
        </p:nvSpPr>
        <p:spPr>
          <a:xfrm>
            <a:off x="6629400" y="2560320"/>
            <a:ext cx="251460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675120" y="2560320"/>
            <a:ext cx="24231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1   ×</a:t>
            </a:r>
          </a:p>
        </p:txBody>
      </p:sp>
      <p:sp>
        <p:nvSpPr>
          <p:cNvPr id="38" name="Rectangle 37"/>
          <p:cNvSpPr/>
          <p:nvPr/>
        </p:nvSpPr>
        <p:spPr>
          <a:xfrm>
            <a:off x="9144000" y="2560320"/>
            <a:ext cx="251460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189720" y="2560320"/>
            <a:ext cx="24231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1   0</a:t>
            </a:r>
          </a:p>
        </p:txBody>
      </p:sp>
      <p:sp>
        <p:nvSpPr>
          <p:cNvPr id="40" name="Rectangle 39"/>
          <p:cNvSpPr/>
          <p:nvPr/>
        </p:nvSpPr>
        <p:spPr>
          <a:xfrm>
            <a:off x="411480" y="2926080"/>
            <a:ext cx="256032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2926080"/>
            <a:ext cx="2468880" cy="365760"/>
          </a:xfrm>
          <a:prstGeom prst="rect">
            <a:avLst/>
          </a:prstGeom>
          <a:noFill/>
        </p:spPr>
        <p:txBody>
          <a:bodyPr wrap="square" lIns="0" rIns="0" tIns="0" bIns="0" anchor="ctr">
            <a:spAutoFit/>
          </a:bodyPr>
          <a:lstStyle/>
          <a:p>
            <a:pPr algn="ctr">
              <a:lnSpc>
                <a:spcPct val="103000"/>
              </a:lnSpc>
            </a:pPr>
            <a:r>
              <a:rPr sz="1100" b="1" i="0">
                <a:solidFill>
                  <a:srgbClr val="1B9AAA"/>
                </a:solidFill>
                <a:latin typeface="Calibri"/>
              </a:rPr>
              <a:t>1  →  0</a:t>
            </a:r>
          </a:p>
        </p:txBody>
      </p:sp>
      <p:sp>
        <p:nvSpPr>
          <p:cNvPr id="42" name="Rectangle 41"/>
          <p:cNvSpPr/>
          <p:nvPr/>
        </p:nvSpPr>
        <p:spPr>
          <a:xfrm>
            <a:off x="2971800" y="2926080"/>
            <a:ext cx="18288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017520" y="2926080"/>
            <a:ext cx="17373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0</a:t>
            </a:r>
          </a:p>
        </p:txBody>
      </p:sp>
      <p:sp>
        <p:nvSpPr>
          <p:cNvPr id="44" name="Rectangle 43"/>
          <p:cNvSpPr/>
          <p:nvPr/>
        </p:nvSpPr>
        <p:spPr>
          <a:xfrm>
            <a:off x="4800600" y="2926080"/>
            <a:ext cx="18288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4846320" y="2926080"/>
            <a:ext cx="17373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1</a:t>
            </a:r>
          </a:p>
        </p:txBody>
      </p:sp>
      <p:sp>
        <p:nvSpPr>
          <p:cNvPr id="46" name="Rectangle 45"/>
          <p:cNvSpPr/>
          <p:nvPr/>
        </p:nvSpPr>
        <p:spPr>
          <a:xfrm>
            <a:off x="6629400" y="2926080"/>
            <a:ext cx="25146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675120" y="2926080"/>
            <a:ext cx="24231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   1</a:t>
            </a:r>
          </a:p>
        </p:txBody>
      </p:sp>
      <p:sp>
        <p:nvSpPr>
          <p:cNvPr id="48" name="Rectangle 47"/>
          <p:cNvSpPr/>
          <p:nvPr/>
        </p:nvSpPr>
        <p:spPr>
          <a:xfrm>
            <a:off x="9144000" y="2926080"/>
            <a:ext cx="251460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9189720" y="2926080"/>
            <a:ext cx="24231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0   1</a:t>
            </a:r>
          </a:p>
        </p:txBody>
      </p:sp>
      <p:sp>
        <p:nvSpPr>
          <p:cNvPr id="50" name="Rectangle 49"/>
          <p:cNvSpPr/>
          <p:nvPr/>
        </p:nvSpPr>
        <p:spPr>
          <a:xfrm>
            <a:off x="411480" y="3291840"/>
            <a:ext cx="256032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57200" y="3291840"/>
            <a:ext cx="2468880" cy="365760"/>
          </a:xfrm>
          <a:prstGeom prst="rect">
            <a:avLst/>
          </a:prstGeom>
          <a:noFill/>
        </p:spPr>
        <p:txBody>
          <a:bodyPr wrap="square" lIns="0" rIns="0" tIns="0" bIns="0" anchor="ctr">
            <a:spAutoFit/>
          </a:bodyPr>
          <a:lstStyle/>
          <a:p>
            <a:pPr algn="ctr">
              <a:lnSpc>
                <a:spcPct val="103000"/>
              </a:lnSpc>
            </a:pPr>
            <a:r>
              <a:rPr sz="1100" b="1" i="0">
                <a:solidFill>
                  <a:srgbClr val="1B9AAA"/>
                </a:solidFill>
                <a:latin typeface="Calibri"/>
              </a:rPr>
              <a:t>1  →  1</a:t>
            </a:r>
          </a:p>
        </p:txBody>
      </p:sp>
      <p:sp>
        <p:nvSpPr>
          <p:cNvPr id="52" name="Rectangle 51"/>
          <p:cNvSpPr/>
          <p:nvPr/>
        </p:nvSpPr>
        <p:spPr>
          <a:xfrm>
            <a:off x="2971800" y="3291840"/>
            <a:ext cx="182880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3017520" y="3291840"/>
            <a:ext cx="17373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1</a:t>
            </a:r>
          </a:p>
        </p:txBody>
      </p:sp>
      <p:sp>
        <p:nvSpPr>
          <p:cNvPr id="54" name="Rectangle 53"/>
          <p:cNvSpPr/>
          <p:nvPr/>
        </p:nvSpPr>
        <p:spPr>
          <a:xfrm>
            <a:off x="4800600" y="3291840"/>
            <a:ext cx="182880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4846320" y="3291840"/>
            <a:ext cx="17373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0</a:t>
            </a:r>
          </a:p>
        </p:txBody>
      </p:sp>
      <p:sp>
        <p:nvSpPr>
          <p:cNvPr id="56" name="Rectangle 55"/>
          <p:cNvSpPr/>
          <p:nvPr/>
        </p:nvSpPr>
        <p:spPr>
          <a:xfrm>
            <a:off x="6629400" y="3291840"/>
            <a:ext cx="251460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675120" y="3291840"/>
            <a:ext cx="24231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   0</a:t>
            </a:r>
          </a:p>
        </p:txBody>
      </p:sp>
      <p:sp>
        <p:nvSpPr>
          <p:cNvPr id="58" name="Rectangle 57"/>
          <p:cNvSpPr/>
          <p:nvPr/>
        </p:nvSpPr>
        <p:spPr>
          <a:xfrm>
            <a:off x="9144000" y="3291840"/>
            <a:ext cx="251460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9189720" y="3291840"/>
            <a:ext cx="2423160" cy="365760"/>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   0</a:t>
            </a:r>
          </a:p>
        </p:txBody>
      </p:sp>
      <p:sp>
        <p:nvSpPr>
          <p:cNvPr id="60" name="Rounded Rectangle 59"/>
          <p:cNvSpPr/>
          <p:nvPr/>
        </p:nvSpPr>
        <p:spPr>
          <a:xfrm>
            <a:off x="411480" y="3749040"/>
            <a:ext cx="5532120" cy="11887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548640" y="381304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Characteristic equations</a:t>
            </a:r>
          </a:p>
        </p:txBody>
      </p:sp>
      <p:sp>
        <p:nvSpPr>
          <p:cNvPr id="62" name="TextBox 61"/>
          <p:cNvSpPr txBox="1"/>
          <p:nvPr/>
        </p:nvSpPr>
        <p:spPr>
          <a:xfrm>
            <a:off x="548640" y="4087368"/>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onsolas"/>
              </a:rPr>
              <a:t>D-FF:    Q⁺ = D</a:t>
            </a:r>
          </a:p>
          <a:p>
            <a:pPr algn="l">
              <a:lnSpc>
                <a:spcPct val="103000"/>
              </a:lnSpc>
              <a:spcAft>
                <a:spcPts val="400"/>
              </a:spcAft>
            </a:pPr>
            <a:r>
              <a:rPr sz="1050" b="0" i="0">
                <a:solidFill>
                  <a:srgbClr val="33414F"/>
                </a:solidFill>
                <a:latin typeface="Consolas"/>
              </a:rPr>
              <a:t>T-FF:    Q⁺ = T ⊕ Q</a:t>
            </a:r>
          </a:p>
          <a:p>
            <a:pPr algn="l">
              <a:lnSpc>
                <a:spcPct val="103000"/>
              </a:lnSpc>
              <a:spcAft>
                <a:spcPts val="400"/>
              </a:spcAft>
            </a:pPr>
            <a:r>
              <a:rPr sz="1050" b="0" i="0">
                <a:solidFill>
                  <a:srgbClr val="33414F"/>
                </a:solidFill>
                <a:latin typeface="Consolas"/>
              </a:rPr>
              <a:t>JK-FF:   Q⁺ = J·Q' + K'·Q</a:t>
            </a:r>
          </a:p>
          <a:p>
            <a:pPr algn="l">
              <a:lnSpc>
                <a:spcPct val="103000"/>
              </a:lnSpc>
              <a:spcAft>
                <a:spcPts val="400"/>
              </a:spcAft>
            </a:pPr>
            <a:r>
              <a:rPr sz="1050" b="0" i="0">
                <a:solidFill>
                  <a:srgbClr val="33414F"/>
                </a:solidFill>
                <a:latin typeface="Consolas"/>
              </a:rPr>
              <a:t>SR-FF:   Q⁺ = S + R'·Q   (SR ≠ 11)</a:t>
            </a:r>
          </a:p>
        </p:txBody>
      </p:sp>
      <p:sp>
        <p:nvSpPr>
          <p:cNvPr id="63" name="Rounded Rectangle 62"/>
          <p:cNvSpPr/>
          <p:nvPr/>
        </p:nvSpPr>
        <p:spPr>
          <a:xfrm>
            <a:off x="6126480" y="3749040"/>
            <a:ext cx="5532120" cy="11887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6263640" y="381304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Converting one to another</a:t>
            </a:r>
          </a:p>
        </p:txBody>
      </p:sp>
      <p:sp>
        <p:nvSpPr>
          <p:cNvPr id="65" name="TextBox 64"/>
          <p:cNvSpPr txBox="1"/>
          <p:nvPr/>
        </p:nvSpPr>
        <p:spPr>
          <a:xfrm>
            <a:off x="6263640" y="4087368"/>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Put the target's excitation table beside the source's, K-map the required source inputs as functions of (present state, target inputs), and add that logic in front.</a:t>
            </a:r>
          </a:p>
          <a:p>
            <a:pPr algn="l">
              <a:lnSpc>
                <a:spcPct val="103000"/>
              </a:lnSpc>
              <a:spcAft>
                <a:spcPts val="400"/>
              </a:spcAft>
            </a:pPr>
            <a:r>
              <a:rPr sz="1050" b="1" i="0">
                <a:solidFill>
                  <a:srgbClr val="0E2A47"/>
                </a:solidFill>
                <a:latin typeface="Consolas"/>
              </a:rPr>
              <a:t>D from T:   D = T ⊕ Q        T from D:   T = D ⊕ Q</a:t>
            </a:r>
          </a:p>
        </p:txBody>
      </p:sp>
      <p:sp>
        <p:nvSpPr>
          <p:cNvPr id="66" name="TextBox 65"/>
          <p:cNvSpPr txBox="1"/>
          <p:nvPr/>
        </p:nvSpPr>
        <p:spPr>
          <a:xfrm>
            <a:off x="411480" y="5029200"/>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The × entries are don't-cares — and they are exactly what makes JK-based designs minimise so well on paper.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3C · INITIALISATION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Reset — Synchronous vs Asynchronous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41</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At power-up every flip-flop holds an unknown value. </a:t>
            </a:r>
            <a:r>
              <a:rPr sz="1100" b="0" i="0">
                <a:solidFill>
                  <a:srgbClr val="33414F"/>
                </a:solidFill>
                <a:latin typeface="Calibri"/>
              </a:rPr>
              <a:t>Reset is what forces the design into a known starting state. Choosing the wrong style, or releasing reset carelessly, produces bugs that only appear on real silicon.</a:t>
            </a:r>
          </a:p>
        </p:txBody>
      </p:sp>
      <p:sp>
        <p:nvSpPr>
          <p:cNvPr id="10" name="Rounded Rectangle 9"/>
          <p:cNvSpPr/>
          <p:nvPr/>
        </p:nvSpPr>
        <p:spPr>
          <a:xfrm>
            <a:off x="411480" y="1737360"/>
            <a:ext cx="11247120" cy="2194560"/>
          </a:xfrm>
          <a:prstGeom prst="roundRect">
            <a:avLst>
              <a:gd name="adj" fmla="val 3000"/>
            </a:avLst>
          </a:prstGeom>
          <a:solidFill>
            <a:srgbClr val="112233"/>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5166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The two templates — memorise both exactly</a:t>
            </a:r>
          </a:p>
        </p:txBody>
      </p:sp>
      <p:sp>
        <p:nvSpPr>
          <p:cNvPr id="12" name="TextBox 11"/>
          <p:cNvSpPr txBox="1"/>
          <p:nvPr/>
        </p:nvSpPr>
        <p:spPr>
          <a:xfrm>
            <a:off x="594360" y="2125980"/>
            <a:ext cx="10881360" cy="169164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 ASYNCHRONOUS reset - reset appears in the sensitivity list</a:t>
            </a:r>
          </a:p>
          <a:p>
            <a:pPr algn="l">
              <a:lnSpc>
                <a:spcPct val="112000"/>
              </a:lnSpc>
            </a:pPr>
            <a:r>
              <a:rPr sz="1000" b="0" i="0">
                <a:solidFill>
                  <a:srgbClr val="D8E4F0"/>
                </a:solidFill>
                <a:latin typeface="Consolas"/>
              </a:rPr>
              <a:t>always @(posedge clk or posedge rst)</a:t>
            </a:r>
          </a:p>
          <a:p>
            <a:pPr algn="l">
              <a:lnSpc>
                <a:spcPct val="112000"/>
              </a:lnSpc>
            </a:pPr>
            <a:r>
              <a:rPr sz="1000" b="0" i="0">
                <a:solidFill>
                  <a:srgbClr val="D8E4F0"/>
                </a:solidFill>
                <a:latin typeface="Consolas"/>
              </a:rPr>
              <a:t>    if (rst) q &lt;= 1'b0;</a:t>
            </a:r>
          </a:p>
          <a:p>
            <a:pPr algn="l">
              <a:lnSpc>
                <a:spcPct val="112000"/>
              </a:lnSpc>
            </a:pPr>
            <a:r>
              <a:rPr sz="1000" b="0" i="0">
                <a:solidFill>
                  <a:srgbClr val="D8E4F0"/>
                </a:solidFill>
                <a:latin typeface="Consolas"/>
              </a:rPr>
              <a:t>    else     q &lt;= d;</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SYNCHRONOUS reset - reset is just another input to the D logic</a:t>
            </a:r>
          </a:p>
          <a:p>
            <a:pPr algn="l">
              <a:lnSpc>
                <a:spcPct val="112000"/>
              </a:lnSpc>
            </a:pPr>
            <a:r>
              <a:rPr sz="1000" b="0" i="0">
                <a:solidFill>
                  <a:srgbClr val="D8E4F0"/>
                </a:solidFill>
                <a:latin typeface="Consolas"/>
              </a:rPr>
              <a:t>always @(posedge clk)</a:t>
            </a:r>
          </a:p>
          <a:p>
            <a:pPr algn="l">
              <a:lnSpc>
                <a:spcPct val="112000"/>
              </a:lnSpc>
            </a:pPr>
            <a:r>
              <a:rPr sz="1000" b="0" i="0">
                <a:solidFill>
                  <a:srgbClr val="D8E4F0"/>
                </a:solidFill>
                <a:latin typeface="Consolas"/>
              </a:rPr>
              <a:t>    if (rst) q &lt;= 1'b0;</a:t>
            </a:r>
          </a:p>
          <a:p>
            <a:pPr algn="l">
              <a:lnSpc>
                <a:spcPct val="112000"/>
              </a:lnSpc>
            </a:pPr>
            <a:r>
              <a:rPr sz="1000" b="0" i="0">
                <a:solidFill>
                  <a:srgbClr val="D8E4F0"/>
                </a:solidFill>
                <a:latin typeface="Consolas"/>
              </a:rPr>
              <a:t>    else     q &lt;= d;</a:t>
            </a:r>
          </a:p>
        </p:txBody>
      </p:sp>
      <p:sp>
        <p:nvSpPr>
          <p:cNvPr id="13" name="Rounded Rectangle 12"/>
          <p:cNvSpPr/>
          <p:nvPr/>
        </p:nvSpPr>
        <p:spPr>
          <a:xfrm>
            <a:off x="411480" y="4023360"/>
            <a:ext cx="3627120" cy="17373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408736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Asynchronous</a:t>
            </a:r>
          </a:p>
        </p:txBody>
      </p:sp>
      <p:sp>
        <p:nvSpPr>
          <p:cNvPr id="15" name="TextBox 14"/>
          <p:cNvSpPr txBox="1"/>
          <p:nvPr/>
        </p:nvSpPr>
        <p:spPr>
          <a:xfrm>
            <a:off x="548640" y="4361688"/>
            <a:ext cx="3352800" cy="13350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Takes effect immediately, clock or no clock.</a:t>
            </a:r>
          </a:p>
          <a:p>
            <a:pPr algn="l">
              <a:lnSpc>
                <a:spcPct val="103000"/>
              </a:lnSpc>
              <a:spcAft>
                <a:spcPts val="400"/>
              </a:spcAft>
            </a:pPr>
            <a:r>
              <a:rPr sz="1050" b="1" i="0">
                <a:solidFill>
                  <a:srgbClr val="2A9D5C"/>
                </a:solidFill>
                <a:latin typeface="Calibri"/>
              </a:rPr>
              <a:t>Essential at power-up, when the PLL has not locked and there is no clock yet.</a:t>
            </a:r>
          </a:p>
          <a:p>
            <a:pPr algn="l">
              <a:lnSpc>
                <a:spcPct val="103000"/>
              </a:lnSpc>
              <a:spcAft>
                <a:spcPts val="400"/>
              </a:spcAft>
            </a:pPr>
            <a:r>
              <a:rPr sz="1050" b="1" i="0">
                <a:solidFill>
                  <a:srgbClr val="C01F43"/>
                </a:solidFill>
                <a:latin typeface="Calibri"/>
              </a:rPr>
              <a:t>Danger: its RELEASE is asynchronous and can violate recovery/removal time — so it must be de-asserted synchronously.</a:t>
            </a:r>
          </a:p>
        </p:txBody>
      </p:sp>
      <p:sp>
        <p:nvSpPr>
          <p:cNvPr id="16" name="Rounded Rectangle 15"/>
          <p:cNvSpPr/>
          <p:nvPr/>
        </p:nvSpPr>
        <p:spPr>
          <a:xfrm>
            <a:off x="4221480" y="4023360"/>
            <a:ext cx="3627120" cy="17373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58640" y="408736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Synchronous</a:t>
            </a:r>
          </a:p>
        </p:txBody>
      </p:sp>
      <p:sp>
        <p:nvSpPr>
          <p:cNvPr id="18" name="TextBox 17"/>
          <p:cNvSpPr txBox="1"/>
          <p:nvPr/>
        </p:nvSpPr>
        <p:spPr>
          <a:xfrm>
            <a:off x="4358640" y="4361688"/>
            <a:ext cx="3352800" cy="13350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Takes effect only on a clock edge.</a:t>
            </a:r>
          </a:p>
          <a:p>
            <a:pPr algn="l">
              <a:lnSpc>
                <a:spcPct val="103000"/>
              </a:lnSpc>
              <a:spcAft>
                <a:spcPts val="400"/>
              </a:spcAft>
            </a:pPr>
            <a:r>
              <a:rPr sz="1050" b="1" i="0">
                <a:solidFill>
                  <a:srgbClr val="2A9D5C"/>
                </a:solidFill>
                <a:latin typeface="Calibri"/>
              </a:rPr>
              <a:t>Fully covered by normal static timing analysis; no special constraints; filters glitches on the reset line.</a:t>
            </a:r>
          </a:p>
          <a:p>
            <a:pPr algn="l">
              <a:lnSpc>
                <a:spcPct val="103000"/>
              </a:lnSpc>
              <a:spcAft>
                <a:spcPts val="400"/>
              </a:spcAft>
            </a:pPr>
            <a:r>
              <a:rPr sz="1050" b="1" i="0">
                <a:solidFill>
                  <a:srgbClr val="C01F43"/>
                </a:solidFill>
                <a:latin typeface="Calibri"/>
              </a:rPr>
              <a:t>Danger: useless if the clock is not running.</a:t>
            </a:r>
          </a:p>
        </p:txBody>
      </p:sp>
      <p:sp>
        <p:nvSpPr>
          <p:cNvPr id="19" name="Rounded Rectangle 18"/>
          <p:cNvSpPr/>
          <p:nvPr/>
        </p:nvSpPr>
        <p:spPr>
          <a:xfrm>
            <a:off x="8031480" y="4023360"/>
            <a:ext cx="3627120" cy="17373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168640" y="408736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What industry actually does</a:t>
            </a:r>
          </a:p>
        </p:txBody>
      </p:sp>
      <p:sp>
        <p:nvSpPr>
          <p:cNvPr id="21" name="TextBox 20"/>
          <p:cNvSpPr txBox="1"/>
          <p:nvPr/>
        </p:nvSpPr>
        <p:spPr>
          <a:xfrm>
            <a:off x="8168640" y="4361688"/>
            <a:ext cx="3352800" cy="1335024"/>
          </a:xfrm>
          <a:prstGeom prst="rect">
            <a:avLst/>
          </a:prstGeom>
          <a:noFill/>
        </p:spPr>
        <p:txBody>
          <a:bodyPr wrap="square" lIns="0" rIns="0" tIns="0" bIns="0" anchor="t">
            <a:spAutoFit/>
          </a:bodyPr>
          <a:lstStyle/>
          <a:p>
            <a:pPr algn="l">
              <a:lnSpc>
                <a:spcPct val="103000"/>
              </a:lnSpc>
              <a:spcAft>
                <a:spcPts val="400"/>
              </a:spcAft>
            </a:pPr>
            <a:r>
              <a:rPr sz="1050" b="1" i="0">
                <a:solidFill>
                  <a:srgbClr val="0E2A47"/>
                </a:solidFill>
                <a:latin typeface="Calibri"/>
              </a:rPr>
              <a:t>Asynchronous assert, synchronous de-assert — the 'reset synchroniser'.</a:t>
            </a:r>
          </a:p>
          <a:p>
            <a:pPr algn="l">
              <a:lnSpc>
                <a:spcPct val="103000"/>
              </a:lnSpc>
              <a:spcAft>
                <a:spcPts val="400"/>
              </a:spcAft>
            </a:pPr>
            <a:r>
              <a:rPr sz="1050" b="0" i="0">
                <a:solidFill>
                  <a:srgbClr val="33414F"/>
                </a:solidFill>
                <a:latin typeface="Calibri"/>
              </a:rPr>
              <a:t>Two flip-flops clocked by the destination clock, with their async reset tied to the raw reset. Best of both.</a:t>
            </a:r>
          </a:p>
        </p:txBody>
      </p:sp>
      <p:sp>
        <p:nvSpPr>
          <p:cNvPr id="22" name="TextBox 21"/>
          <p:cNvSpPr txBox="1"/>
          <p:nvPr/>
        </p:nvSpPr>
        <p:spPr>
          <a:xfrm>
            <a:off x="411480" y="5852160"/>
            <a:ext cx="11247120" cy="274320"/>
          </a:xfrm>
          <a:prstGeom prst="rect">
            <a:avLst/>
          </a:prstGeom>
          <a:noFill/>
        </p:spPr>
        <p:txBody>
          <a:bodyPr wrap="square" lIns="0" rIns="0" tIns="0" bIns="0" anchor="t">
            <a:spAutoFit/>
          </a:bodyPr>
          <a:lstStyle/>
          <a:p>
            <a:pPr algn="l">
              <a:lnSpc>
                <a:spcPct val="103000"/>
              </a:lnSpc>
            </a:pPr>
            <a:r>
              <a:rPr sz="1050" b="1" i="0">
                <a:solidFill>
                  <a:srgbClr val="0E2A47"/>
                </a:solidFill>
                <a:latin typeface="Calibri"/>
              </a:rPr>
              <a:t>Also note: </a:t>
            </a:r>
            <a:r>
              <a:rPr sz="1050" b="0" i="0">
                <a:solidFill>
                  <a:srgbClr val="33414F"/>
                </a:solidFill>
                <a:latin typeface="Calibri"/>
              </a:rPr>
              <a:t>on most FPGAs a global reset costs routing resources and is often unnecessary because the bitstream initialises every flip-flop. On an ASIC it is mandatory.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3C · TIERED DEPTH</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Understanding Sequential Logic at Four Levels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42</a:t>
            </a:r>
          </a:p>
        </p:txBody>
      </p:sp>
      <p:sp>
        <p:nvSpPr>
          <p:cNvPr id="9" name="TextBox 8"/>
          <p:cNvSpPr txBox="1"/>
          <p:nvPr/>
        </p:nvSpPr>
        <p:spPr>
          <a:xfrm>
            <a:off x="411480" y="1143000"/>
            <a:ext cx="11247120" cy="32004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The same idea at four depths.</a:t>
            </a:r>
          </a:p>
        </p:txBody>
      </p:sp>
      <p:sp>
        <p:nvSpPr>
          <p:cNvPr id="10" name="Rounded Rectangle 9"/>
          <p:cNvSpPr/>
          <p:nvPr/>
        </p:nvSpPr>
        <p:spPr>
          <a:xfrm>
            <a:off x="411480" y="1554480"/>
            <a:ext cx="11247120" cy="96012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411480" y="1554480"/>
            <a:ext cx="1737360" cy="960120"/>
          </a:xfrm>
          <a:prstGeom prst="roundRect">
            <a:avLst>
              <a:gd name="adj" fmla="val 5714"/>
            </a:avLst>
          </a:prstGeom>
          <a:solidFill>
            <a:srgbClr val="C77514"/>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11480" y="1554480"/>
            <a:ext cx="1737360" cy="96012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BASIC</a:t>
            </a:r>
          </a:p>
        </p:txBody>
      </p:sp>
      <p:sp>
        <p:nvSpPr>
          <p:cNvPr id="13" name="TextBox 12"/>
          <p:cNvSpPr txBox="1"/>
          <p:nvPr/>
        </p:nvSpPr>
        <p:spPr>
          <a:xfrm>
            <a:off x="2331720" y="1600200"/>
            <a:ext cx="9144000" cy="86868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A circuit that remembers. Its output depends not only on what you feed it now but on what happened before. A clock tells it when to update.</a:t>
            </a:r>
          </a:p>
        </p:txBody>
      </p:sp>
      <p:sp>
        <p:nvSpPr>
          <p:cNvPr id="14" name="Rounded Rectangle 13"/>
          <p:cNvSpPr/>
          <p:nvPr/>
        </p:nvSpPr>
        <p:spPr>
          <a:xfrm>
            <a:off x="411480" y="2583180"/>
            <a:ext cx="11247120" cy="96012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411480" y="2583180"/>
            <a:ext cx="1737360" cy="960120"/>
          </a:xfrm>
          <a:prstGeom prst="roundRect">
            <a:avLst>
              <a:gd name="adj" fmla="val 5714"/>
            </a:avLst>
          </a:prstGeom>
          <a:solidFill>
            <a:srgbClr val="C77514"/>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11480" y="2583180"/>
            <a:ext cx="1737360" cy="96012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INTERMEDIATE</a:t>
            </a:r>
          </a:p>
        </p:txBody>
      </p:sp>
      <p:sp>
        <p:nvSpPr>
          <p:cNvPr id="17" name="TextBox 16"/>
          <p:cNvSpPr txBox="1"/>
          <p:nvPr/>
        </p:nvSpPr>
        <p:spPr>
          <a:xfrm>
            <a:off x="2331720" y="2628900"/>
            <a:ext cx="9144000" cy="86868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Combinational logic plus flip-flops in a feedback loop. The flip-flops hold the STATE; the logic computes the next state and the outputs. Counters, shift registers and controllers are all this shape.</a:t>
            </a:r>
          </a:p>
        </p:txBody>
      </p:sp>
      <p:sp>
        <p:nvSpPr>
          <p:cNvPr id="18" name="Rounded Rectangle 17"/>
          <p:cNvSpPr/>
          <p:nvPr/>
        </p:nvSpPr>
        <p:spPr>
          <a:xfrm>
            <a:off x="411480" y="3611880"/>
            <a:ext cx="11247120" cy="96012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11480" y="3611880"/>
            <a:ext cx="1737360" cy="960120"/>
          </a:xfrm>
          <a:prstGeom prst="roundRect">
            <a:avLst>
              <a:gd name="adj" fmla="val 5714"/>
            </a:avLst>
          </a:prstGeom>
          <a:solidFill>
            <a:srgbClr val="C01F43"/>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11480" y="3611880"/>
            <a:ext cx="1737360" cy="96012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ADVANCED</a:t>
            </a:r>
          </a:p>
        </p:txBody>
      </p:sp>
      <p:sp>
        <p:nvSpPr>
          <p:cNvPr id="21" name="TextBox 20"/>
          <p:cNvSpPr txBox="1"/>
          <p:nvPr/>
        </p:nvSpPr>
        <p:spPr>
          <a:xfrm>
            <a:off x="2331720" y="3657600"/>
            <a:ext cx="9144000" cy="86868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Correctness is a timing property, not just a logic one: every path must satisfy T ≥ t_cq + t_logic + t_setup and t_cq + t_logic,min ≥ t_hold. Any input not synchronous to the clock must be synchronised or it will cause metastability.</a:t>
            </a:r>
          </a:p>
        </p:txBody>
      </p:sp>
      <p:sp>
        <p:nvSpPr>
          <p:cNvPr id="22" name="Rounded Rectangle 21"/>
          <p:cNvSpPr/>
          <p:nvPr/>
        </p:nvSpPr>
        <p:spPr>
          <a:xfrm>
            <a:off x="411480" y="4640580"/>
            <a:ext cx="11247120" cy="96012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11480" y="4640580"/>
            <a:ext cx="1737360" cy="960120"/>
          </a:xfrm>
          <a:prstGeom prst="roundRect">
            <a:avLst>
              <a:gd name="adj" fmla="val 5714"/>
            </a:avLst>
          </a:prstGeom>
          <a:solidFill>
            <a:srgbClr val="2A9D5C"/>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11480" y="4640580"/>
            <a:ext cx="1737360" cy="96012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INDUSTRY</a:t>
            </a:r>
          </a:p>
        </p:txBody>
      </p:sp>
      <p:sp>
        <p:nvSpPr>
          <p:cNvPr id="25" name="TextBox 24"/>
          <p:cNvSpPr txBox="1"/>
          <p:nvPr/>
        </p:nvSpPr>
        <p:spPr>
          <a:xfrm>
            <a:off x="2331720" y="4686300"/>
            <a:ext cx="9144000" cy="86868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Written as `always @(posedge clk)` with non-blocking assignments. Timing is closed by STA against SDC constraints; clock trees are balanced by CTS; every clock-domain crossing is reviewed as a first-class design artefact — CDC bugs are the leading cause of silicon respins.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3C · TIMING PARAMETERS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Setup, Hold and Clock-to-Q</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43</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flip-flop is not instantaneous. </a:t>
            </a:r>
            <a:r>
              <a:rPr sz="1100" b="0" i="0">
                <a:solidFill>
                  <a:srgbClr val="33414F"/>
                </a:solidFill>
                <a:latin typeface="Calibri"/>
              </a:rPr>
              <a:t>It requires the data to be steady for a window around the clock edge, and it takes time to produce its output afterwards. These three numbers come from the library datasheet and are the entire basis of timing analysis.</a:t>
            </a:r>
          </a:p>
        </p:txBody>
      </p:sp>
      <p:pic>
        <p:nvPicPr>
          <p:cNvPr id="10" name="Picture 9" descr="ff_timing.png"/>
          <p:cNvPicPr>
            <a:picLocks noChangeAspect="1"/>
          </p:cNvPicPr>
          <p:nvPr/>
        </p:nvPicPr>
        <p:blipFill>
          <a:blip r:embed="rId2"/>
          <a:stretch>
            <a:fillRect/>
          </a:stretch>
        </p:blipFill>
        <p:spPr>
          <a:xfrm>
            <a:off x="1866793" y="1691640"/>
            <a:ext cx="8336493" cy="3200400"/>
          </a:xfrm>
          <a:prstGeom prst="rect">
            <a:avLst/>
          </a:prstGeom>
        </p:spPr>
      </p:pic>
      <p:sp>
        <p:nvSpPr>
          <p:cNvPr id="11" name="Rounded Rectangle 10"/>
          <p:cNvSpPr/>
          <p:nvPr/>
        </p:nvSpPr>
        <p:spPr>
          <a:xfrm>
            <a:off x="411480" y="4983480"/>
            <a:ext cx="3627120" cy="11887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047488"/>
            <a:ext cx="3352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Setup violation</a:t>
            </a:r>
          </a:p>
        </p:txBody>
      </p:sp>
      <p:sp>
        <p:nvSpPr>
          <p:cNvPr id="13" name="TextBox 12"/>
          <p:cNvSpPr txBox="1"/>
          <p:nvPr/>
        </p:nvSpPr>
        <p:spPr>
          <a:xfrm>
            <a:off x="548640" y="5321808"/>
            <a:ext cx="3352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Data arrives TOO LATE. Fix by shortening the logic path, or by slowing the clock. </a:t>
            </a:r>
            <a:r>
              <a:rPr sz="1050" b="1" i="0">
                <a:solidFill>
                  <a:srgbClr val="0E2A47"/>
                </a:solidFill>
                <a:latin typeface="Calibri"/>
              </a:rPr>
              <a:t>A setup problem is a speed problem.</a:t>
            </a:r>
          </a:p>
        </p:txBody>
      </p:sp>
      <p:sp>
        <p:nvSpPr>
          <p:cNvPr id="14" name="Rounded Rectangle 13"/>
          <p:cNvSpPr/>
          <p:nvPr/>
        </p:nvSpPr>
        <p:spPr>
          <a:xfrm>
            <a:off x="4221480" y="4983480"/>
            <a:ext cx="3627120" cy="11887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358640" y="504748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Hold violation</a:t>
            </a:r>
          </a:p>
        </p:txBody>
      </p:sp>
      <p:sp>
        <p:nvSpPr>
          <p:cNvPr id="16" name="TextBox 15"/>
          <p:cNvSpPr txBox="1"/>
          <p:nvPr/>
        </p:nvSpPr>
        <p:spPr>
          <a:xfrm>
            <a:off x="4358640" y="5321808"/>
            <a:ext cx="3352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Data arrives TOO EARLY and overwrites the value being captured. Fix by ADDING delay (buffers) on the short path. </a:t>
            </a:r>
            <a:r>
              <a:rPr sz="1050" b="1" i="0">
                <a:solidFill>
                  <a:srgbClr val="C01F43"/>
                </a:solidFill>
                <a:latin typeface="Calibri"/>
              </a:rPr>
              <a:t>Slowing the clock does not help at all.</a:t>
            </a:r>
          </a:p>
        </p:txBody>
      </p:sp>
      <p:sp>
        <p:nvSpPr>
          <p:cNvPr id="17" name="Rounded Rectangle 16"/>
          <p:cNvSpPr/>
          <p:nvPr/>
        </p:nvSpPr>
        <p:spPr>
          <a:xfrm>
            <a:off x="8031480" y="4983480"/>
            <a:ext cx="3627120" cy="11887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68640" y="504748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Clock-to-Q</a:t>
            </a:r>
          </a:p>
        </p:txBody>
      </p:sp>
      <p:sp>
        <p:nvSpPr>
          <p:cNvPr id="19" name="TextBox 18"/>
          <p:cNvSpPr txBox="1"/>
          <p:nvPr/>
        </p:nvSpPr>
        <p:spPr>
          <a:xfrm>
            <a:off x="8168640" y="5321808"/>
            <a:ext cx="3352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Not a constraint but a cost — it eats into every clock period before your logic even starts. Faster (larger) flip-flops have smaller t_cq and larger area and power.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3C · METASTABILITY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When the Rules Are Broken — Metastability</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44</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If data changes inside the setup/hold window, the flip-flop may enter a metastable state: its output hovers at an invalid intermediate voltage for an unbounded time, then resolves randomly to 0 or 1. </a:t>
            </a:r>
            <a:r>
              <a:rPr sz="1100" b="0" i="0">
                <a:solidFill>
                  <a:srgbClr val="33414F"/>
                </a:solidFill>
                <a:latin typeface="Calibri"/>
              </a:rPr>
              <a:t>It cannot be prevented — only made astronomically unlikely.</a:t>
            </a:r>
          </a:p>
        </p:txBody>
      </p:sp>
      <p:pic>
        <p:nvPicPr>
          <p:cNvPr id="10" name="Picture 9" descr="metastability.png"/>
          <p:cNvPicPr>
            <a:picLocks noChangeAspect="1"/>
          </p:cNvPicPr>
          <p:nvPr/>
        </p:nvPicPr>
        <p:blipFill>
          <a:blip r:embed="rId2"/>
          <a:stretch>
            <a:fillRect/>
          </a:stretch>
        </p:blipFill>
        <p:spPr>
          <a:xfrm>
            <a:off x="1866793" y="1783080"/>
            <a:ext cx="8336493" cy="3200400"/>
          </a:xfrm>
          <a:prstGeom prst="rect">
            <a:avLst/>
          </a:prstGeom>
        </p:spPr>
      </p:pic>
      <p:sp>
        <p:nvSpPr>
          <p:cNvPr id="11" name="Rounded Rectangle 10"/>
          <p:cNvSpPr/>
          <p:nvPr/>
        </p:nvSpPr>
        <p:spPr>
          <a:xfrm>
            <a:off x="411480" y="5074920"/>
            <a:ext cx="11247120" cy="12801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13892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MTBF — the number you quote in a design review</a:t>
            </a:r>
          </a:p>
        </p:txBody>
      </p:sp>
      <p:sp>
        <p:nvSpPr>
          <p:cNvPr id="13" name="TextBox 12"/>
          <p:cNvSpPr txBox="1"/>
          <p:nvPr/>
        </p:nvSpPr>
        <p:spPr>
          <a:xfrm>
            <a:off x="576072" y="5413248"/>
            <a:ext cx="10917936" cy="87782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onsolas"/>
              </a:rPr>
              <a:t>MTBF = e^(t_r / τ) / (T₀ · f_clk · f_data)</a:t>
            </a:r>
            <a:r>
              <a:rPr sz="1100" b="0" i="0">
                <a:solidFill>
                  <a:srgbClr val="33414F"/>
                </a:solidFill>
                <a:latin typeface="Calibri"/>
              </a:rPr>
              <a:t>   where t_r is the resolution time you allow, τ and T₀ are library constants, and f_clk, f_data are the clock and data-change rates.</a:t>
            </a:r>
          </a:p>
          <a:p>
            <a:pPr algn="l">
              <a:lnSpc>
                <a:spcPct val="103000"/>
              </a:lnSpc>
              <a:spcAft>
                <a:spcPts val="400"/>
              </a:spcAft>
            </a:pPr>
            <a:r>
              <a:rPr sz="1100" b="0" i="0">
                <a:solidFill>
                  <a:srgbClr val="33414F"/>
                </a:solidFill>
                <a:latin typeface="Calibri"/>
              </a:rPr>
              <a:t>Because t_r sits in an exponential, adding ONE more synchroniser flip-flop typically moves MTBF from seconds to millions of years. That is why two stages is the universal minimum and three is used for very high-speed or safety-critical crossings.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3C · THE TIMING PATH</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Where the Maximum Clock Frequency Comes From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45</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Every synchronous design reduces to this one picture: </a:t>
            </a:r>
            <a:r>
              <a:rPr sz="1100" b="0" i="0">
                <a:solidFill>
                  <a:srgbClr val="33414F"/>
                </a:solidFill>
                <a:latin typeface="Calibri"/>
              </a:rPr>
              <a:t>a launching flip-flop, some combinational logic, and a capturing flip-flop. The clock period must be long enough for a signal to get all the way across before the next edge arrives.</a:t>
            </a:r>
          </a:p>
        </p:txBody>
      </p:sp>
      <p:pic>
        <p:nvPicPr>
          <p:cNvPr id="10" name="Picture 9" descr="fmax_path.png"/>
          <p:cNvPicPr>
            <a:picLocks noChangeAspect="1"/>
          </p:cNvPicPr>
          <p:nvPr/>
        </p:nvPicPr>
        <p:blipFill>
          <a:blip r:embed="rId2"/>
          <a:stretch>
            <a:fillRect/>
          </a:stretch>
        </p:blipFill>
        <p:spPr>
          <a:xfrm>
            <a:off x="1447921" y="1691640"/>
            <a:ext cx="9174238" cy="3383280"/>
          </a:xfrm>
          <a:prstGeom prst="rect">
            <a:avLst/>
          </a:prstGeom>
        </p:spPr>
      </p:pic>
      <p:sp>
        <p:nvSpPr>
          <p:cNvPr id="11" name="Rounded Rectangle 10"/>
          <p:cNvSpPr/>
          <p:nvPr/>
        </p:nvSpPr>
        <p:spPr>
          <a:xfrm>
            <a:off x="411480" y="5166360"/>
            <a:ext cx="11247120" cy="9601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23036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two checks, and what each one means</a:t>
            </a:r>
          </a:p>
        </p:txBody>
      </p:sp>
      <p:sp>
        <p:nvSpPr>
          <p:cNvPr id="13" name="TextBox 12"/>
          <p:cNvSpPr txBox="1"/>
          <p:nvPr/>
        </p:nvSpPr>
        <p:spPr>
          <a:xfrm>
            <a:off x="576072" y="5504688"/>
            <a:ext cx="10917936" cy="557784"/>
          </a:xfrm>
          <a:prstGeom prst="rect">
            <a:avLst/>
          </a:prstGeom>
          <a:noFill/>
        </p:spPr>
        <p:txBody>
          <a:bodyPr wrap="square" lIns="0" rIns="0" tIns="0" bIns="0" anchor="t">
            <a:spAutoFit/>
          </a:bodyPr>
          <a:lstStyle/>
          <a:p>
            <a:pPr algn="l">
              <a:lnSpc>
                <a:spcPct val="103000"/>
              </a:lnSpc>
              <a:spcAft>
                <a:spcPts val="400"/>
              </a:spcAft>
            </a:pPr>
            <a:r>
              <a:rPr sz="1100" b="1" i="0">
                <a:solidFill>
                  <a:srgbClr val="C01F43"/>
                </a:solidFill>
                <a:latin typeface="Calibri"/>
              </a:rPr>
              <a:t>Setup (max delay): </a:t>
            </a:r>
            <a:r>
              <a:rPr sz="1100" b="0" i="0">
                <a:solidFill>
                  <a:srgbClr val="33414F"/>
                </a:solidFill>
                <a:latin typeface="Calibri"/>
              </a:rPr>
              <a:t>T_clk ≥ t_cq + t_logic,max + t_setup + t_skew + t_jitter.  The LONGEST path sets your maximum frequency.</a:t>
            </a:r>
          </a:p>
          <a:p>
            <a:pPr algn="l">
              <a:lnSpc>
                <a:spcPct val="103000"/>
              </a:lnSpc>
              <a:spcAft>
                <a:spcPts val="400"/>
              </a:spcAft>
            </a:pPr>
            <a:r>
              <a:rPr sz="1100" b="1" i="0">
                <a:solidFill>
                  <a:srgbClr val="C77514"/>
                </a:solidFill>
                <a:latin typeface="Calibri"/>
              </a:rPr>
              <a:t>Hold (min delay): </a:t>
            </a:r>
            <a:r>
              <a:rPr sz="1100" b="0" i="0">
                <a:solidFill>
                  <a:srgbClr val="33414F"/>
                </a:solidFill>
                <a:latin typeface="Calibri"/>
              </a:rPr>
              <a:t>t_cq + t_logic,min ≥ t_hold + t_skew.  The SHORTEST path must still be long enough. This check is frequency-independent — a hold violation is broken at DC.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TOPIC 3C · PRACTICAL EXAMPLE 4</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Numerical: fₘₐₓ, Slack and the Hold Check</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46</a:t>
            </a:r>
          </a:p>
        </p:txBody>
      </p:sp>
      <p:sp>
        <p:nvSpPr>
          <p:cNvPr id="9" name="Rounded Rectangle 8"/>
          <p:cNvSpPr/>
          <p:nvPr/>
        </p:nvSpPr>
        <p:spPr>
          <a:xfrm>
            <a:off x="411480" y="1143000"/>
            <a:ext cx="11247120" cy="8229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76072" y="12070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Given</a:t>
            </a:r>
          </a:p>
        </p:txBody>
      </p:sp>
      <p:sp>
        <p:nvSpPr>
          <p:cNvPr id="11" name="TextBox 10"/>
          <p:cNvSpPr txBox="1"/>
          <p:nvPr/>
        </p:nvSpPr>
        <p:spPr>
          <a:xfrm>
            <a:off x="576072" y="148132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t_cq = 60 ps, t_setup = 50 ps, t_hold = 40 ps, clock skew = 25 ps (capture clock arrives LATE), jitter = 15 ps. The combinational path between two flip-flops has t_logic,max = 240 ps and t_logic,min = 30 ps. Target frequency 2.0 GHz.</a:t>
            </a:r>
          </a:p>
        </p:txBody>
      </p:sp>
      <p:sp>
        <p:nvSpPr>
          <p:cNvPr id="12" name="Rounded Rectangle 11"/>
          <p:cNvSpPr/>
          <p:nvPr/>
        </p:nvSpPr>
        <p:spPr>
          <a:xfrm>
            <a:off x="411480" y="2057400"/>
            <a:ext cx="11247120" cy="3029096"/>
          </a:xfrm>
          <a:prstGeom prst="roundRect">
            <a:avLst>
              <a:gd name="adj" fmla="val 3000"/>
            </a:avLst>
          </a:prstGeom>
          <a:solidFill>
            <a:srgbClr val="112233"/>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94360" y="21717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Do setup and hold as two separate calculations — never together</a:t>
            </a:r>
          </a:p>
        </p:txBody>
      </p:sp>
      <p:sp>
        <p:nvSpPr>
          <p:cNvPr id="14" name="TextBox 13"/>
          <p:cNvSpPr txBox="1"/>
          <p:nvPr/>
        </p:nvSpPr>
        <p:spPr>
          <a:xfrm>
            <a:off x="594360" y="2446020"/>
            <a:ext cx="10881360" cy="2526176"/>
          </a:xfrm>
          <a:prstGeom prst="rect">
            <a:avLst/>
          </a:prstGeom>
          <a:noFill/>
        </p:spPr>
        <p:txBody>
          <a:bodyPr wrap="square" lIns="0" rIns="0" tIns="0" bIns="0" anchor="t">
            <a:spAutoFit/>
          </a:bodyPr>
          <a:lstStyle/>
          <a:p>
            <a:pPr algn="l">
              <a:lnSpc>
                <a:spcPct val="112000"/>
              </a:lnSpc>
            </a:pPr>
            <a:r>
              <a:rPr sz="840" b="0" i="0">
                <a:solidFill>
                  <a:srgbClr val="D8E4F0"/>
                </a:solidFill>
                <a:latin typeface="Consolas"/>
              </a:rPr>
              <a:t>SETUP CHECK</a:t>
            </a:r>
          </a:p>
          <a:p>
            <a:pPr algn="l">
              <a:lnSpc>
                <a:spcPct val="112000"/>
              </a:lnSpc>
            </a:pPr>
            <a:r>
              <a:rPr sz="840" b="0" i="0">
                <a:solidFill>
                  <a:srgbClr val="D8E4F0"/>
                </a:solidFill>
                <a:latin typeface="Consolas"/>
              </a:rPr>
              <a:t>  Required period  T_req = t_cq + t_logic,max + t_setup + t_jitter - t_skew</a:t>
            </a:r>
          </a:p>
          <a:p>
            <a:pPr algn="l">
              <a:lnSpc>
                <a:spcPct val="112000"/>
              </a:lnSpc>
            </a:pPr>
            <a:r>
              <a:rPr sz="840" b="0" i="0">
                <a:solidFill>
                  <a:srgbClr val="D8E4F0"/>
                </a:solidFill>
                <a:latin typeface="Consolas"/>
              </a:rPr>
              <a:t>                         = 60 + 240 + 50 + 15 - 25          (late capture clock HELPS setup)</a:t>
            </a:r>
          </a:p>
          <a:p>
            <a:pPr algn="l">
              <a:lnSpc>
                <a:spcPct val="112000"/>
              </a:lnSpc>
            </a:pPr>
            <a:r>
              <a:rPr sz="840" b="0" i="0">
                <a:solidFill>
                  <a:srgbClr val="D8E4F0"/>
                </a:solidFill>
                <a:latin typeface="Consolas"/>
              </a:rPr>
              <a:t>                         = 340 ps</a:t>
            </a:r>
          </a:p>
          <a:p>
            <a:pPr algn="l">
              <a:lnSpc>
                <a:spcPct val="112000"/>
              </a:lnSpc>
            </a:pPr>
            <a:r>
              <a:rPr sz="840" b="0" i="0">
                <a:solidFill>
                  <a:srgbClr val="D8E4F0"/>
                </a:solidFill>
                <a:latin typeface="Consolas"/>
              </a:rPr>
              <a:t>  f_max = 1 / 340 ps = 2.94 GHz</a:t>
            </a:r>
          </a:p>
          <a:p>
            <a:pPr algn="l">
              <a:lnSpc>
                <a:spcPct val="112000"/>
              </a:lnSpc>
            </a:pPr>
            <a:r>
              <a:rPr sz="840" b="0" i="0">
                <a:solidFill>
                  <a:srgbClr val="D8E4F0"/>
                </a:solidFill>
                <a:latin typeface="Consolas"/>
              </a:rPr>
              <a:t>  Target 2.0 GHz -&gt; T_target = 500 ps</a:t>
            </a:r>
          </a:p>
          <a:p>
            <a:pPr algn="l">
              <a:lnSpc>
                <a:spcPct val="112000"/>
              </a:lnSpc>
            </a:pPr>
            <a:r>
              <a:rPr sz="840" b="0" i="0">
                <a:solidFill>
                  <a:srgbClr val="D8E4F0"/>
                </a:solidFill>
                <a:latin typeface="Consolas"/>
              </a:rPr>
              <a:t>  SETUP SLACK = 500 - 340 = +160 ps          PASS  (positive slack = met)</a:t>
            </a:r>
          </a:p>
          <a:p>
            <a:pPr algn="l">
              <a:lnSpc>
                <a:spcPct val="112000"/>
              </a:lnSpc>
            </a:pPr>
            <a:r>
              <a:rPr sz="840" b="0" i="0">
                <a:solidFill>
                  <a:srgbClr val="D8E4F0"/>
                </a:solidFill>
                <a:latin typeface="Consolas"/>
              </a:rPr>
              <a:t> </a:t>
            </a:r>
          </a:p>
          <a:p>
            <a:pPr algn="l">
              <a:lnSpc>
                <a:spcPct val="112000"/>
              </a:lnSpc>
            </a:pPr>
            <a:r>
              <a:rPr sz="840" b="0" i="0">
                <a:solidFill>
                  <a:srgbClr val="D8E4F0"/>
                </a:solidFill>
                <a:latin typeface="Consolas"/>
              </a:rPr>
              <a:t>HOLD CHECK</a:t>
            </a:r>
          </a:p>
          <a:p>
            <a:pPr algn="l">
              <a:lnSpc>
                <a:spcPct val="112000"/>
              </a:lnSpc>
            </a:pPr>
            <a:r>
              <a:rPr sz="840" b="0" i="0">
                <a:solidFill>
                  <a:srgbClr val="D8E4F0"/>
                </a:solidFill>
                <a:latin typeface="Consolas"/>
              </a:rPr>
              <a:t>  Required:  t_cq + t_logic,min  &gt;=  t_hold + t_skew</a:t>
            </a:r>
          </a:p>
          <a:p>
            <a:pPr algn="l">
              <a:lnSpc>
                <a:spcPct val="112000"/>
              </a:lnSpc>
            </a:pPr>
            <a:r>
              <a:rPr sz="840" b="0" i="0">
                <a:solidFill>
                  <a:srgbClr val="D8E4F0"/>
                </a:solidFill>
                <a:latin typeface="Consolas"/>
              </a:rPr>
              <a:t>             60   + 30           &gt;=  40     + 25</a:t>
            </a:r>
          </a:p>
          <a:p>
            <a:pPr algn="l">
              <a:lnSpc>
                <a:spcPct val="112000"/>
              </a:lnSpc>
            </a:pPr>
            <a:r>
              <a:rPr sz="840" b="0" i="0">
                <a:solidFill>
                  <a:srgbClr val="D8E4F0"/>
                </a:solidFill>
                <a:latin typeface="Consolas"/>
              </a:rPr>
              <a:t>             90                  &gt;=  65</a:t>
            </a:r>
          </a:p>
          <a:p>
            <a:pPr algn="l">
              <a:lnSpc>
                <a:spcPct val="112000"/>
              </a:lnSpc>
            </a:pPr>
            <a:r>
              <a:rPr sz="840" b="0" i="0">
                <a:solidFill>
                  <a:srgbClr val="D8E4F0"/>
                </a:solidFill>
                <a:latin typeface="Consolas"/>
              </a:rPr>
              <a:t>  HOLD SLACK = 90 - 65 = +25 ps              PASS</a:t>
            </a:r>
          </a:p>
          <a:p>
            <a:pPr algn="l">
              <a:lnSpc>
                <a:spcPct val="112000"/>
              </a:lnSpc>
            </a:pPr>
            <a:r>
              <a:rPr sz="840" b="0" i="0">
                <a:solidFill>
                  <a:srgbClr val="D8E4F0"/>
                </a:solidFill>
                <a:latin typeface="Consolas"/>
              </a:rPr>
              <a:t> </a:t>
            </a:r>
          </a:p>
          <a:p>
            <a:pPr algn="l">
              <a:lnSpc>
                <a:spcPct val="112000"/>
              </a:lnSpc>
            </a:pPr>
            <a:r>
              <a:rPr sz="840" b="0" i="0">
                <a:solidFill>
                  <a:srgbClr val="D8E4F0"/>
                </a:solidFill>
                <a:latin typeface="Consolas"/>
              </a:rPr>
              <a:t>WHAT IF the short path were only 5 ps of logic?</a:t>
            </a:r>
          </a:p>
          <a:p>
            <a:pPr algn="l">
              <a:lnSpc>
                <a:spcPct val="112000"/>
              </a:lnSpc>
            </a:pPr>
            <a:r>
              <a:rPr sz="840" b="0" i="0">
                <a:solidFill>
                  <a:srgbClr val="D8E4F0"/>
                </a:solidFill>
                <a:latin typeface="Consolas"/>
              </a:rPr>
              <a:t>  60 + 5 = 65  &gt;=  65   -&gt;  slack = 0 ps, marginal; the tool would insert delay buffers.</a:t>
            </a:r>
          </a:p>
        </p:txBody>
      </p:sp>
      <p:sp>
        <p:nvSpPr>
          <p:cNvPr id="15" name="Rounded Rectangle 14"/>
          <p:cNvSpPr/>
          <p:nvPr/>
        </p:nvSpPr>
        <p:spPr>
          <a:xfrm>
            <a:off x="411480" y="5177936"/>
            <a:ext cx="5532120" cy="100584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48640" y="5241944"/>
            <a:ext cx="5257800" cy="274320"/>
          </a:xfrm>
          <a:prstGeom prst="rect">
            <a:avLst/>
          </a:prstGeom>
          <a:noFill/>
        </p:spPr>
        <p:txBody>
          <a:bodyPr wrap="square" lIns="0" rIns="0" tIns="0" bIns="0" anchor="ctr">
            <a:spAutoFit/>
          </a:bodyPr>
          <a:lstStyle/>
          <a:p>
            <a:pPr algn="l">
              <a:lnSpc>
                <a:spcPct val="103000"/>
              </a:lnSpc>
            </a:pPr>
            <a:r>
              <a:rPr sz="1150" b="1" i="0">
                <a:solidFill>
                  <a:srgbClr val="0E2A47"/>
                </a:solidFill>
                <a:latin typeface="Cambria"/>
              </a:rPr>
              <a:t>Sign convention</a:t>
            </a:r>
          </a:p>
        </p:txBody>
      </p:sp>
      <p:sp>
        <p:nvSpPr>
          <p:cNvPr id="17" name="TextBox 16"/>
          <p:cNvSpPr txBox="1"/>
          <p:nvPr/>
        </p:nvSpPr>
        <p:spPr>
          <a:xfrm>
            <a:off x="548640" y="5516264"/>
            <a:ext cx="5257800" cy="6035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Positive slack = requirement met, with margin to spare.</a:t>
            </a:r>
          </a:p>
          <a:p>
            <a:pPr algn="l">
              <a:lnSpc>
                <a:spcPct val="103000"/>
              </a:lnSpc>
              <a:spcAft>
                <a:spcPts val="400"/>
              </a:spcAft>
            </a:pPr>
            <a:r>
              <a:rPr sz="1050" b="1" i="0">
                <a:solidFill>
                  <a:srgbClr val="C01F43"/>
                </a:solidFill>
                <a:latin typeface="Calibri"/>
              </a:rPr>
              <a:t>Negative slack = VIOLATION. The number tells you by how much.</a:t>
            </a:r>
          </a:p>
        </p:txBody>
      </p:sp>
      <p:sp>
        <p:nvSpPr>
          <p:cNvPr id="18" name="Rounded Rectangle 17"/>
          <p:cNvSpPr/>
          <p:nvPr/>
        </p:nvSpPr>
        <p:spPr>
          <a:xfrm>
            <a:off x="6126480" y="5177936"/>
            <a:ext cx="5532120" cy="10058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63640" y="5241944"/>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Note on skew</a:t>
            </a:r>
          </a:p>
        </p:txBody>
      </p:sp>
      <p:sp>
        <p:nvSpPr>
          <p:cNvPr id="20" name="TextBox 19"/>
          <p:cNvSpPr txBox="1"/>
          <p:nvPr/>
        </p:nvSpPr>
        <p:spPr>
          <a:xfrm>
            <a:off x="6263640" y="5516264"/>
            <a:ext cx="5257800" cy="6035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 late capture clock helps setup and hurts hold — which is why skew appears with opposite signs in the two checks. Getting that sign wrong is the single most common exam mistake.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3C · CLOCK QUALITY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Clock Skew and Jitter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47</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idealisation that 'the clock edge arrives everywhere at once' is false. </a:t>
            </a:r>
            <a:r>
              <a:rPr sz="1100" b="0" i="0">
                <a:solidFill>
                  <a:srgbClr val="33414F"/>
                </a:solidFill>
                <a:latin typeface="Calibri"/>
              </a:rPr>
              <a:t>Skew is a fixed difference between flip-flops; jitter is a random difference between cycles. Both are subtracted from the time available for your logic.</a:t>
            </a:r>
          </a:p>
        </p:txBody>
      </p:sp>
      <p:pic>
        <p:nvPicPr>
          <p:cNvPr id="10" name="Picture 9" descr="clock_skew.png"/>
          <p:cNvPicPr>
            <a:picLocks noChangeAspect="1"/>
          </p:cNvPicPr>
          <p:nvPr/>
        </p:nvPicPr>
        <p:blipFill>
          <a:blip r:embed="rId2"/>
          <a:stretch>
            <a:fillRect/>
          </a:stretch>
        </p:blipFill>
        <p:spPr>
          <a:xfrm>
            <a:off x="1308224" y="1691640"/>
            <a:ext cx="9453631" cy="3200400"/>
          </a:xfrm>
          <a:prstGeom prst="rect">
            <a:avLst/>
          </a:prstGeom>
        </p:spPr>
      </p:pic>
      <p:sp>
        <p:nvSpPr>
          <p:cNvPr id="11" name="Rounded Rectangle 10"/>
          <p:cNvSpPr/>
          <p:nvPr/>
        </p:nvSpPr>
        <p:spPr>
          <a:xfrm>
            <a:off x="411480" y="4983480"/>
            <a:ext cx="3627120" cy="14173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04748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Skew — systematic</a:t>
            </a:r>
          </a:p>
        </p:txBody>
      </p:sp>
      <p:sp>
        <p:nvSpPr>
          <p:cNvPr id="13" name="TextBox 12"/>
          <p:cNvSpPr txBox="1"/>
          <p:nvPr/>
        </p:nvSpPr>
        <p:spPr>
          <a:xfrm>
            <a:off x="548640" y="5321808"/>
            <a:ext cx="3352800" cy="10149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Cause: unequal clock-tree path lengths and loads.</a:t>
            </a:r>
          </a:p>
          <a:p>
            <a:pPr algn="l">
              <a:lnSpc>
                <a:spcPct val="103000"/>
              </a:lnSpc>
              <a:spcAft>
                <a:spcPts val="400"/>
              </a:spcAft>
            </a:pPr>
            <a:r>
              <a:rPr sz="1050" b="0" i="0">
                <a:solidFill>
                  <a:srgbClr val="33414F"/>
                </a:solidFill>
                <a:latin typeface="Calibri"/>
              </a:rPr>
              <a:t>Fixed by clock-tree synthesis (CTS), which inserts buffers to balance every branch to within a few tens of picoseconds.</a:t>
            </a:r>
          </a:p>
        </p:txBody>
      </p:sp>
      <p:sp>
        <p:nvSpPr>
          <p:cNvPr id="14" name="Rounded Rectangle 13"/>
          <p:cNvSpPr/>
          <p:nvPr/>
        </p:nvSpPr>
        <p:spPr>
          <a:xfrm>
            <a:off x="4221480" y="4983480"/>
            <a:ext cx="3627120" cy="14173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358640" y="504748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Jitter — random</a:t>
            </a:r>
          </a:p>
        </p:txBody>
      </p:sp>
      <p:sp>
        <p:nvSpPr>
          <p:cNvPr id="16" name="TextBox 15"/>
          <p:cNvSpPr txBox="1"/>
          <p:nvPr/>
        </p:nvSpPr>
        <p:spPr>
          <a:xfrm>
            <a:off x="4358640" y="5321808"/>
            <a:ext cx="3352800" cy="10149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Cause: PLL noise, supply droop, crosstalk, temperature.</a:t>
            </a:r>
          </a:p>
          <a:p>
            <a:pPr algn="l">
              <a:lnSpc>
                <a:spcPct val="103000"/>
              </a:lnSpc>
              <a:spcAft>
                <a:spcPts val="400"/>
              </a:spcAft>
            </a:pPr>
            <a:r>
              <a:rPr sz="1050" b="0" i="0">
                <a:solidFill>
                  <a:srgbClr val="33414F"/>
                </a:solidFill>
                <a:latin typeface="Calibri"/>
              </a:rPr>
              <a:t>Cannot be designed out; budgeted as an uncertainty in the SDC constraints and paid for out of every clock period.</a:t>
            </a:r>
          </a:p>
        </p:txBody>
      </p:sp>
      <p:sp>
        <p:nvSpPr>
          <p:cNvPr id="17" name="Rounded Rectangle 16"/>
          <p:cNvSpPr/>
          <p:nvPr/>
        </p:nvSpPr>
        <p:spPr>
          <a:xfrm>
            <a:off x="8031480" y="4983480"/>
            <a:ext cx="3627120" cy="14173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68640" y="504748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Useful skew</a:t>
            </a:r>
          </a:p>
        </p:txBody>
      </p:sp>
      <p:sp>
        <p:nvSpPr>
          <p:cNvPr id="19" name="TextBox 18"/>
          <p:cNvSpPr txBox="1"/>
          <p:nvPr/>
        </p:nvSpPr>
        <p:spPr>
          <a:xfrm>
            <a:off x="8168640" y="5321808"/>
            <a:ext cx="3352800" cy="10149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Deliberately delaying a capture clock borrows time for a slow path from the next stage. Powerful, and dangerous — it tightens the hold check on the same path.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3C · REGISTERS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Registers and Shift Registers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48</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register is simply n flip-flops sharing one clock. </a:t>
            </a:r>
            <a:r>
              <a:rPr sz="1100" b="0" i="0">
                <a:solidFill>
                  <a:srgbClr val="33414F"/>
                </a:solidFill>
                <a:latin typeface="Calibri"/>
              </a:rPr>
              <a:t>Wire each Q to the next D and you have a shift register — the basis of serial links, delay lines, scan chains for test, and multiply/divide by two.</a:t>
            </a:r>
          </a:p>
        </p:txBody>
      </p:sp>
      <p:pic>
        <p:nvPicPr>
          <p:cNvPr id="10" name="Picture 9" descr="shift_registers.png"/>
          <p:cNvPicPr>
            <a:picLocks noChangeAspect="1"/>
          </p:cNvPicPr>
          <p:nvPr/>
        </p:nvPicPr>
        <p:blipFill>
          <a:blip r:embed="rId2"/>
          <a:stretch>
            <a:fillRect/>
          </a:stretch>
        </p:blipFill>
        <p:spPr>
          <a:xfrm>
            <a:off x="2275700" y="1691640"/>
            <a:ext cx="7518679" cy="3337560"/>
          </a:xfrm>
          <a:prstGeom prst="rect">
            <a:avLst/>
          </a:prstGeom>
        </p:spPr>
      </p:pic>
      <p:sp>
        <p:nvSpPr>
          <p:cNvPr id="11" name="Rounded Rectangle 10"/>
          <p:cNvSpPr/>
          <p:nvPr/>
        </p:nvSpPr>
        <p:spPr>
          <a:xfrm>
            <a:off x="411480" y="5120640"/>
            <a:ext cx="11247120" cy="9601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18464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Applications you will actually build</a:t>
            </a:r>
          </a:p>
        </p:txBody>
      </p:sp>
      <p:sp>
        <p:nvSpPr>
          <p:cNvPr id="13" name="TextBox 12"/>
          <p:cNvSpPr txBox="1"/>
          <p:nvPr/>
        </p:nvSpPr>
        <p:spPr>
          <a:xfrm>
            <a:off x="576072" y="5458968"/>
            <a:ext cx="10917936" cy="55778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alibri"/>
              </a:rPr>
              <a:t>Serialisation </a:t>
            </a:r>
            <a:r>
              <a:rPr sz="1100" b="0" i="0">
                <a:solidFill>
                  <a:srgbClr val="33414F"/>
                </a:solidFill>
                <a:latin typeface="Calibri"/>
              </a:rPr>
              <a:t>(SPI, UART, JTAG) · </a:t>
            </a:r>
            <a:r>
              <a:rPr sz="1100" b="1" i="0">
                <a:solidFill>
                  <a:srgbClr val="0E2A47"/>
                </a:solidFill>
                <a:latin typeface="Calibri"/>
              </a:rPr>
              <a:t>Delay lines </a:t>
            </a:r>
            <a:r>
              <a:rPr sz="1100" b="0" i="0">
                <a:solidFill>
                  <a:srgbClr val="33414F"/>
                </a:solidFill>
                <a:latin typeface="Calibri"/>
              </a:rPr>
              <a:t>and pipeline balancing · </a:t>
            </a:r>
            <a:r>
              <a:rPr sz="1100" b="1" i="0">
                <a:solidFill>
                  <a:srgbClr val="0E2A47"/>
                </a:solidFill>
                <a:latin typeface="Calibri"/>
              </a:rPr>
              <a:t>Synchronisers </a:t>
            </a:r>
            <a:r>
              <a:rPr sz="1100" b="0" i="0">
                <a:solidFill>
                  <a:srgbClr val="33414F"/>
                </a:solidFill>
                <a:latin typeface="Calibri"/>
              </a:rPr>
              <a:t>(a 2-bit shift register is exactly the 2-FF synchroniser) · </a:t>
            </a:r>
          </a:p>
          <a:p>
            <a:pPr algn="l">
              <a:lnSpc>
                <a:spcPct val="103000"/>
              </a:lnSpc>
              <a:spcAft>
                <a:spcPts val="400"/>
              </a:spcAft>
            </a:pPr>
            <a:r>
              <a:rPr sz="1100" b="1" i="0">
                <a:solidFill>
                  <a:srgbClr val="0E2A47"/>
                </a:solidFill>
                <a:latin typeface="Calibri"/>
              </a:rPr>
              <a:t>Scan chains </a:t>
            </a:r>
            <a:r>
              <a:rPr sz="1100" b="0" i="0">
                <a:solidFill>
                  <a:srgbClr val="33414F"/>
                </a:solidFill>
                <a:latin typeface="Calibri"/>
              </a:rPr>
              <a:t>— during manufacturing test every flip-flop in the chip is rewired into one giant shift register so patterns can be loaded and results read out.   </a:t>
            </a:r>
            <a:r>
              <a:rPr sz="1100" b="1" i="0">
                <a:solidFill>
                  <a:srgbClr val="0E2A47"/>
                </a:solidFill>
                <a:latin typeface="Calibri"/>
              </a:rPr>
              <a:t>LFSRs </a:t>
            </a:r>
            <a:r>
              <a:rPr sz="1100" b="0" i="0">
                <a:solidFill>
                  <a:srgbClr val="33414F"/>
                </a:solidFill>
                <a:latin typeface="Calibri"/>
              </a:rPr>
              <a:t>— add an XOR feedback tap and you have a pseudo-random generator or a CRC engine.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77514"/>
                </a:solidFill>
                <a:latin typeface="Calibri"/>
              </a:rPr>
              <a:t>TOPIC 3C · COUNTERS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Counters — Ripple vs Synchronous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49</a:t>
            </a:r>
          </a:p>
        </p:txBody>
      </p:sp>
      <p:sp>
        <p:nvSpPr>
          <p:cNvPr id="9" name="TextBox 8"/>
          <p:cNvSpPr txBox="1"/>
          <p:nvPr/>
        </p:nvSpPr>
        <p:spPr>
          <a:xfrm>
            <a:off x="411480" y="1143000"/>
            <a:ext cx="11247120" cy="4572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counter is a state machine whose state happens to be a number. </a:t>
            </a:r>
            <a:r>
              <a:rPr sz="1100" b="0" i="0">
                <a:solidFill>
                  <a:srgbClr val="33414F"/>
                </a:solidFill>
                <a:latin typeface="Calibri"/>
              </a:rPr>
              <a:t>There are two ways to build one, and only one of them belongs in a synthesised design.</a:t>
            </a:r>
          </a:p>
        </p:txBody>
      </p:sp>
      <p:pic>
        <p:nvPicPr>
          <p:cNvPr id="10" name="Picture 9" descr="counters.png"/>
          <p:cNvPicPr>
            <a:picLocks noChangeAspect="1"/>
          </p:cNvPicPr>
          <p:nvPr/>
        </p:nvPicPr>
        <p:blipFill>
          <a:blip r:embed="rId2"/>
          <a:stretch>
            <a:fillRect/>
          </a:stretch>
        </p:blipFill>
        <p:spPr>
          <a:xfrm>
            <a:off x="2224203" y="1691640"/>
            <a:ext cx="7621675" cy="3383280"/>
          </a:xfrm>
          <a:prstGeom prst="rect">
            <a:avLst/>
          </a:prstGeom>
        </p:spPr>
      </p:pic>
      <p:sp>
        <p:nvSpPr>
          <p:cNvPr id="11" name="Rounded Rectangle 10"/>
          <p:cNvSpPr/>
          <p:nvPr/>
        </p:nvSpPr>
        <p:spPr>
          <a:xfrm>
            <a:off x="411480" y="5166360"/>
            <a:ext cx="5532120" cy="10515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23036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Varieties you should know</a:t>
            </a:r>
          </a:p>
        </p:txBody>
      </p:sp>
      <p:sp>
        <p:nvSpPr>
          <p:cNvPr id="13" name="TextBox 12"/>
          <p:cNvSpPr txBox="1"/>
          <p:nvPr/>
        </p:nvSpPr>
        <p:spPr>
          <a:xfrm>
            <a:off x="548640" y="5504688"/>
            <a:ext cx="5257800" cy="6492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Up / down / up-down · loadable · with enable · mod-N (divide by N) · ring counter (one-hot, N states from N flip-flops) · Johnson / twisted-ring (2N states from N flip-flops) · LFSR (2ⁿ−1 states, maximal length, but not in numeric order).</a:t>
            </a:r>
          </a:p>
        </p:txBody>
      </p:sp>
      <p:sp>
        <p:nvSpPr>
          <p:cNvPr id="14" name="Rounded Rectangle 13"/>
          <p:cNvSpPr/>
          <p:nvPr/>
        </p:nvSpPr>
        <p:spPr>
          <a:xfrm>
            <a:off x="6126480" y="5166360"/>
            <a:ext cx="5532120" cy="10515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23036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Rule</a:t>
            </a:r>
          </a:p>
        </p:txBody>
      </p:sp>
      <p:sp>
        <p:nvSpPr>
          <p:cNvPr id="16" name="TextBox 15"/>
          <p:cNvSpPr txBox="1"/>
          <p:nvPr/>
        </p:nvSpPr>
        <p:spPr>
          <a:xfrm>
            <a:off x="6263640" y="5504688"/>
            <a:ext cx="5257800" cy="649224"/>
          </a:xfrm>
          <a:prstGeom prst="rect">
            <a:avLst/>
          </a:prstGeom>
          <a:noFill/>
        </p:spPr>
        <p:txBody>
          <a:bodyPr wrap="square" lIns="0" rIns="0" tIns="0" bIns="0" anchor="t">
            <a:spAutoFit/>
          </a:bodyPr>
          <a:lstStyle/>
          <a:p>
            <a:pPr algn="l">
              <a:lnSpc>
                <a:spcPct val="103000"/>
              </a:lnSpc>
              <a:spcAft>
                <a:spcPts val="400"/>
              </a:spcAft>
            </a:pPr>
            <a:r>
              <a:rPr sz="1100" b="1" i="0">
                <a:solidFill>
                  <a:srgbClr val="C01F43"/>
                </a:solidFill>
                <a:latin typeface="Calibri"/>
              </a:rPr>
              <a:t>Never write a ripple counter in RTL.</a:t>
            </a:r>
          </a:p>
          <a:p>
            <a:pPr algn="l">
              <a:lnSpc>
                <a:spcPct val="103000"/>
              </a:lnSpc>
              <a:spcAft>
                <a:spcPts val="400"/>
              </a:spcAft>
            </a:pPr>
            <a:r>
              <a:rPr sz="1050" b="0" i="0">
                <a:solidFill>
                  <a:srgbClr val="33414F"/>
                </a:solidFill>
                <a:latin typeface="Calibri"/>
              </a:rPr>
              <a:t>It creates a second clock domain out of a data signal, breaks static timing analysis, and produces transient wrong values. Always use one clock and an enable.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TOPIC 3C · PRACTICAL EXAMPLE 5</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Worked: A Mod-10 (BCD) Synchronous Counter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50</a:t>
            </a:r>
          </a:p>
        </p:txBody>
      </p:sp>
      <p:pic>
        <p:nvPicPr>
          <p:cNvPr id="9" name="Picture 8" descr="mod10_design.png"/>
          <p:cNvPicPr>
            <a:picLocks noChangeAspect="1"/>
          </p:cNvPicPr>
          <p:nvPr/>
        </p:nvPicPr>
        <p:blipFill>
          <a:blip r:embed="rId2"/>
          <a:stretch>
            <a:fillRect/>
          </a:stretch>
        </p:blipFill>
        <p:spPr>
          <a:xfrm>
            <a:off x="2069709" y="1143000"/>
            <a:ext cx="7930662" cy="3520440"/>
          </a:xfrm>
          <a:prstGeom prst="rect">
            <a:avLst/>
          </a:prstGeom>
        </p:spPr>
      </p:pic>
      <p:sp>
        <p:nvSpPr>
          <p:cNvPr id="10" name="Rounded Rectangle 9"/>
          <p:cNvSpPr/>
          <p:nvPr/>
        </p:nvSpPr>
        <p:spPr>
          <a:xfrm>
            <a:off x="411480" y="4754880"/>
            <a:ext cx="11247120" cy="160020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481888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How the gate-level equations were obtained</a:t>
            </a:r>
          </a:p>
        </p:txBody>
      </p:sp>
      <p:sp>
        <p:nvSpPr>
          <p:cNvPr id="12" name="TextBox 11"/>
          <p:cNvSpPr txBox="1"/>
          <p:nvPr/>
        </p:nvSpPr>
        <p:spPr>
          <a:xfrm>
            <a:off x="576072" y="5093208"/>
            <a:ext cx="10917936" cy="119786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1. Write the state table (0000 … 1001 and the wrap to 0000).   2. For each bit, tabulate Qᵢ → Qᵢ⁺.   3. Since D = Q⁺, the D column IS the next-state column.   4. K-map each Dᵢ over Q₃Q₂Q₁Q₀, treating states 1010–1111 as don't-cares.   5. Read off the minimal SOP.</a:t>
            </a:r>
          </a:p>
          <a:p>
            <a:pPr algn="l">
              <a:lnSpc>
                <a:spcPct val="103000"/>
              </a:lnSpc>
              <a:spcAft>
                <a:spcPts val="400"/>
              </a:spcAft>
            </a:pPr>
            <a:r>
              <a:rPr sz="1100" b="0" i="1">
                <a:solidFill>
                  <a:srgbClr val="5A6B7B"/>
                </a:solidFill>
                <a:latin typeface="Calibri"/>
              </a:rPr>
              <a:t>Check one row by hand: at count 9 (Q = 1001), D₀ = Q₀' = 0, D₁ = Q₁ ⊕ (Q₀·Q₃') = 0 ⊕ (1·0) = 0, D₂ = Q₂ ⊕ (Q₁·Q₀) = 0 ⊕ 0 = 0, D₃ = Q₃ ⊕ (Q₃Q₀ + Q₂Q₁Q₀) = 1 ⊕ 1 = 0. Next state = 0000. </a:t>
            </a:r>
            <a:r>
              <a:rPr sz="1100" b="1" i="0">
                <a:solidFill>
                  <a:srgbClr val="2A9D5C"/>
                </a:solidFill>
                <a:latin typeface="Calibri"/>
              </a:rPr>
              <a:t>Correct.</a:t>
            </a:r>
          </a:p>
          <a:p>
            <a:pPr algn="l">
              <a:lnSpc>
                <a:spcPct val="103000"/>
              </a:lnSpc>
              <a:spcAft>
                <a:spcPts val="400"/>
              </a:spcAft>
            </a:pPr>
            <a:r>
              <a:rPr sz="1100" b="1" i="0">
                <a:solidFill>
                  <a:srgbClr val="C01F43"/>
                </a:solidFill>
                <a:latin typeface="Calibri"/>
              </a:rPr>
              <a:t>Trap: </a:t>
            </a:r>
            <a:r>
              <a:rPr sz="1100" b="0" i="0">
                <a:solidFill>
                  <a:srgbClr val="33414F"/>
                </a:solidFill>
                <a:latin typeface="Calibri"/>
              </a:rPr>
              <a:t>states 1010–1111 are unreachable but not impossible — a glitch or SEU can land you there. Because we treated them as don't-cares the counter may lock up. A SAFE counter forces any illegal state back to 0000 explicitly.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3C · STATE MACHINES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Finite State Machines — The Universal Controller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51</a:t>
            </a:r>
          </a:p>
        </p:txBody>
      </p:sp>
      <p:sp>
        <p:nvSpPr>
          <p:cNvPr id="9" name="TextBox 8"/>
          <p:cNvSpPr txBox="1"/>
          <p:nvPr/>
        </p:nvSpPr>
        <p:spPr>
          <a:xfrm>
            <a:off x="411480" y="1143000"/>
            <a:ext cx="11247120" cy="6400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An FSM is the formal name for 'a circuit that remembers where it is in a sequence'. </a:t>
            </a:r>
            <a:r>
              <a:rPr sz="1100" b="0" i="0">
                <a:solidFill>
                  <a:srgbClr val="33414F"/>
                </a:solidFill>
                <a:latin typeface="Calibri"/>
              </a:rPr>
              <a:t>Formally it is a 6-tuple (S, S₀, X, Y, δ, λ): a finite set of states, a start state, an input alphabet, an output alphabet, a next-state function δ, and an output function λ. Every protocol engine, bus controller, arbiter and CPU control unit is one.</a:t>
            </a:r>
          </a:p>
        </p:txBody>
      </p:sp>
      <p:sp>
        <p:nvSpPr>
          <p:cNvPr id="10" name="Rounded Rectangle 9"/>
          <p:cNvSpPr/>
          <p:nvPr/>
        </p:nvSpPr>
        <p:spPr>
          <a:xfrm>
            <a:off x="411480" y="1874520"/>
            <a:ext cx="3627120" cy="24688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193852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three pieces of hardware</a:t>
            </a:r>
          </a:p>
        </p:txBody>
      </p:sp>
      <p:sp>
        <p:nvSpPr>
          <p:cNvPr id="12" name="TextBox 11"/>
          <p:cNvSpPr txBox="1"/>
          <p:nvPr/>
        </p:nvSpPr>
        <p:spPr>
          <a:xfrm>
            <a:off x="548640" y="2212848"/>
            <a:ext cx="3352800" cy="20665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1. State register — n flip-flops holding the present state.</a:t>
            </a:r>
          </a:p>
          <a:p>
            <a:pPr algn="l">
              <a:lnSpc>
                <a:spcPct val="103000"/>
              </a:lnSpc>
              <a:spcAft>
                <a:spcPts val="400"/>
              </a:spcAft>
            </a:pPr>
            <a:r>
              <a:rPr sz="1050" b="0" i="0">
                <a:solidFill>
                  <a:srgbClr val="33414F"/>
                </a:solidFill>
                <a:latin typeface="Calibri"/>
              </a:rPr>
              <a:t>2. Next-state logic — combinational, computes δ(state, input).</a:t>
            </a:r>
          </a:p>
          <a:p>
            <a:pPr algn="l">
              <a:lnSpc>
                <a:spcPct val="103000"/>
              </a:lnSpc>
              <a:spcAft>
                <a:spcPts val="400"/>
              </a:spcAft>
            </a:pPr>
            <a:r>
              <a:rPr sz="1050" b="0" i="0">
                <a:solidFill>
                  <a:srgbClr val="33414F"/>
                </a:solidFill>
                <a:latin typeface="Calibri"/>
              </a:rPr>
              <a:t>3. Output logic — combinational, computes λ.</a:t>
            </a:r>
          </a:p>
          <a:p>
            <a:pPr algn="l">
              <a:lnSpc>
                <a:spcPct val="103000"/>
              </a:lnSpc>
              <a:spcAft>
                <a:spcPts val="400"/>
              </a:spcAft>
            </a:pPr>
            <a:r>
              <a:rPr sz="1050" b="1" i="0">
                <a:solidFill>
                  <a:srgbClr val="0E2A47"/>
                </a:solidFill>
                <a:latin typeface="Calibri"/>
              </a:rPr>
              <a:t>Nothing else. Every FSM is this.</a:t>
            </a:r>
          </a:p>
        </p:txBody>
      </p:sp>
      <p:sp>
        <p:nvSpPr>
          <p:cNvPr id="13" name="Rounded Rectangle 12"/>
          <p:cNvSpPr/>
          <p:nvPr/>
        </p:nvSpPr>
        <p:spPr>
          <a:xfrm>
            <a:off x="4221480" y="1874520"/>
            <a:ext cx="3627120" cy="246888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58640" y="193852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What counts as a 'state'</a:t>
            </a:r>
          </a:p>
        </p:txBody>
      </p:sp>
      <p:sp>
        <p:nvSpPr>
          <p:cNvPr id="15" name="TextBox 14"/>
          <p:cNvSpPr txBox="1"/>
          <p:nvPr/>
        </p:nvSpPr>
        <p:spPr>
          <a:xfrm>
            <a:off x="4358640" y="2212848"/>
            <a:ext cx="3352800" cy="20665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 state is an equivalence class of histories: two input histories are the same state if the machine will behave identically from now on.</a:t>
            </a:r>
          </a:p>
          <a:p>
            <a:pPr algn="l">
              <a:lnSpc>
                <a:spcPct val="103000"/>
              </a:lnSpc>
              <a:spcAft>
                <a:spcPts val="400"/>
              </a:spcAft>
            </a:pPr>
            <a:r>
              <a:rPr sz="1050" b="0" i="0">
                <a:solidFill>
                  <a:srgbClr val="33414F"/>
                </a:solidFill>
                <a:latin typeface="Calibri"/>
              </a:rPr>
              <a:t>This is why the 1011 detector needs five states — 'nothing', '1', '10', '101', '1011' — and not thirty-two.</a:t>
            </a:r>
          </a:p>
        </p:txBody>
      </p:sp>
      <p:sp>
        <p:nvSpPr>
          <p:cNvPr id="16" name="Rounded Rectangle 15"/>
          <p:cNvSpPr/>
          <p:nvPr/>
        </p:nvSpPr>
        <p:spPr>
          <a:xfrm>
            <a:off x="8031480" y="1874520"/>
            <a:ext cx="3627120" cy="24688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68640" y="193852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Why finite matters</a:t>
            </a:r>
          </a:p>
        </p:txBody>
      </p:sp>
      <p:sp>
        <p:nvSpPr>
          <p:cNvPr id="18" name="TextBox 17"/>
          <p:cNvSpPr txBox="1"/>
          <p:nvPr/>
        </p:nvSpPr>
        <p:spPr>
          <a:xfrm>
            <a:off x="8168640" y="2212848"/>
            <a:ext cx="3352800" cy="20665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Finite states = finite flip-flops = a circuit you can actually build and exhaustively verify.</a:t>
            </a:r>
          </a:p>
          <a:p>
            <a:pPr algn="l">
              <a:lnSpc>
                <a:spcPct val="103000"/>
              </a:lnSpc>
              <a:spcAft>
                <a:spcPts val="400"/>
              </a:spcAft>
            </a:pPr>
            <a:r>
              <a:rPr sz="1050" b="0" i="0">
                <a:solidFill>
                  <a:srgbClr val="33414F"/>
                </a:solidFill>
                <a:latin typeface="Calibri"/>
              </a:rPr>
              <a:t>An FSM cannot count arbitrarily high or match arbitrarily deep nesting — for that you need a datapath (counter, stack) alongside it. That is the FSMD idea at the end of this section.</a:t>
            </a:r>
          </a:p>
        </p:txBody>
      </p:sp>
      <p:sp>
        <p:nvSpPr>
          <p:cNvPr id="19" name="Rounded Rectangle 18"/>
          <p:cNvSpPr/>
          <p:nvPr/>
        </p:nvSpPr>
        <p:spPr>
          <a:xfrm>
            <a:off x="411480" y="4480560"/>
            <a:ext cx="11247120" cy="10058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76072" y="454456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Huffman model</a:t>
            </a:r>
          </a:p>
        </p:txBody>
      </p:sp>
      <p:sp>
        <p:nvSpPr>
          <p:cNvPr id="21" name="TextBox 20"/>
          <p:cNvSpPr txBox="1"/>
          <p:nvPr/>
        </p:nvSpPr>
        <p:spPr>
          <a:xfrm>
            <a:off x="576072" y="4818888"/>
            <a:ext cx="10917936" cy="603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Drawing the three blocks with the state register in a feedback loop is called the Huffman model of a sequential circuit. It is the same picture as the 'sequential' half of the very first diagram in subtopic 3b — every sequential circuit, however complicated, reduces to it.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3C · TWO STYLES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Moore vs Mealy Machines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52</a:t>
            </a:r>
          </a:p>
        </p:txBody>
      </p:sp>
      <p:sp>
        <p:nvSpPr>
          <p:cNvPr id="9" name="TextBox 8"/>
          <p:cNvSpPr txBox="1"/>
          <p:nvPr/>
        </p:nvSpPr>
        <p:spPr>
          <a:xfrm>
            <a:off x="411480" y="1143000"/>
            <a:ext cx="11247120" cy="4572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only difference is whether the output logic can see the INPUT as well as the state. </a:t>
            </a:r>
            <a:r>
              <a:rPr sz="1100" b="0" i="0">
                <a:solidFill>
                  <a:srgbClr val="33414F"/>
                </a:solidFill>
                <a:latin typeface="Calibri"/>
              </a:rPr>
              <a:t>That one wire changes the timing behaviour, the state count and the glitch risk.</a:t>
            </a:r>
          </a:p>
        </p:txBody>
      </p:sp>
      <p:pic>
        <p:nvPicPr>
          <p:cNvPr id="10" name="Picture 9" descr="moore_mealy.png"/>
          <p:cNvPicPr>
            <a:picLocks noChangeAspect="1"/>
          </p:cNvPicPr>
          <p:nvPr/>
        </p:nvPicPr>
        <p:blipFill>
          <a:blip r:embed="rId2"/>
          <a:stretch>
            <a:fillRect/>
          </a:stretch>
        </p:blipFill>
        <p:spPr>
          <a:xfrm>
            <a:off x="1566441" y="1691640"/>
            <a:ext cx="8937198" cy="3566160"/>
          </a:xfrm>
          <a:prstGeom prst="rect">
            <a:avLst/>
          </a:prstGeom>
        </p:spPr>
      </p:pic>
      <p:sp>
        <p:nvSpPr>
          <p:cNvPr id="11" name="Rounded Rectangle 10"/>
          <p:cNvSpPr/>
          <p:nvPr/>
        </p:nvSpPr>
        <p:spPr>
          <a:xfrm>
            <a:off x="411480" y="5349240"/>
            <a:ext cx="11247120" cy="776224"/>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41324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Which one should you use?</a:t>
            </a:r>
          </a:p>
        </p:txBody>
      </p:sp>
      <p:sp>
        <p:nvSpPr>
          <p:cNvPr id="13" name="TextBox 12"/>
          <p:cNvSpPr txBox="1"/>
          <p:nvPr/>
        </p:nvSpPr>
        <p:spPr>
          <a:xfrm>
            <a:off x="576072" y="5687568"/>
            <a:ext cx="10917936" cy="373888"/>
          </a:xfrm>
          <a:prstGeom prst="rect">
            <a:avLst/>
          </a:prstGeom>
          <a:noFill/>
        </p:spPr>
        <p:txBody>
          <a:bodyPr wrap="square" lIns="0" rIns="0" tIns="0" bIns="0" anchor="t">
            <a:spAutoFit/>
          </a:bodyPr>
          <a:lstStyle/>
          <a:p>
            <a:pPr algn="l">
              <a:lnSpc>
                <a:spcPct val="103000"/>
              </a:lnSpc>
              <a:spcAft>
                <a:spcPts val="400"/>
              </a:spcAft>
            </a:pPr>
            <a:r>
              <a:rPr sz="1100" b="1" i="0">
                <a:solidFill>
                  <a:srgbClr val="2A9D5C"/>
                </a:solidFill>
                <a:latin typeface="Calibri"/>
              </a:rPr>
              <a:t>Default to Moore. </a:t>
            </a:r>
            <a:r>
              <a:rPr sz="1100" b="0" i="0">
                <a:solidFill>
                  <a:srgbClr val="33414F"/>
                </a:solidFill>
                <a:latin typeface="Calibri"/>
              </a:rPr>
              <a:t>Its outputs come straight off flip-flops, so they are glitch-free and easy to time. Use Mealy when you genuinely need the one-cycle-earlier response, and then </a:t>
            </a:r>
            <a:r>
              <a:rPr sz="1100" b="1" i="0">
                <a:solidFill>
                  <a:srgbClr val="0E2A47"/>
                </a:solidFill>
                <a:latin typeface="Calibri"/>
              </a:rPr>
              <a:t>register the Mealy output</a:t>
            </a:r>
            <a:r>
              <a:rPr sz="1100" b="0" i="0">
                <a:solidFill>
                  <a:srgbClr val="33414F"/>
                </a:solidFill>
                <a:latin typeface="Calibri"/>
              </a:rPr>
              <a:t> before it leaves the block — which, of course, turns it back into a Moore output one cycle later.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3C · PROCEDURE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Six Steps of FSM Design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53</a:t>
            </a:r>
          </a:p>
        </p:txBody>
      </p:sp>
      <p:sp>
        <p:nvSpPr>
          <p:cNvPr id="9" name="TextBox 8"/>
          <p:cNvSpPr txBox="1"/>
          <p:nvPr/>
        </p:nvSpPr>
        <p:spPr>
          <a:xfrm>
            <a:off x="411480" y="1143000"/>
            <a:ext cx="11247120" cy="4572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Do these in order, every time. </a:t>
            </a:r>
            <a:r>
              <a:rPr sz="1100" b="0" i="0">
                <a:solidFill>
                  <a:srgbClr val="33414F"/>
                </a:solidFill>
                <a:latin typeface="Calibri"/>
              </a:rPr>
              <a:t>The state diagram is the design; everything after it is mechanical. If the diagram is wrong, no amount of Verilog will save you.</a:t>
            </a:r>
          </a:p>
        </p:txBody>
      </p:sp>
      <p:pic>
        <p:nvPicPr>
          <p:cNvPr id="10" name="Picture 9" descr="fsm_procedure.png"/>
          <p:cNvPicPr>
            <a:picLocks noChangeAspect="1"/>
          </p:cNvPicPr>
          <p:nvPr/>
        </p:nvPicPr>
        <p:blipFill>
          <a:blip r:embed="rId2"/>
          <a:stretch>
            <a:fillRect/>
          </a:stretch>
        </p:blipFill>
        <p:spPr>
          <a:xfrm>
            <a:off x="1800432" y="1691640"/>
            <a:ext cx="8469217" cy="2743200"/>
          </a:xfrm>
          <a:prstGeom prst="rect">
            <a:avLst/>
          </a:prstGeom>
        </p:spPr>
      </p:pic>
      <p:sp>
        <p:nvSpPr>
          <p:cNvPr id="11" name="Rounded Rectangle 10"/>
          <p:cNvSpPr/>
          <p:nvPr/>
        </p:nvSpPr>
        <p:spPr>
          <a:xfrm>
            <a:off x="411480" y="4526280"/>
            <a:ext cx="11247120" cy="11887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459028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Two checks to run on the state diagram before you write any code</a:t>
            </a:r>
          </a:p>
        </p:txBody>
      </p:sp>
      <p:sp>
        <p:nvSpPr>
          <p:cNvPr id="13" name="TextBox 12"/>
          <p:cNvSpPr txBox="1"/>
          <p:nvPr/>
        </p:nvSpPr>
        <p:spPr>
          <a:xfrm>
            <a:off x="576072" y="4864608"/>
            <a:ext cx="10917936" cy="78638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alibri"/>
              </a:rPr>
              <a:t>Completeness: </a:t>
            </a:r>
            <a:r>
              <a:rPr sz="1100" b="0" i="0">
                <a:solidFill>
                  <a:srgbClr val="33414F"/>
                </a:solidFill>
                <a:latin typeface="Calibri"/>
              </a:rPr>
              <a:t>from every state, is there exactly one outgoing arc for EVERY possible input value? A missing arc means an undefined transition — in hardware, a latch or a lock-up.</a:t>
            </a:r>
          </a:p>
          <a:p>
            <a:pPr algn="l">
              <a:lnSpc>
                <a:spcPct val="103000"/>
              </a:lnSpc>
              <a:spcAft>
                <a:spcPts val="400"/>
              </a:spcAft>
            </a:pPr>
            <a:r>
              <a:rPr sz="1100" b="1" i="0">
                <a:solidFill>
                  <a:srgbClr val="0E2A47"/>
                </a:solidFill>
                <a:latin typeface="Calibri"/>
              </a:rPr>
              <a:t>Determinism: </a:t>
            </a:r>
            <a:r>
              <a:rPr sz="1100" b="0" i="0">
                <a:solidFill>
                  <a:srgbClr val="33414F"/>
                </a:solidFill>
                <a:latin typeface="Calibri"/>
              </a:rPr>
              <a:t>is there at most one arc for each input value? Two arcs labelled '1' out of one state is not a circuit, it is a contradiction.</a:t>
            </a:r>
          </a:p>
          <a:p>
            <a:pPr algn="l">
              <a:lnSpc>
                <a:spcPct val="103000"/>
              </a:lnSpc>
              <a:spcAft>
                <a:spcPts val="400"/>
              </a:spcAft>
            </a:pPr>
            <a:r>
              <a:rPr sz="1100" b="0" i="1">
                <a:solidFill>
                  <a:srgbClr val="5A6B7B"/>
                </a:solidFill>
                <a:latin typeface="Calibri"/>
              </a:rPr>
              <a:t>For a machine with s states and one binary input, count the arcs: there must be exactly 2s of them.</a:t>
            </a:r>
          </a:p>
        </p:txBody>
      </p:sp>
      <p:sp>
        <p:nvSpPr>
          <p:cNvPr id="14" name="TextBox 13"/>
          <p:cNvSpPr txBox="1"/>
          <p:nvPr/>
        </p:nvSpPr>
        <p:spPr>
          <a:xfrm>
            <a:off x="411480" y="5806440"/>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State minimisation (step 3) is optional in practice — synthesis tools do it, and modern FPGAs have flip-flops to spare. Understand it; do not agonise over it.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3C · ENCODING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State Encoding — Binary, Gray and One-Hot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54</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states in your diagram are names; the flip-flops hold bits. </a:t>
            </a:r>
            <a:r>
              <a:rPr sz="1100" b="0" i="0">
                <a:solidFill>
                  <a:srgbClr val="33414F"/>
                </a:solidFill>
                <a:latin typeface="Calibri"/>
              </a:rPr>
              <a:t>How you map one to the other changes the flip-flop count, the amount of next-state logic, the speed and the power — without changing the behaviour at all.</a:t>
            </a:r>
          </a:p>
        </p:txBody>
      </p:sp>
      <p:pic>
        <p:nvPicPr>
          <p:cNvPr id="10" name="Picture 9" descr="state_encoding.png"/>
          <p:cNvPicPr>
            <a:picLocks noChangeAspect="1"/>
          </p:cNvPicPr>
          <p:nvPr/>
        </p:nvPicPr>
        <p:blipFill>
          <a:blip r:embed="rId2"/>
          <a:stretch>
            <a:fillRect/>
          </a:stretch>
        </p:blipFill>
        <p:spPr>
          <a:xfrm>
            <a:off x="1251782" y="1691640"/>
            <a:ext cx="9566516" cy="3383280"/>
          </a:xfrm>
          <a:prstGeom prst="rect">
            <a:avLst/>
          </a:prstGeom>
        </p:spPr>
      </p:pic>
      <p:sp>
        <p:nvSpPr>
          <p:cNvPr id="11" name="Rounded Rectangle 10"/>
          <p:cNvSpPr/>
          <p:nvPr/>
        </p:nvSpPr>
        <p:spPr>
          <a:xfrm>
            <a:off x="411480" y="5166360"/>
            <a:ext cx="11247120" cy="9601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23036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How to choose</a:t>
            </a:r>
          </a:p>
        </p:txBody>
      </p:sp>
      <p:sp>
        <p:nvSpPr>
          <p:cNvPr id="13" name="TextBox 12"/>
          <p:cNvSpPr txBox="1"/>
          <p:nvPr/>
        </p:nvSpPr>
        <p:spPr>
          <a:xfrm>
            <a:off x="576072" y="5504688"/>
            <a:ext cx="10917936" cy="557784"/>
          </a:xfrm>
          <a:prstGeom prst="rect">
            <a:avLst/>
          </a:prstGeom>
          <a:noFill/>
        </p:spPr>
        <p:txBody>
          <a:bodyPr wrap="square" lIns="0" rIns="0" tIns="0" bIns="0" anchor="t">
            <a:spAutoFit/>
          </a:bodyPr>
          <a:lstStyle/>
          <a:p>
            <a:pPr algn="l">
              <a:lnSpc>
                <a:spcPct val="103000"/>
              </a:lnSpc>
              <a:spcAft>
                <a:spcPts val="400"/>
              </a:spcAft>
            </a:pPr>
            <a:r>
              <a:rPr sz="1100" b="1" i="0">
                <a:solidFill>
                  <a:srgbClr val="2A9D5C"/>
                </a:solidFill>
                <a:latin typeface="Calibri"/>
              </a:rPr>
              <a:t>FPGA: </a:t>
            </a:r>
            <a:r>
              <a:rPr sz="1100" b="0" i="0">
                <a:solidFill>
                  <a:srgbClr val="33414F"/>
                </a:solidFill>
                <a:latin typeface="Calibri"/>
              </a:rPr>
              <a:t>one-hot, almost always. Flip-flops are free and abundant; LUT depth is what costs you speed, and one-hot next-state logic is one level deep.   </a:t>
            </a:r>
          </a:p>
          <a:p>
            <a:pPr algn="l">
              <a:lnSpc>
                <a:spcPct val="103000"/>
              </a:lnSpc>
              <a:spcAft>
                <a:spcPts val="400"/>
              </a:spcAft>
            </a:pPr>
            <a:r>
              <a:rPr sz="1100" b="1" i="0">
                <a:solidFill>
                  <a:srgbClr val="1B9AAA"/>
                </a:solidFill>
                <a:latin typeface="Calibri"/>
              </a:rPr>
              <a:t>ASIC with many states: </a:t>
            </a:r>
            <a:r>
              <a:rPr sz="1100" b="0" i="0">
                <a:solidFill>
                  <a:srgbClr val="33414F"/>
                </a:solidFill>
                <a:latin typeface="Calibri"/>
              </a:rPr>
              <a:t>binary, to keep the register count and hence area down.   </a:t>
            </a:r>
            <a:r>
              <a:rPr sz="1100" b="1" i="0">
                <a:solidFill>
                  <a:srgbClr val="C77514"/>
                </a:solidFill>
                <a:latin typeface="Calibri"/>
              </a:rPr>
              <a:t>Low-power or clock-crossing: </a:t>
            </a:r>
            <a:r>
              <a:rPr sz="1100" b="0" i="0">
                <a:solidFill>
                  <a:srgbClr val="33414F"/>
                </a:solidFill>
                <a:latin typeface="Calibri"/>
              </a:rPr>
              <a:t>Gray, because only one bit toggles per transition — less switching energy and safe to sample across a clock domain.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TOPIC 3C · WORKED EXAMPLE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Designing a '1011' Sequence Detector — Step 1</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55</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Specification. </a:t>
            </a:r>
            <a:r>
              <a:rPr sz="1100" b="0" i="0">
                <a:solidFill>
                  <a:srgbClr val="33414F"/>
                </a:solidFill>
                <a:latin typeface="Calibri"/>
              </a:rPr>
              <a:t>A serial input X arrives one bit per clock. Assert output Z whenever the last four bits received were 1, 0, 1, 1. Overlapping sequences count — so the stream 1011011 contains TWO occurrences.</a:t>
            </a:r>
          </a:p>
        </p:txBody>
      </p:sp>
      <p:pic>
        <p:nvPicPr>
          <p:cNvPr id="10" name="Picture 9" descr="fsm_1011.png"/>
          <p:cNvPicPr>
            <a:picLocks noChangeAspect="1"/>
          </p:cNvPicPr>
          <p:nvPr/>
        </p:nvPicPr>
        <p:blipFill>
          <a:blip r:embed="rId2"/>
          <a:stretch>
            <a:fillRect/>
          </a:stretch>
        </p:blipFill>
        <p:spPr>
          <a:xfrm>
            <a:off x="1915216" y="1691640"/>
            <a:ext cx="8239648" cy="3657600"/>
          </a:xfrm>
          <a:prstGeom prst="rect">
            <a:avLst/>
          </a:prstGeom>
        </p:spPr>
      </p:pic>
      <p:sp>
        <p:nvSpPr>
          <p:cNvPr id="11" name="Rounded Rectangle 10"/>
          <p:cNvSpPr/>
          <p:nvPr/>
        </p:nvSpPr>
        <p:spPr>
          <a:xfrm>
            <a:off x="411480" y="5440680"/>
            <a:ext cx="11247120" cy="8229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50468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How each state was chosen</a:t>
            </a:r>
          </a:p>
        </p:txBody>
      </p:sp>
      <p:sp>
        <p:nvSpPr>
          <p:cNvPr id="13" name="TextBox 12"/>
          <p:cNvSpPr txBox="1"/>
          <p:nvPr/>
        </p:nvSpPr>
        <p:spPr>
          <a:xfrm>
            <a:off x="576072" y="577900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Ask: 'what is the longest PREFIX of 1011 that is currently a suffix of what I have received?' That question has exactly five answers — none, 1, 10, 101, 1011 — so there are five states, and the answer to the question IS the state. </a:t>
            </a:r>
            <a:r>
              <a:rPr sz="1100" b="1" i="0">
                <a:solidFill>
                  <a:srgbClr val="0E2A47"/>
                </a:solidFill>
                <a:latin typeface="Calibri"/>
              </a:rPr>
              <a:t>This suffix-matching insight generalises to any pattern detector.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TOPIC 3C · WORKED EXAMPLE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'1011' Detector — Steps 2 to 5: Table, Encoding, Logic</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56</a:t>
            </a:r>
          </a:p>
        </p:txBody>
      </p:sp>
      <p:sp>
        <p:nvSpPr>
          <p:cNvPr id="9" name="Rectangle 8"/>
          <p:cNvSpPr/>
          <p:nvPr/>
        </p:nvSpPr>
        <p:spPr>
          <a:xfrm>
            <a:off x="411480" y="1143000"/>
            <a:ext cx="274320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651760" cy="310896"/>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Present state</a:t>
            </a:r>
          </a:p>
        </p:txBody>
      </p:sp>
      <p:sp>
        <p:nvSpPr>
          <p:cNvPr id="11" name="Rectangle 10"/>
          <p:cNvSpPr/>
          <p:nvPr/>
        </p:nvSpPr>
        <p:spPr>
          <a:xfrm>
            <a:off x="3154680" y="1143000"/>
            <a:ext cx="219456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200400" y="1143000"/>
            <a:ext cx="2103120" cy="310896"/>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Encoding Q₂Q₁Q₀</a:t>
            </a:r>
          </a:p>
        </p:txBody>
      </p:sp>
      <p:sp>
        <p:nvSpPr>
          <p:cNvPr id="13" name="Rectangle 12"/>
          <p:cNvSpPr/>
          <p:nvPr/>
        </p:nvSpPr>
        <p:spPr>
          <a:xfrm>
            <a:off x="5349240" y="1143000"/>
            <a:ext cx="256032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94960" y="1143000"/>
            <a:ext cx="2468880" cy="310896"/>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Next state (X=0)</a:t>
            </a:r>
          </a:p>
        </p:txBody>
      </p:sp>
      <p:sp>
        <p:nvSpPr>
          <p:cNvPr id="15" name="Rectangle 14"/>
          <p:cNvSpPr/>
          <p:nvPr/>
        </p:nvSpPr>
        <p:spPr>
          <a:xfrm>
            <a:off x="7909560" y="1143000"/>
            <a:ext cx="256032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955280" y="1143000"/>
            <a:ext cx="2468880" cy="310896"/>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Next state (X=1)</a:t>
            </a:r>
          </a:p>
        </p:txBody>
      </p:sp>
      <p:sp>
        <p:nvSpPr>
          <p:cNvPr id="17" name="Rectangle 16"/>
          <p:cNvSpPr/>
          <p:nvPr/>
        </p:nvSpPr>
        <p:spPr>
          <a:xfrm>
            <a:off x="10469880" y="1143000"/>
            <a:ext cx="118872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515600" y="1143000"/>
            <a:ext cx="1097280" cy="310896"/>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Z</a:t>
            </a:r>
          </a:p>
        </p:txBody>
      </p:sp>
      <p:sp>
        <p:nvSpPr>
          <p:cNvPr id="19" name="Rectangle 18"/>
          <p:cNvSpPr/>
          <p:nvPr/>
        </p:nvSpPr>
        <p:spPr>
          <a:xfrm>
            <a:off x="411480" y="1453896"/>
            <a:ext cx="2743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7200" y="1453896"/>
            <a:ext cx="2651760" cy="310896"/>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S0  (start)</a:t>
            </a:r>
          </a:p>
        </p:txBody>
      </p:sp>
      <p:sp>
        <p:nvSpPr>
          <p:cNvPr id="21" name="Rectangle 20"/>
          <p:cNvSpPr/>
          <p:nvPr/>
        </p:nvSpPr>
        <p:spPr>
          <a:xfrm>
            <a:off x="3154680" y="1453896"/>
            <a:ext cx="219456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200400" y="1453896"/>
            <a:ext cx="210312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000</a:t>
            </a:r>
          </a:p>
        </p:txBody>
      </p:sp>
      <p:sp>
        <p:nvSpPr>
          <p:cNvPr id="23" name="Rectangle 22"/>
          <p:cNvSpPr/>
          <p:nvPr/>
        </p:nvSpPr>
        <p:spPr>
          <a:xfrm>
            <a:off x="5349240" y="1453896"/>
            <a:ext cx="25603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394960" y="1453896"/>
            <a:ext cx="246888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S0   000</a:t>
            </a:r>
          </a:p>
        </p:txBody>
      </p:sp>
      <p:sp>
        <p:nvSpPr>
          <p:cNvPr id="25" name="Rectangle 24"/>
          <p:cNvSpPr/>
          <p:nvPr/>
        </p:nvSpPr>
        <p:spPr>
          <a:xfrm>
            <a:off x="7909560" y="1453896"/>
            <a:ext cx="25603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955280" y="1453896"/>
            <a:ext cx="246888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S1   001</a:t>
            </a:r>
          </a:p>
        </p:txBody>
      </p:sp>
      <p:sp>
        <p:nvSpPr>
          <p:cNvPr id="27" name="Rectangle 26"/>
          <p:cNvSpPr/>
          <p:nvPr/>
        </p:nvSpPr>
        <p:spPr>
          <a:xfrm>
            <a:off x="10469880" y="1453896"/>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515600" y="1453896"/>
            <a:ext cx="1097280" cy="310896"/>
          </a:xfrm>
          <a:prstGeom prst="rect">
            <a:avLst/>
          </a:prstGeom>
          <a:noFill/>
        </p:spPr>
        <p:txBody>
          <a:bodyPr wrap="square" lIns="0" rIns="0" tIns="0" bIns="0" anchor="ctr">
            <a:spAutoFit/>
          </a:bodyPr>
          <a:lstStyle/>
          <a:p>
            <a:pPr algn="ctr">
              <a:lnSpc>
                <a:spcPct val="103000"/>
              </a:lnSpc>
            </a:pPr>
            <a:r>
              <a:rPr sz="1000" b="1" i="0">
                <a:solidFill>
                  <a:srgbClr val="2A9D5C"/>
                </a:solidFill>
                <a:latin typeface="Calibri"/>
              </a:rPr>
              <a:t>0</a:t>
            </a:r>
          </a:p>
        </p:txBody>
      </p:sp>
      <p:sp>
        <p:nvSpPr>
          <p:cNvPr id="29" name="Rectangle 28"/>
          <p:cNvSpPr/>
          <p:nvPr/>
        </p:nvSpPr>
        <p:spPr>
          <a:xfrm>
            <a:off x="411480" y="1764792"/>
            <a:ext cx="2743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7200" y="1764792"/>
            <a:ext cx="2651760" cy="310896"/>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S1  (1)</a:t>
            </a:r>
          </a:p>
        </p:txBody>
      </p:sp>
      <p:sp>
        <p:nvSpPr>
          <p:cNvPr id="31" name="Rectangle 30"/>
          <p:cNvSpPr/>
          <p:nvPr/>
        </p:nvSpPr>
        <p:spPr>
          <a:xfrm>
            <a:off x="3154680" y="1764792"/>
            <a:ext cx="219456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200400" y="1764792"/>
            <a:ext cx="210312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001</a:t>
            </a:r>
          </a:p>
        </p:txBody>
      </p:sp>
      <p:sp>
        <p:nvSpPr>
          <p:cNvPr id="33" name="Rectangle 32"/>
          <p:cNvSpPr/>
          <p:nvPr/>
        </p:nvSpPr>
        <p:spPr>
          <a:xfrm>
            <a:off x="5349240" y="1764792"/>
            <a:ext cx="25603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394960" y="1764792"/>
            <a:ext cx="246888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S2   010</a:t>
            </a:r>
          </a:p>
        </p:txBody>
      </p:sp>
      <p:sp>
        <p:nvSpPr>
          <p:cNvPr id="35" name="Rectangle 34"/>
          <p:cNvSpPr/>
          <p:nvPr/>
        </p:nvSpPr>
        <p:spPr>
          <a:xfrm>
            <a:off x="7909560" y="1764792"/>
            <a:ext cx="25603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955280" y="1764792"/>
            <a:ext cx="246888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S1   001</a:t>
            </a:r>
          </a:p>
        </p:txBody>
      </p:sp>
      <p:sp>
        <p:nvSpPr>
          <p:cNvPr id="37" name="Rectangle 36"/>
          <p:cNvSpPr/>
          <p:nvPr/>
        </p:nvSpPr>
        <p:spPr>
          <a:xfrm>
            <a:off x="10469880" y="1764792"/>
            <a:ext cx="11887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0515600" y="1764792"/>
            <a:ext cx="1097280" cy="310896"/>
          </a:xfrm>
          <a:prstGeom prst="rect">
            <a:avLst/>
          </a:prstGeom>
          <a:noFill/>
        </p:spPr>
        <p:txBody>
          <a:bodyPr wrap="square" lIns="0" rIns="0" tIns="0" bIns="0" anchor="ctr">
            <a:spAutoFit/>
          </a:bodyPr>
          <a:lstStyle/>
          <a:p>
            <a:pPr algn="ctr">
              <a:lnSpc>
                <a:spcPct val="103000"/>
              </a:lnSpc>
            </a:pPr>
            <a:r>
              <a:rPr sz="1000" b="1" i="0">
                <a:solidFill>
                  <a:srgbClr val="2A9D5C"/>
                </a:solidFill>
                <a:latin typeface="Calibri"/>
              </a:rPr>
              <a:t>0</a:t>
            </a:r>
          </a:p>
        </p:txBody>
      </p:sp>
      <p:sp>
        <p:nvSpPr>
          <p:cNvPr id="39" name="Rectangle 38"/>
          <p:cNvSpPr/>
          <p:nvPr/>
        </p:nvSpPr>
        <p:spPr>
          <a:xfrm>
            <a:off x="411480" y="2075688"/>
            <a:ext cx="2743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075688"/>
            <a:ext cx="2651760" cy="310896"/>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S2  (10)</a:t>
            </a:r>
          </a:p>
        </p:txBody>
      </p:sp>
      <p:sp>
        <p:nvSpPr>
          <p:cNvPr id="41" name="Rectangle 40"/>
          <p:cNvSpPr/>
          <p:nvPr/>
        </p:nvSpPr>
        <p:spPr>
          <a:xfrm>
            <a:off x="3154680" y="2075688"/>
            <a:ext cx="219456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3200400" y="2075688"/>
            <a:ext cx="210312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010</a:t>
            </a:r>
          </a:p>
        </p:txBody>
      </p:sp>
      <p:sp>
        <p:nvSpPr>
          <p:cNvPr id="43" name="Rectangle 42"/>
          <p:cNvSpPr/>
          <p:nvPr/>
        </p:nvSpPr>
        <p:spPr>
          <a:xfrm>
            <a:off x="5349240" y="2075688"/>
            <a:ext cx="25603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394960" y="2075688"/>
            <a:ext cx="246888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S0   000</a:t>
            </a:r>
          </a:p>
        </p:txBody>
      </p:sp>
      <p:sp>
        <p:nvSpPr>
          <p:cNvPr id="45" name="Rectangle 44"/>
          <p:cNvSpPr/>
          <p:nvPr/>
        </p:nvSpPr>
        <p:spPr>
          <a:xfrm>
            <a:off x="7909560" y="2075688"/>
            <a:ext cx="25603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955280" y="2075688"/>
            <a:ext cx="246888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S3   011</a:t>
            </a:r>
          </a:p>
        </p:txBody>
      </p:sp>
      <p:sp>
        <p:nvSpPr>
          <p:cNvPr id="47" name="Rectangle 46"/>
          <p:cNvSpPr/>
          <p:nvPr/>
        </p:nvSpPr>
        <p:spPr>
          <a:xfrm>
            <a:off x="10469880" y="2075688"/>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0515600" y="2075688"/>
            <a:ext cx="1097280" cy="310896"/>
          </a:xfrm>
          <a:prstGeom prst="rect">
            <a:avLst/>
          </a:prstGeom>
          <a:noFill/>
        </p:spPr>
        <p:txBody>
          <a:bodyPr wrap="square" lIns="0" rIns="0" tIns="0" bIns="0" anchor="ctr">
            <a:spAutoFit/>
          </a:bodyPr>
          <a:lstStyle/>
          <a:p>
            <a:pPr algn="ctr">
              <a:lnSpc>
                <a:spcPct val="103000"/>
              </a:lnSpc>
            </a:pPr>
            <a:r>
              <a:rPr sz="1000" b="1" i="0">
                <a:solidFill>
                  <a:srgbClr val="2A9D5C"/>
                </a:solidFill>
                <a:latin typeface="Calibri"/>
              </a:rPr>
              <a:t>0</a:t>
            </a:r>
          </a:p>
        </p:txBody>
      </p:sp>
      <p:sp>
        <p:nvSpPr>
          <p:cNvPr id="49" name="Rectangle 48"/>
          <p:cNvSpPr/>
          <p:nvPr/>
        </p:nvSpPr>
        <p:spPr>
          <a:xfrm>
            <a:off x="411480" y="2386584"/>
            <a:ext cx="2743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57200" y="2386584"/>
            <a:ext cx="2651760" cy="310896"/>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S3  (101)</a:t>
            </a:r>
          </a:p>
        </p:txBody>
      </p:sp>
      <p:sp>
        <p:nvSpPr>
          <p:cNvPr id="51" name="Rectangle 50"/>
          <p:cNvSpPr/>
          <p:nvPr/>
        </p:nvSpPr>
        <p:spPr>
          <a:xfrm>
            <a:off x="3154680" y="2386584"/>
            <a:ext cx="219456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3200400" y="2386584"/>
            <a:ext cx="210312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011</a:t>
            </a:r>
          </a:p>
        </p:txBody>
      </p:sp>
      <p:sp>
        <p:nvSpPr>
          <p:cNvPr id="53" name="Rectangle 52"/>
          <p:cNvSpPr/>
          <p:nvPr/>
        </p:nvSpPr>
        <p:spPr>
          <a:xfrm>
            <a:off x="5349240" y="2386584"/>
            <a:ext cx="25603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5394960" y="2386584"/>
            <a:ext cx="246888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S2   010</a:t>
            </a:r>
          </a:p>
        </p:txBody>
      </p:sp>
      <p:sp>
        <p:nvSpPr>
          <p:cNvPr id="55" name="Rectangle 54"/>
          <p:cNvSpPr/>
          <p:nvPr/>
        </p:nvSpPr>
        <p:spPr>
          <a:xfrm>
            <a:off x="7909560" y="2386584"/>
            <a:ext cx="25603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7955280" y="2386584"/>
            <a:ext cx="246888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S4   100</a:t>
            </a:r>
          </a:p>
        </p:txBody>
      </p:sp>
      <p:sp>
        <p:nvSpPr>
          <p:cNvPr id="57" name="Rectangle 56"/>
          <p:cNvSpPr/>
          <p:nvPr/>
        </p:nvSpPr>
        <p:spPr>
          <a:xfrm>
            <a:off x="10469880" y="2386584"/>
            <a:ext cx="11887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10515600" y="2386584"/>
            <a:ext cx="1097280" cy="310896"/>
          </a:xfrm>
          <a:prstGeom prst="rect">
            <a:avLst/>
          </a:prstGeom>
          <a:noFill/>
        </p:spPr>
        <p:txBody>
          <a:bodyPr wrap="square" lIns="0" rIns="0" tIns="0" bIns="0" anchor="ctr">
            <a:spAutoFit/>
          </a:bodyPr>
          <a:lstStyle/>
          <a:p>
            <a:pPr algn="ctr">
              <a:lnSpc>
                <a:spcPct val="103000"/>
              </a:lnSpc>
            </a:pPr>
            <a:r>
              <a:rPr sz="1000" b="1" i="0">
                <a:solidFill>
                  <a:srgbClr val="2A9D5C"/>
                </a:solidFill>
                <a:latin typeface="Calibri"/>
              </a:rPr>
              <a:t>0</a:t>
            </a:r>
          </a:p>
        </p:txBody>
      </p:sp>
      <p:sp>
        <p:nvSpPr>
          <p:cNvPr id="59" name="Rectangle 58"/>
          <p:cNvSpPr/>
          <p:nvPr/>
        </p:nvSpPr>
        <p:spPr>
          <a:xfrm>
            <a:off x="411480" y="2697480"/>
            <a:ext cx="2743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457200" y="2697480"/>
            <a:ext cx="2651760" cy="310896"/>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S4  (1011)</a:t>
            </a:r>
          </a:p>
        </p:txBody>
      </p:sp>
      <p:sp>
        <p:nvSpPr>
          <p:cNvPr id="61" name="Rectangle 60"/>
          <p:cNvSpPr/>
          <p:nvPr/>
        </p:nvSpPr>
        <p:spPr>
          <a:xfrm>
            <a:off x="3154680" y="2697480"/>
            <a:ext cx="219456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3200400" y="2697480"/>
            <a:ext cx="210312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100</a:t>
            </a:r>
          </a:p>
        </p:txBody>
      </p:sp>
      <p:sp>
        <p:nvSpPr>
          <p:cNvPr id="63" name="Rectangle 62"/>
          <p:cNvSpPr/>
          <p:nvPr/>
        </p:nvSpPr>
        <p:spPr>
          <a:xfrm>
            <a:off x="5349240" y="2697480"/>
            <a:ext cx="25603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5394960" y="2697480"/>
            <a:ext cx="246888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S2   010</a:t>
            </a:r>
          </a:p>
        </p:txBody>
      </p:sp>
      <p:sp>
        <p:nvSpPr>
          <p:cNvPr id="65" name="Rectangle 64"/>
          <p:cNvSpPr/>
          <p:nvPr/>
        </p:nvSpPr>
        <p:spPr>
          <a:xfrm>
            <a:off x="7909560" y="2697480"/>
            <a:ext cx="25603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7955280" y="2697480"/>
            <a:ext cx="2468880" cy="31089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S1   001</a:t>
            </a:r>
          </a:p>
        </p:txBody>
      </p:sp>
      <p:sp>
        <p:nvSpPr>
          <p:cNvPr id="67" name="Rectangle 66"/>
          <p:cNvSpPr/>
          <p:nvPr/>
        </p:nvSpPr>
        <p:spPr>
          <a:xfrm>
            <a:off x="10469880" y="2697480"/>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10515600" y="2697480"/>
            <a:ext cx="1097280" cy="310896"/>
          </a:xfrm>
          <a:prstGeom prst="rect">
            <a:avLst/>
          </a:prstGeom>
          <a:noFill/>
        </p:spPr>
        <p:txBody>
          <a:bodyPr wrap="square" lIns="0" rIns="0" tIns="0" bIns="0" anchor="ctr">
            <a:spAutoFit/>
          </a:bodyPr>
          <a:lstStyle/>
          <a:p>
            <a:pPr algn="ctr">
              <a:lnSpc>
                <a:spcPct val="103000"/>
              </a:lnSpc>
            </a:pPr>
            <a:r>
              <a:rPr sz="1000" b="1" i="0">
                <a:solidFill>
                  <a:srgbClr val="2A9D5C"/>
                </a:solidFill>
                <a:latin typeface="Calibri"/>
              </a:rPr>
              <a:t>1</a:t>
            </a:r>
          </a:p>
        </p:txBody>
      </p:sp>
      <p:sp>
        <p:nvSpPr>
          <p:cNvPr id="69" name="Rounded Rectangle 68"/>
          <p:cNvSpPr/>
          <p:nvPr/>
        </p:nvSpPr>
        <p:spPr>
          <a:xfrm>
            <a:off x="411480" y="3099816"/>
            <a:ext cx="11247120" cy="2824226"/>
          </a:xfrm>
          <a:prstGeom prst="roundRect">
            <a:avLst>
              <a:gd name="adj" fmla="val 3000"/>
            </a:avLst>
          </a:prstGeom>
          <a:solidFill>
            <a:srgbClr val="112233"/>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594360" y="3214116"/>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Derive, then ALWAYS re-check against the table row by row</a:t>
            </a:r>
          </a:p>
        </p:txBody>
      </p:sp>
      <p:sp>
        <p:nvSpPr>
          <p:cNvPr id="71" name="TextBox 70"/>
          <p:cNvSpPr txBox="1"/>
          <p:nvPr/>
        </p:nvSpPr>
        <p:spPr>
          <a:xfrm>
            <a:off x="594360" y="3488436"/>
            <a:ext cx="10881360" cy="2321306"/>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Next-state equations   (K-map each D bit over Q2 Q1 Q0 X;  codes 101-111 are don't-cares)</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D2 = Q1 . Q0 . X                     only S3 (011) with X=1 reaches S4</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D1 = X' . (Q2 + Q0)  +  Q1 . Q0' . X</a:t>
            </a:r>
          </a:p>
          <a:p>
            <a:pPr algn="l">
              <a:lnSpc>
                <a:spcPct val="112000"/>
              </a:lnSpc>
            </a:pPr>
            <a:r>
              <a:rPr sz="950" b="0" i="0">
                <a:solidFill>
                  <a:srgbClr val="D8E4F0"/>
                </a:solidFill>
                <a:latin typeface="Consolas"/>
              </a:rPr>
              <a:t>       ^^^^^^^^^^^^^^     ^^^^^^^^^^^^</a:t>
            </a:r>
          </a:p>
          <a:p>
            <a:pPr algn="l">
              <a:lnSpc>
                <a:spcPct val="112000"/>
              </a:lnSpc>
            </a:pPr>
            <a:r>
              <a:rPr sz="950" b="0" i="0">
                <a:solidFill>
                  <a:srgbClr val="D8E4F0"/>
                </a:solidFill>
                <a:latin typeface="Consolas"/>
              </a:rPr>
              <a:t>       S1,S3,S4 on X=0    S2 on X=1  (010 -&gt; 011)</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D0 = X . (Q1 . Q0)'                  every X=1 arc lands on S1 or S3, both odd,</a:t>
            </a:r>
          </a:p>
          <a:p>
            <a:pPr algn="l">
              <a:lnSpc>
                <a:spcPct val="112000"/>
              </a:lnSpc>
            </a:pPr>
            <a:r>
              <a:rPr sz="950" b="0" i="0">
                <a:solidFill>
                  <a:srgbClr val="D8E4F0"/>
                </a:solidFill>
                <a:latin typeface="Consolas"/>
              </a:rPr>
              <a:t>                                       except S3 (011) which goes to S4 (100)</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Output equation  (Moore - a function of the state alone)</a:t>
            </a:r>
          </a:p>
          <a:p>
            <a:pPr algn="l">
              <a:lnSpc>
                <a:spcPct val="112000"/>
              </a:lnSpc>
            </a:pPr>
            <a:r>
              <a:rPr sz="950" b="0" i="0">
                <a:solidFill>
                  <a:srgbClr val="D8E4F0"/>
                </a:solidFill>
                <a:latin typeface="Consolas"/>
              </a:rPr>
              <a:t>  Z  = Q2                              S4 is the only state whose code has Q2 = 1</a:t>
            </a:r>
          </a:p>
        </p:txBody>
      </p:sp>
      <p:sp>
        <p:nvSpPr>
          <p:cNvPr id="72" name="TextBox 71"/>
          <p:cNvSpPr txBox="1"/>
          <p:nvPr/>
        </p:nvSpPr>
        <p:spPr>
          <a:xfrm>
            <a:off x="411480" y="6015482"/>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Check one row by hand: S3 = 011 with X = 1 gives D₂ = 1·1·1 = 1, D₁ = 0·(…) + 1·0·1 = 0, D₀ = 1·(1·1)' = 0 → next state 100 = S4.  ✓   Notice too that Z = Q₂ fell out for free because we chose the encoding well. All of this is what synthesis does for you when you write the case statement on the next slide.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TOPIC 3C · THE RTL TEMPLATE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'1011' Detector — The Three-Block Verilog FSM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57</a:t>
            </a:r>
          </a:p>
        </p:txBody>
      </p:sp>
      <p:sp>
        <p:nvSpPr>
          <p:cNvPr id="9" name="Rounded Rectangle 8"/>
          <p:cNvSpPr/>
          <p:nvPr/>
        </p:nvSpPr>
        <p:spPr>
          <a:xfrm>
            <a:off x="411480" y="1143000"/>
            <a:ext cx="11247120" cy="4055364"/>
          </a:xfrm>
          <a:prstGeom prst="roundRect">
            <a:avLst>
              <a:gd name="adj" fmla="val 3000"/>
            </a:avLst>
          </a:prstGeom>
          <a:solidFill>
            <a:srgbClr val="112233"/>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The three-always-block template — use this shape for EVERY FSM you write</a:t>
            </a:r>
          </a:p>
        </p:txBody>
      </p:sp>
      <p:sp>
        <p:nvSpPr>
          <p:cNvPr id="11" name="TextBox 10"/>
          <p:cNvSpPr txBox="1"/>
          <p:nvPr/>
        </p:nvSpPr>
        <p:spPr>
          <a:xfrm>
            <a:off x="594360" y="1531620"/>
            <a:ext cx="10881360" cy="3552444"/>
          </a:xfrm>
          <a:prstGeom prst="rect">
            <a:avLst/>
          </a:prstGeom>
          <a:noFill/>
        </p:spPr>
        <p:txBody>
          <a:bodyPr wrap="square" lIns="0" rIns="0" tIns="0" bIns="0" anchor="t">
            <a:spAutoFit/>
          </a:bodyPr>
          <a:lstStyle/>
          <a:p>
            <a:pPr algn="l">
              <a:lnSpc>
                <a:spcPct val="112000"/>
              </a:lnSpc>
            </a:pPr>
            <a:r>
              <a:rPr sz="700" b="0" i="0">
                <a:solidFill>
                  <a:srgbClr val="D8E4F0"/>
                </a:solidFill>
                <a:latin typeface="Consolas"/>
              </a:rPr>
              <a:t>module seq_detect_1011 (input clk, input rst_n, input x, output reg z);</a:t>
            </a:r>
          </a:p>
          <a:p>
            <a:pPr algn="l">
              <a:lnSpc>
                <a:spcPct val="112000"/>
              </a:lnSpc>
            </a:pPr>
            <a:r>
              <a:rPr sz="700" b="0" i="0">
                <a:solidFill>
                  <a:srgbClr val="D8E4F0"/>
                </a:solidFill>
                <a:latin typeface="Consolas"/>
              </a:rPr>
              <a:t> </a:t>
            </a:r>
          </a:p>
          <a:p>
            <a:pPr algn="l">
              <a:lnSpc>
                <a:spcPct val="112000"/>
              </a:lnSpc>
            </a:pPr>
            <a:r>
              <a:rPr sz="700" b="0" i="0">
                <a:solidFill>
                  <a:srgbClr val="D8E4F0"/>
                </a:solidFill>
                <a:latin typeface="Consolas"/>
              </a:rPr>
              <a:t>    localparam S0=3'd0, S1=3'd1, S2=3'd2, S3=3'd3, S4=3'd4;</a:t>
            </a:r>
          </a:p>
          <a:p>
            <a:pPr algn="l">
              <a:lnSpc>
                <a:spcPct val="112000"/>
              </a:lnSpc>
            </a:pPr>
            <a:r>
              <a:rPr sz="700" b="0" i="0">
                <a:solidFill>
                  <a:srgbClr val="D8E4F0"/>
                </a:solidFill>
                <a:latin typeface="Consolas"/>
              </a:rPr>
              <a:t>    reg [2:0] state, next;</a:t>
            </a:r>
          </a:p>
          <a:p>
            <a:pPr algn="l">
              <a:lnSpc>
                <a:spcPct val="112000"/>
              </a:lnSpc>
            </a:pPr>
            <a:r>
              <a:rPr sz="700" b="0" i="0">
                <a:solidFill>
                  <a:srgbClr val="D8E4F0"/>
                </a:solidFill>
                <a:latin typeface="Consolas"/>
              </a:rPr>
              <a:t> </a:t>
            </a:r>
          </a:p>
          <a:p>
            <a:pPr algn="l">
              <a:lnSpc>
                <a:spcPct val="112000"/>
              </a:lnSpc>
            </a:pPr>
            <a:r>
              <a:rPr sz="700" b="0" i="0">
                <a:solidFill>
                  <a:srgbClr val="D8E4F0"/>
                </a:solidFill>
                <a:latin typeface="Consolas"/>
              </a:rPr>
              <a:t>    // ---- BLOCK 1 : state register  (sequential, non-blocking) ----</a:t>
            </a:r>
          </a:p>
          <a:p>
            <a:pPr algn="l">
              <a:lnSpc>
                <a:spcPct val="112000"/>
              </a:lnSpc>
            </a:pPr>
            <a:r>
              <a:rPr sz="700" b="0" i="0">
                <a:solidFill>
                  <a:srgbClr val="D8E4F0"/>
                </a:solidFill>
                <a:latin typeface="Consolas"/>
              </a:rPr>
              <a:t>    always @(posedge clk or negedge rst_n)</a:t>
            </a:r>
          </a:p>
          <a:p>
            <a:pPr algn="l">
              <a:lnSpc>
                <a:spcPct val="112000"/>
              </a:lnSpc>
            </a:pPr>
            <a:r>
              <a:rPr sz="700" b="0" i="0">
                <a:solidFill>
                  <a:srgbClr val="D8E4F0"/>
                </a:solidFill>
                <a:latin typeface="Consolas"/>
              </a:rPr>
              <a:t>        if (!rst_n) state &lt;= S0;</a:t>
            </a:r>
          </a:p>
          <a:p>
            <a:pPr algn="l">
              <a:lnSpc>
                <a:spcPct val="112000"/>
              </a:lnSpc>
            </a:pPr>
            <a:r>
              <a:rPr sz="700" b="0" i="0">
                <a:solidFill>
                  <a:srgbClr val="D8E4F0"/>
                </a:solidFill>
                <a:latin typeface="Consolas"/>
              </a:rPr>
              <a:t>        else        state &lt;= next;</a:t>
            </a:r>
          </a:p>
          <a:p>
            <a:pPr algn="l">
              <a:lnSpc>
                <a:spcPct val="112000"/>
              </a:lnSpc>
            </a:pPr>
            <a:r>
              <a:rPr sz="700" b="0" i="0">
                <a:solidFill>
                  <a:srgbClr val="D8E4F0"/>
                </a:solidFill>
                <a:latin typeface="Consolas"/>
              </a:rPr>
              <a:t> </a:t>
            </a:r>
          </a:p>
          <a:p>
            <a:pPr algn="l">
              <a:lnSpc>
                <a:spcPct val="112000"/>
              </a:lnSpc>
            </a:pPr>
            <a:r>
              <a:rPr sz="700" b="0" i="0">
                <a:solidFill>
                  <a:srgbClr val="D8E4F0"/>
                </a:solidFill>
                <a:latin typeface="Consolas"/>
              </a:rPr>
              <a:t>    // ---- BLOCK 2 : next-state logic  (combinational, blocking) ----</a:t>
            </a:r>
          </a:p>
          <a:p>
            <a:pPr algn="l">
              <a:lnSpc>
                <a:spcPct val="112000"/>
              </a:lnSpc>
            </a:pPr>
            <a:r>
              <a:rPr sz="700" b="0" i="0">
                <a:solidFill>
                  <a:srgbClr val="D8E4F0"/>
                </a:solidFill>
                <a:latin typeface="Consolas"/>
              </a:rPr>
              <a:t>    always @(*) begin</a:t>
            </a:r>
          </a:p>
          <a:p>
            <a:pPr algn="l">
              <a:lnSpc>
                <a:spcPct val="112000"/>
              </a:lnSpc>
            </a:pPr>
            <a:r>
              <a:rPr sz="700" b="0" i="0">
                <a:solidFill>
                  <a:srgbClr val="D8E4F0"/>
                </a:solidFill>
                <a:latin typeface="Consolas"/>
              </a:rPr>
              <a:t>        next = state;                       // default: no latch</a:t>
            </a:r>
          </a:p>
          <a:p>
            <a:pPr algn="l">
              <a:lnSpc>
                <a:spcPct val="112000"/>
              </a:lnSpc>
            </a:pPr>
            <a:r>
              <a:rPr sz="700" b="0" i="0">
                <a:solidFill>
                  <a:srgbClr val="D8E4F0"/>
                </a:solidFill>
                <a:latin typeface="Consolas"/>
              </a:rPr>
              <a:t>        case (state)</a:t>
            </a:r>
          </a:p>
          <a:p>
            <a:pPr algn="l">
              <a:lnSpc>
                <a:spcPct val="112000"/>
              </a:lnSpc>
            </a:pPr>
            <a:r>
              <a:rPr sz="700" b="0" i="0">
                <a:solidFill>
                  <a:srgbClr val="D8E4F0"/>
                </a:solidFill>
                <a:latin typeface="Consolas"/>
              </a:rPr>
              <a:t>            S0: next = x ? S1 : S0;</a:t>
            </a:r>
          </a:p>
          <a:p>
            <a:pPr algn="l">
              <a:lnSpc>
                <a:spcPct val="112000"/>
              </a:lnSpc>
            </a:pPr>
            <a:r>
              <a:rPr sz="700" b="0" i="0">
                <a:solidFill>
                  <a:srgbClr val="D8E4F0"/>
                </a:solidFill>
                <a:latin typeface="Consolas"/>
              </a:rPr>
              <a:t>            S1: next = x ? S1 : S2;</a:t>
            </a:r>
          </a:p>
          <a:p>
            <a:pPr algn="l">
              <a:lnSpc>
                <a:spcPct val="112000"/>
              </a:lnSpc>
            </a:pPr>
            <a:r>
              <a:rPr sz="700" b="0" i="0">
                <a:solidFill>
                  <a:srgbClr val="D8E4F0"/>
                </a:solidFill>
                <a:latin typeface="Consolas"/>
              </a:rPr>
              <a:t>            S2: next = x ? S3 : S0;</a:t>
            </a:r>
          </a:p>
          <a:p>
            <a:pPr algn="l">
              <a:lnSpc>
                <a:spcPct val="112000"/>
              </a:lnSpc>
            </a:pPr>
            <a:r>
              <a:rPr sz="700" b="0" i="0">
                <a:solidFill>
                  <a:srgbClr val="D8E4F0"/>
                </a:solidFill>
                <a:latin typeface="Consolas"/>
              </a:rPr>
              <a:t>            S3: next = x ? S4 : S2;</a:t>
            </a:r>
          </a:p>
          <a:p>
            <a:pPr algn="l">
              <a:lnSpc>
                <a:spcPct val="112000"/>
              </a:lnSpc>
            </a:pPr>
            <a:r>
              <a:rPr sz="700" b="0" i="0">
                <a:solidFill>
                  <a:srgbClr val="D8E4F0"/>
                </a:solidFill>
                <a:latin typeface="Consolas"/>
              </a:rPr>
              <a:t>            S4: next = x ? S1 : S2;</a:t>
            </a:r>
          </a:p>
          <a:p>
            <a:pPr algn="l">
              <a:lnSpc>
                <a:spcPct val="112000"/>
              </a:lnSpc>
            </a:pPr>
            <a:r>
              <a:rPr sz="700" b="0" i="0">
                <a:solidFill>
                  <a:srgbClr val="D8E4F0"/>
                </a:solidFill>
                <a:latin typeface="Consolas"/>
              </a:rPr>
              <a:t>            default: next = S0;             // safe FSM: recover from illegal states</a:t>
            </a:r>
          </a:p>
          <a:p>
            <a:pPr algn="l">
              <a:lnSpc>
                <a:spcPct val="112000"/>
              </a:lnSpc>
            </a:pPr>
            <a:r>
              <a:rPr sz="700" b="0" i="0">
                <a:solidFill>
                  <a:srgbClr val="D8E4F0"/>
                </a:solidFill>
                <a:latin typeface="Consolas"/>
              </a:rPr>
              <a:t>        endcase</a:t>
            </a:r>
          </a:p>
          <a:p>
            <a:pPr algn="l">
              <a:lnSpc>
                <a:spcPct val="112000"/>
              </a:lnSpc>
            </a:pPr>
            <a:r>
              <a:rPr sz="700" b="0" i="0">
                <a:solidFill>
                  <a:srgbClr val="D8E4F0"/>
                </a:solidFill>
                <a:latin typeface="Consolas"/>
              </a:rPr>
              <a:t>    end</a:t>
            </a:r>
          </a:p>
          <a:p>
            <a:pPr algn="l">
              <a:lnSpc>
                <a:spcPct val="112000"/>
              </a:lnSpc>
            </a:pPr>
            <a:r>
              <a:rPr sz="700" b="0" i="0">
                <a:solidFill>
                  <a:srgbClr val="D8E4F0"/>
                </a:solidFill>
                <a:latin typeface="Consolas"/>
              </a:rPr>
              <a:t> </a:t>
            </a:r>
          </a:p>
          <a:p>
            <a:pPr algn="l">
              <a:lnSpc>
                <a:spcPct val="112000"/>
              </a:lnSpc>
            </a:pPr>
            <a:r>
              <a:rPr sz="700" b="0" i="0">
                <a:solidFill>
                  <a:srgbClr val="D8E4F0"/>
                </a:solidFill>
                <a:latin typeface="Consolas"/>
              </a:rPr>
              <a:t>    // ---- BLOCK 3 : output logic  (Moore - state only) ----</a:t>
            </a:r>
          </a:p>
          <a:p>
            <a:pPr algn="l">
              <a:lnSpc>
                <a:spcPct val="112000"/>
              </a:lnSpc>
            </a:pPr>
            <a:r>
              <a:rPr sz="700" b="0" i="0">
                <a:solidFill>
                  <a:srgbClr val="D8E4F0"/>
                </a:solidFill>
                <a:latin typeface="Consolas"/>
              </a:rPr>
              <a:t>    always @(*) z = (state == S4);</a:t>
            </a:r>
          </a:p>
          <a:p>
            <a:pPr algn="l">
              <a:lnSpc>
                <a:spcPct val="112000"/>
              </a:lnSpc>
            </a:pPr>
            <a:r>
              <a:rPr sz="700" b="0" i="0">
                <a:solidFill>
                  <a:srgbClr val="D8E4F0"/>
                </a:solidFill>
                <a:latin typeface="Consolas"/>
              </a:rPr>
              <a:t> </a:t>
            </a:r>
          </a:p>
          <a:p>
            <a:pPr algn="l">
              <a:lnSpc>
                <a:spcPct val="112000"/>
              </a:lnSpc>
            </a:pPr>
            <a:r>
              <a:rPr sz="700" b="0" i="0">
                <a:solidFill>
                  <a:srgbClr val="D8E4F0"/>
                </a:solidFill>
                <a:latin typeface="Consolas"/>
              </a:rPr>
              <a:t>endmodule</a:t>
            </a:r>
          </a:p>
        </p:txBody>
      </p:sp>
      <p:sp>
        <p:nvSpPr>
          <p:cNvPr id="12" name="Rounded Rectangle 11"/>
          <p:cNvSpPr/>
          <p:nvPr/>
        </p:nvSpPr>
        <p:spPr>
          <a:xfrm>
            <a:off x="411480" y="5289804"/>
            <a:ext cx="11247120" cy="10058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76072" y="5353812"/>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Why three blocks and not one</a:t>
            </a:r>
          </a:p>
        </p:txBody>
      </p:sp>
      <p:sp>
        <p:nvSpPr>
          <p:cNvPr id="14" name="TextBox 13"/>
          <p:cNvSpPr txBox="1"/>
          <p:nvPr/>
        </p:nvSpPr>
        <p:spPr>
          <a:xfrm>
            <a:off x="576072" y="5628132"/>
            <a:ext cx="10917936" cy="603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It separates the clocked element from the combinational logic, so the synthesised hardware matches the Huffman model exactly. It makes the reset behaviour explicit, keeps each block short enough to read, and makes latch inference impossible if you keep the default assignment. </a:t>
            </a:r>
            <a:r>
              <a:rPr sz="1100" b="1" i="0">
                <a:solidFill>
                  <a:srgbClr val="0E2A47"/>
                </a:solidFill>
                <a:latin typeface="Calibri"/>
              </a:rPr>
              <a:t>One-block FSMs are legal and much harder to debug.</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TOPIC 3C · PRACTICAL EXAMPLE 6</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Trace: Moore and Mealy on the Same Input Stream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58</a:t>
            </a:r>
          </a:p>
        </p:txBody>
      </p:sp>
      <p:pic>
        <p:nvPicPr>
          <p:cNvPr id="9" name="Picture 8" descr="fsm_1011_timing.png"/>
          <p:cNvPicPr>
            <a:picLocks noChangeAspect="1"/>
          </p:cNvPicPr>
          <p:nvPr/>
        </p:nvPicPr>
        <p:blipFill>
          <a:blip r:embed="rId2"/>
          <a:stretch>
            <a:fillRect/>
          </a:stretch>
        </p:blipFill>
        <p:spPr>
          <a:xfrm>
            <a:off x="1628608" y="1143000"/>
            <a:ext cx="8812864" cy="3383280"/>
          </a:xfrm>
          <a:prstGeom prst="rect">
            <a:avLst/>
          </a:prstGeom>
        </p:spPr>
      </p:pic>
      <p:sp>
        <p:nvSpPr>
          <p:cNvPr id="10" name="Rounded Rectangle 9"/>
          <p:cNvSpPr/>
          <p:nvPr/>
        </p:nvSpPr>
        <p:spPr>
          <a:xfrm>
            <a:off x="411480" y="4617720"/>
            <a:ext cx="11247120" cy="160020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468172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Read the trace with the class, cycle by cycle</a:t>
            </a:r>
          </a:p>
        </p:txBody>
      </p:sp>
      <p:sp>
        <p:nvSpPr>
          <p:cNvPr id="12" name="TextBox 11"/>
          <p:cNvSpPr txBox="1"/>
          <p:nvPr/>
        </p:nvSpPr>
        <p:spPr>
          <a:xfrm>
            <a:off x="576072" y="4956048"/>
            <a:ext cx="10917936" cy="119786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Input X = 1 0 1 1 0 1 1 0. Both machines see the fourth bit complete the pattern.</a:t>
            </a:r>
          </a:p>
          <a:p>
            <a:pPr algn="l">
              <a:lnSpc>
                <a:spcPct val="103000"/>
              </a:lnSpc>
              <a:spcAft>
                <a:spcPts val="400"/>
              </a:spcAft>
            </a:pPr>
            <a:r>
              <a:rPr sz="1100" b="1" i="0">
                <a:solidFill>
                  <a:srgbClr val="C01F43"/>
                </a:solidFill>
                <a:latin typeface="Calibri"/>
              </a:rPr>
              <a:t>Mealy </a:t>
            </a:r>
            <a:r>
              <a:rPr sz="1100" b="0" i="0">
                <a:solidFill>
                  <a:srgbClr val="33414F"/>
                </a:solidFill>
                <a:latin typeface="Calibri"/>
              </a:rPr>
              <a:t>asserts Z during cycle 4 — combinationally, the moment X goes high while the state is S3.   </a:t>
            </a:r>
            <a:r>
              <a:rPr sz="1100" b="1" i="0">
                <a:solidFill>
                  <a:srgbClr val="2A9D5C"/>
                </a:solidFill>
                <a:latin typeface="Calibri"/>
              </a:rPr>
              <a:t>Moore </a:t>
            </a:r>
            <a:r>
              <a:rPr sz="1100" b="0" i="0">
                <a:solidFill>
                  <a:srgbClr val="33414F"/>
                </a:solidFill>
                <a:latin typeface="Calibri"/>
              </a:rPr>
              <a:t>asserts Z during cycle 5 — the clock edge at the end of cycle 4 moved the register into S4, and only then does Z = Q₂ become 1.</a:t>
            </a:r>
          </a:p>
          <a:p>
            <a:pPr algn="l">
              <a:lnSpc>
                <a:spcPct val="103000"/>
              </a:lnSpc>
              <a:spcAft>
                <a:spcPts val="400"/>
              </a:spcAft>
            </a:pPr>
            <a:r>
              <a:rPr sz="1100" b="0" i="1">
                <a:solidFill>
                  <a:srgbClr val="5A6B7B"/>
                </a:solidFill>
                <a:latin typeface="Calibri"/>
              </a:rPr>
              <a:t>Second detection: overlapping means the '11' at the end is reused, so the pattern completes again on bit 7 and both machines fire a second time.</a:t>
            </a:r>
          </a:p>
          <a:p>
            <a:pPr algn="l">
              <a:lnSpc>
                <a:spcPct val="103000"/>
              </a:lnSpc>
              <a:spcAft>
                <a:spcPts val="400"/>
              </a:spcAft>
            </a:pPr>
            <a:r>
              <a:rPr sz="1100" b="1" i="0">
                <a:solidFill>
                  <a:srgbClr val="0E2A47"/>
                </a:solidFill>
                <a:latin typeface="Calibri"/>
              </a:rPr>
              <a:t>Exam question you should be able to answer instantly: </a:t>
            </a:r>
            <a:r>
              <a:rPr sz="1100" b="0" i="0">
                <a:solidFill>
                  <a:srgbClr val="33414F"/>
                </a:solidFill>
                <a:latin typeface="Calibri"/>
              </a:rPr>
              <a:t>'same behaviour, so why choose one?' — Mealy is one cycle faster and needs fewer states; Moore is glitch-free and trivially timeable.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3C · PITFALLS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Five Ways an FSM Goes Wrong in Silicon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59</a:t>
            </a:r>
          </a:p>
        </p:txBody>
      </p:sp>
      <p:sp>
        <p:nvSpPr>
          <p:cNvPr id="9" name="Rectangle 8"/>
          <p:cNvSpPr/>
          <p:nvPr/>
        </p:nvSpPr>
        <p:spPr>
          <a:xfrm>
            <a:off x="411480" y="1143000"/>
            <a:ext cx="3017520" cy="5943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926080" cy="5943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Failure</a:t>
            </a:r>
          </a:p>
        </p:txBody>
      </p:sp>
      <p:sp>
        <p:nvSpPr>
          <p:cNvPr id="11" name="Rectangle 10"/>
          <p:cNvSpPr/>
          <p:nvPr/>
        </p:nvSpPr>
        <p:spPr>
          <a:xfrm>
            <a:off x="3429000" y="1143000"/>
            <a:ext cx="4297680" cy="5943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474720" y="1143000"/>
            <a:ext cx="4206240" cy="5943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happens</a:t>
            </a:r>
          </a:p>
        </p:txBody>
      </p:sp>
      <p:sp>
        <p:nvSpPr>
          <p:cNvPr id="13" name="Rectangle 12"/>
          <p:cNvSpPr/>
          <p:nvPr/>
        </p:nvSpPr>
        <p:spPr>
          <a:xfrm>
            <a:off x="7726680" y="1143000"/>
            <a:ext cx="3931920" cy="5943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772400" y="1143000"/>
            <a:ext cx="3840480" cy="5943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How you prevent it</a:t>
            </a:r>
          </a:p>
        </p:txBody>
      </p:sp>
      <p:sp>
        <p:nvSpPr>
          <p:cNvPr id="15" name="Rectangle 14"/>
          <p:cNvSpPr/>
          <p:nvPr/>
        </p:nvSpPr>
        <p:spPr>
          <a:xfrm>
            <a:off x="411480" y="1737360"/>
            <a:ext cx="3017520" cy="5943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737360"/>
            <a:ext cx="2926080" cy="594360"/>
          </a:xfrm>
          <a:prstGeom prst="rect">
            <a:avLst/>
          </a:prstGeom>
          <a:noFill/>
        </p:spPr>
        <p:txBody>
          <a:bodyPr wrap="square" lIns="0" rIns="0" tIns="0" bIns="0" anchor="ctr">
            <a:spAutoFit/>
          </a:bodyPr>
          <a:lstStyle/>
          <a:p>
            <a:pPr algn="ctr">
              <a:lnSpc>
                <a:spcPct val="103000"/>
              </a:lnSpc>
            </a:pPr>
            <a:r>
              <a:rPr sz="950" b="1" i="0">
                <a:solidFill>
                  <a:srgbClr val="C01F43"/>
                </a:solidFill>
                <a:latin typeface="Calibri"/>
              </a:rPr>
              <a:t>Unreachable / illegal states</a:t>
            </a:r>
          </a:p>
        </p:txBody>
      </p:sp>
      <p:sp>
        <p:nvSpPr>
          <p:cNvPr id="17" name="Rectangle 16"/>
          <p:cNvSpPr/>
          <p:nvPr/>
        </p:nvSpPr>
        <p:spPr>
          <a:xfrm>
            <a:off x="3429000" y="1737360"/>
            <a:ext cx="4297680" cy="5943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74720" y="1737360"/>
            <a:ext cx="4206240" cy="5943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With 5 states in 3 bits, codes 101–111 exist in hardware but not in your diagram. A glitch or radiation event lands you there.</a:t>
            </a:r>
          </a:p>
        </p:txBody>
      </p:sp>
      <p:sp>
        <p:nvSpPr>
          <p:cNvPr id="19" name="Rectangle 18"/>
          <p:cNvSpPr/>
          <p:nvPr/>
        </p:nvSpPr>
        <p:spPr>
          <a:xfrm>
            <a:off x="7726680" y="1737360"/>
            <a:ext cx="3931920" cy="5943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772400" y="1737360"/>
            <a:ext cx="3840480" cy="5943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Write a `default` branch that returns to a safe state — a SAFE FSM.</a:t>
            </a:r>
          </a:p>
        </p:txBody>
      </p:sp>
      <p:sp>
        <p:nvSpPr>
          <p:cNvPr id="21" name="Rectangle 20"/>
          <p:cNvSpPr/>
          <p:nvPr/>
        </p:nvSpPr>
        <p:spPr>
          <a:xfrm>
            <a:off x="411480" y="2331720"/>
            <a:ext cx="3017520" cy="5943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2331720"/>
            <a:ext cx="2926080" cy="594360"/>
          </a:xfrm>
          <a:prstGeom prst="rect">
            <a:avLst/>
          </a:prstGeom>
          <a:noFill/>
        </p:spPr>
        <p:txBody>
          <a:bodyPr wrap="square" lIns="0" rIns="0" tIns="0" bIns="0" anchor="ctr">
            <a:spAutoFit/>
          </a:bodyPr>
          <a:lstStyle/>
          <a:p>
            <a:pPr algn="ctr">
              <a:lnSpc>
                <a:spcPct val="103000"/>
              </a:lnSpc>
            </a:pPr>
            <a:r>
              <a:rPr sz="950" b="1" i="0">
                <a:solidFill>
                  <a:srgbClr val="C01F43"/>
                </a:solidFill>
                <a:latin typeface="Calibri"/>
              </a:rPr>
              <a:t>Deadlock / lock-up</a:t>
            </a:r>
          </a:p>
        </p:txBody>
      </p:sp>
      <p:sp>
        <p:nvSpPr>
          <p:cNvPr id="23" name="Rectangle 22"/>
          <p:cNvSpPr/>
          <p:nvPr/>
        </p:nvSpPr>
        <p:spPr>
          <a:xfrm>
            <a:off x="3429000" y="2331720"/>
            <a:ext cx="4297680" cy="5943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474720" y="2331720"/>
            <a:ext cx="4206240" cy="5943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group of states with no path back to normal operation. The block hangs and only a reset recovers it.</a:t>
            </a:r>
          </a:p>
        </p:txBody>
      </p:sp>
      <p:sp>
        <p:nvSpPr>
          <p:cNvPr id="25" name="Rectangle 24"/>
          <p:cNvSpPr/>
          <p:nvPr/>
        </p:nvSpPr>
        <p:spPr>
          <a:xfrm>
            <a:off x="7726680" y="2331720"/>
            <a:ext cx="3931920" cy="5943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772400" y="2331720"/>
            <a:ext cx="3840480" cy="5943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Prove reachability: from every state, a path to the start state must exist.</a:t>
            </a:r>
          </a:p>
        </p:txBody>
      </p:sp>
      <p:sp>
        <p:nvSpPr>
          <p:cNvPr id="27" name="Rectangle 26"/>
          <p:cNvSpPr/>
          <p:nvPr/>
        </p:nvSpPr>
        <p:spPr>
          <a:xfrm>
            <a:off x="411480" y="2926080"/>
            <a:ext cx="3017520" cy="5943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2926080"/>
            <a:ext cx="2926080" cy="594360"/>
          </a:xfrm>
          <a:prstGeom prst="rect">
            <a:avLst/>
          </a:prstGeom>
          <a:noFill/>
        </p:spPr>
        <p:txBody>
          <a:bodyPr wrap="square" lIns="0" rIns="0" tIns="0" bIns="0" anchor="ctr">
            <a:spAutoFit/>
          </a:bodyPr>
          <a:lstStyle/>
          <a:p>
            <a:pPr algn="ctr">
              <a:lnSpc>
                <a:spcPct val="103000"/>
              </a:lnSpc>
            </a:pPr>
            <a:r>
              <a:rPr sz="950" b="1" i="0">
                <a:solidFill>
                  <a:srgbClr val="C01F43"/>
                </a:solidFill>
                <a:latin typeface="Calibri"/>
              </a:rPr>
              <a:t>Incomplete transitions</a:t>
            </a:r>
          </a:p>
        </p:txBody>
      </p:sp>
      <p:sp>
        <p:nvSpPr>
          <p:cNvPr id="29" name="Rectangle 28"/>
          <p:cNvSpPr/>
          <p:nvPr/>
        </p:nvSpPr>
        <p:spPr>
          <a:xfrm>
            <a:off x="3429000" y="2926080"/>
            <a:ext cx="4297680" cy="5943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474720" y="2926080"/>
            <a:ext cx="4206240" cy="5943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state with no arc for some input value. In RTL this becomes an inferred latch.</a:t>
            </a:r>
          </a:p>
        </p:txBody>
      </p:sp>
      <p:sp>
        <p:nvSpPr>
          <p:cNvPr id="31" name="Rectangle 30"/>
          <p:cNvSpPr/>
          <p:nvPr/>
        </p:nvSpPr>
        <p:spPr>
          <a:xfrm>
            <a:off x="7726680" y="2926080"/>
            <a:ext cx="3931920" cy="5943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772400" y="2926080"/>
            <a:ext cx="3840480" cy="5943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Assign `next` a default value at the top of the always block.</a:t>
            </a:r>
          </a:p>
        </p:txBody>
      </p:sp>
      <p:sp>
        <p:nvSpPr>
          <p:cNvPr id="33" name="Rectangle 32"/>
          <p:cNvSpPr/>
          <p:nvPr/>
        </p:nvSpPr>
        <p:spPr>
          <a:xfrm>
            <a:off x="411480" y="3520440"/>
            <a:ext cx="3017520" cy="5943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3520440"/>
            <a:ext cx="2926080" cy="594360"/>
          </a:xfrm>
          <a:prstGeom prst="rect">
            <a:avLst/>
          </a:prstGeom>
          <a:noFill/>
        </p:spPr>
        <p:txBody>
          <a:bodyPr wrap="square" lIns="0" rIns="0" tIns="0" bIns="0" anchor="ctr">
            <a:spAutoFit/>
          </a:bodyPr>
          <a:lstStyle/>
          <a:p>
            <a:pPr algn="ctr">
              <a:lnSpc>
                <a:spcPct val="103000"/>
              </a:lnSpc>
            </a:pPr>
            <a:r>
              <a:rPr sz="950" b="1" i="0">
                <a:solidFill>
                  <a:srgbClr val="C01F43"/>
                </a:solidFill>
                <a:latin typeface="Calibri"/>
              </a:rPr>
              <a:t>Unregistered Mealy output</a:t>
            </a:r>
          </a:p>
        </p:txBody>
      </p:sp>
      <p:sp>
        <p:nvSpPr>
          <p:cNvPr id="35" name="Rectangle 34"/>
          <p:cNvSpPr/>
          <p:nvPr/>
        </p:nvSpPr>
        <p:spPr>
          <a:xfrm>
            <a:off x="3429000" y="3520440"/>
            <a:ext cx="4297680" cy="5943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474720" y="3520440"/>
            <a:ext cx="4206240" cy="5943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The glitchy combinational output drives a clock enable or a memory write. Random corruption.</a:t>
            </a:r>
          </a:p>
        </p:txBody>
      </p:sp>
      <p:sp>
        <p:nvSpPr>
          <p:cNvPr id="37" name="Rectangle 36"/>
          <p:cNvSpPr/>
          <p:nvPr/>
        </p:nvSpPr>
        <p:spPr>
          <a:xfrm>
            <a:off x="7726680" y="3520440"/>
            <a:ext cx="3931920" cy="5943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772400" y="3520440"/>
            <a:ext cx="3840480" cy="5943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Register the output, or use Moore.</a:t>
            </a:r>
          </a:p>
        </p:txBody>
      </p:sp>
      <p:sp>
        <p:nvSpPr>
          <p:cNvPr id="39" name="Rectangle 38"/>
          <p:cNvSpPr/>
          <p:nvPr/>
        </p:nvSpPr>
        <p:spPr>
          <a:xfrm>
            <a:off x="411480" y="4114800"/>
            <a:ext cx="3017520" cy="5943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4114800"/>
            <a:ext cx="2926080" cy="594360"/>
          </a:xfrm>
          <a:prstGeom prst="rect">
            <a:avLst/>
          </a:prstGeom>
          <a:noFill/>
        </p:spPr>
        <p:txBody>
          <a:bodyPr wrap="square" lIns="0" rIns="0" tIns="0" bIns="0" anchor="ctr">
            <a:spAutoFit/>
          </a:bodyPr>
          <a:lstStyle/>
          <a:p>
            <a:pPr algn="ctr">
              <a:lnSpc>
                <a:spcPct val="103000"/>
              </a:lnSpc>
            </a:pPr>
            <a:r>
              <a:rPr sz="950" b="1" i="0">
                <a:solidFill>
                  <a:srgbClr val="C01F43"/>
                </a:solidFill>
                <a:latin typeface="Calibri"/>
              </a:rPr>
              <a:t>Asynchronous input straight into the FSM</a:t>
            </a:r>
          </a:p>
        </p:txBody>
      </p:sp>
      <p:sp>
        <p:nvSpPr>
          <p:cNvPr id="41" name="Rectangle 40"/>
          <p:cNvSpPr/>
          <p:nvPr/>
        </p:nvSpPr>
        <p:spPr>
          <a:xfrm>
            <a:off x="3429000" y="4114800"/>
            <a:ext cx="4297680" cy="5943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3474720" y="4114800"/>
            <a:ext cx="4206240" cy="5943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button or a signal from another clock domain violates setup/hold and the FSM enters an illegal state.</a:t>
            </a:r>
          </a:p>
        </p:txBody>
      </p:sp>
      <p:sp>
        <p:nvSpPr>
          <p:cNvPr id="43" name="Rectangle 42"/>
          <p:cNvSpPr/>
          <p:nvPr/>
        </p:nvSpPr>
        <p:spPr>
          <a:xfrm>
            <a:off x="7726680" y="4114800"/>
            <a:ext cx="3931920" cy="5943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772400" y="4114800"/>
            <a:ext cx="3840480" cy="5943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Two-flop synchroniser on EVERY asynchronous input.</a:t>
            </a:r>
          </a:p>
        </p:txBody>
      </p:sp>
      <p:sp>
        <p:nvSpPr>
          <p:cNvPr id="45" name="Rounded Rectangle 44"/>
          <p:cNvSpPr/>
          <p:nvPr/>
        </p:nvSpPr>
        <p:spPr>
          <a:xfrm>
            <a:off x="411480" y="4800600"/>
            <a:ext cx="11247120" cy="8686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76072" y="486460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one-line summary</a:t>
            </a:r>
          </a:p>
        </p:txBody>
      </p:sp>
      <p:sp>
        <p:nvSpPr>
          <p:cNvPr id="47" name="TextBox 46"/>
          <p:cNvSpPr txBox="1"/>
          <p:nvPr/>
        </p:nvSpPr>
        <p:spPr>
          <a:xfrm>
            <a:off x="576072" y="5138928"/>
            <a:ext cx="10917936" cy="46634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alibri"/>
              </a:rPr>
              <a:t>A state machine is only as reliable as its handling of the cases you did NOT draw. Always write the default branch, always synchronise the inputs, always simulate an illegal-state injection.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3C · IN VERILOG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Sequential Logic — Blocking vs Non-Blocking</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60</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This is the single most common Verilog error in the industry. </a:t>
            </a:r>
            <a:r>
              <a:rPr sz="1100" b="0" i="0">
                <a:solidFill>
                  <a:srgbClr val="33414F"/>
                </a:solidFill>
                <a:latin typeface="Calibri"/>
              </a:rPr>
              <a:t>Both versions below simulate; only one synthesises to what you meant, and simulation and hardware then disagree — the worst class of bug there is.</a:t>
            </a:r>
          </a:p>
        </p:txBody>
      </p:sp>
      <p:sp>
        <p:nvSpPr>
          <p:cNvPr id="10" name="Rounded Rectangle 9"/>
          <p:cNvSpPr/>
          <p:nvPr/>
        </p:nvSpPr>
        <p:spPr>
          <a:xfrm>
            <a:off x="411480" y="1737360"/>
            <a:ext cx="11247120" cy="2570480"/>
          </a:xfrm>
          <a:prstGeom prst="roundRect">
            <a:avLst>
              <a:gd name="adj" fmla="val 3000"/>
            </a:avLst>
          </a:prstGeom>
          <a:solidFill>
            <a:srgbClr val="112233"/>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5166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Same intent, different hardware</a:t>
            </a:r>
          </a:p>
        </p:txBody>
      </p:sp>
      <p:sp>
        <p:nvSpPr>
          <p:cNvPr id="12" name="TextBox 11"/>
          <p:cNvSpPr txBox="1"/>
          <p:nvPr/>
        </p:nvSpPr>
        <p:spPr>
          <a:xfrm>
            <a:off x="594360" y="2125980"/>
            <a:ext cx="10881360" cy="206756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 CORRECT - non-blocking (&lt;=) in a clocked block gives a true 2-stage shift register</a:t>
            </a:r>
          </a:p>
          <a:p>
            <a:pPr algn="l">
              <a:lnSpc>
                <a:spcPct val="112000"/>
              </a:lnSpc>
            </a:pPr>
            <a:r>
              <a:rPr sz="1000" b="0" i="0">
                <a:solidFill>
                  <a:srgbClr val="D8E4F0"/>
                </a:solidFill>
                <a:latin typeface="Consolas"/>
              </a:rPr>
              <a:t>always @(posedge clk) begin</a:t>
            </a:r>
          </a:p>
          <a:p>
            <a:pPr algn="l">
              <a:lnSpc>
                <a:spcPct val="112000"/>
              </a:lnSpc>
            </a:pPr>
            <a:r>
              <a:rPr sz="1000" b="0" i="0">
                <a:solidFill>
                  <a:srgbClr val="D8E4F0"/>
                </a:solidFill>
                <a:latin typeface="Consolas"/>
              </a:rPr>
              <a:t>    q1 &lt;= d;</a:t>
            </a:r>
          </a:p>
          <a:p>
            <a:pPr algn="l">
              <a:lnSpc>
                <a:spcPct val="112000"/>
              </a:lnSpc>
            </a:pPr>
            <a:r>
              <a:rPr sz="1000" b="0" i="0">
                <a:solidFill>
                  <a:srgbClr val="D8E4F0"/>
                </a:solidFill>
                <a:latin typeface="Consolas"/>
              </a:rPr>
              <a:t>    q2 &lt;= q1;          // q2 gets the OLD q1  -&gt;  two flip-flops in series</a:t>
            </a:r>
          </a:p>
          <a:p>
            <a:pPr algn="l">
              <a:lnSpc>
                <a:spcPct val="112000"/>
              </a:lnSpc>
            </a:pPr>
            <a:r>
              <a:rPr sz="1000" b="0" i="0">
                <a:solidFill>
                  <a:srgbClr val="D8E4F0"/>
                </a:solidFill>
                <a:latin typeface="Consolas"/>
              </a:rPr>
              <a:t>end</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WRONG - blocking (=) makes q1 update immediately, so q2 gets the NEW q1</a:t>
            </a:r>
          </a:p>
          <a:p>
            <a:pPr algn="l">
              <a:lnSpc>
                <a:spcPct val="112000"/>
              </a:lnSpc>
            </a:pPr>
            <a:r>
              <a:rPr sz="1000" b="0" i="0">
                <a:solidFill>
                  <a:srgbClr val="D8E4F0"/>
                </a:solidFill>
                <a:latin typeface="Consolas"/>
              </a:rPr>
              <a:t>always @(posedge clk) begin</a:t>
            </a:r>
          </a:p>
          <a:p>
            <a:pPr algn="l">
              <a:lnSpc>
                <a:spcPct val="112000"/>
              </a:lnSpc>
            </a:pPr>
            <a:r>
              <a:rPr sz="1000" b="0" i="0">
                <a:solidFill>
                  <a:srgbClr val="D8E4F0"/>
                </a:solidFill>
                <a:latin typeface="Consolas"/>
              </a:rPr>
              <a:t>    q1 = d;</a:t>
            </a:r>
          </a:p>
          <a:p>
            <a:pPr algn="l">
              <a:lnSpc>
                <a:spcPct val="112000"/>
              </a:lnSpc>
            </a:pPr>
            <a:r>
              <a:rPr sz="1000" b="0" i="0">
                <a:solidFill>
                  <a:srgbClr val="D8E4F0"/>
                </a:solidFill>
                <a:latin typeface="Consolas"/>
              </a:rPr>
              <a:t>    q2 = q1;           // q2 gets d  -&gt;  ONE flip-flop, and a race in simulation</a:t>
            </a:r>
          </a:p>
          <a:p>
            <a:pPr algn="l">
              <a:lnSpc>
                <a:spcPct val="112000"/>
              </a:lnSpc>
            </a:pPr>
            <a:r>
              <a:rPr sz="1000" b="0" i="0">
                <a:solidFill>
                  <a:srgbClr val="D8E4F0"/>
                </a:solidFill>
                <a:latin typeface="Consolas"/>
              </a:rPr>
              <a:t>end</a:t>
            </a:r>
          </a:p>
        </p:txBody>
      </p:sp>
      <p:sp>
        <p:nvSpPr>
          <p:cNvPr id="13" name="Rounded Rectangle 12"/>
          <p:cNvSpPr/>
          <p:nvPr/>
        </p:nvSpPr>
        <p:spPr>
          <a:xfrm>
            <a:off x="411480" y="4399280"/>
            <a:ext cx="5532120" cy="14173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446328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The rule — no exceptions</a:t>
            </a:r>
          </a:p>
        </p:txBody>
      </p:sp>
      <p:sp>
        <p:nvSpPr>
          <p:cNvPr id="15" name="TextBox 14"/>
          <p:cNvSpPr txBox="1"/>
          <p:nvPr/>
        </p:nvSpPr>
        <p:spPr>
          <a:xfrm>
            <a:off x="548640" y="4737608"/>
            <a:ext cx="5257800" cy="1014984"/>
          </a:xfrm>
          <a:prstGeom prst="rect">
            <a:avLst/>
          </a:prstGeom>
          <a:noFill/>
        </p:spPr>
        <p:txBody>
          <a:bodyPr wrap="square" lIns="0" rIns="0" tIns="0" bIns="0" anchor="t">
            <a:spAutoFit/>
          </a:bodyPr>
          <a:lstStyle/>
          <a:p>
            <a:pPr algn="l">
              <a:lnSpc>
                <a:spcPct val="103000"/>
              </a:lnSpc>
              <a:spcAft>
                <a:spcPts val="400"/>
              </a:spcAft>
            </a:pPr>
            <a:r>
              <a:rPr sz="1050" b="1" i="0">
                <a:solidFill>
                  <a:srgbClr val="2A9D5C"/>
                </a:solidFill>
                <a:latin typeface="Calibri"/>
              </a:rPr>
              <a:t>Non-blocking  &lt;=  in every  always @(posedge clk)  block.</a:t>
            </a:r>
          </a:p>
          <a:p>
            <a:pPr algn="l">
              <a:lnSpc>
                <a:spcPct val="103000"/>
              </a:lnSpc>
              <a:spcAft>
                <a:spcPts val="400"/>
              </a:spcAft>
            </a:pPr>
            <a:r>
              <a:rPr sz="1050" b="1" i="0">
                <a:solidFill>
                  <a:srgbClr val="2A9D5C"/>
                </a:solidFill>
                <a:latin typeface="Calibri"/>
              </a:rPr>
              <a:t>Blocking  =  in every  always @(*)  block.</a:t>
            </a:r>
          </a:p>
          <a:p>
            <a:pPr algn="l">
              <a:lnSpc>
                <a:spcPct val="103000"/>
              </a:lnSpc>
              <a:spcAft>
                <a:spcPts val="400"/>
              </a:spcAft>
            </a:pPr>
            <a:r>
              <a:rPr sz="1050" b="1" i="0">
                <a:solidFill>
                  <a:srgbClr val="C01F43"/>
                </a:solidFill>
                <a:latin typeface="Calibri"/>
              </a:rPr>
              <a:t>Never mix the two in one block. Never assign the same signal from two blocks.</a:t>
            </a:r>
          </a:p>
        </p:txBody>
      </p:sp>
      <p:sp>
        <p:nvSpPr>
          <p:cNvPr id="16" name="Rounded Rectangle 15"/>
          <p:cNvSpPr/>
          <p:nvPr/>
        </p:nvSpPr>
        <p:spPr>
          <a:xfrm>
            <a:off x="6126480" y="4399280"/>
            <a:ext cx="5532120" cy="14173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446328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Why the rule exists</a:t>
            </a:r>
          </a:p>
        </p:txBody>
      </p:sp>
      <p:sp>
        <p:nvSpPr>
          <p:cNvPr id="18" name="TextBox 17"/>
          <p:cNvSpPr txBox="1"/>
          <p:nvPr/>
        </p:nvSpPr>
        <p:spPr>
          <a:xfrm>
            <a:off x="6263640" y="4737608"/>
            <a:ext cx="5257800" cy="10149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Non-blocking assignments all sample their right-hand sides first, then update together at the end of the time step — which is exactly what a bank of flip-flops does on a clock edge.</a:t>
            </a:r>
          </a:p>
          <a:p>
            <a:pPr algn="l">
              <a:lnSpc>
                <a:spcPct val="103000"/>
              </a:lnSpc>
              <a:spcAft>
                <a:spcPts val="400"/>
              </a:spcAft>
            </a:pPr>
            <a:r>
              <a:rPr sz="1050" b="0" i="0">
                <a:solidFill>
                  <a:srgbClr val="33414F"/>
                </a:solidFill>
                <a:latin typeface="Calibri"/>
              </a:rPr>
              <a:t>Blocking assignments execute in order, like software, which models a wire, not a register.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3C · SYNTHESIS OF IDEAS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Controller Plus Datapath — How Real Blocks Are Built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61</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Everything in this topic now assembles into one architecture. </a:t>
            </a:r>
            <a:r>
              <a:rPr sz="1100" b="0" i="0">
                <a:solidFill>
                  <a:srgbClr val="33414F"/>
                </a:solidFill>
                <a:latin typeface="Calibri"/>
              </a:rPr>
              <a:t>The combinational blocks from 3b form the datapath; the FSM from 3c forms the controller; control signals go one way and status flags come back. This partition is how every non-trivial digital block is organised.</a:t>
            </a:r>
          </a:p>
        </p:txBody>
      </p:sp>
      <p:pic>
        <p:nvPicPr>
          <p:cNvPr id="10" name="Picture 9" descr="fsmd.png"/>
          <p:cNvPicPr>
            <a:picLocks noChangeAspect="1"/>
          </p:cNvPicPr>
          <p:nvPr/>
        </p:nvPicPr>
        <p:blipFill>
          <a:blip r:embed="rId2"/>
          <a:stretch>
            <a:fillRect/>
          </a:stretch>
        </p:blipFill>
        <p:spPr>
          <a:xfrm>
            <a:off x="1447921" y="1737360"/>
            <a:ext cx="9174238" cy="3383280"/>
          </a:xfrm>
          <a:prstGeom prst="rect">
            <a:avLst/>
          </a:prstGeom>
        </p:spPr>
      </p:pic>
      <p:sp>
        <p:nvSpPr>
          <p:cNvPr id="11" name="Rounded Rectangle 10"/>
          <p:cNvSpPr/>
          <p:nvPr/>
        </p:nvSpPr>
        <p:spPr>
          <a:xfrm>
            <a:off x="411480" y="5212080"/>
            <a:ext cx="11247120" cy="9601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27608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A concrete example you can build in one afternoon</a:t>
            </a:r>
          </a:p>
        </p:txBody>
      </p:sp>
      <p:sp>
        <p:nvSpPr>
          <p:cNvPr id="13" name="TextBox 12"/>
          <p:cNvSpPr txBox="1"/>
          <p:nvPr/>
        </p:nvSpPr>
        <p:spPr>
          <a:xfrm>
            <a:off x="576072" y="5550408"/>
            <a:ext cx="10917936" cy="55778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alibri"/>
              </a:rPr>
              <a:t>A serial multiplier. </a:t>
            </a:r>
            <a:r>
              <a:rPr sz="1100" b="0" i="0">
                <a:solidFill>
                  <a:srgbClr val="33414F"/>
                </a:solidFill>
                <a:latin typeface="Calibri"/>
              </a:rPr>
              <a:t>Datapath: a shift register for the multiplier, an adder, an accumulator register, a counter. Controller: an FSM with states IDLE → LOAD → ADD/SHIFT (looping) → DONE, using the counter's 'terminal count' status flag to decide when to leave the loop and driving the datapath's load, add and shift enables.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2A9D5C"/>
                </a:solidFill>
                <a:latin typeface="Calibri"/>
              </a:rPr>
              <a:t>HANDS-ON</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Tools, Installation and Tutorials</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Everything from here is done at a keyboard. The tools are free and take about fifteen minutes to install.</a:t>
            </a:r>
          </a:p>
        </p:txBody>
      </p:sp>
      <p:sp>
        <p:nvSpPr>
          <p:cNvPr id="6" name="Rectangle 5"/>
          <p:cNvSpPr/>
          <p:nvPr/>
        </p:nvSpPr>
        <p:spPr>
          <a:xfrm>
            <a:off x="640080" y="394106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Install: Logisim-Evolution, Icarus Verilog, GTKWave, Yosys</a:t>
            </a:r>
          </a:p>
        </p:txBody>
      </p:sp>
      <p:sp>
        <p:nvSpPr>
          <p:cNvPr id="8" name="Rectangle 7"/>
          <p:cNvSpPr/>
          <p:nvPr/>
        </p:nvSpPr>
        <p:spPr>
          <a:xfrm>
            <a:off x="640080" y="435254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T1 — Build and simulate gates, an adder and an FSM visually in Logisim</a:t>
            </a:r>
          </a:p>
        </p:txBody>
      </p:sp>
      <p:sp>
        <p:nvSpPr>
          <p:cNvPr id="10" name="Rectangle 9"/>
          <p:cNvSpPr/>
          <p:nvPr/>
        </p:nvSpPr>
        <p:spPr>
          <a:xfrm>
            <a:off x="640080" y="476402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T2 — Compile and simulate a full adder and a 4-bit adder; read the waveform</a:t>
            </a:r>
          </a:p>
        </p:txBody>
      </p:sp>
      <p:sp>
        <p:nvSpPr>
          <p:cNvPr id="12" name="Rectangle 11"/>
          <p:cNvSpPr/>
          <p:nvPr/>
        </p:nvSpPr>
        <p:spPr>
          <a:xfrm>
            <a:off x="640080" y="517550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T3 — Flip-flops, a shift register and a mod-10 counter</a:t>
            </a:r>
          </a:p>
        </p:txBody>
      </p:sp>
      <p:sp>
        <p:nvSpPr>
          <p:cNvPr id="14" name="Rectangle 13"/>
          <p:cNvSpPr/>
          <p:nvPr/>
        </p:nvSpPr>
        <p:spPr>
          <a:xfrm>
            <a:off x="640080" y="558698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48640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T4 — The 1011 FSM: simulate it, then synthesise it and read the netlist</a:t>
            </a:r>
          </a:p>
        </p:txBody>
      </p:sp>
      <p:sp>
        <p:nvSpPr>
          <p:cNvPr id="16" name="TextBox 15"/>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Module 2 · Verilog RTL Coding for Synthesis</a:t>
            </a:r>
          </a:p>
        </p:txBody>
      </p:sp>
      <p:sp>
        <p:nvSpPr>
          <p:cNvPr id="17" name="TextBox 16"/>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NIE/ELE/N0102 · Topic 3 · 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HANDS-ON · TOOLCHAIN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Four Tools and What Each One Is For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63</a:t>
            </a:r>
          </a:p>
        </p:txBody>
      </p:sp>
      <p:pic>
        <p:nvPicPr>
          <p:cNvPr id="9" name="Picture 8" descr="toolchain.png"/>
          <p:cNvPicPr>
            <a:picLocks noChangeAspect="1"/>
          </p:cNvPicPr>
          <p:nvPr/>
        </p:nvPicPr>
        <p:blipFill>
          <a:blip r:embed="rId2"/>
          <a:stretch>
            <a:fillRect/>
          </a:stretch>
        </p:blipFill>
        <p:spPr>
          <a:xfrm>
            <a:off x="1447921" y="1143000"/>
            <a:ext cx="9174238" cy="3383280"/>
          </a:xfrm>
          <a:prstGeom prst="rect">
            <a:avLst/>
          </a:prstGeom>
        </p:spPr>
      </p:pic>
      <p:sp>
        <p:nvSpPr>
          <p:cNvPr id="10" name="Rounded Rectangle 9"/>
          <p:cNvSpPr/>
          <p:nvPr/>
        </p:nvSpPr>
        <p:spPr>
          <a:xfrm>
            <a:off x="411480" y="4617720"/>
            <a:ext cx="11247120" cy="776224"/>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468172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Why this particular set</a:t>
            </a:r>
          </a:p>
        </p:txBody>
      </p:sp>
      <p:sp>
        <p:nvSpPr>
          <p:cNvPr id="12" name="TextBox 11"/>
          <p:cNvSpPr txBox="1"/>
          <p:nvPr/>
        </p:nvSpPr>
        <p:spPr>
          <a:xfrm>
            <a:off x="576072" y="4956048"/>
            <a:ext cx="10917936" cy="373888"/>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They are free, open-source, small, cross-platform and script-driven — so every student can run the identical flow at home, and the whole lab can be checked automatically. The commercial equivalents (ModelSim/Questa, VCS, Design Compiler, Vivado) do the same jobs with the same concepts and a larger price tag.</a:t>
            </a:r>
          </a:p>
        </p:txBody>
      </p:sp>
      <p:sp>
        <p:nvSpPr>
          <p:cNvPr id="13" name="TextBox 12"/>
          <p:cNvSpPr txBox="1"/>
          <p:nvPr/>
        </p:nvSpPr>
        <p:spPr>
          <a:xfrm>
            <a:off x="411480" y="5485384"/>
            <a:ext cx="11247120" cy="274320"/>
          </a:xfrm>
          <a:prstGeom prst="rect">
            <a:avLst/>
          </a:prstGeom>
          <a:noFill/>
        </p:spPr>
        <p:txBody>
          <a:bodyPr wrap="square" lIns="0" rIns="0" tIns="0" bIns="0" anchor="t">
            <a:spAutoFit/>
          </a:bodyPr>
          <a:lstStyle/>
          <a:p>
            <a:pPr algn="l">
              <a:lnSpc>
                <a:spcPct val="103000"/>
              </a:lnSpc>
            </a:pPr>
            <a:r>
              <a:rPr sz="1050" b="1" i="0">
                <a:solidFill>
                  <a:srgbClr val="0E2A47"/>
                </a:solidFill>
                <a:latin typeface="Calibri"/>
              </a:rPr>
              <a:t>Java note: </a:t>
            </a:r>
            <a:r>
              <a:rPr sz="1050" b="0" i="0">
                <a:solidFill>
                  <a:srgbClr val="33414F"/>
                </a:solidFill>
                <a:latin typeface="Calibri"/>
              </a:rPr>
              <a:t>Logisim-Evolution needs a Java Runtime (JRE 17 or later). Everything else is native.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HANDS-ON · INSTALLATION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Installing the Toolchain — Step by Step</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64</a:t>
            </a:r>
          </a:p>
        </p:txBody>
      </p:sp>
      <p:sp>
        <p:nvSpPr>
          <p:cNvPr id="9" name="Rounded Rectangle 8"/>
          <p:cNvSpPr/>
          <p:nvPr/>
        </p:nvSpPr>
        <p:spPr>
          <a:xfrm>
            <a:off x="411480" y="1143000"/>
            <a:ext cx="3627120" cy="20116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8640" y="120700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Windows  (recommended: WSL2)</a:t>
            </a:r>
          </a:p>
        </p:txBody>
      </p:sp>
      <p:sp>
        <p:nvSpPr>
          <p:cNvPr id="11" name="TextBox 10"/>
          <p:cNvSpPr txBox="1"/>
          <p:nvPr/>
        </p:nvSpPr>
        <p:spPr>
          <a:xfrm>
            <a:off x="548640" y="1481328"/>
            <a:ext cx="3352800" cy="1609344"/>
          </a:xfrm>
          <a:prstGeom prst="rect">
            <a:avLst/>
          </a:prstGeom>
          <a:noFill/>
        </p:spPr>
        <p:txBody>
          <a:bodyPr wrap="square" lIns="0" rIns="0" tIns="0" bIns="0" anchor="t">
            <a:spAutoFit/>
          </a:bodyPr>
          <a:lstStyle/>
          <a:p>
            <a:pPr algn="l">
              <a:lnSpc>
                <a:spcPct val="103000"/>
              </a:lnSpc>
              <a:spcAft>
                <a:spcPts val="400"/>
              </a:spcAft>
            </a:pPr>
            <a:r>
              <a:rPr sz="950" b="0" i="0">
                <a:solidFill>
                  <a:srgbClr val="33414F"/>
                </a:solidFill>
                <a:latin typeface="Calibri"/>
              </a:rPr>
              <a:t>1. Open PowerShell as Administrator:</a:t>
            </a:r>
          </a:p>
          <a:p>
            <a:pPr algn="l">
              <a:lnSpc>
                <a:spcPct val="103000"/>
              </a:lnSpc>
              <a:spcAft>
                <a:spcPts val="400"/>
              </a:spcAft>
            </a:pPr>
            <a:r>
              <a:rPr sz="950" b="1" i="0">
                <a:solidFill>
                  <a:srgbClr val="0E2A47"/>
                </a:solidFill>
                <a:latin typeface="Consolas"/>
              </a:rPr>
              <a:t>wsl --install -d Ubuntu</a:t>
            </a:r>
          </a:p>
          <a:p>
            <a:pPr algn="l">
              <a:lnSpc>
                <a:spcPct val="103000"/>
              </a:lnSpc>
              <a:spcAft>
                <a:spcPts val="400"/>
              </a:spcAft>
            </a:pPr>
            <a:r>
              <a:rPr sz="950" b="0" i="0">
                <a:solidFill>
                  <a:srgbClr val="33414F"/>
                </a:solidFill>
                <a:latin typeface="Calibri"/>
              </a:rPr>
              <a:t>2. Reboot, then open the Ubuntu terminal.</a:t>
            </a:r>
          </a:p>
          <a:p>
            <a:pPr algn="l">
              <a:lnSpc>
                <a:spcPct val="103000"/>
              </a:lnSpc>
              <a:spcAft>
                <a:spcPts val="400"/>
              </a:spcAft>
            </a:pPr>
            <a:r>
              <a:rPr sz="950" b="0" i="0">
                <a:solidFill>
                  <a:srgbClr val="33414F"/>
                </a:solidFill>
                <a:latin typeface="Calibri"/>
              </a:rPr>
              <a:t>3. Run the Ubuntu commands opposite.</a:t>
            </a:r>
          </a:p>
          <a:p>
            <a:pPr algn="l">
              <a:lnSpc>
                <a:spcPct val="103000"/>
              </a:lnSpc>
              <a:spcAft>
                <a:spcPts val="400"/>
              </a:spcAft>
            </a:pPr>
            <a:r>
              <a:rPr sz="950" b="0" i="0">
                <a:solidFill>
                  <a:srgbClr val="33414F"/>
                </a:solidFill>
                <a:latin typeface="Calibri"/>
              </a:rPr>
              <a:t>4. For GTKWave graphics, install VcXsrv or use WSLg (Win 11).</a:t>
            </a:r>
          </a:p>
          <a:p>
            <a:pPr algn="l">
              <a:lnSpc>
                <a:spcPct val="103000"/>
              </a:lnSpc>
              <a:spcAft>
                <a:spcPts val="400"/>
              </a:spcAft>
            </a:pPr>
            <a:r>
              <a:rPr sz="950" b="0" i="1">
                <a:solidFill>
                  <a:srgbClr val="5A6B7B"/>
                </a:solidFill>
                <a:latin typeface="Calibri"/>
              </a:rPr>
              <a:t>Alternative without WSL: download the OSS CAD Suite ZIP, unzip, and run environment.bat.</a:t>
            </a:r>
          </a:p>
        </p:txBody>
      </p:sp>
      <p:sp>
        <p:nvSpPr>
          <p:cNvPr id="12" name="Rounded Rectangle 11"/>
          <p:cNvSpPr/>
          <p:nvPr/>
        </p:nvSpPr>
        <p:spPr>
          <a:xfrm>
            <a:off x="4221480" y="1143000"/>
            <a:ext cx="3627120" cy="20116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58640" y="120700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Ubuntu / Debian / WSL</a:t>
            </a:r>
          </a:p>
        </p:txBody>
      </p:sp>
      <p:sp>
        <p:nvSpPr>
          <p:cNvPr id="14" name="TextBox 13"/>
          <p:cNvSpPr txBox="1"/>
          <p:nvPr/>
        </p:nvSpPr>
        <p:spPr>
          <a:xfrm>
            <a:off x="4358640" y="1481328"/>
            <a:ext cx="3352800" cy="1609344"/>
          </a:xfrm>
          <a:prstGeom prst="rect">
            <a:avLst/>
          </a:prstGeom>
          <a:noFill/>
        </p:spPr>
        <p:txBody>
          <a:bodyPr wrap="square" lIns="0" rIns="0" tIns="0" bIns="0" anchor="t">
            <a:spAutoFit/>
          </a:bodyPr>
          <a:lstStyle/>
          <a:p>
            <a:pPr algn="l">
              <a:lnSpc>
                <a:spcPct val="103000"/>
              </a:lnSpc>
              <a:spcAft>
                <a:spcPts val="400"/>
              </a:spcAft>
            </a:pPr>
            <a:r>
              <a:rPr sz="950" b="1" i="0">
                <a:solidFill>
                  <a:srgbClr val="0E2A47"/>
                </a:solidFill>
                <a:latin typeface="Consolas"/>
              </a:rPr>
              <a:t>sudo apt update</a:t>
            </a:r>
          </a:p>
          <a:p>
            <a:pPr algn="l">
              <a:lnSpc>
                <a:spcPct val="103000"/>
              </a:lnSpc>
              <a:spcAft>
                <a:spcPts val="400"/>
              </a:spcAft>
            </a:pPr>
            <a:r>
              <a:rPr sz="950" b="1" i="0">
                <a:solidFill>
                  <a:srgbClr val="0E2A47"/>
                </a:solidFill>
                <a:latin typeface="Consolas"/>
              </a:rPr>
              <a:t>sudo apt install -y iverilog \</a:t>
            </a:r>
          </a:p>
          <a:p>
            <a:pPr algn="l">
              <a:lnSpc>
                <a:spcPct val="103000"/>
              </a:lnSpc>
              <a:spcAft>
                <a:spcPts val="400"/>
              </a:spcAft>
            </a:pPr>
            <a:r>
              <a:rPr sz="950" b="1" i="0">
                <a:solidFill>
                  <a:srgbClr val="0E2A47"/>
                </a:solidFill>
                <a:latin typeface="Consolas"/>
              </a:rPr>
              <a:t>    gtkwave yosys default-jre</a:t>
            </a:r>
          </a:p>
          <a:p>
            <a:pPr algn="l">
              <a:lnSpc>
                <a:spcPct val="103000"/>
              </a:lnSpc>
              <a:spcAft>
                <a:spcPts val="400"/>
              </a:spcAft>
            </a:pPr>
            <a:r>
              <a:rPr sz="600" b="0" i="0">
                <a:solidFill>
                  <a:srgbClr val="33414F"/>
                </a:solidFill>
                <a:latin typeface="Calibri"/>
              </a:rPr>
              <a:t/>
            </a:r>
          </a:p>
          <a:p>
            <a:pPr algn="l">
              <a:lnSpc>
                <a:spcPct val="103000"/>
              </a:lnSpc>
              <a:spcAft>
                <a:spcPts val="400"/>
              </a:spcAft>
            </a:pPr>
            <a:r>
              <a:rPr sz="950" b="0" i="0">
                <a:solidFill>
                  <a:srgbClr val="33414F"/>
                </a:solidFill>
                <a:latin typeface="Calibri"/>
              </a:rPr>
              <a:t>Logisim-Evolution: download the .jar from its GitHub releases page and run:</a:t>
            </a:r>
          </a:p>
          <a:p>
            <a:pPr algn="l">
              <a:lnSpc>
                <a:spcPct val="103000"/>
              </a:lnSpc>
              <a:spcAft>
                <a:spcPts val="400"/>
              </a:spcAft>
            </a:pPr>
            <a:r>
              <a:rPr sz="950" b="1" i="0">
                <a:solidFill>
                  <a:srgbClr val="0E2A47"/>
                </a:solidFill>
                <a:latin typeface="Consolas"/>
              </a:rPr>
              <a:t>java -jar logisim-evolution.jar</a:t>
            </a:r>
          </a:p>
        </p:txBody>
      </p:sp>
      <p:sp>
        <p:nvSpPr>
          <p:cNvPr id="15" name="Rounded Rectangle 14"/>
          <p:cNvSpPr/>
          <p:nvPr/>
        </p:nvSpPr>
        <p:spPr>
          <a:xfrm>
            <a:off x="8031480" y="1143000"/>
            <a:ext cx="3627120" cy="201168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168640" y="120700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macOS  (Homebrew)</a:t>
            </a:r>
          </a:p>
        </p:txBody>
      </p:sp>
      <p:sp>
        <p:nvSpPr>
          <p:cNvPr id="17" name="TextBox 16"/>
          <p:cNvSpPr txBox="1"/>
          <p:nvPr/>
        </p:nvSpPr>
        <p:spPr>
          <a:xfrm>
            <a:off x="8168640" y="1481328"/>
            <a:ext cx="3352800" cy="1609344"/>
          </a:xfrm>
          <a:prstGeom prst="rect">
            <a:avLst/>
          </a:prstGeom>
          <a:noFill/>
        </p:spPr>
        <p:txBody>
          <a:bodyPr wrap="square" lIns="0" rIns="0" tIns="0" bIns="0" anchor="t">
            <a:spAutoFit/>
          </a:bodyPr>
          <a:lstStyle/>
          <a:p>
            <a:pPr algn="l">
              <a:lnSpc>
                <a:spcPct val="103000"/>
              </a:lnSpc>
              <a:spcAft>
                <a:spcPts val="400"/>
              </a:spcAft>
            </a:pPr>
            <a:r>
              <a:rPr sz="950" b="1" i="0">
                <a:solidFill>
                  <a:srgbClr val="0E2A47"/>
                </a:solidFill>
                <a:latin typeface="Consolas"/>
              </a:rPr>
              <a:t>/bin/bash -c "$(curl -fsSL \</a:t>
            </a:r>
          </a:p>
          <a:p>
            <a:pPr algn="l">
              <a:lnSpc>
                <a:spcPct val="103000"/>
              </a:lnSpc>
              <a:spcAft>
                <a:spcPts val="400"/>
              </a:spcAft>
            </a:pPr>
            <a:r>
              <a:rPr sz="950" b="1" i="0">
                <a:solidFill>
                  <a:srgbClr val="0E2A47"/>
                </a:solidFill>
                <a:latin typeface="Consolas"/>
              </a:rPr>
              <a:t>  https://raw.githubusercontent.com/\</a:t>
            </a:r>
          </a:p>
          <a:p>
            <a:pPr algn="l">
              <a:lnSpc>
                <a:spcPct val="103000"/>
              </a:lnSpc>
              <a:spcAft>
                <a:spcPts val="400"/>
              </a:spcAft>
            </a:pPr>
            <a:r>
              <a:rPr sz="950" b="1" i="0">
                <a:solidFill>
                  <a:srgbClr val="0E2A47"/>
                </a:solidFill>
                <a:latin typeface="Consolas"/>
              </a:rPr>
              <a:t>  Homebrew/install/HEAD/install.sh)"</a:t>
            </a:r>
          </a:p>
          <a:p>
            <a:pPr algn="l">
              <a:lnSpc>
                <a:spcPct val="103000"/>
              </a:lnSpc>
              <a:spcAft>
                <a:spcPts val="400"/>
              </a:spcAft>
            </a:pPr>
            <a:r>
              <a:rPr sz="600" b="0" i="0">
                <a:solidFill>
                  <a:srgbClr val="33414F"/>
                </a:solidFill>
                <a:latin typeface="Calibri"/>
              </a:rPr>
              <a:t/>
            </a:r>
          </a:p>
          <a:p>
            <a:pPr algn="l">
              <a:lnSpc>
                <a:spcPct val="103000"/>
              </a:lnSpc>
              <a:spcAft>
                <a:spcPts val="400"/>
              </a:spcAft>
            </a:pPr>
            <a:r>
              <a:rPr sz="950" b="1" i="0">
                <a:solidFill>
                  <a:srgbClr val="0E2A47"/>
                </a:solidFill>
                <a:latin typeface="Consolas"/>
              </a:rPr>
              <a:t>brew install icarus-verilog \</a:t>
            </a:r>
          </a:p>
          <a:p>
            <a:pPr algn="l">
              <a:lnSpc>
                <a:spcPct val="103000"/>
              </a:lnSpc>
              <a:spcAft>
                <a:spcPts val="400"/>
              </a:spcAft>
            </a:pPr>
            <a:r>
              <a:rPr sz="950" b="1" i="0">
                <a:solidFill>
                  <a:srgbClr val="0E2A47"/>
                </a:solidFill>
                <a:latin typeface="Consolas"/>
              </a:rPr>
              <a:t>    gtkwave yosys temurin</a:t>
            </a:r>
          </a:p>
        </p:txBody>
      </p:sp>
      <p:sp>
        <p:nvSpPr>
          <p:cNvPr id="18" name="Rounded Rectangle 17"/>
          <p:cNvSpPr/>
          <p:nvPr/>
        </p:nvSpPr>
        <p:spPr>
          <a:xfrm>
            <a:off x="411480" y="3246120"/>
            <a:ext cx="11247120" cy="1574292"/>
          </a:xfrm>
          <a:prstGeom prst="roundRect">
            <a:avLst>
              <a:gd name="adj" fmla="val 3000"/>
            </a:avLst>
          </a:prstGeom>
          <a:solidFill>
            <a:srgbClr val="112233"/>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94360" y="33604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Verification — run this before the lab, not during it</a:t>
            </a:r>
          </a:p>
        </p:txBody>
      </p:sp>
      <p:sp>
        <p:nvSpPr>
          <p:cNvPr id="20" name="TextBox 19"/>
          <p:cNvSpPr txBox="1"/>
          <p:nvPr/>
        </p:nvSpPr>
        <p:spPr>
          <a:xfrm>
            <a:off x="594360" y="3634740"/>
            <a:ext cx="10881360" cy="1071372"/>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 ---- VERIFY the installation - every one of these must print a version ----</a:t>
            </a:r>
          </a:p>
          <a:p>
            <a:pPr algn="l">
              <a:lnSpc>
                <a:spcPct val="112000"/>
              </a:lnSpc>
            </a:pPr>
            <a:r>
              <a:rPr sz="950" b="0" i="0">
                <a:solidFill>
                  <a:srgbClr val="D8E4F0"/>
                </a:solidFill>
                <a:latin typeface="Consolas"/>
              </a:rPr>
              <a:t>iverilog -V   | head -1        # expect: Icarus Verilog version 11.x or 12.x</a:t>
            </a:r>
          </a:p>
          <a:p>
            <a:pPr algn="l">
              <a:lnSpc>
                <a:spcPct val="112000"/>
              </a:lnSpc>
            </a:pPr>
            <a:r>
              <a:rPr sz="950" b="0" i="0">
                <a:solidFill>
                  <a:srgbClr val="D8E4F0"/>
                </a:solidFill>
                <a:latin typeface="Consolas"/>
              </a:rPr>
              <a:t>vvp   -V      | head -1        # the Icarus runtime engine</a:t>
            </a:r>
          </a:p>
          <a:p>
            <a:pPr algn="l">
              <a:lnSpc>
                <a:spcPct val="112000"/>
              </a:lnSpc>
            </a:pPr>
            <a:r>
              <a:rPr sz="950" b="0" i="0">
                <a:solidFill>
                  <a:srgbClr val="D8E4F0"/>
                </a:solidFill>
                <a:latin typeface="Consolas"/>
              </a:rPr>
              <a:t>gtkwave --version | head -1    # expect: GTKWave Analyzer v3.3.x</a:t>
            </a:r>
          </a:p>
          <a:p>
            <a:pPr algn="l">
              <a:lnSpc>
                <a:spcPct val="112000"/>
              </a:lnSpc>
            </a:pPr>
            <a:r>
              <a:rPr sz="950" b="0" i="0">
                <a:solidFill>
                  <a:srgbClr val="D8E4F0"/>
                </a:solidFill>
                <a:latin typeface="Consolas"/>
              </a:rPr>
              <a:t>yosys -V                       # expect: Yosys 0.3x</a:t>
            </a:r>
          </a:p>
          <a:p>
            <a:pPr algn="l">
              <a:lnSpc>
                <a:spcPct val="112000"/>
              </a:lnSpc>
            </a:pPr>
            <a:r>
              <a:rPr sz="950" b="0" i="0">
                <a:solidFill>
                  <a:srgbClr val="D8E4F0"/>
                </a:solidFill>
                <a:latin typeface="Consolas"/>
              </a:rPr>
              <a:t>java -version                  # expect: openjdk 17 or later</a:t>
            </a:r>
          </a:p>
        </p:txBody>
      </p:sp>
      <p:sp>
        <p:nvSpPr>
          <p:cNvPr id="21" name="TextBox 20"/>
          <p:cNvSpPr txBox="1"/>
          <p:nvPr/>
        </p:nvSpPr>
        <p:spPr>
          <a:xfrm>
            <a:off x="411480" y="4911852"/>
            <a:ext cx="11247120" cy="274320"/>
          </a:xfrm>
          <a:prstGeom prst="rect">
            <a:avLst/>
          </a:prstGeom>
          <a:noFill/>
        </p:spPr>
        <p:txBody>
          <a:bodyPr wrap="square" lIns="0" rIns="0" tIns="0" bIns="0" anchor="t">
            <a:spAutoFit/>
          </a:bodyPr>
          <a:lstStyle/>
          <a:p>
            <a:pPr algn="l">
              <a:lnSpc>
                <a:spcPct val="103000"/>
              </a:lnSpc>
            </a:pPr>
            <a:r>
              <a:rPr sz="1050" b="1" i="0">
                <a:solidFill>
                  <a:srgbClr val="C01F43"/>
                </a:solidFill>
                <a:latin typeface="Calibri"/>
              </a:rPr>
              <a:t>Troubleshooting: </a:t>
            </a:r>
            <a:r>
              <a:rPr sz="1050" b="0" i="0">
                <a:solidFill>
                  <a:srgbClr val="33414F"/>
                </a:solidFill>
                <a:latin typeface="Calibri"/>
              </a:rPr>
              <a:t>'command not found' after apt succeeded → close and reopen the terminal.   GTKWave opens but shows nothing → you forgot $dumpfile/$dumpvars in the testbench.   Yosys 'read_verilog: syntax error' → Icarus accepts some non-standard code that Yosys rejects; fix the RTL, do not work around it.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HANDS-ON · TUTORIAL T1</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Logisim-Evolution — See the Logic Before You Code It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65</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Goal: </a:t>
            </a:r>
            <a:r>
              <a:rPr sz="1250" b="0" i="0">
                <a:solidFill>
                  <a:srgbClr val="33414F"/>
                </a:solidFill>
                <a:latin typeface="Calibri"/>
              </a:rPr>
              <a:t>build three circuits by clicking, poke the inputs, and watch the wires change colour. Thirty minutes here saves hours of confusion later. </a:t>
            </a:r>
            <a:r>
              <a:rPr sz="1250" b="0" i="1">
                <a:solidFill>
                  <a:srgbClr val="5A6B7B"/>
                </a:solidFill>
                <a:latin typeface="Calibri"/>
              </a:rPr>
              <a:t>Deliverable: three .circ files plus a screenshot of each truth table.</a:t>
            </a:r>
          </a:p>
        </p:txBody>
      </p:sp>
      <p:sp>
        <p:nvSpPr>
          <p:cNvPr id="10" name="Rounded Rectangle 9"/>
          <p:cNvSpPr/>
          <p:nvPr/>
        </p:nvSpPr>
        <p:spPr>
          <a:xfrm>
            <a:off x="411480" y="1783080"/>
            <a:ext cx="11247120" cy="16916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184708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T1.1  —  A half adder from scratch  (10 min)</a:t>
            </a:r>
          </a:p>
        </p:txBody>
      </p:sp>
      <p:sp>
        <p:nvSpPr>
          <p:cNvPr id="12" name="TextBox 11"/>
          <p:cNvSpPr txBox="1"/>
          <p:nvPr/>
        </p:nvSpPr>
        <p:spPr>
          <a:xfrm>
            <a:off x="576072" y="2121408"/>
            <a:ext cx="10917936" cy="128930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onsolas"/>
              </a:rPr>
              <a:t>1. Launch:  java -jar logisim-evolution.jar</a:t>
            </a:r>
          </a:p>
          <a:p>
            <a:pPr algn="l">
              <a:lnSpc>
                <a:spcPct val="103000"/>
              </a:lnSpc>
              <a:spcAft>
                <a:spcPts val="400"/>
              </a:spcAft>
            </a:pPr>
            <a:r>
              <a:rPr sz="1050" b="0" i="0">
                <a:solidFill>
                  <a:srgbClr val="33414F"/>
                </a:solidFill>
                <a:latin typeface="Calibri"/>
              </a:rPr>
              <a:t>2. From the toolbar place two Input pins, label them A and B (right-click → Edit label).</a:t>
            </a:r>
          </a:p>
          <a:p>
            <a:pPr algn="l">
              <a:lnSpc>
                <a:spcPct val="103000"/>
              </a:lnSpc>
              <a:spcAft>
                <a:spcPts val="400"/>
              </a:spcAft>
            </a:pPr>
            <a:r>
              <a:rPr sz="1050" b="0" i="0">
                <a:solidFill>
                  <a:srgbClr val="33414F"/>
                </a:solidFill>
                <a:latin typeface="Calibri"/>
              </a:rPr>
              <a:t>3. From the Gates library drag in one XOR and one AND gate.</a:t>
            </a:r>
          </a:p>
          <a:p>
            <a:pPr algn="l">
              <a:lnSpc>
                <a:spcPct val="103000"/>
              </a:lnSpc>
              <a:spcAft>
                <a:spcPts val="400"/>
              </a:spcAft>
            </a:pPr>
            <a:r>
              <a:rPr sz="1050" b="0" i="0">
                <a:solidFill>
                  <a:srgbClr val="33414F"/>
                </a:solidFill>
                <a:latin typeface="Calibri"/>
              </a:rPr>
              <a:t>4. Place two Output pins, label them S and C.</a:t>
            </a:r>
          </a:p>
          <a:p>
            <a:pPr algn="l">
              <a:lnSpc>
                <a:spcPct val="103000"/>
              </a:lnSpc>
              <a:spcAft>
                <a:spcPts val="400"/>
              </a:spcAft>
            </a:pPr>
            <a:r>
              <a:rPr sz="1050" b="0" i="0">
                <a:solidFill>
                  <a:srgbClr val="33414F"/>
                </a:solidFill>
                <a:latin typeface="Calibri"/>
              </a:rPr>
              <a:t>5. Wire A and B to both gates; XOR → S, AND → C.</a:t>
            </a:r>
          </a:p>
          <a:p>
            <a:pPr algn="l">
              <a:lnSpc>
                <a:spcPct val="103000"/>
              </a:lnSpc>
              <a:spcAft>
                <a:spcPts val="400"/>
              </a:spcAft>
            </a:pPr>
            <a:r>
              <a:rPr sz="1050" b="0" i="0">
                <a:solidFill>
                  <a:srgbClr val="33414F"/>
                </a:solidFill>
                <a:latin typeface="Calibri"/>
              </a:rPr>
              <a:t>6. Press the poke (hand) tool and click A and B to toggle them. Verify all four rows against the truth table on slide 23.</a:t>
            </a:r>
          </a:p>
        </p:txBody>
      </p:sp>
      <p:sp>
        <p:nvSpPr>
          <p:cNvPr id="13" name="Rounded Rectangle 12"/>
          <p:cNvSpPr/>
          <p:nvPr/>
        </p:nvSpPr>
        <p:spPr>
          <a:xfrm>
            <a:off x="411480" y="3566160"/>
            <a:ext cx="5532120" cy="15087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363016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T1.2  —  4-bit ripple adder  (15 min)</a:t>
            </a:r>
          </a:p>
        </p:txBody>
      </p:sp>
      <p:sp>
        <p:nvSpPr>
          <p:cNvPr id="15" name="TextBox 14"/>
          <p:cNvSpPr txBox="1"/>
          <p:nvPr/>
        </p:nvSpPr>
        <p:spPr>
          <a:xfrm>
            <a:off x="548640" y="3904488"/>
            <a:ext cx="5257800" cy="110642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alibri"/>
              </a:rPr>
              <a:t>· Project → Add Circuit… name it  full_adder;  build it from two half adders + an OR.</a:t>
            </a:r>
          </a:p>
          <a:p>
            <a:pPr algn="l">
              <a:lnSpc>
                <a:spcPct val="103000"/>
              </a:lnSpc>
              <a:spcAft>
                <a:spcPts val="400"/>
              </a:spcAft>
            </a:pPr>
            <a:r>
              <a:rPr sz="1000" b="0" i="0">
                <a:solidFill>
                  <a:srgbClr val="33414F"/>
                </a:solidFill>
                <a:latin typeface="Calibri"/>
              </a:rPr>
              <a:t>· Back in main, place four copies of your full_adder from the project tree.</a:t>
            </a:r>
          </a:p>
          <a:p>
            <a:pPr algn="l">
              <a:lnSpc>
                <a:spcPct val="103000"/>
              </a:lnSpc>
              <a:spcAft>
                <a:spcPts val="400"/>
              </a:spcAft>
            </a:pPr>
            <a:r>
              <a:rPr sz="1000" b="0" i="0">
                <a:solidFill>
                  <a:srgbClr val="33414F"/>
                </a:solidFill>
                <a:latin typeface="Calibri"/>
              </a:rPr>
              <a:t>· Chain Cout → Cin. Drive A and B from 4-bit input pins.</a:t>
            </a:r>
          </a:p>
          <a:p>
            <a:pPr algn="l">
              <a:lnSpc>
                <a:spcPct val="103000"/>
              </a:lnSpc>
              <a:spcAft>
                <a:spcPts val="400"/>
              </a:spcAft>
            </a:pPr>
            <a:r>
              <a:rPr sz="1000" b="0" i="0">
                <a:solidFill>
                  <a:srgbClr val="33414F"/>
                </a:solidFill>
                <a:latin typeface="Calibri"/>
              </a:rPr>
              <a:t>· Add 5, add 3, check you get 8. Then add 15 + 1 and confirm Cout goes high.</a:t>
            </a:r>
          </a:p>
        </p:txBody>
      </p:sp>
      <p:sp>
        <p:nvSpPr>
          <p:cNvPr id="16" name="Rounded Rectangle 15"/>
          <p:cNvSpPr/>
          <p:nvPr/>
        </p:nvSpPr>
        <p:spPr>
          <a:xfrm>
            <a:off x="6126480" y="3566160"/>
            <a:ext cx="5532120" cy="15087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363016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T1.3  —  The 1011 detector  (20 min)</a:t>
            </a:r>
          </a:p>
        </p:txBody>
      </p:sp>
      <p:sp>
        <p:nvSpPr>
          <p:cNvPr id="18" name="TextBox 17"/>
          <p:cNvSpPr txBox="1"/>
          <p:nvPr/>
        </p:nvSpPr>
        <p:spPr>
          <a:xfrm>
            <a:off x="6263640" y="3904488"/>
            <a:ext cx="5257800" cy="110642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alibri"/>
              </a:rPr>
              <a:t>· Place a 3-bit Register and a Clock from the Memory / Wiring libraries.</a:t>
            </a:r>
          </a:p>
          <a:p>
            <a:pPr algn="l">
              <a:lnSpc>
                <a:spcPct val="103000"/>
              </a:lnSpc>
              <a:spcAft>
                <a:spcPts val="400"/>
              </a:spcAft>
            </a:pPr>
            <a:r>
              <a:rPr sz="1000" b="0" i="0">
                <a:solidFill>
                  <a:srgbClr val="33414F"/>
                </a:solidFill>
                <a:latin typeface="Calibri"/>
              </a:rPr>
              <a:t>· Implement the next-state equations from slide 54 with gates.</a:t>
            </a:r>
          </a:p>
          <a:p>
            <a:pPr algn="l">
              <a:lnSpc>
                <a:spcPct val="103000"/>
              </a:lnSpc>
              <a:spcAft>
                <a:spcPts val="400"/>
              </a:spcAft>
            </a:pPr>
            <a:r>
              <a:rPr sz="1000" b="0" i="0">
                <a:solidFill>
                  <a:srgbClr val="33414F"/>
                </a:solidFill>
                <a:latin typeface="Calibri"/>
              </a:rPr>
              <a:t>· Simulate → Tick Enabled, then hand-enter 1,0,1,1 on X and watch Z pulse.</a:t>
            </a:r>
          </a:p>
          <a:p>
            <a:pPr algn="l">
              <a:lnSpc>
                <a:spcPct val="103000"/>
              </a:lnSpc>
              <a:spcAft>
                <a:spcPts val="400"/>
              </a:spcAft>
            </a:pPr>
            <a:r>
              <a:rPr sz="1000" b="1" i="0">
                <a:solidFill>
                  <a:srgbClr val="2A9D5C"/>
                </a:solidFill>
                <a:latin typeface="Calibri"/>
              </a:rPr>
              <a:t>· Keep going with 0,1,1 and confirm the OVERLAPPING second hit.</a:t>
            </a:r>
          </a:p>
        </p:txBody>
      </p:sp>
      <p:sp>
        <p:nvSpPr>
          <p:cNvPr id="19" name="TextBox 18"/>
          <p:cNvSpPr txBox="1"/>
          <p:nvPr/>
        </p:nvSpPr>
        <p:spPr>
          <a:xfrm>
            <a:off x="411480" y="5120640"/>
            <a:ext cx="11247120" cy="228600"/>
          </a:xfrm>
          <a:prstGeom prst="rect">
            <a:avLst/>
          </a:prstGeom>
          <a:noFill/>
        </p:spPr>
        <p:txBody>
          <a:bodyPr wrap="square" lIns="0" rIns="0" tIns="0" bIns="0" anchor="t">
            <a:spAutoFit/>
          </a:bodyPr>
          <a:lstStyle/>
          <a:p>
            <a:pPr algn="l">
              <a:lnSpc>
                <a:spcPct val="103000"/>
              </a:lnSpc>
            </a:pPr>
            <a:r>
              <a:rPr sz="1000" b="1" i="0">
                <a:solidFill>
                  <a:srgbClr val="5A6B7B"/>
                </a:solidFill>
                <a:latin typeface="Calibri"/>
              </a:rPr>
              <a:t>Checkpoint question for the class: </a:t>
            </a:r>
            <a:r>
              <a:rPr sz="1000" b="0" i="1">
                <a:solidFill>
                  <a:srgbClr val="33414F"/>
                </a:solidFill>
                <a:latin typeface="Calibri"/>
              </a:rPr>
              <a:t>in T1.3, what happens if you tick the clock while X is changing? Relate the answer to the metastability slide.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HANDS-ON · TUTORIAL T2</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Icarus Verilog + GTKWave — Simulate a Full Adder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66</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Goal: </a:t>
            </a:r>
            <a:r>
              <a:rPr sz="1250" b="0" i="0">
                <a:solidFill>
                  <a:srgbClr val="33414F"/>
                </a:solidFill>
                <a:latin typeface="Calibri"/>
              </a:rPr>
              <a:t>take the same circuit you clicked together in T1 and describe it in Verilog, then prove it correct with a self-checking testbench and look at the waveform.</a:t>
            </a:r>
          </a:p>
        </p:txBody>
      </p:sp>
      <p:sp>
        <p:nvSpPr>
          <p:cNvPr id="10" name="Rounded Rectangle 9"/>
          <p:cNvSpPr/>
          <p:nvPr/>
        </p:nvSpPr>
        <p:spPr>
          <a:xfrm>
            <a:off x="411480" y="1645920"/>
            <a:ext cx="11247120" cy="3604245"/>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7602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Two files — the design and a self-checking testbench</a:t>
            </a:r>
          </a:p>
        </p:txBody>
      </p:sp>
      <p:sp>
        <p:nvSpPr>
          <p:cNvPr id="12" name="TextBox 11"/>
          <p:cNvSpPr txBox="1"/>
          <p:nvPr/>
        </p:nvSpPr>
        <p:spPr>
          <a:xfrm>
            <a:off x="594360" y="2034540"/>
            <a:ext cx="10881360" cy="3101325"/>
          </a:xfrm>
          <a:prstGeom prst="rect">
            <a:avLst/>
          </a:prstGeom>
          <a:noFill/>
        </p:spPr>
        <p:txBody>
          <a:bodyPr wrap="square" lIns="0" rIns="0" tIns="0" bIns="0" anchor="t">
            <a:spAutoFit/>
          </a:bodyPr>
          <a:lstStyle/>
          <a:p>
            <a:pPr algn="l">
              <a:lnSpc>
                <a:spcPct val="112000"/>
              </a:lnSpc>
            </a:pPr>
            <a:r>
              <a:rPr sz="660" b="0" i="0">
                <a:solidFill>
                  <a:srgbClr val="D8E4F0"/>
                </a:solidFill>
                <a:latin typeface="Consolas"/>
              </a:rPr>
              <a:t>// ---------- full_adder.v ----------</a:t>
            </a:r>
          </a:p>
          <a:p>
            <a:pPr algn="l">
              <a:lnSpc>
                <a:spcPct val="112000"/>
              </a:lnSpc>
            </a:pPr>
            <a:r>
              <a:rPr sz="660" b="0" i="0">
                <a:solidFill>
                  <a:srgbClr val="D8E4F0"/>
                </a:solidFill>
                <a:latin typeface="Consolas"/>
              </a:rPr>
              <a:t>module full_adder (input a, input b, input cin, output sum, output cout);</a:t>
            </a:r>
          </a:p>
          <a:p>
            <a:pPr algn="l">
              <a:lnSpc>
                <a:spcPct val="112000"/>
              </a:lnSpc>
            </a:pPr>
            <a:r>
              <a:rPr sz="660" b="0" i="0">
                <a:solidFill>
                  <a:srgbClr val="D8E4F0"/>
                </a:solidFill>
                <a:latin typeface="Consolas"/>
              </a:rPr>
              <a:t>    assign sum  = a ^ b ^ cin;</a:t>
            </a:r>
          </a:p>
          <a:p>
            <a:pPr algn="l">
              <a:lnSpc>
                <a:spcPct val="112000"/>
              </a:lnSpc>
            </a:pPr>
            <a:r>
              <a:rPr sz="660" b="0" i="0">
                <a:solidFill>
                  <a:srgbClr val="D8E4F0"/>
                </a:solidFill>
                <a:latin typeface="Consolas"/>
              </a:rPr>
              <a:t>    assign cout = (a &amp; b) | (cin &amp; (a ^ b));</a:t>
            </a:r>
          </a:p>
          <a:p>
            <a:pPr algn="l">
              <a:lnSpc>
                <a:spcPct val="112000"/>
              </a:lnSpc>
            </a:pPr>
            <a:r>
              <a:rPr sz="660" b="0" i="0">
                <a:solidFill>
                  <a:srgbClr val="D8E4F0"/>
                </a:solidFill>
                <a:latin typeface="Consolas"/>
              </a:rPr>
              <a:t>endmodule</a:t>
            </a:r>
          </a:p>
          <a:p>
            <a:pPr algn="l">
              <a:lnSpc>
                <a:spcPct val="112000"/>
              </a:lnSpc>
            </a:pPr>
            <a:r>
              <a:rPr sz="660" b="0" i="0">
                <a:solidFill>
                  <a:srgbClr val="D8E4F0"/>
                </a:solidFill>
                <a:latin typeface="Consolas"/>
              </a:rPr>
              <a:t> </a:t>
            </a:r>
          </a:p>
          <a:p>
            <a:pPr algn="l">
              <a:lnSpc>
                <a:spcPct val="112000"/>
              </a:lnSpc>
            </a:pPr>
            <a:r>
              <a:rPr sz="660" b="0" i="0">
                <a:solidFill>
                  <a:srgbClr val="D8E4F0"/>
                </a:solidFill>
                <a:latin typeface="Consolas"/>
              </a:rPr>
              <a:t>// ---------- tb_full_adder.v ----------</a:t>
            </a:r>
          </a:p>
          <a:p>
            <a:pPr algn="l">
              <a:lnSpc>
                <a:spcPct val="112000"/>
              </a:lnSpc>
            </a:pPr>
            <a:r>
              <a:rPr sz="660" b="0" i="0">
                <a:solidFill>
                  <a:srgbClr val="D8E4F0"/>
                </a:solidFill>
                <a:latin typeface="Consolas"/>
              </a:rPr>
              <a:t>`timescale 1ns/1ps</a:t>
            </a:r>
          </a:p>
          <a:p>
            <a:pPr algn="l">
              <a:lnSpc>
                <a:spcPct val="112000"/>
              </a:lnSpc>
            </a:pPr>
            <a:r>
              <a:rPr sz="660" b="0" i="0">
                <a:solidFill>
                  <a:srgbClr val="D8E4F0"/>
                </a:solidFill>
                <a:latin typeface="Consolas"/>
              </a:rPr>
              <a:t>module tb_full_adder;</a:t>
            </a:r>
          </a:p>
          <a:p>
            <a:pPr algn="l">
              <a:lnSpc>
                <a:spcPct val="112000"/>
              </a:lnSpc>
            </a:pPr>
            <a:r>
              <a:rPr sz="660" b="0" i="0">
                <a:solidFill>
                  <a:srgbClr val="D8E4F0"/>
                </a:solidFill>
                <a:latin typeface="Consolas"/>
              </a:rPr>
              <a:t>    reg a, b, cin;  wire sum, cout;  integer i;  integer errors = 0;</a:t>
            </a:r>
          </a:p>
          <a:p>
            <a:pPr algn="l">
              <a:lnSpc>
                <a:spcPct val="112000"/>
              </a:lnSpc>
            </a:pPr>
            <a:r>
              <a:rPr sz="660" b="0" i="0">
                <a:solidFill>
                  <a:srgbClr val="D8E4F0"/>
                </a:solidFill>
                <a:latin typeface="Consolas"/>
              </a:rPr>
              <a:t>    full_adder dut (.a(a), .b(b), .cin(cin), .sum(sum), .cout(cout));</a:t>
            </a:r>
          </a:p>
          <a:p>
            <a:pPr algn="l">
              <a:lnSpc>
                <a:spcPct val="112000"/>
              </a:lnSpc>
            </a:pPr>
            <a:r>
              <a:rPr sz="660" b="0" i="0">
                <a:solidFill>
                  <a:srgbClr val="D8E4F0"/>
                </a:solidFill>
                <a:latin typeface="Consolas"/>
              </a:rPr>
              <a:t> </a:t>
            </a:r>
          </a:p>
          <a:p>
            <a:pPr algn="l">
              <a:lnSpc>
                <a:spcPct val="112000"/>
              </a:lnSpc>
            </a:pPr>
            <a:r>
              <a:rPr sz="660" b="0" i="0">
                <a:solidFill>
                  <a:srgbClr val="D8E4F0"/>
                </a:solidFill>
                <a:latin typeface="Consolas"/>
              </a:rPr>
              <a:t>    initial begin</a:t>
            </a:r>
          </a:p>
          <a:p>
            <a:pPr algn="l">
              <a:lnSpc>
                <a:spcPct val="112000"/>
              </a:lnSpc>
            </a:pPr>
            <a:r>
              <a:rPr sz="660" b="0" i="0">
                <a:solidFill>
                  <a:srgbClr val="D8E4F0"/>
                </a:solidFill>
                <a:latin typeface="Consolas"/>
              </a:rPr>
              <a:t>        $dumpfile("fa.vcd");  $dumpvars(0, tb_full_adder);   // &lt;-- waveform dump</a:t>
            </a:r>
          </a:p>
          <a:p>
            <a:pPr algn="l">
              <a:lnSpc>
                <a:spcPct val="112000"/>
              </a:lnSpc>
            </a:pPr>
            <a:r>
              <a:rPr sz="660" b="0" i="0">
                <a:solidFill>
                  <a:srgbClr val="D8E4F0"/>
                </a:solidFill>
                <a:latin typeface="Consolas"/>
              </a:rPr>
              <a:t>        for (i = 0; i &lt; 8; i = i + 1) begin</a:t>
            </a:r>
          </a:p>
          <a:p>
            <a:pPr algn="l">
              <a:lnSpc>
                <a:spcPct val="112000"/>
              </a:lnSpc>
            </a:pPr>
            <a:r>
              <a:rPr sz="660" b="0" i="0">
                <a:solidFill>
                  <a:srgbClr val="D8E4F0"/>
                </a:solidFill>
                <a:latin typeface="Consolas"/>
              </a:rPr>
              <a:t>            {a, b, cin} = i[2:0];  #10;</a:t>
            </a:r>
          </a:p>
          <a:p>
            <a:pPr algn="l">
              <a:lnSpc>
                <a:spcPct val="112000"/>
              </a:lnSpc>
            </a:pPr>
            <a:r>
              <a:rPr sz="660" b="0" i="0">
                <a:solidFill>
                  <a:srgbClr val="D8E4F0"/>
                </a:solidFill>
                <a:latin typeface="Consolas"/>
              </a:rPr>
              <a:t>            if ({cout, sum} !== (a + b + cin)) begin</a:t>
            </a:r>
          </a:p>
          <a:p>
            <a:pPr algn="l">
              <a:lnSpc>
                <a:spcPct val="112000"/>
              </a:lnSpc>
            </a:pPr>
            <a:r>
              <a:rPr sz="660" b="0" i="0">
                <a:solidFill>
                  <a:srgbClr val="D8E4F0"/>
                </a:solidFill>
                <a:latin typeface="Consolas"/>
              </a:rPr>
              <a:t>                $display("FAIL a=%b b=%b cin=%b -&gt; %b%b", a, b, cin, cout, sum);</a:t>
            </a:r>
          </a:p>
          <a:p>
            <a:pPr algn="l">
              <a:lnSpc>
                <a:spcPct val="112000"/>
              </a:lnSpc>
            </a:pPr>
            <a:r>
              <a:rPr sz="660" b="0" i="0">
                <a:solidFill>
                  <a:srgbClr val="D8E4F0"/>
                </a:solidFill>
                <a:latin typeface="Consolas"/>
              </a:rPr>
              <a:t>                errors = errors + 1;</a:t>
            </a:r>
          </a:p>
          <a:p>
            <a:pPr algn="l">
              <a:lnSpc>
                <a:spcPct val="112000"/>
              </a:lnSpc>
            </a:pPr>
            <a:r>
              <a:rPr sz="660" b="0" i="0">
                <a:solidFill>
                  <a:srgbClr val="D8E4F0"/>
                </a:solidFill>
                <a:latin typeface="Consolas"/>
              </a:rPr>
              <a:t>            end</a:t>
            </a:r>
          </a:p>
          <a:p>
            <a:pPr algn="l">
              <a:lnSpc>
                <a:spcPct val="112000"/>
              </a:lnSpc>
            </a:pPr>
            <a:r>
              <a:rPr sz="660" b="0" i="0">
                <a:solidFill>
                  <a:srgbClr val="D8E4F0"/>
                </a:solidFill>
                <a:latin typeface="Consolas"/>
              </a:rPr>
              <a:t>        end</a:t>
            </a:r>
          </a:p>
          <a:p>
            <a:pPr algn="l">
              <a:lnSpc>
                <a:spcPct val="112000"/>
              </a:lnSpc>
            </a:pPr>
            <a:r>
              <a:rPr sz="660" b="0" i="0">
                <a:solidFill>
                  <a:srgbClr val="D8E4F0"/>
                </a:solidFill>
                <a:latin typeface="Consolas"/>
              </a:rPr>
              <a:t>        if (errors == 0) $display("PASS - all 8 cases correct");</a:t>
            </a:r>
          </a:p>
          <a:p>
            <a:pPr algn="l">
              <a:lnSpc>
                <a:spcPct val="112000"/>
              </a:lnSpc>
            </a:pPr>
            <a:r>
              <a:rPr sz="660" b="0" i="0">
                <a:solidFill>
                  <a:srgbClr val="D8E4F0"/>
                </a:solidFill>
                <a:latin typeface="Consolas"/>
              </a:rPr>
              <a:t>        $finish;</a:t>
            </a:r>
          </a:p>
          <a:p>
            <a:pPr algn="l">
              <a:lnSpc>
                <a:spcPct val="112000"/>
              </a:lnSpc>
            </a:pPr>
            <a:r>
              <a:rPr sz="660" b="0" i="0">
                <a:solidFill>
                  <a:srgbClr val="D8E4F0"/>
                </a:solidFill>
                <a:latin typeface="Consolas"/>
              </a:rPr>
              <a:t>    end</a:t>
            </a:r>
          </a:p>
          <a:p>
            <a:pPr algn="l">
              <a:lnSpc>
                <a:spcPct val="112000"/>
              </a:lnSpc>
            </a:pPr>
            <a:r>
              <a:rPr sz="660" b="0" i="0">
                <a:solidFill>
                  <a:srgbClr val="D8E4F0"/>
                </a:solidFill>
                <a:latin typeface="Consolas"/>
              </a:rPr>
              <a:t>endmodule</a:t>
            </a:r>
          </a:p>
        </p:txBody>
      </p:sp>
      <p:sp>
        <p:nvSpPr>
          <p:cNvPr id="13" name="Rounded Rectangle 12"/>
          <p:cNvSpPr/>
          <p:nvPr/>
        </p:nvSpPr>
        <p:spPr>
          <a:xfrm>
            <a:off x="411480" y="5341605"/>
            <a:ext cx="11247120" cy="1074316"/>
          </a:xfrm>
          <a:prstGeom prst="roundRect">
            <a:avLst>
              <a:gd name="adj" fmla="val 3000"/>
            </a:avLst>
          </a:prstGeom>
          <a:solidFill>
            <a:srgbClr val="112233"/>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94360" y="5455905"/>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Run it — three commands</a:t>
            </a:r>
          </a:p>
        </p:txBody>
      </p:sp>
      <p:sp>
        <p:nvSpPr>
          <p:cNvPr id="15" name="TextBox 14"/>
          <p:cNvSpPr txBox="1"/>
          <p:nvPr/>
        </p:nvSpPr>
        <p:spPr>
          <a:xfrm>
            <a:off x="594360" y="5730225"/>
            <a:ext cx="10881360" cy="571396"/>
          </a:xfrm>
          <a:prstGeom prst="rect">
            <a:avLst/>
          </a:prstGeom>
          <a:noFill/>
        </p:spPr>
        <p:txBody>
          <a:bodyPr wrap="square" lIns="0" rIns="0" tIns="0" bIns="0" anchor="t">
            <a:spAutoFit/>
          </a:bodyPr>
          <a:lstStyle/>
          <a:p>
            <a:pPr algn="l">
              <a:lnSpc>
                <a:spcPct val="112000"/>
              </a:lnSpc>
            </a:pPr>
            <a:r>
              <a:rPr sz="760" b="0" i="0">
                <a:solidFill>
                  <a:srgbClr val="D8E4F0"/>
                </a:solidFill>
                <a:latin typeface="Consolas"/>
              </a:rPr>
              <a:t>iverilog -g2012 -o fa.out full_adder.v tb_full_adder.v   # compile</a:t>
            </a:r>
          </a:p>
          <a:p>
            <a:pPr algn="l">
              <a:lnSpc>
                <a:spcPct val="112000"/>
              </a:lnSpc>
            </a:pPr>
            <a:r>
              <a:rPr sz="760" b="0" i="0">
                <a:solidFill>
                  <a:srgbClr val="D8E4F0"/>
                </a:solidFill>
                <a:latin typeface="Consolas"/>
              </a:rPr>
              <a:t>vvp fa.out                                               # run -&gt; 'PASS - all 8 cases correct'</a:t>
            </a:r>
          </a:p>
          <a:p>
            <a:pPr algn="l">
              <a:lnSpc>
                <a:spcPct val="112000"/>
              </a:lnSpc>
            </a:pPr>
            <a:r>
              <a:rPr sz="760" b="0" i="0">
                <a:solidFill>
                  <a:srgbClr val="D8E4F0"/>
                </a:solidFill>
                <a:latin typeface="Consolas"/>
              </a:rPr>
              <a:t>gtkwave fa.vcd &amp;                                         # view the waveform</a:t>
            </a:r>
          </a:p>
          <a:p>
            <a:pPr algn="l">
              <a:lnSpc>
                <a:spcPct val="112000"/>
              </a:lnSpc>
            </a:pPr>
            <a:r>
              <a:rPr sz="760" b="0" i="0">
                <a:solidFill>
                  <a:srgbClr val="D8E4F0"/>
                </a:solidFill>
                <a:latin typeface="Consolas"/>
              </a:rPr>
              <a:t># In GTKWave: pick tb_full_adder in the SST pane, select all, Insert, then 'zoom fit'.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HANDS-ON · TUTORIAL T3</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Sequential Logic — Flip-Flop, Shift Register, Counter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67</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Goal: </a:t>
            </a:r>
            <a:r>
              <a:rPr sz="1250" b="0" i="0">
                <a:solidFill>
                  <a:srgbClr val="33414F"/>
                </a:solidFill>
                <a:latin typeface="Calibri"/>
              </a:rPr>
              <a:t>see with your own eyes that a flip-flop samples only on the edge, that non-blocking assignment builds a real shift register, and that a mod-10 counter wraps at nine.</a:t>
            </a:r>
          </a:p>
        </p:txBody>
      </p:sp>
      <p:sp>
        <p:nvSpPr>
          <p:cNvPr id="10" name="Rounded Rectangle 9"/>
          <p:cNvSpPr/>
          <p:nvPr/>
        </p:nvSpPr>
        <p:spPr>
          <a:xfrm>
            <a:off x="411480" y="1645920"/>
            <a:ext cx="11247120" cy="3312922"/>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7602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Three designs — build them in one file or three</a:t>
            </a:r>
          </a:p>
        </p:txBody>
      </p:sp>
      <p:sp>
        <p:nvSpPr>
          <p:cNvPr id="12" name="TextBox 11"/>
          <p:cNvSpPr txBox="1"/>
          <p:nvPr/>
        </p:nvSpPr>
        <p:spPr>
          <a:xfrm>
            <a:off x="594360" y="2034540"/>
            <a:ext cx="10881360" cy="2810002"/>
          </a:xfrm>
          <a:prstGeom prst="rect">
            <a:avLst/>
          </a:prstGeom>
          <a:noFill/>
        </p:spPr>
        <p:txBody>
          <a:bodyPr wrap="square" lIns="0" rIns="0" tIns="0" bIns="0" anchor="t">
            <a:spAutoFit/>
          </a:bodyPr>
          <a:lstStyle/>
          <a:p>
            <a:pPr algn="l">
              <a:lnSpc>
                <a:spcPct val="112000"/>
              </a:lnSpc>
            </a:pPr>
            <a:r>
              <a:rPr sz="650" b="0" i="0">
                <a:solidFill>
                  <a:srgbClr val="D8E4F0"/>
                </a:solidFill>
                <a:latin typeface="Consolas"/>
              </a:rPr>
              <a:t>// ---------- dff.v : the reference D flip-flop, async active-low reset ----------</a:t>
            </a:r>
          </a:p>
          <a:p>
            <a:pPr algn="l">
              <a:lnSpc>
                <a:spcPct val="112000"/>
              </a:lnSpc>
            </a:pPr>
            <a:r>
              <a:rPr sz="650" b="0" i="0">
                <a:solidFill>
                  <a:srgbClr val="D8E4F0"/>
                </a:solidFill>
                <a:latin typeface="Consolas"/>
              </a:rPr>
              <a:t>module dff (input clk, input rst_n, input d, output reg q);</a:t>
            </a:r>
          </a:p>
          <a:p>
            <a:pPr algn="l">
              <a:lnSpc>
                <a:spcPct val="112000"/>
              </a:lnSpc>
            </a:pPr>
            <a:r>
              <a:rPr sz="650" b="0" i="0">
                <a:solidFill>
                  <a:srgbClr val="D8E4F0"/>
                </a:solidFill>
                <a:latin typeface="Consolas"/>
              </a:rPr>
              <a:t>    always @(posedge clk or negedge rst_n)</a:t>
            </a:r>
          </a:p>
          <a:p>
            <a:pPr algn="l">
              <a:lnSpc>
                <a:spcPct val="112000"/>
              </a:lnSpc>
            </a:pPr>
            <a:r>
              <a:rPr sz="650" b="0" i="0">
                <a:solidFill>
                  <a:srgbClr val="D8E4F0"/>
                </a:solidFill>
                <a:latin typeface="Consolas"/>
              </a:rPr>
              <a:t>        if (!rst_n) q &lt;= 1'b0;</a:t>
            </a:r>
          </a:p>
          <a:p>
            <a:pPr algn="l">
              <a:lnSpc>
                <a:spcPct val="112000"/>
              </a:lnSpc>
            </a:pPr>
            <a:r>
              <a:rPr sz="650" b="0" i="0">
                <a:solidFill>
                  <a:srgbClr val="D8E4F0"/>
                </a:solidFill>
                <a:latin typeface="Consolas"/>
              </a:rPr>
              <a:t>        else        q &lt;= d;</a:t>
            </a:r>
          </a:p>
          <a:p>
            <a:pPr algn="l">
              <a:lnSpc>
                <a:spcPct val="112000"/>
              </a:lnSpc>
            </a:pPr>
            <a:r>
              <a:rPr sz="650" b="0" i="0">
                <a:solidFill>
                  <a:srgbClr val="D8E4F0"/>
                </a:solidFill>
                <a:latin typeface="Consolas"/>
              </a:rPr>
              <a:t>endmodule</a:t>
            </a:r>
          </a:p>
          <a:p>
            <a:pPr algn="l">
              <a:lnSpc>
                <a:spcPct val="112000"/>
              </a:lnSpc>
            </a:pPr>
            <a:r>
              <a:rPr sz="650" b="0" i="0">
                <a:solidFill>
                  <a:srgbClr val="D8E4F0"/>
                </a:solidFill>
                <a:latin typeface="Consolas"/>
              </a:rPr>
              <a:t> </a:t>
            </a:r>
          </a:p>
          <a:p>
            <a:pPr algn="l">
              <a:lnSpc>
                <a:spcPct val="112000"/>
              </a:lnSpc>
            </a:pPr>
            <a:r>
              <a:rPr sz="650" b="0" i="0">
                <a:solidFill>
                  <a:srgbClr val="D8E4F0"/>
                </a:solidFill>
                <a:latin typeface="Consolas"/>
              </a:rPr>
              <a:t>// ---------- shift4.v : four-stage shift register ----------</a:t>
            </a:r>
          </a:p>
          <a:p>
            <a:pPr algn="l">
              <a:lnSpc>
                <a:spcPct val="112000"/>
              </a:lnSpc>
            </a:pPr>
            <a:r>
              <a:rPr sz="650" b="0" i="0">
                <a:solidFill>
                  <a:srgbClr val="D8E4F0"/>
                </a:solidFill>
                <a:latin typeface="Consolas"/>
              </a:rPr>
              <a:t>module shift4 (input clk, input rst_n, input sin, output reg [3:0] q);</a:t>
            </a:r>
          </a:p>
          <a:p>
            <a:pPr algn="l">
              <a:lnSpc>
                <a:spcPct val="112000"/>
              </a:lnSpc>
            </a:pPr>
            <a:r>
              <a:rPr sz="650" b="0" i="0">
                <a:solidFill>
                  <a:srgbClr val="D8E4F0"/>
                </a:solidFill>
                <a:latin typeface="Consolas"/>
              </a:rPr>
              <a:t>    always @(posedge clk or negedge rst_n)</a:t>
            </a:r>
          </a:p>
          <a:p>
            <a:pPr algn="l">
              <a:lnSpc>
                <a:spcPct val="112000"/>
              </a:lnSpc>
            </a:pPr>
            <a:r>
              <a:rPr sz="650" b="0" i="0">
                <a:solidFill>
                  <a:srgbClr val="D8E4F0"/>
                </a:solidFill>
                <a:latin typeface="Consolas"/>
              </a:rPr>
              <a:t>        if (!rst_n) q &lt;= 4'b0000;</a:t>
            </a:r>
          </a:p>
          <a:p>
            <a:pPr algn="l">
              <a:lnSpc>
                <a:spcPct val="112000"/>
              </a:lnSpc>
            </a:pPr>
            <a:r>
              <a:rPr sz="650" b="0" i="0">
                <a:solidFill>
                  <a:srgbClr val="D8E4F0"/>
                </a:solidFill>
                <a:latin typeface="Consolas"/>
              </a:rPr>
              <a:t>        else        q &lt;= {q[2:0], sin};      // shift left, sin enters at bit 0</a:t>
            </a:r>
          </a:p>
          <a:p>
            <a:pPr algn="l">
              <a:lnSpc>
                <a:spcPct val="112000"/>
              </a:lnSpc>
            </a:pPr>
            <a:r>
              <a:rPr sz="650" b="0" i="0">
                <a:solidFill>
                  <a:srgbClr val="D8E4F0"/>
                </a:solidFill>
                <a:latin typeface="Consolas"/>
              </a:rPr>
              <a:t>endmodule</a:t>
            </a:r>
          </a:p>
          <a:p>
            <a:pPr algn="l">
              <a:lnSpc>
                <a:spcPct val="112000"/>
              </a:lnSpc>
            </a:pPr>
            <a:r>
              <a:rPr sz="650" b="0" i="0">
                <a:solidFill>
                  <a:srgbClr val="D8E4F0"/>
                </a:solidFill>
                <a:latin typeface="Consolas"/>
              </a:rPr>
              <a:t> </a:t>
            </a:r>
          </a:p>
          <a:p>
            <a:pPr algn="l">
              <a:lnSpc>
                <a:spcPct val="112000"/>
              </a:lnSpc>
            </a:pPr>
            <a:r>
              <a:rPr sz="650" b="0" i="0">
                <a:solidFill>
                  <a:srgbClr val="D8E4F0"/>
                </a:solidFill>
                <a:latin typeface="Consolas"/>
              </a:rPr>
              <a:t>// ---------- bcd_counter.v : mod-10 synchronous up-counter ----------</a:t>
            </a:r>
          </a:p>
          <a:p>
            <a:pPr algn="l">
              <a:lnSpc>
                <a:spcPct val="112000"/>
              </a:lnSpc>
            </a:pPr>
            <a:r>
              <a:rPr sz="650" b="0" i="0">
                <a:solidFill>
                  <a:srgbClr val="D8E4F0"/>
                </a:solidFill>
                <a:latin typeface="Consolas"/>
              </a:rPr>
              <a:t>module bcd_counter (input clk, input rst_n, input en, output reg [3:0] cnt);</a:t>
            </a:r>
          </a:p>
          <a:p>
            <a:pPr algn="l">
              <a:lnSpc>
                <a:spcPct val="112000"/>
              </a:lnSpc>
            </a:pPr>
            <a:r>
              <a:rPr sz="650" b="0" i="0">
                <a:solidFill>
                  <a:srgbClr val="D8E4F0"/>
                </a:solidFill>
                <a:latin typeface="Consolas"/>
              </a:rPr>
              <a:t>    always @(posedge clk or negedge rst_n)</a:t>
            </a:r>
          </a:p>
          <a:p>
            <a:pPr algn="l">
              <a:lnSpc>
                <a:spcPct val="112000"/>
              </a:lnSpc>
            </a:pPr>
            <a:r>
              <a:rPr sz="650" b="0" i="0">
                <a:solidFill>
                  <a:srgbClr val="D8E4F0"/>
                </a:solidFill>
                <a:latin typeface="Consolas"/>
              </a:rPr>
              <a:t>        if (!rst_n)        cnt &lt;= 4'd0;</a:t>
            </a:r>
          </a:p>
          <a:p>
            <a:pPr algn="l">
              <a:lnSpc>
                <a:spcPct val="112000"/>
              </a:lnSpc>
            </a:pPr>
            <a:r>
              <a:rPr sz="650" b="0" i="0">
                <a:solidFill>
                  <a:srgbClr val="D8E4F0"/>
                </a:solidFill>
                <a:latin typeface="Consolas"/>
              </a:rPr>
              <a:t>        else if (en) begin</a:t>
            </a:r>
          </a:p>
          <a:p>
            <a:pPr algn="l">
              <a:lnSpc>
                <a:spcPct val="112000"/>
              </a:lnSpc>
            </a:pPr>
            <a:r>
              <a:rPr sz="650" b="0" i="0">
                <a:solidFill>
                  <a:srgbClr val="D8E4F0"/>
                </a:solidFill>
                <a:latin typeface="Consolas"/>
              </a:rPr>
              <a:t>            if (cnt == 4'd9) cnt &lt;= 4'd0;</a:t>
            </a:r>
          </a:p>
          <a:p>
            <a:pPr algn="l">
              <a:lnSpc>
                <a:spcPct val="112000"/>
              </a:lnSpc>
            </a:pPr>
            <a:r>
              <a:rPr sz="650" b="0" i="0">
                <a:solidFill>
                  <a:srgbClr val="D8E4F0"/>
                </a:solidFill>
                <a:latin typeface="Consolas"/>
              </a:rPr>
              <a:t>            else             cnt &lt;= cnt + 4'd1;</a:t>
            </a:r>
          </a:p>
          <a:p>
            <a:pPr algn="l">
              <a:lnSpc>
                <a:spcPct val="112000"/>
              </a:lnSpc>
            </a:pPr>
            <a:r>
              <a:rPr sz="650" b="0" i="0">
                <a:solidFill>
                  <a:srgbClr val="D8E4F0"/>
                </a:solidFill>
                <a:latin typeface="Consolas"/>
              </a:rPr>
              <a:t>        end</a:t>
            </a:r>
          </a:p>
          <a:p>
            <a:pPr algn="l">
              <a:lnSpc>
                <a:spcPct val="112000"/>
              </a:lnSpc>
            </a:pPr>
            <a:r>
              <a:rPr sz="650" b="0" i="0">
                <a:solidFill>
                  <a:srgbClr val="D8E4F0"/>
                </a:solidFill>
                <a:latin typeface="Consolas"/>
              </a:rPr>
              <a:t>endmodule</a:t>
            </a:r>
          </a:p>
        </p:txBody>
      </p:sp>
      <p:sp>
        <p:nvSpPr>
          <p:cNvPr id="13" name="Rounded Rectangle 12"/>
          <p:cNvSpPr/>
          <p:nvPr/>
        </p:nvSpPr>
        <p:spPr>
          <a:xfrm>
            <a:off x="411480" y="5050282"/>
            <a:ext cx="5532120" cy="12801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5114290"/>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What to look for in the waveform</a:t>
            </a:r>
          </a:p>
        </p:txBody>
      </p:sp>
      <p:sp>
        <p:nvSpPr>
          <p:cNvPr id="15" name="TextBox 14"/>
          <p:cNvSpPr txBox="1"/>
          <p:nvPr/>
        </p:nvSpPr>
        <p:spPr>
          <a:xfrm>
            <a:off x="548640" y="5388610"/>
            <a:ext cx="5257800" cy="87782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alibri"/>
              </a:rPr>
              <a:t>· q changes ONLY at rising clk edges, never when d moves mid-cycle.</a:t>
            </a:r>
          </a:p>
          <a:p>
            <a:pPr algn="l">
              <a:lnSpc>
                <a:spcPct val="103000"/>
              </a:lnSpc>
              <a:spcAft>
                <a:spcPts val="400"/>
              </a:spcAft>
            </a:pPr>
            <a:r>
              <a:rPr sz="1000" b="0" i="0">
                <a:solidFill>
                  <a:srgbClr val="33414F"/>
                </a:solidFill>
                <a:latin typeface="Calibri"/>
              </a:rPr>
              <a:t>· The shift register's bit 3 lags sin by exactly four cycles.</a:t>
            </a:r>
          </a:p>
          <a:p>
            <a:pPr algn="l">
              <a:lnSpc>
                <a:spcPct val="103000"/>
              </a:lnSpc>
              <a:spcAft>
                <a:spcPts val="400"/>
              </a:spcAft>
            </a:pPr>
            <a:r>
              <a:rPr sz="1000" b="0" i="0">
                <a:solidFill>
                  <a:srgbClr val="33414F"/>
                </a:solidFill>
                <a:latin typeface="Calibri"/>
              </a:rPr>
              <a:t>· cnt goes …8, 9, 0, 1… and never reaches 10.</a:t>
            </a:r>
          </a:p>
          <a:p>
            <a:pPr algn="l">
              <a:lnSpc>
                <a:spcPct val="103000"/>
              </a:lnSpc>
              <a:spcAft>
                <a:spcPts val="400"/>
              </a:spcAft>
            </a:pPr>
            <a:r>
              <a:rPr sz="940" b="0" i="1">
                <a:solidFill>
                  <a:srgbClr val="5A6B7B"/>
                </a:solidFill>
                <a:latin typeface="Calibri"/>
              </a:rPr>
              <a:t>Deliverable: one annotated GTKWave screenshot per design, with the key transition circled and one sentence explaining it.</a:t>
            </a:r>
          </a:p>
        </p:txBody>
      </p:sp>
      <p:sp>
        <p:nvSpPr>
          <p:cNvPr id="16" name="Rounded Rectangle 15"/>
          <p:cNvSpPr/>
          <p:nvPr/>
        </p:nvSpPr>
        <p:spPr>
          <a:xfrm>
            <a:off x="6126480" y="5050282"/>
            <a:ext cx="5532120" cy="12801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5114290"/>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Experiments that teach the lesson</a:t>
            </a:r>
          </a:p>
        </p:txBody>
      </p:sp>
      <p:sp>
        <p:nvSpPr>
          <p:cNvPr id="18" name="TextBox 17"/>
          <p:cNvSpPr txBox="1"/>
          <p:nvPr/>
        </p:nvSpPr>
        <p:spPr>
          <a:xfrm>
            <a:off x="6263640" y="5388610"/>
            <a:ext cx="5257800" cy="877824"/>
          </a:xfrm>
          <a:prstGeom prst="rect">
            <a:avLst/>
          </a:prstGeom>
          <a:noFill/>
        </p:spPr>
        <p:txBody>
          <a:bodyPr wrap="square" lIns="0" rIns="0" tIns="0" bIns="0" anchor="t">
            <a:spAutoFit/>
          </a:bodyPr>
          <a:lstStyle/>
          <a:p>
            <a:pPr algn="l">
              <a:lnSpc>
                <a:spcPct val="103000"/>
              </a:lnSpc>
              <a:spcAft>
                <a:spcPts val="400"/>
              </a:spcAft>
            </a:pPr>
            <a:r>
              <a:rPr sz="1000" b="1" i="0">
                <a:solidFill>
                  <a:srgbClr val="C01F43"/>
                </a:solidFill>
                <a:latin typeface="Calibri"/>
              </a:rPr>
              <a:t>1. Change  &lt;=  to  =  in shift4 and re-run. How many flip-flops does Yosys report now?</a:t>
            </a:r>
          </a:p>
          <a:p>
            <a:pPr algn="l">
              <a:lnSpc>
                <a:spcPct val="103000"/>
              </a:lnSpc>
              <a:spcAft>
                <a:spcPts val="400"/>
              </a:spcAft>
            </a:pPr>
            <a:r>
              <a:rPr sz="1000" b="0" i="0">
                <a:solidFill>
                  <a:srgbClr val="33414F"/>
                </a:solidFill>
                <a:latin typeface="Calibri"/>
              </a:rPr>
              <a:t>2. Delete the  if (cnt == 4'd9)  line. Watch the counter run to 15 — a mod-16 counter.</a:t>
            </a:r>
          </a:p>
          <a:p>
            <a:pPr algn="l">
              <a:lnSpc>
                <a:spcPct val="103000"/>
              </a:lnSpc>
              <a:spcAft>
                <a:spcPts val="400"/>
              </a:spcAft>
            </a:pPr>
            <a:r>
              <a:rPr sz="1000" b="0" i="0">
                <a:solidFill>
                  <a:srgbClr val="33414F"/>
                </a:solidFill>
                <a:latin typeface="Calibri"/>
              </a:rPr>
              <a:t>3. Toggle  en  low for three cycles and confirm the count freezes.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HANDS-ON · TUTORIAL T4</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1011 FSM — Simulate, Then Synthesise It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68</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Goal: </a:t>
            </a:r>
            <a:r>
              <a:rPr sz="1250" b="0" i="0">
                <a:solidFill>
                  <a:srgbClr val="33414F"/>
                </a:solidFill>
                <a:latin typeface="Calibri"/>
              </a:rPr>
              <a:t>close the loop. Take the FSM you designed on paper, run it, then ask Yosys what hardware it actually becomes — and check that the answer matches your state diagram.</a:t>
            </a:r>
          </a:p>
        </p:txBody>
      </p:sp>
      <p:sp>
        <p:nvSpPr>
          <p:cNvPr id="10" name="Rounded Rectangle 9"/>
          <p:cNvSpPr/>
          <p:nvPr/>
        </p:nvSpPr>
        <p:spPr>
          <a:xfrm>
            <a:off x="411480" y="1645920"/>
            <a:ext cx="11247120" cy="3284720"/>
          </a:xfrm>
          <a:prstGeom prst="roundRect">
            <a:avLst>
              <a:gd name="adj" fmla="val 3000"/>
            </a:avLst>
          </a:prstGeom>
          <a:solidFill>
            <a:srgbClr val="112233"/>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7602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Four steps, four commands</a:t>
            </a:r>
          </a:p>
        </p:txBody>
      </p:sp>
      <p:sp>
        <p:nvSpPr>
          <p:cNvPr id="12" name="TextBox 11"/>
          <p:cNvSpPr txBox="1"/>
          <p:nvPr/>
        </p:nvSpPr>
        <p:spPr>
          <a:xfrm>
            <a:off x="594360" y="2034540"/>
            <a:ext cx="10881360" cy="2781800"/>
          </a:xfrm>
          <a:prstGeom prst="rect">
            <a:avLst/>
          </a:prstGeom>
          <a:noFill/>
        </p:spPr>
        <p:txBody>
          <a:bodyPr wrap="square" lIns="0" rIns="0" tIns="0" bIns="0" anchor="t">
            <a:spAutoFit/>
          </a:bodyPr>
          <a:lstStyle/>
          <a:p>
            <a:pPr algn="l">
              <a:lnSpc>
                <a:spcPct val="112000"/>
              </a:lnSpc>
            </a:pPr>
            <a:r>
              <a:rPr sz="740" b="0" i="0">
                <a:solidFill>
                  <a:srgbClr val="D8E4F0"/>
                </a:solidFill>
                <a:latin typeface="Consolas"/>
              </a:rPr>
              <a:t># ---- Step 1 : simulate  (seq_detect_1011.v is the module from slide 55) ----</a:t>
            </a:r>
          </a:p>
          <a:p>
            <a:pPr algn="l">
              <a:lnSpc>
                <a:spcPct val="112000"/>
              </a:lnSpc>
            </a:pPr>
            <a:r>
              <a:rPr sz="740" b="0" i="0">
                <a:solidFill>
                  <a:srgbClr val="D8E4F0"/>
                </a:solidFill>
                <a:latin typeface="Consolas"/>
              </a:rPr>
              <a:t>iverilog -g2012 -o fsm.out seq_detect_1011.v tb_seq_detect.v</a:t>
            </a:r>
          </a:p>
          <a:p>
            <a:pPr algn="l">
              <a:lnSpc>
                <a:spcPct val="112000"/>
              </a:lnSpc>
            </a:pPr>
            <a:r>
              <a:rPr sz="740" b="0" i="0">
                <a:solidFill>
                  <a:srgbClr val="D8E4F0"/>
                </a:solidFill>
                <a:latin typeface="Consolas"/>
              </a:rPr>
              <a:t>vvp fsm.out                      # testbench drives 1011011 and checks Z pulses twice</a:t>
            </a:r>
          </a:p>
          <a:p>
            <a:pPr algn="l">
              <a:lnSpc>
                <a:spcPct val="112000"/>
              </a:lnSpc>
            </a:pPr>
            <a:r>
              <a:rPr sz="740" b="0" i="0">
                <a:solidFill>
                  <a:srgbClr val="D8E4F0"/>
                </a:solidFill>
                <a:latin typeface="Consolas"/>
              </a:rPr>
              <a:t>gtkwave fsm.vcd &amp;</a:t>
            </a:r>
          </a:p>
          <a:p>
            <a:pPr algn="l">
              <a:lnSpc>
                <a:spcPct val="112000"/>
              </a:lnSpc>
            </a:pPr>
            <a:r>
              <a:rPr sz="740" b="0" i="0">
                <a:solidFill>
                  <a:srgbClr val="D8E4F0"/>
                </a:solidFill>
                <a:latin typeface="Consolas"/>
              </a:rPr>
              <a:t> </a:t>
            </a:r>
          </a:p>
          <a:p>
            <a:pPr algn="l">
              <a:lnSpc>
                <a:spcPct val="112000"/>
              </a:lnSpc>
            </a:pPr>
            <a:r>
              <a:rPr sz="740" b="0" i="0">
                <a:solidFill>
                  <a:srgbClr val="D8E4F0"/>
                </a:solidFill>
                <a:latin typeface="Consolas"/>
              </a:rPr>
              <a:t># ---- Step 2 : synthesise and read the statistics ----</a:t>
            </a:r>
          </a:p>
          <a:p>
            <a:pPr algn="l">
              <a:lnSpc>
                <a:spcPct val="112000"/>
              </a:lnSpc>
            </a:pPr>
            <a:r>
              <a:rPr sz="740" b="0" i="0">
                <a:solidFill>
                  <a:srgbClr val="D8E4F0"/>
                </a:solidFill>
                <a:latin typeface="Consolas"/>
              </a:rPr>
              <a:t>yosys -p 'read_verilog seq_detect_1011.v; \</a:t>
            </a:r>
          </a:p>
          <a:p>
            <a:pPr algn="l">
              <a:lnSpc>
                <a:spcPct val="112000"/>
              </a:lnSpc>
            </a:pPr>
            <a:r>
              <a:rPr sz="740" b="0" i="0">
                <a:solidFill>
                  <a:srgbClr val="D8E4F0"/>
                </a:solidFill>
                <a:latin typeface="Consolas"/>
              </a:rPr>
              <a:t>          synth -top seq_detect_1011; \</a:t>
            </a:r>
          </a:p>
          <a:p>
            <a:pPr algn="l">
              <a:lnSpc>
                <a:spcPct val="112000"/>
              </a:lnSpc>
            </a:pPr>
            <a:r>
              <a:rPr sz="740" b="0" i="0">
                <a:solidFill>
                  <a:srgbClr val="D8E4F0"/>
                </a:solidFill>
                <a:latin typeface="Consolas"/>
              </a:rPr>
              <a:t>          stat'</a:t>
            </a:r>
          </a:p>
          <a:p>
            <a:pPr algn="l">
              <a:lnSpc>
                <a:spcPct val="112000"/>
              </a:lnSpc>
            </a:pPr>
            <a:r>
              <a:rPr sz="740" b="0" i="0">
                <a:solidFill>
                  <a:srgbClr val="D8E4F0"/>
                </a:solidFill>
                <a:latin typeface="Consolas"/>
              </a:rPr>
              <a:t> </a:t>
            </a:r>
          </a:p>
          <a:p>
            <a:pPr algn="l">
              <a:lnSpc>
                <a:spcPct val="112000"/>
              </a:lnSpc>
            </a:pPr>
            <a:r>
              <a:rPr sz="740" b="0" i="0">
                <a:solidFill>
                  <a:srgbClr val="D8E4F0"/>
                </a:solidFill>
                <a:latin typeface="Consolas"/>
              </a:rPr>
              <a:t># ---- Step 3 : look at the schematic Yosys produced ----</a:t>
            </a:r>
          </a:p>
          <a:p>
            <a:pPr algn="l">
              <a:lnSpc>
                <a:spcPct val="112000"/>
              </a:lnSpc>
            </a:pPr>
            <a:r>
              <a:rPr sz="740" b="0" i="0">
                <a:solidFill>
                  <a:srgbClr val="D8E4F0"/>
                </a:solidFill>
                <a:latin typeface="Consolas"/>
              </a:rPr>
              <a:t>yosys -p 'read_verilog seq_detect_1011.v; proc; opt; show -format dot -prefix fsm'</a:t>
            </a:r>
          </a:p>
          <a:p>
            <a:pPr algn="l">
              <a:lnSpc>
                <a:spcPct val="112000"/>
              </a:lnSpc>
            </a:pPr>
            <a:r>
              <a:rPr sz="740" b="0" i="0">
                <a:solidFill>
                  <a:srgbClr val="D8E4F0"/>
                </a:solidFill>
                <a:latin typeface="Consolas"/>
              </a:rPr>
              <a:t>dot -Tpng fsm.dot -o fsm.png     # needs graphviz:  sudo apt install graphviz</a:t>
            </a:r>
          </a:p>
          <a:p>
            <a:pPr algn="l">
              <a:lnSpc>
                <a:spcPct val="112000"/>
              </a:lnSpc>
            </a:pPr>
            <a:r>
              <a:rPr sz="740" b="0" i="0">
                <a:solidFill>
                  <a:srgbClr val="D8E4F0"/>
                </a:solidFill>
                <a:latin typeface="Consolas"/>
              </a:rPr>
              <a:t> </a:t>
            </a:r>
          </a:p>
          <a:p>
            <a:pPr algn="l">
              <a:lnSpc>
                <a:spcPct val="112000"/>
              </a:lnSpc>
            </a:pPr>
            <a:r>
              <a:rPr sz="740" b="0" i="0">
                <a:solidFill>
                  <a:srgbClr val="D8E4F0"/>
                </a:solidFill>
                <a:latin typeface="Consolas"/>
              </a:rPr>
              <a:t># ---- Step 4 : map to a real cell library and count gates ----</a:t>
            </a:r>
          </a:p>
          <a:p>
            <a:pPr algn="l">
              <a:lnSpc>
                <a:spcPct val="112000"/>
              </a:lnSpc>
            </a:pPr>
            <a:r>
              <a:rPr sz="740" b="0" i="0">
                <a:solidFill>
                  <a:srgbClr val="D8E4F0"/>
                </a:solidFill>
                <a:latin typeface="Consolas"/>
              </a:rPr>
              <a:t>yosys -p 'read_verilog seq_detect_1011.v; synth -top seq_detect_1011; \</a:t>
            </a:r>
          </a:p>
          <a:p>
            <a:pPr algn="l">
              <a:lnSpc>
                <a:spcPct val="112000"/>
              </a:lnSpc>
            </a:pPr>
            <a:r>
              <a:rPr sz="740" b="0" i="0">
                <a:solidFill>
                  <a:srgbClr val="D8E4F0"/>
                </a:solidFill>
                <a:latin typeface="Consolas"/>
              </a:rPr>
              <a:t>          abc -g AND,OR,XOR,NAND,NOR; stat; write_verilog fsm_netlist.v'</a:t>
            </a:r>
          </a:p>
          <a:p>
            <a:pPr algn="l">
              <a:lnSpc>
                <a:spcPct val="112000"/>
              </a:lnSpc>
            </a:pPr>
            <a:r>
              <a:rPr sz="740" b="0" i="0">
                <a:solidFill>
                  <a:srgbClr val="D8E4F0"/>
                </a:solidFill>
                <a:latin typeface="Consolas"/>
              </a:rPr>
              <a:t> </a:t>
            </a:r>
          </a:p>
          <a:p>
            <a:pPr algn="l">
              <a:lnSpc>
                <a:spcPct val="112000"/>
              </a:lnSpc>
            </a:pPr>
            <a:r>
              <a:rPr sz="740" b="0" i="0">
                <a:solidFill>
                  <a:srgbClr val="D8E4F0"/>
                </a:solidFill>
                <a:latin typeface="Consolas"/>
              </a:rPr>
              <a:t># ---- or run the whole lab in one go ----</a:t>
            </a:r>
          </a:p>
          <a:p>
            <a:pPr algn="l">
              <a:lnSpc>
                <a:spcPct val="112000"/>
              </a:lnSpc>
            </a:pPr>
            <a:r>
              <a:rPr sz="740" b="0" i="0">
                <a:solidFill>
                  <a:srgbClr val="D8E4F0"/>
                </a:solidFill>
                <a:latin typeface="Consolas"/>
              </a:rPr>
              <a:t>cd Topic3_Lab &amp;&amp; ./scripts/run_all.sh &amp;&amp; ./scripts/synth_all.sh</a:t>
            </a:r>
          </a:p>
        </p:txBody>
      </p:sp>
      <p:sp>
        <p:nvSpPr>
          <p:cNvPr id="13" name="Rounded Rectangle 12"/>
          <p:cNvSpPr/>
          <p:nvPr/>
        </p:nvSpPr>
        <p:spPr>
          <a:xfrm>
            <a:off x="411480" y="5022080"/>
            <a:ext cx="5532120" cy="14173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508608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What the stat report should tell you</a:t>
            </a:r>
          </a:p>
        </p:txBody>
      </p:sp>
      <p:sp>
        <p:nvSpPr>
          <p:cNvPr id="15" name="TextBox 14"/>
          <p:cNvSpPr txBox="1"/>
          <p:nvPr/>
        </p:nvSpPr>
        <p:spPr>
          <a:xfrm>
            <a:off x="548640" y="5360408"/>
            <a:ext cx="5257800" cy="1014984"/>
          </a:xfrm>
          <a:prstGeom prst="rect">
            <a:avLst/>
          </a:prstGeom>
          <a:noFill/>
        </p:spPr>
        <p:txBody>
          <a:bodyPr wrap="square" lIns="0" rIns="0" tIns="0" bIns="0" anchor="t">
            <a:spAutoFit/>
          </a:bodyPr>
          <a:lstStyle/>
          <a:p>
            <a:pPr algn="l">
              <a:lnSpc>
                <a:spcPct val="103000"/>
              </a:lnSpc>
              <a:spcAft>
                <a:spcPts val="400"/>
              </a:spcAft>
            </a:pPr>
            <a:r>
              <a:rPr sz="960" b="0" i="0">
                <a:solidFill>
                  <a:srgbClr val="33414F"/>
                </a:solidFill>
                <a:latin typeface="Calibri"/>
              </a:rPr>
              <a:t>· 18 cells in total</a:t>
            </a:r>
          </a:p>
          <a:p>
            <a:pPr algn="l">
              <a:lnSpc>
                <a:spcPct val="103000"/>
              </a:lnSpc>
              <a:spcAft>
                <a:spcPts val="400"/>
              </a:spcAft>
            </a:pPr>
            <a:r>
              <a:rPr sz="960" b="1" i="0">
                <a:solidFill>
                  <a:srgbClr val="2A9D5C"/>
                </a:solidFill>
                <a:latin typeface="Calibri"/>
              </a:rPr>
              <a:t>· 3 DFF cells — your 3-bit state register</a:t>
            </a:r>
          </a:p>
          <a:p>
            <a:pPr algn="l">
              <a:lnSpc>
                <a:spcPct val="103000"/>
              </a:lnSpc>
              <a:spcAft>
                <a:spcPts val="400"/>
              </a:spcAft>
            </a:pPr>
            <a:r>
              <a:rPr sz="960" b="0" i="0">
                <a:solidFill>
                  <a:srgbClr val="33414F"/>
                </a:solidFill>
                <a:latin typeface="Calibri"/>
              </a:rPr>
              <a:t>· 15 combinational cells</a:t>
            </a:r>
          </a:p>
          <a:p>
            <a:pPr algn="l">
              <a:lnSpc>
                <a:spcPct val="103000"/>
              </a:lnSpc>
              <a:spcAft>
                <a:spcPts val="400"/>
              </a:spcAft>
            </a:pPr>
            <a:r>
              <a:rPr sz="960" b="1" i="0">
                <a:solidFill>
                  <a:srgbClr val="C01F43"/>
                </a:solidFill>
                <a:latin typeface="Calibri"/>
              </a:rPr>
              <a:t>· ZERO $_DLATCH_ cells</a:t>
            </a:r>
          </a:p>
          <a:p>
            <a:pPr algn="l">
              <a:lnSpc>
                <a:spcPct val="103000"/>
              </a:lnSpc>
              <a:spcAft>
                <a:spcPts val="400"/>
              </a:spcAft>
            </a:pPr>
            <a:r>
              <a:rPr sz="960" b="0" i="0">
                <a:solidFill>
                  <a:srgbClr val="33414F"/>
                </a:solidFill>
                <a:latin typeface="Calibri"/>
              </a:rPr>
              <a:t>A latch means a default assignment is missing.</a:t>
            </a:r>
          </a:p>
        </p:txBody>
      </p:sp>
      <p:sp>
        <p:nvSpPr>
          <p:cNvPr id="16" name="Rounded Rectangle 15"/>
          <p:cNvSpPr/>
          <p:nvPr/>
        </p:nvSpPr>
        <p:spPr>
          <a:xfrm>
            <a:off x="6126480" y="5022080"/>
            <a:ext cx="5532120" cy="14173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508608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Experiments — each gives a real, different answer</a:t>
            </a:r>
          </a:p>
        </p:txBody>
      </p:sp>
      <p:sp>
        <p:nvSpPr>
          <p:cNvPr id="18" name="TextBox 17"/>
          <p:cNvSpPr txBox="1"/>
          <p:nvPr/>
        </p:nvSpPr>
        <p:spPr>
          <a:xfrm>
            <a:off x="6263640" y="5360408"/>
            <a:ext cx="5257800" cy="1014984"/>
          </a:xfrm>
          <a:prstGeom prst="rect">
            <a:avLst/>
          </a:prstGeom>
          <a:noFill/>
        </p:spPr>
        <p:txBody>
          <a:bodyPr wrap="square" lIns="0" rIns="0" tIns="0" bIns="0" anchor="t">
            <a:spAutoFit/>
          </a:bodyPr>
          <a:lstStyle/>
          <a:p>
            <a:pPr algn="l">
              <a:lnSpc>
                <a:spcPct val="103000"/>
              </a:lnSpc>
              <a:spcAft>
                <a:spcPts val="400"/>
              </a:spcAft>
            </a:pPr>
            <a:r>
              <a:rPr sz="960" b="0" i="0">
                <a:solidFill>
                  <a:srgbClr val="33414F"/>
                </a:solidFill>
                <a:latin typeface="Calibri"/>
              </a:rPr>
              <a:t>1. Synthesise  broken_latch.v  → find $_DLATCH_ in the cell list.</a:t>
            </a:r>
          </a:p>
          <a:p>
            <a:pPr algn="l">
              <a:lnSpc>
                <a:spcPct val="103000"/>
              </a:lnSpc>
              <a:spcAft>
                <a:spcPts val="400"/>
              </a:spcAft>
            </a:pPr>
            <a:r>
              <a:rPr sz="960" b="0" i="0">
                <a:solidFill>
                  <a:srgbClr val="33414F"/>
                </a:solidFill>
                <a:latin typeface="Calibri"/>
              </a:rPr>
              <a:t>2. Synthesise  seq_detect_1011_onehot.v  → 14 cells and 5 flip-flops, not 18 and 3. The only change is one attribute.</a:t>
            </a:r>
          </a:p>
          <a:p>
            <a:pPr algn="l">
              <a:lnSpc>
                <a:spcPct val="103000"/>
              </a:lnSpc>
              <a:spcAft>
                <a:spcPts val="400"/>
              </a:spcAft>
            </a:pPr>
            <a:r>
              <a:rPr sz="960" b="1" i="0">
                <a:solidFill>
                  <a:srgbClr val="0E2A47"/>
                </a:solidFill>
                <a:latin typeface="Calibri"/>
              </a:rPr>
              <a:t>3. Run  fsm_detect  → Yosys refuses to re-encode this FSM because the safe default makes it look self-resetting.</a:t>
            </a:r>
          </a:p>
        </p:txBody>
      </p:sp>
      <p:sp>
        <p:nvSpPr>
          <p:cNvPr id="19" name="TextBox 18"/>
          <p:cNvSpPr txBox="1"/>
          <p:nvPr/>
        </p:nvSpPr>
        <p:spPr>
          <a:xfrm>
            <a:off x="411480" y="6485120"/>
            <a:ext cx="11247120" cy="228600"/>
          </a:xfrm>
          <a:prstGeom prst="rect">
            <a:avLst/>
          </a:prstGeom>
          <a:noFill/>
        </p:spPr>
        <p:txBody>
          <a:bodyPr wrap="square" lIns="0" rIns="0" tIns="0" bIns="0" anchor="t">
            <a:spAutoFit/>
          </a:bodyPr>
          <a:lstStyle/>
          <a:p>
            <a:pPr algn="l">
              <a:lnSpc>
                <a:spcPct val="103000"/>
              </a:lnSpc>
            </a:pPr>
            <a:r>
              <a:rPr sz="1000" b="1" i="0">
                <a:solidFill>
                  <a:srgbClr val="0E2A47"/>
                </a:solidFill>
                <a:latin typeface="Calibri"/>
              </a:rPr>
              <a:t>This is the whole point of the topic: </a:t>
            </a:r>
            <a:r>
              <a:rPr sz="1000" b="0" i="1">
                <a:solidFill>
                  <a:srgbClr val="33414F"/>
                </a:solidFill>
                <a:latin typeface="Calibri"/>
              </a:rPr>
              <a:t>you predicted the hardware from the state diagram, and the tool agreed with you.</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HANDS-ON · ASSESSMENT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Lab Deliverables and Marking Rubric</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69</a:t>
            </a:r>
          </a:p>
        </p:txBody>
      </p:sp>
      <p:sp>
        <p:nvSpPr>
          <p:cNvPr id="9" name="Rectangle 8"/>
          <p:cNvSpPr/>
          <p:nvPr/>
        </p:nvSpPr>
        <p:spPr>
          <a:xfrm>
            <a:off x="411480" y="1143000"/>
            <a:ext cx="320040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310896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Deliverable</a:t>
            </a:r>
          </a:p>
        </p:txBody>
      </p:sp>
      <p:sp>
        <p:nvSpPr>
          <p:cNvPr id="11" name="Rectangle 10"/>
          <p:cNvSpPr/>
          <p:nvPr/>
        </p:nvSpPr>
        <p:spPr>
          <a:xfrm>
            <a:off x="3611880" y="1143000"/>
            <a:ext cx="621792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657600" y="1143000"/>
            <a:ext cx="612648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Evidence required</a:t>
            </a:r>
          </a:p>
        </p:txBody>
      </p:sp>
      <p:sp>
        <p:nvSpPr>
          <p:cNvPr id="13" name="Rectangle 12"/>
          <p:cNvSpPr/>
          <p:nvPr/>
        </p:nvSpPr>
        <p:spPr>
          <a:xfrm>
            <a:off x="9829800" y="1143000"/>
            <a:ext cx="182880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875520" y="1143000"/>
            <a:ext cx="173736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Marks</a:t>
            </a:r>
          </a:p>
        </p:txBody>
      </p:sp>
      <p:sp>
        <p:nvSpPr>
          <p:cNvPr id="15" name="Rectangle 14"/>
          <p:cNvSpPr/>
          <p:nvPr/>
        </p:nvSpPr>
        <p:spPr>
          <a:xfrm>
            <a:off x="411480" y="1600200"/>
            <a:ext cx="320040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600200"/>
            <a:ext cx="3108960" cy="45720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T1 — Logisim circuits</a:t>
            </a:r>
          </a:p>
        </p:txBody>
      </p:sp>
      <p:sp>
        <p:nvSpPr>
          <p:cNvPr id="17" name="Rectangle 16"/>
          <p:cNvSpPr/>
          <p:nvPr/>
        </p:nvSpPr>
        <p:spPr>
          <a:xfrm>
            <a:off x="3611880" y="1600200"/>
            <a:ext cx="621792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57600" y="1600200"/>
            <a:ext cx="612648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half_adder.circ, adder4.circ, fsm1011.circ + one screenshot each</a:t>
            </a:r>
          </a:p>
        </p:txBody>
      </p:sp>
      <p:sp>
        <p:nvSpPr>
          <p:cNvPr id="19" name="Rectangle 18"/>
          <p:cNvSpPr/>
          <p:nvPr/>
        </p:nvSpPr>
        <p:spPr>
          <a:xfrm>
            <a:off x="9829800" y="1600200"/>
            <a:ext cx="182880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875520" y="1600200"/>
            <a:ext cx="1737360" cy="457200"/>
          </a:xfrm>
          <a:prstGeom prst="rect">
            <a:avLst/>
          </a:prstGeom>
          <a:noFill/>
        </p:spPr>
        <p:txBody>
          <a:bodyPr wrap="square" lIns="0" rIns="0" tIns="0" bIns="0" anchor="ctr">
            <a:spAutoFit/>
          </a:bodyPr>
          <a:lstStyle/>
          <a:p>
            <a:pPr algn="ctr">
              <a:lnSpc>
                <a:spcPct val="103000"/>
              </a:lnSpc>
            </a:pPr>
            <a:r>
              <a:rPr sz="1000" b="1" i="0">
                <a:solidFill>
                  <a:srgbClr val="2A9D5C"/>
                </a:solidFill>
                <a:latin typeface="Calibri"/>
              </a:rPr>
              <a:t>15</a:t>
            </a:r>
          </a:p>
        </p:txBody>
      </p:sp>
      <p:sp>
        <p:nvSpPr>
          <p:cNvPr id="21" name="Rectangle 20"/>
          <p:cNvSpPr/>
          <p:nvPr/>
        </p:nvSpPr>
        <p:spPr>
          <a:xfrm>
            <a:off x="411480" y="2057400"/>
            <a:ext cx="320040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2057400"/>
            <a:ext cx="3108960" cy="45720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T2 — Full adder simulation</a:t>
            </a:r>
          </a:p>
        </p:txBody>
      </p:sp>
      <p:sp>
        <p:nvSpPr>
          <p:cNvPr id="23" name="Rectangle 22"/>
          <p:cNvSpPr/>
          <p:nvPr/>
        </p:nvSpPr>
        <p:spPr>
          <a:xfrm>
            <a:off x="3611880" y="2057400"/>
            <a:ext cx="621792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657600" y="2057400"/>
            <a:ext cx="612648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full_adder.v, tb_full_adder.v, console showing PASS, GTKWave screenshot</a:t>
            </a:r>
          </a:p>
        </p:txBody>
      </p:sp>
      <p:sp>
        <p:nvSpPr>
          <p:cNvPr id="25" name="Rectangle 24"/>
          <p:cNvSpPr/>
          <p:nvPr/>
        </p:nvSpPr>
        <p:spPr>
          <a:xfrm>
            <a:off x="9829800" y="2057400"/>
            <a:ext cx="182880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875520" y="2057400"/>
            <a:ext cx="1737360" cy="457200"/>
          </a:xfrm>
          <a:prstGeom prst="rect">
            <a:avLst/>
          </a:prstGeom>
          <a:noFill/>
        </p:spPr>
        <p:txBody>
          <a:bodyPr wrap="square" lIns="0" rIns="0" tIns="0" bIns="0" anchor="ctr">
            <a:spAutoFit/>
          </a:bodyPr>
          <a:lstStyle/>
          <a:p>
            <a:pPr algn="ctr">
              <a:lnSpc>
                <a:spcPct val="103000"/>
              </a:lnSpc>
            </a:pPr>
            <a:r>
              <a:rPr sz="1000" b="1" i="0">
                <a:solidFill>
                  <a:srgbClr val="2A9D5C"/>
                </a:solidFill>
                <a:latin typeface="Calibri"/>
              </a:rPr>
              <a:t>15</a:t>
            </a:r>
          </a:p>
        </p:txBody>
      </p:sp>
      <p:sp>
        <p:nvSpPr>
          <p:cNvPr id="27" name="Rectangle 26"/>
          <p:cNvSpPr/>
          <p:nvPr/>
        </p:nvSpPr>
        <p:spPr>
          <a:xfrm>
            <a:off x="411480" y="2514600"/>
            <a:ext cx="320040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2514600"/>
            <a:ext cx="3108960" cy="45720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T3 — Sequential designs</a:t>
            </a:r>
          </a:p>
        </p:txBody>
      </p:sp>
      <p:sp>
        <p:nvSpPr>
          <p:cNvPr id="29" name="Rectangle 28"/>
          <p:cNvSpPr/>
          <p:nvPr/>
        </p:nvSpPr>
        <p:spPr>
          <a:xfrm>
            <a:off x="3611880" y="2514600"/>
            <a:ext cx="621792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657600" y="2514600"/>
            <a:ext cx="612648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dff.v, shift4.v, bcd_counter.v, three annotated waveform screenshots</a:t>
            </a:r>
          </a:p>
        </p:txBody>
      </p:sp>
      <p:sp>
        <p:nvSpPr>
          <p:cNvPr id="31" name="Rectangle 30"/>
          <p:cNvSpPr/>
          <p:nvPr/>
        </p:nvSpPr>
        <p:spPr>
          <a:xfrm>
            <a:off x="9829800" y="2514600"/>
            <a:ext cx="182880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875520" y="2514600"/>
            <a:ext cx="1737360" cy="457200"/>
          </a:xfrm>
          <a:prstGeom prst="rect">
            <a:avLst/>
          </a:prstGeom>
          <a:noFill/>
        </p:spPr>
        <p:txBody>
          <a:bodyPr wrap="square" lIns="0" rIns="0" tIns="0" bIns="0" anchor="ctr">
            <a:spAutoFit/>
          </a:bodyPr>
          <a:lstStyle/>
          <a:p>
            <a:pPr algn="ctr">
              <a:lnSpc>
                <a:spcPct val="103000"/>
              </a:lnSpc>
            </a:pPr>
            <a:r>
              <a:rPr sz="1000" b="1" i="0">
                <a:solidFill>
                  <a:srgbClr val="2A9D5C"/>
                </a:solidFill>
                <a:latin typeface="Calibri"/>
              </a:rPr>
              <a:t>20</a:t>
            </a:r>
          </a:p>
        </p:txBody>
      </p:sp>
      <p:sp>
        <p:nvSpPr>
          <p:cNvPr id="33" name="Rectangle 32"/>
          <p:cNvSpPr/>
          <p:nvPr/>
        </p:nvSpPr>
        <p:spPr>
          <a:xfrm>
            <a:off x="411480" y="2971800"/>
            <a:ext cx="320040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971800"/>
            <a:ext cx="3108960" cy="45720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T4 — FSM end to end</a:t>
            </a:r>
          </a:p>
        </p:txBody>
      </p:sp>
      <p:sp>
        <p:nvSpPr>
          <p:cNvPr id="35" name="Rectangle 34"/>
          <p:cNvSpPr/>
          <p:nvPr/>
        </p:nvSpPr>
        <p:spPr>
          <a:xfrm>
            <a:off x="3611880" y="2971800"/>
            <a:ext cx="621792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657600" y="2971800"/>
            <a:ext cx="612648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seq_detect_1011.v, testbench, waveform showing TWO Z pulses, Yosys stat output</a:t>
            </a:r>
          </a:p>
        </p:txBody>
      </p:sp>
      <p:sp>
        <p:nvSpPr>
          <p:cNvPr id="37" name="Rectangle 36"/>
          <p:cNvSpPr/>
          <p:nvPr/>
        </p:nvSpPr>
        <p:spPr>
          <a:xfrm>
            <a:off x="9829800" y="2971800"/>
            <a:ext cx="182880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875520" y="2971800"/>
            <a:ext cx="1737360" cy="457200"/>
          </a:xfrm>
          <a:prstGeom prst="rect">
            <a:avLst/>
          </a:prstGeom>
          <a:noFill/>
        </p:spPr>
        <p:txBody>
          <a:bodyPr wrap="square" lIns="0" rIns="0" tIns="0" bIns="0" anchor="ctr">
            <a:spAutoFit/>
          </a:bodyPr>
          <a:lstStyle/>
          <a:p>
            <a:pPr algn="ctr">
              <a:lnSpc>
                <a:spcPct val="103000"/>
              </a:lnSpc>
            </a:pPr>
            <a:r>
              <a:rPr sz="1000" b="1" i="0">
                <a:solidFill>
                  <a:srgbClr val="2A9D5C"/>
                </a:solidFill>
                <a:latin typeface="Calibri"/>
              </a:rPr>
              <a:t>25</a:t>
            </a:r>
          </a:p>
        </p:txBody>
      </p:sp>
      <p:sp>
        <p:nvSpPr>
          <p:cNvPr id="39" name="Rectangle 38"/>
          <p:cNvSpPr/>
          <p:nvPr/>
        </p:nvSpPr>
        <p:spPr>
          <a:xfrm>
            <a:off x="411480" y="3429000"/>
            <a:ext cx="320040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3429000"/>
            <a:ext cx="3108960" cy="45720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Written answers</a:t>
            </a:r>
          </a:p>
        </p:txBody>
      </p:sp>
      <p:sp>
        <p:nvSpPr>
          <p:cNvPr id="41" name="Rectangle 40"/>
          <p:cNvSpPr/>
          <p:nvPr/>
        </p:nvSpPr>
        <p:spPr>
          <a:xfrm>
            <a:off x="3611880" y="3429000"/>
            <a:ext cx="621792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3657600" y="3429000"/>
            <a:ext cx="612648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Workbook Part 5 exercises E1–E14 with working shown</a:t>
            </a:r>
          </a:p>
        </p:txBody>
      </p:sp>
      <p:sp>
        <p:nvSpPr>
          <p:cNvPr id="43" name="Rectangle 42"/>
          <p:cNvSpPr/>
          <p:nvPr/>
        </p:nvSpPr>
        <p:spPr>
          <a:xfrm>
            <a:off x="9829800" y="3429000"/>
            <a:ext cx="182880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875520" y="3429000"/>
            <a:ext cx="1737360" cy="457200"/>
          </a:xfrm>
          <a:prstGeom prst="rect">
            <a:avLst/>
          </a:prstGeom>
          <a:noFill/>
        </p:spPr>
        <p:txBody>
          <a:bodyPr wrap="square" lIns="0" rIns="0" tIns="0" bIns="0" anchor="ctr">
            <a:spAutoFit/>
          </a:bodyPr>
          <a:lstStyle/>
          <a:p>
            <a:pPr algn="ctr">
              <a:lnSpc>
                <a:spcPct val="103000"/>
              </a:lnSpc>
            </a:pPr>
            <a:r>
              <a:rPr sz="1000" b="1" i="0">
                <a:solidFill>
                  <a:srgbClr val="2A9D5C"/>
                </a:solidFill>
                <a:latin typeface="Calibri"/>
              </a:rPr>
              <a:t>15</a:t>
            </a:r>
          </a:p>
        </p:txBody>
      </p:sp>
      <p:sp>
        <p:nvSpPr>
          <p:cNvPr id="45" name="Rectangle 44"/>
          <p:cNvSpPr/>
          <p:nvPr/>
        </p:nvSpPr>
        <p:spPr>
          <a:xfrm>
            <a:off x="411480" y="3886200"/>
            <a:ext cx="320040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3886200"/>
            <a:ext cx="3108960" cy="457200"/>
          </a:xfrm>
          <a:prstGeom prst="rect">
            <a:avLst/>
          </a:prstGeom>
          <a:noFill/>
        </p:spPr>
        <p:txBody>
          <a:bodyPr wrap="square" lIns="0" rIns="0" tIns="0" bIns="0" anchor="ctr">
            <a:spAutoFit/>
          </a:bodyPr>
          <a:lstStyle/>
          <a:p>
            <a:pPr algn="ctr">
              <a:lnSpc>
                <a:spcPct val="103000"/>
              </a:lnSpc>
            </a:pPr>
            <a:r>
              <a:rPr sz="1000" b="1" i="0">
                <a:solidFill>
                  <a:srgbClr val="1B9AAA"/>
                </a:solidFill>
                <a:latin typeface="Calibri"/>
              </a:rPr>
              <a:t>Viva / explanation</a:t>
            </a:r>
          </a:p>
        </p:txBody>
      </p:sp>
      <p:sp>
        <p:nvSpPr>
          <p:cNvPr id="47" name="Rectangle 46"/>
          <p:cNvSpPr/>
          <p:nvPr/>
        </p:nvSpPr>
        <p:spPr>
          <a:xfrm>
            <a:off x="3611880" y="3886200"/>
            <a:ext cx="621792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657600" y="3886200"/>
            <a:ext cx="612648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Explain one design of the examiner's choosing at the whiteboard</a:t>
            </a:r>
          </a:p>
        </p:txBody>
      </p:sp>
      <p:sp>
        <p:nvSpPr>
          <p:cNvPr id="49" name="Rectangle 48"/>
          <p:cNvSpPr/>
          <p:nvPr/>
        </p:nvSpPr>
        <p:spPr>
          <a:xfrm>
            <a:off x="9829800" y="3886200"/>
            <a:ext cx="182880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9875520" y="3886200"/>
            <a:ext cx="1737360" cy="457200"/>
          </a:xfrm>
          <a:prstGeom prst="rect">
            <a:avLst/>
          </a:prstGeom>
          <a:noFill/>
        </p:spPr>
        <p:txBody>
          <a:bodyPr wrap="square" lIns="0" rIns="0" tIns="0" bIns="0" anchor="ctr">
            <a:spAutoFit/>
          </a:bodyPr>
          <a:lstStyle/>
          <a:p>
            <a:pPr algn="ctr">
              <a:lnSpc>
                <a:spcPct val="103000"/>
              </a:lnSpc>
            </a:pPr>
            <a:r>
              <a:rPr sz="1000" b="1" i="0">
                <a:solidFill>
                  <a:srgbClr val="2A9D5C"/>
                </a:solidFill>
                <a:latin typeface="Calibri"/>
              </a:rPr>
              <a:t>10</a:t>
            </a:r>
          </a:p>
        </p:txBody>
      </p:sp>
      <p:sp>
        <p:nvSpPr>
          <p:cNvPr id="51" name="Rounded Rectangle 50"/>
          <p:cNvSpPr/>
          <p:nvPr/>
        </p:nvSpPr>
        <p:spPr>
          <a:xfrm>
            <a:off x="411480" y="4434840"/>
            <a:ext cx="11247120" cy="91440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576072" y="449884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Pass criteria</a:t>
            </a:r>
          </a:p>
        </p:txBody>
      </p:sp>
      <p:sp>
        <p:nvSpPr>
          <p:cNvPr id="53" name="TextBox 52"/>
          <p:cNvSpPr txBox="1"/>
          <p:nvPr/>
        </p:nvSpPr>
        <p:spPr>
          <a:xfrm>
            <a:off x="576072" y="4773168"/>
            <a:ext cx="10917936" cy="51206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50 % overall, with a compulsory pass in T4 — a student who cannot take an FSM from state diagram to a verified, synthesised netlist has not met the terminal outcome for this topic. Resubmission of T4 is permitted once.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 · GLOSSARY (1 of 2)</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Key Terms — Boolean Algebra and Combinational Logic</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70</a:t>
            </a:r>
          </a:p>
        </p:txBody>
      </p:sp>
      <p:sp>
        <p:nvSpPr>
          <p:cNvPr id="9" name="TextBox 8"/>
          <p:cNvSpPr txBox="1"/>
          <p:nvPr/>
        </p:nvSpPr>
        <p:spPr>
          <a:xfrm>
            <a:off x="411480" y="11430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Literal — </a:t>
            </a:r>
            <a:r>
              <a:rPr sz="1050" b="0" i="0">
                <a:solidFill>
                  <a:srgbClr val="33414F"/>
                </a:solidFill>
                <a:latin typeface="Calibri"/>
              </a:rPr>
              <a:t>A variable or its complement — A and A' are two literals.</a:t>
            </a:r>
          </a:p>
        </p:txBody>
      </p:sp>
      <p:sp>
        <p:nvSpPr>
          <p:cNvPr id="10" name="TextBox 9"/>
          <p:cNvSpPr txBox="1"/>
          <p:nvPr/>
        </p:nvSpPr>
        <p:spPr>
          <a:xfrm>
            <a:off x="411480" y="18288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Minterm / Maxterm — </a:t>
            </a:r>
            <a:r>
              <a:rPr sz="1050" b="0" i="0">
                <a:solidFill>
                  <a:srgbClr val="33414F"/>
                </a:solidFill>
                <a:latin typeface="Calibri"/>
              </a:rPr>
              <a:t>The AND term true for exactly one row / the OR term false for exactly one row.</a:t>
            </a:r>
          </a:p>
        </p:txBody>
      </p:sp>
      <p:sp>
        <p:nvSpPr>
          <p:cNvPr id="11" name="TextBox 10"/>
          <p:cNvSpPr txBox="1"/>
          <p:nvPr/>
        </p:nvSpPr>
        <p:spPr>
          <a:xfrm>
            <a:off x="411480" y="25146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Canonical form — </a:t>
            </a:r>
            <a:r>
              <a:rPr sz="1050" b="0" i="0">
                <a:solidFill>
                  <a:srgbClr val="33414F"/>
                </a:solidFill>
                <a:latin typeface="Calibri"/>
              </a:rPr>
              <a:t>SOP or POS written directly from the truth table; unique but rarely minimal.</a:t>
            </a:r>
          </a:p>
        </p:txBody>
      </p:sp>
      <p:sp>
        <p:nvSpPr>
          <p:cNvPr id="12" name="TextBox 11"/>
          <p:cNvSpPr txBox="1"/>
          <p:nvPr/>
        </p:nvSpPr>
        <p:spPr>
          <a:xfrm>
            <a:off x="411480" y="32004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Implicant — </a:t>
            </a:r>
            <a:r>
              <a:rPr sz="1050" b="0" i="0">
                <a:solidFill>
                  <a:srgbClr val="33414F"/>
                </a:solidFill>
                <a:latin typeface="Calibri"/>
              </a:rPr>
              <a:t>Any product term that covers only 1s of the function.</a:t>
            </a:r>
          </a:p>
        </p:txBody>
      </p:sp>
      <p:sp>
        <p:nvSpPr>
          <p:cNvPr id="13" name="TextBox 12"/>
          <p:cNvSpPr txBox="1"/>
          <p:nvPr/>
        </p:nvSpPr>
        <p:spPr>
          <a:xfrm>
            <a:off x="411480" y="38862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Prime implicant — </a:t>
            </a:r>
            <a:r>
              <a:rPr sz="1050" b="0" i="0">
                <a:solidFill>
                  <a:srgbClr val="33414F"/>
                </a:solidFill>
                <a:latin typeface="Calibri"/>
              </a:rPr>
              <a:t>An implicant that cannot be combined further into a larger group.</a:t>
            </a:r>
          </a:p>
        </p:txBody>
      </p:sp>
      <p:sp>
        <p:nvSpPr>
          <p:cNvPr id="14" name="TextBox 13"/>
          <p:cNvSpPr txBox="1"/>
          <p:nvPr/>
        </p:nvSpPr>
        <p:spPr>
          <a:xfrm>
            <a:off x="411480" y="45720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Essential prime implicant — </a:t>
            </a:r>
            <a:r>
              <a:rPr sz="1050" b="0" i="0">
                <a:solidFill>
                  <a:srgbClr val="33414F"/>
                </a:solidFill>
                <a:latin typeface="Calibri"/>
              </a:rPr>
              <a:t>The only prime implicant covering some particular minterm — always in the answer.</a:t>
            </a:r>
          </a:p>
        </p:txBody>
      </p:sp>
      <p:sp>
        <p:nvSpPr>
          <p:cNvPr id="15" name="TextBox 14"/>
          <p:cNvSpPr txBox="1"/>
          <p:nvPr/>
        </p:nvSpPr>
        <p:spPr>
          <a:xfrm>
            <a:off x="411480" y="52578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Don't-care (X) — </a:t>
            </a:r>
            <a:r>
              <a:rPr sz="1050" b="0" i="0">
                <a:solidFill>
                  <a:srgbClr val="33414F"/>
                </a:solidFill>
                <a:latin typeface="Calibri"/>
              </a:rPr>
              <a:t>An input combination that cannot occur, or whose output is never read.</a:t>
            </a:r>
          </a:p>
        </p:txBody>
      </p:sp>
      <p:sp>
        <p:nvSpPr>
          <p:cNvPr id="16" name="TextBox 15"/>
          <p:cNvSpPr txBox="1"/>
          <p:nvPr/>
        </p:nvSpPr>
        <p:spPr>
          <a:xfrm>
            <a:off x="6126480" y="11430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Universal gate — </a:t>
            </a:r>
            <a:r>
              <a:rPr sz="1050" b="0" i="0">
                <a:solidFill>
                  <a:srgbClr val="33414F"/>
                </a:solidFill>
                <a:latin typeface="Calibri"/>
              </a:rPr>
              <a:t>NAND or NOR — enough on its own to build any function.</a:t>
            </a:r>
          </a:p>
        </p:txBody>
      </p:sp>
      <p:sp>
        <p:nvSpPr>
          <p:cNvPr id="17" name="TextBox 16"/>
          <p:cNvSpPr txBox="1"/>
          <p:nvPr/>
        </p:nvSpPr>
        <p:spPr>
          <a:xfrm>
            <a:off x="6126480" y="18288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Duality — </a:t>
            </a:r>
            <a:r>
              <a:rPr sz="1050" b="0" i="0">
                <a:solidFill>
                  <a:srgbClr val="33414F"/>
                </a:solidFill>
                <a:latin typeface="Calibri"/>
              </a:rPr>
              <a:t>Swap AND↔OR and 0↔1; a true Boolean identity stays true.</a:t>
            </a:r>
          </a:p>
        </p:txBody>
      </p:sp>
      <p:sp>
        <p:nvSpPr>
          <p:cNvPr id="18" name="TextBox 17"/>
          <p:cNvSpPr txBox="1"/>
          <p:nvPr/>
        </p:nvSpPr>
        <p:spPr>
          <a:xfrm>
            <a:off x="6126480" y="25146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Fan-in / Fan-out — </a:t>
            </a:r>
            <a:r>
              <a:rPr sz="1050" b="0" i="0">
                <a:solidFill>
                  <a:srgbClr val="33414F"/>
                </a:solidFill>
                <a:latin typeface="Calibri"/>
              </a:rPr>
              <a:t>Number of inputs to a gate / number of loads driven by one output.</a:t>
            </a:r>
          </a:p>
        </p:txBody>
      </p:sp>
      <p:sp>
        <p:nvSpPr>
          <p:cNvPr id="19" name="TextBox 18"/>
          <p:cNvSpPr txBox="1"/>
          <p:nvPr/>
        </p:nvSpPr>
        <p:spPr>
          <a:xfrm>
            <a:off x="6126480" y="32004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Propagation delay t_pd — </a:t>
            </a:r>
            <a:r>
              <a:rPr sz="1050" b="0" i="0">
                <a:solidFill>
                  <a:srgbClr val="33414F"/>
                </a:solidFill>
                <a:latin typeface="Calibri"/>
              </a:rPr>
              <a:t>Time from an input change to the corresponding output change.</a:t>
            </a:r>
          </a:p>
        </p:txBody>
      </p:sp>
      <p:sp>
        <p:nvSpPr>
          <p:cNvPr id="20" name="TextBox 19"/>
          <p:cNvSpPr txBox="1"/>
          <p:nvPr/>
        </p:nvSpPr>
        <p:spPr>
          <a:xfrm>
            <a:off x="6126480" y="38862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Critical path — </a:t>
            </a:r>
            <a:r>
              <a:rPr sz="1050" b="0" i="0">
                <a:solidFill>
                  <a:srgbClr val="33414F"/>
                </a:solidFill>
                <a:latin typeface="Calibri"/>
              </a:rPr>
              <a:t>The slowest input-to-output route; it sets the block's maximum speed.</a:t>
            </a:r>
          </a:p>
        </p:txBody>
      </p:sp>
      <p:sp>
        <p:nvSpPr>
          <p:cNvPr id="21" name="TextBox 20"/>
          <p:cNvSpPr txBox="1"/>
          <p:nvPr/>
        </p:nvSpPr>
        <p:spPr>
          <a:xfrm>
            <a:off x="6126480" y="45720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Hazard / glitch — </a:t>
            </a:r>
            <a:r>
              <a:rPr sz="1050" b="0" i="0">
                <a:solidFill>
                  <a:srgbClr val="33414F"/>
                </a:solidFill>
                <a:latin typeface="Calibri"/>
              </a:rPr>
              <a:t>A transient wrong output caused by unequal path delays; logic is still correct.</a:t>
            </a:r>
          </a:p>
        </p:txBody>
      </p:sp>
      <p:sp>
        <p:nvSpPr>
          <p:cNvPr id="22" name="TextBox 21"/>
          <p:cNvSpPr txBox="1"/>
          <p:nvPr/>
        </p:nvSpPr>
        <p:spPr>
          <a:xfrm>
            <a:off x="6126480" y="52578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1B9AAA"/>
                </a:solidFill>
                <a:latin typeface="Calibri"/>
              </a:rPr>
              <a:t>Gate equivalent (GE) — </a:t>
            </a:r>
            <a:r>
              <a:rPr sz="1050" b="0" i="0">
                <a:solidFill>
                  <a:srgbClr val="33414F"/>
                </a:solidFill>
                <a:latin typeface="Calibri"/>
              </a:rPr>
              <a:t>Area unit: the area of one 2-input NAND cell in that technology.</a:t>
            </a:r>
          </a:p>
        </p:txBody>
      </p:sp>
      <p:sp>
        <p:nvSpPr>
          <p:cNvPr id="23" name="TextBox 22"/>
          <p:cNvSpPr txBox="1"/>
          <p:nvPr/>
        </p:nvSpPr>
        <p:spPr>
          <a:xfrm>
            <a:off x="411480" y="6172200"/>
            <a:ext cx="11247120" cy="228600"/>
          </a:xfrm>
          <a:prstGeom prst="rect">
            <a:avLst/>
          </a:prstGeom>
          <a:noFill/>
        </p:spPr>
        <p:txBody>
          <a:bodyPr wrap="square" lIns="0" rIns="0" tIns="0" bIns="0" anchor="t">
            <a:spAutoFit/>
          </a:bodyPr>
          <a:lstStyle/>
          <a:p>
            <a:pPr algn="l">
              <a:lnSpc>
                <a:spcPct val="103000"/>
              </a:lnSpc>
            </a:pPr>
            <a:r>
              <a:rPr sz="1000" b="0" i="1">
                <a:solidFill>
                  <a:srgbClr val="5A6B7B"/>
                </a:solidFill>
                <a:latin typeface="Calibri"/>
              </a:rPr>
              <a:t>Every term above appears in the workbook glossary with a worked micro-example.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 · GLOSSARY (2 of 2)</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Key Terms — Sequential Logic and State Machines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71</a:t>
            </a:r>
          </a:p>
        </p:txBody>
      </p:sp>
      <p:sp>
        <p:nvSpPr>
          <p:cNvPr id="9" name="TextBox 8"/>
          <p:cNvSpPr txBox="1"/>
          <p:nvPr/>
        </p:nvSpPr>
        <p:spPr>
          <a:xfrm>
            <a:off x="411480" y="11430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Latch — </a:t>
            </a:r>
            <a:r>
              <a:rPr sz="1050" b="0" i="0">
                <a:solidFill>
                  <a:srgbClr val="33414F"/>
                </a:solidFill>
                <a:latin typeface="Calibri"/>
              </a:rPr>
              <a:t>Level-sensitive storage: transparent for as long as its enable is asserted.</a:t>
            </a:r>
          </a:p>
        </p:txBody>
      </p:sp>
      <p:sp>
        <p:nvSpPr>
          <p:cNvPr id="10" name="TextBox 9"/>
          <p:cNvSpPr txBox="1"/>
          <p:nvPr/>
        </p:nvSpPr>
        <p:spPr>
          <a:xfrm>
            <a:off x="411480" y="18288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Flip-flop — </a:t>
            </a:r>
            <a:r>
              <a:rPr sz="1050" b="0" i="0">
                <a:solidFill>
                  <a:srgbClr val="33414F"/>
                </a:solidFill>
                <a:latin typeface="Calibri"/>
              </a:rPr>
              <a:t>Edge-triggered storage: samples its input at one instant per clock cycle.</a:t>
            </a:r>
          </a:p>
        </p:txBody>
      </p:sp>
      <p:sp>
        <p:nvSpPr>
          <p:cNvPr id="11" name="TextBox 10"/>
          <p:cNvSpPr txBox="1"/>
          <p:nvPr/>
        </p:nvSpPr>
        <p:spPr>
          <a:xfrm>
            <a:off x="411480" y="25146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Setup time t_su — </a:t>
            </a:r>
            <a:r>
              <a:rPr sz="1050" b="0" i="0">
                <a:solidFill>
                  <a:srgbClr val="33414F"/>
                </a:solidFill>
                <a:latin typeface="Calibri"/>
              </a:rPr>
              <a:t>How long data must be stable BEFORE the clock edge.</a:t>
            </a:r>
          </a:p>
        </p:txBody>
      </p:sp>
      <p:sp>
        <p:nvSpPr>
          <p:cNvPr id="12" name="TextBox 11"/>
          <p:cNvSpPr txBox="1"/>
          <p:nvPr/>
        </p:nvSpPr>
        <p:spPr>
          <a:xfrm>
            <a:off x="411480" y="32004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Hold time t_h — </a:t>
            </a:r>
            <a:r>
              <a:rPr sz="1050" b="0" i="0">
                <a:solidFill>
                  <a:srgbClr val="33414F"/>
                </a:solidFill>
                <a:latin typeface="Calibri"/>
              </a:rPr>
              <a:t>How long data must stay stable AFTER the clock edge.</a:t>
            </a:r>
          </a:p>
        </p:txBody>
      </p:sp>
      <p:sp>
        <p:nvSpPr>
          <p:cNvPr id="13" name="TextBox 12"/>
          <p:cNvSpPr txBox="1"/>
          <p:nvPr/>
        </p:nvSpPr>
        <p:spPr>
          <a:xfrm>
            <a:off x="411480" y="38862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Clock-to-Q t_cq — </a:t>
            </a:r>
            <a:r>
              <a:rPr sz="1050" b="0" i="0">
                <a:solidFill>
                  <a:srgbClr val="33414F"/>
                </a:solidFill>
                <a:latin typeface="Calibri"/>
              </a:rPr>
              <a:t>Delay from the clock edge until the output is valid.</a:t>
            </a:r>
          </a:p>
        </p:txBody>
      </p:sp>
      <p:sp>
        <p:nvSpPr>
          <p:cNvPr id="14" name="TextBox 13"/>
          <p:cNvSpPr txBox="1"/>
          <p:nvPr/>
        </p:nvSpPr>
        <p:spPr>
          <a:xfrm>
            <a:off x="411480" y="45720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Metastability — </a:t>
            </a:r>
            <a:r>
              <a:rPr sz="1050" b="0" i="0">
                <a:solidFill>
                  <a:srgbClr val="33414F"/>
                </a:solidFill>
                <a:latin typeface="Calibri"/>
              </a:rPr>
              <a:t>An invalid intermediate output state after a setup/hold violation; resolves at random.</a:t>
            </a:r>
          </a:p>
        </p:txBody>
      </p:sp>
      <p:sp>
        <p:nvSpPr>
          <p:cNvPr id="15" name="TextBox 14"/>
          <p:cNvSpPr txBox="1"/>
          <p:nvPr/>
        </p:nvSpPr>
        <p:spPr>
          <a:xfrm>
            <a:off x="411480" y="52578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Synchroniser — </a:t>
            </a:r>
            <a:r>
              <a:rPr sz="1050" b="0" i="0">
                <a:solidFill>
                  <a:srgbClr val="33414F"/>
                </a:solidFill>
                <a:latin typeface="Calibri"/>
              </a:rPr>
              <a:t>Two (or three) cascaded flip-flops that make metastable failure vanishingly unlikely.</a:t>
            </a:r>
          </a:p>
        </p:txBody>
      </p:sp>
      <p:sp>
        <p:nvSpPr>
          <p:cNvPr id="16" name="TextBox 15"/>
          <p:cNvSpPr txBox="1"/>
          <p:nvPr/>
        </p:nvSpPr>
        <p:spPr>
          <a:xfrm>
            <a:off x="6126480" y="11430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Clock skew — </a:t>
            </a:r>
            <a:r>
              <a:rPr sz="1050" b="0" i="0">
                <a:solidFill>
                  <a:srgbClr val="33414F"/>
                </a:solidFill>
                <a:latin typeface="Calibri"/>
              </a:rPr>
              <a:t>Fixed difference in edge arrival time between flip-flops; caused by the clock tree.</a:t>
            </a:r>
          </a:p>
        </p:txBody>
      </p:sp>
      <p:sp>
        <p:nvSpPr>
          <p:cNvPr id="17" name="TextBox 16"/>
          <p:cNvSpPr txBox="1"/>
          <p:nvPr/>
        </p:nvSpPr>
        <p:spPr>
          <a:xfrm>
            <a:off x="6126480" y="18288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Jitter — </a:t>
            </a:r>
            <a:r>
              <a:rPr sz="1050" b="0" i="0">
                <a:solidFill>
                  <a:srgbClr val="33414F"/>
                </a:solidFill>
                <a:latin typeface="Calibri"/>
              </a:rPr>
              <a:t>Random cycle-to-cycle variation in edge arrival; caused by noise and the PLL.</a:t>
            </a:r>
          </a:p>
        </p:txBody>
      </p:sp>
      <p:sp>
        <p:nvSpPr>
          <p:cNvPr id="18" name="TextBox 17"/>
          <p:cNvSpPr txBox="1"/>
          <p:nvPr/>
        </p:nvSpPr>
        <p:spPr>
          <a:xfrm>
            <a:off x="6126480" y="25146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Slack — </a:t>
            </a:r>
            <a:r>
              <a:rPr sz="1050" b="0" i="0">
                <a:solidFill>
                  <a:srgbClr val="33414F"/>
                </a:solidFill>
                <a:latin typeface="Calibri"/>
              </a:rPr>
              <a:t>Available time minus required time. Positive = met, negative = violation.</a:t>
            </a:r>
          </a:p>
        </p:txBody>
      </p:sp>
      <p:sp>
        <p:nvSpPr>
          <p:cNvPr id="19" name="TextBox 18"/>
          <p:cNvSpPr txBox="1"/>
          <p:nvPr/>
        </p:nvSpPr>
        <p:spPr>
          <a:xfrm>
            <a:off x="6126480" y="32004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State — </a:t>
            </a:r>
            <a:r>
              <a:rPr sz="1050" b="0" i="0">
                <a:solidFill>
                  <a:srgbClr val="33414F"/>
                </a:solidFill>
                <a:latin typeface="Calibri"/>
              </a:rPr>
              <a:t>An equivalence class of input histories — everything the circuit needs to remember.</a:t>
            </a:r>
          </a:p>
        </p:txBody>
      </p:sp>
      <p:sp>
        <p:nvSpPr>
          <p:cNvPr id="20" name="TextBox 19"/>
          <p:cNvSpPr txBox="1"/>
          <p:nvPr/>
        </p:nvSpPr>
        <p:spPr>
          <a:xfrm>
            <a:off x="6126480" y="38862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Moore machine — </a:t>
            </a:r>
            <a:r>
              <a:rPr sz="1050" b="0" i="0">
                <a:solidFill>
                  <a:srgbClr val="33414F"/>
                </a:solidFill>
                <a:latin typeface="Calibri"/>
              </a:rPr>
              <a:t>Output depends on the state only; glitch-free, reacts one cycle later.</a:t>
            </a:r>
          </a:p>
        </p:txBody>
      </p:sp>
      <p:sp>
        <p:nvSpPr>
          <p:cNvPr id="21" name="TextBox 20"/>
          <p:cNvSpPr txBox="1"/>
          <p:nvPr/>
        </p:nvSpPr>
        <p:spPr>
          <a:xfrm>
            <a:off x="6126480" y="45720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Mealy machine — </a:t>
            </a:r>
            <a:r>
              <a:rPr sz="1050" b="0" i="0">
                <a:solidFill>
                  <a:srgbClr val="33414F"/>
                </a:solidFill>
                <a:latin typeface="Calibri"/>
              </a:rPr>
              <a:t>Output depends on state AND input; fewer states, reacts immediately, can glitch.</a:t>
            </a:r>
          </a:p>
        </p:txBody>
      </p:sp>
      <p:sp>
        <p:nvSpPr>
          <p:cNvPr id="22" name="TextBox 21"/>
          <p:cNvSpPr txBox="1"/>
          <p:nvPr/>
        </p:nvSpPr>
        <p:spPr>
          <a:xfrm>
            <a:off x="6126480" y="5257800"/>
            <a:ext cx="5532120" cy="640080"/>
          </a:xfrm>
          <a:prstGeom prst="rect">
            <a:avLst/>
          </a:prstGeom>
          <a:noFill/>
        </p:spPr>
        <p:txBody>
          <a:bodyPr wrap="square" lIns="0" rIns="0" tIns="0" bIns="0" anchor="t">
            <a:spAutoFit/>
          </a:bodyPr>
          <a:lstStyle/>
          <a:p>
            <a:pPr algn="l">
              <a:lnSpc>
                <a:spcPct val="103000"/>
              </a:lnSpc>
              <a:spcAft>
                <a:spcPts val="300"/>
              </a:spcAft>
            </a:pPr>
            <a:r>
              <a:rPr sz="1050" b="1" i="0">
                <a:solidFill>
                  <a:srgbClr val="C77514"/>
                </a:solidFill>
                <a:latin typeface="Calibri"/>
              </a:rPr>
              <a:t>Safe FSM — </a:t>
            </a:r>
            <a:r>
              <a:rPr sz="1050" b="0" i="0">
                <a:solidFill>
                  <a:srgbClr val="33414F"/>
                </a:solidFill>
                <a:latin typeface="Calibri"/>
              </a:rPr>
              <a:t>One whose default branch returns any illegal state code to a known good state.</a:t>
            </a:r>
          </a:p>
        </p:txBody>
      </p:sp>
      <p:sp>
        <p:nvSpPr>
          <p:cNvPr id="23" name="TextBox 22"/>
          <p:cNvSpPr txBox="1"/>
          <p:nvPr/>
        </p:nvSpPr>
        <p:spPr>
          <a:xfrm>
            <a:off x="411480" y="6172200"/>
            <a:ext cx="11247120" cy="228600"/>
          </a:xfrm>
          <a:prstGeom prst="rect">
            <a:avLst/>
          </a:prstGeom>
          <a:noFill/>
        </p:spPr>
        <p:txBody>
          <a:bodyPr wrap="square" lIns="0" rIns="0" tIns="0" bIns="0" anchor="t">
            <a:spAutoFit/>
          </a:bodyPr>
          <a:lstStyle/>
          <a:p>
            <a:pPr algn="l">
              <a:lnSpc>
                <a:spcPct val="103000"/>
              </a:lnSpc>
            </a:pPr>
            <a:r>
              <a:rPr sz="1000" b="0" i="1">
                <a:solidFill>
                  <a:srgbClr val="5A6B7B"/>
                </a:solidFill>
                <a:latin typeface="Calibri"/>
              </a:rPr>
              <a:t>Acronyms: SOP sum of products · POS product of sums · FSM finite state machine · CDC clock-domain crossing · STA static timing analysis · CTS clock-tree synthesis · MTBF mean time between failures.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 · RECAP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Consolidation and Self-Check</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72</a:t>
            </a:r>
          </a:p>
        </p:txBody>
      </p:sp>
      <p:sp>
        <p:nvSpPr>
          <p:cNvPr id="9" name="Rounded Rectangle 8"/>
          <p:cNvSpPr/>
          <p:nvPr/>
        </p:nvSpPr>
        <p:spPr>
          <a:xfrm>
            <a:off x="411480" y="1143000"/>
            <a:ext cx="3627120" cy="23774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8640" y="120700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3a — Boolean algebra and gates</a:t>
            </a:r>
          </a:p>
        </p:txBody>
      </p:sp>
      <p:sp>
        <p:nvSpPr>
          <p:cNvPr id="11" name="TextBox 10"/>
          <p:cNvSpPr txBox="1"/>
          <p:nvPr/>
        </p:nvSpPr>
        <p:spPr>
          <a:xfrm>
            <a:off x="548640" y="1481328"/>
            <a:ext cx="3352800" cy="197510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alibri"/>
              </a:rPr>
              <a:t>· Digital = two voltage bands with a guard band between them.</a:t>
            </a:r>
          </a:p>
          <a:p>
            <a:pPr algn="l">
              <a:lnSpc>
                <a:spcPct val="103000"/>
              </a:lnSpc>
              <a:spcAft>
                <a:spcPts val="400"/>
              </a:spcAft>
            </a:pPr>
            <a:r>
              <a:rPr sz="1000" b="0" i="0">
                <a:solidFill>
                  <a:srgbClr val="33414F"/>
                </a:solidFill>
                <a:latin typeface="Calibri"/>
              </a:rPr>
              <a:t>· Three operators; seven gates; NAND and NOR are universal.</a:t>
            </a:r>
          </a:p>
          <a:p>
            <a:pPr algn="l">
              <a:lnSpc>
                <a:spcPct val="103000"/>
              </a:lnSpc>
              <a:spcAft>
                <a:spcPts val="400"/>
              </a:spcAft>
            </a:pPr>
            <a:r>
              <a:rPr sz="1000" b="0" i="0">
                <a:solidFill>
                  <a:srgbClr val="33414F"/>
                </a:solidFill>
                <a:latin typeface="Calibri"/>
              </a:rPr>
              <a:t>· De Morgan lets you push bubbles through any network.</a:t>
            </a:r>
          </a:p>
          <a:p>
            <a:pPr algn="l">
              <a:lnSpc>
                <a:spcPct val="103000"/>
              </a:lnSpc>
              <a:spcAft>
                <a:spcPts val="400"/>
              </a:spcAft>
            </a:pPr>
            <a:r>
              <a:rPr sz="1000" b="0" i="0">
                <a:solidFill>
                  <a:srgbClr val="33414F"/>
                </a:solidFill>
                <a:latin typeface="Calibri"/>
              </a:rPr>
              <a:t>· Truth table → canonical SOP/POS → K-map → minimal form.</a:t>
            </a:r>
          </a:p>
          <a:p>
            <a:pPr algn="l">
              <a:lnSpc>
                <a:spcPct val="103000"/>
              </a:lnSpc>
              <a:spcAft>
                <a:spcPts val="400"/>
              </a:spcAft>
            </a:pPr>
            <a:r>
              <a:rPr sz="1000" b="0" i="0">
                <a:solidFill>
                  <a:srgbClr val="33414F"/>
                </a:solidFill>
                <a:latin typeface="Calibri"/>
              </a:rPr>
              <a:t>· Minimisation buys area, power and speed — all three at once.</a:t>
            </a:r>
          </a:p>
        </p:txBody>
      </p:sp>
      <p:sp>
        <p:nvSpPr>
          <p:cNvPr id="12" name="Rounded Rectangle 11"/>
          <p:cNvSpPr/>
          <p:nvPr/>
        </p:nvSpPr>
        <p:spPr>
          <a:xfrm>
            <a:off x="4221480" y="1143000"/>
            <a:ext cx="3627120" cy="23774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58640" y="120700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3b — Combinational logic</a:t>
            </a:r>
          </a:p>
        </p:txBody>
      </p:sp>
      <p:sp>
        <p:nvSpPr>
          <p:cNvPr id="14" name="TextBox 13"/>
          <p:cNvSpPr txBox="1"/>
          <p:nvPr/>
        </p:nvSpPr>
        <p:spPr>
          <a:xfrm>
            <a:off x="4358640" y="1481328"/>
            <a:ext cx="3352800" cy="197510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alibri"/>
              </a:rPr>
              <a:t>· No feedback, no memory; output = f(inputs now).</a:t>
            </a:r>
          </a:p>
          <a:p>
            <a:pPr algn="l">
              <a:lnSpc>
                <a:spcPct val="103000"/>
              </a:lnSpc>
              <a:spcAft>
                <a:spcPts val="400"/>
              </a:spcAft>
            </a:pPr>
            <a:r>
              <a:rPr sz="1000" b="0" i="0">
                <a:solidFill>
                  <a:srgbClr val="33414F"/>
                </a:solidFill>
                <a:latin typeface="Calibri"/>
              </a:rPr>
              <a:t>· Seven-step procedure; the truth table is where bugs hide.</a:t>
            </a:r>
          </a:p>
          <a:p>
            <a:pPr algn="l">
              <a:lnSpc>
                <a:spcPct val="103000"/>
              </a:lnSpc>
              <a:spcAft>
                <a:spcPts val="400"/>
              </a:spcAft>
            </a:pPr>
            <a:r>
              <a:rPr sz="1000" b="0" i="0">
                <a:solidFill>
                  <a:srgbClr val="33414F"/>
                </a:solidFill>
                <a:latin typeface="Calibri"/>
              </a:rPr>
              <a:t>· Adders, MUX, decoders, comparators, ALU — know all five.</a:t>
            </a:r>
          </a:p>
          <a:p>
            <a:pPr algn="l">
              <a:lnSpc>
                <a:spcPct val="103000"/>
              </a:lnSpc>
              <a:spcAft>
                <a:spcPts val="400"/>
              </a:spcAft>
            </a:pPr>
            <a:r>
              <a:rPr sz="1000" b="0" i="0">
                <a:solidFill>
                  <a:srgbClr val="33414F"/>
                </a:solidFill>
                <a:latin typeface="Calibri"/>
              </a:rPr>
              <a:t>· Ripple carry is O(n); lookahead is O(log n).</a:t>
            </a:r>
          </a:p>
          <a:p>
            <a:pPr algn="l">
              <a:lnSpc>
                <a:spcPct val="103000"/>
              </a:lnSpc>
              <a:spcAft>
                <a:spcPts val="400"/>
              </a:spcAft>
            </a:pPr>
            <a:r>
              <a:rPr sz="1000" b="0" i="0">
                <a:solidFill>
                  <a:srgbClr val="33414F"/>
                </a:solidFill>
                <a:latin typeface="Calibri"/>
              </a:rPr>
              <a:t>· Hazards are real; synchronous design tolerates them.</a:t>
            </a:r>
          </a:p>
        </p:txBody>
      </p:sp>
      <p:sp>
        <p:nvSpPr>
          <p:cNvPr id="15" name="Rounded Rectangle 14"/>
          <p:cNvSpPr/>
          <p:nvPr/>
        </p:nvSpPr>
        <p:spPr>
          <a:xfrm>
            <a:off x="8031480" y="1143000"/>
            <a:ext cx="3627120" cy="23774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168640" y="120700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3c — Sequential logic and FSMs</a:t>
            </a:r>
          </a:p>
        </p:txBody>
      </p:sp>
      <p:sp>
        <p:nvSpPr>
          <p:cNvPr id="17" name="TextBox 16"/>
          <p:cNvSpPr txBox="1"/>
          <p:nvPr/>
        </p:nvSpPr>
        <p:spPr>
          <a:xfrm>
            <a:off x="8168640" y="1481328"/>
            <a:ext cx="3352800" cy="197510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alibri"/>
              </a:rPr>
              <a:t>· Feedback through a clocked element = memory = state.</a:t>
            </a:r>
          </a:p>
          <a:p>
            <a:pPr algn="l">
              <a:lnSpc>
                <a:spcPct val="103000"/>
              </a:lnSpc>
              <a:spcAft>
                <a:spcPts val="400"/>
              </a:spcAft>
            </a:pPr>
            <a:r>
              <a:rPr sz="1000" b="0" i="0">
                <a:solidFill>
                  <a:srgbClr val="33414F"/>
                </a:solidFill>
                <a:latin typeface="Calibri"/>
              </a:rPr>
              <a:t>· Latch is level-sensitive; flip-flop is edge-triggered. Use flip-flops.</a:t>
            </a:r>
          </a:p>
          <a:p>
            <a:pPr algn="l">
              <a:lnSpc>
                <a:spcPct val="103000"/>
              </a:lnSpc>
              <a:spcAft>
                <a:spcPts val="400"/>
              </a:spcAft>
            </a:pPr>
            <a:r>
              <a:rPr sz="1000" b="0" i="0">
                <a:solidFill>
                  <a:srgbClr val="33414F"/>
                </a:solidFill>
                <a:latin typeface="Calibri"/>
              </a:rPr>
              <a:t>· T ≥ t_cq + t_logic + t_setup sets fₘₐₓ; hold is a separate race.</a:t>
            </a:r>
          </a:p>
          <a:p>
            <a:pPr algn="l">
              <a:lnSpc>
                <a:spcPct val="103000"/>
              </a:lnSpc>
              <a:spcAft>
                <a:spcPts val="400"/>
              </a:spcAft>
            </a:pPr>
            <a:r>
              <a:rPr sz="1000" b="0" i="0">
                <a:solidFill>
                  <a:srgbClr val="33414F"/>
                </a:solidFill>
                <a:latin typeface="Calibri"/>
              </a:rPr>
              <a:t>· Synchronise every asynchronous input. Always.</a:t>
            </a:r>
          </a:p>
          <a:p>
            <a:pPr algn="l">
              <a:lnSpc>
                <a:spcPct val="103000"/>
              </a:lnSpc>
              <a:spcAft>
                <a:spcPts val="400"/>
              </a:spcAft>
            </a:pPr>
            <a:r>
              <a:rPr sz="1000" b="0" i="0">
                <a:solidFill>
                  <a:srgbClr val="33414F"/>
                </a:solidFill>
                <a:latin typeface="Calibri"/>
              </a:rPr>
              <a:t>· FSM = state register + next-state logic + output logic. Three always blocks.</a:t>
            </a:r>
          </a:p>
        </p:txBody>
      </p:sp>
      <p:sp>
        <p:nvSpPr>
          <p:cNvPr id="18" name="Rounded Rectangle 17"/>
          <p:cNvSpPr/>
          <p:nvPr/>
        </p:nvSpPr>
        <p:spPr>
          <a:xfrm>
            <a:off x="411480" y="3611880"/>
            <a:ext cx="11247120" cy="155448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76072" y="3675888"/>
            <a:ext cx="10917936" cy="274320"/>
          </a:xfrm>
          <a:prstGeom prst="rect">
            <a:avLst/>
          </a:prstGeom>
          <a:noFill/>
        </p:spPr>
        <p:txBody>
          <a:bodyPr wrap="square" lIns="0" rIns="0" tIns="0" bIns="0" anchor="ctr">
            <a:spAutoFit/>
          </a:bodyPr>
          <a:lstStyle/>
          <a:p>
            <a:pPr algn="l">
              <a:lnSpc>
                <a:spcPct val="103000"/>
              </a:lnSpc>
            </a:pPr>
            <a:r>
              <a:rPr sz="1150" b="1" i="0">
                <a:solidFill>
                  <a:srgbClr val="0E2A47"/>
                </a:solidFill>
                <a:latin typeface="Cambria"/>
              </a:rPr>
              <a:t>Self-check — you should be able to answer all ten without notes</a:t>
            </a:r>
          </a:p>
        </p:txBody>
      </p:sp>
      <p:sp>
        <p:nvSpPr>
          <p:cNvPr id="20" name="TextBox 19"/>
          <p:cNvSpPr txBox="1"/>
          <p:nvPr/>
        </p:nvSpPr>
        <p:spPr>
          <a:xfrm>
            <a:off x="576072" y="3950208"/>
            <a:ext cx="10917936" cy="11521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1. Prove (A+B)' = A'B' with a truth table.   2. Minimise Σm(0,2,5,7,8,10,13,15) on a 4-variable K-map.   3. Why is NAND universal but AND is not?</a:t>
            </a:r>
          </a:p>
          <a:p>
            <a:pPr algn="l">
              <a:lnSpc>
                <a:spcPct val="103000"/>
              </a:lnSpc>
              <a:spcAft>
                <a:spcPts val="400"/>
              </a:spcAft>
            </a:pPr>
            <a:r>
              <a:rPr sz="1100" b="0" i="0">
                <a:solidFill>
                  <a:srgbClr val="33414F"/>
                </a:solidFill>
                <a:latin typeface="Calibri"/>
              </a:rPr>
              <a:t>4. Draw a full adder from two half adders.   5. A 16-bit ripple adder has t_carry = 80 ps. What is its worst-case delay?   6. Name three hazards and one cure for each.</a:t>
            </a:r>
          </a:p>
          <a:p>
            <a:pPr algn="l">
              <a:lnSpc>
                <a:spcPct val="103000"/>
              </a:lnSpc>
              <a:spcAft>
                <a:spcPts val="400"/>
              </a:spcAft>
            </a:pPr>
            <a:r>
              <a:rPr sz="1100" b="0" i="0">
                <a:solidFill>
                  <a:srgbClr val="33414F"/>
                </a:solidFill>
                <a:latin typeface="Calibri"/>
              </a:rPr>
              <a:t>7. Why does slowing the clock never fix a hold violation?   8. Sketch the 2-flop synchroniser and say what it protects against.   9. Convert the 1011 Moore machine to Mealy — how many states now?</a:t>
            </a:r>
          </a:p>
          <a:p>
            <a:pPr algn="l">
              <a:lnSpc>
                <a:spcPct val="103000"/>
              </a:lnSpc>
              <a:spcAft>
                <a:spcPts val="400"/>
              </a:spcAft>
            </a:pPr>
            <a:r>
              <a:rPr sz="1100" b="1" i="0">
                <a:solidFill>
                  <a:srgbClr val="0E2A47"/>
                </a:solidFill>
                <a:latin typeface="Calibri"/>
              </a:rPr>
              <a:t>10. Given t_cq = 50, t_logic = 300, t_setup = 40, skew = 20 ps, what is fₘₐₓ?</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3 · WHAT'S NEXT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From Logic Diagrams to Verilog — Topic 4</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Module 2 · Verilog RTL Coding for Synthesis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NIE/ELE/N0102 · Topic 3 · 73</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You now have the vocabulary. </a:t>
            </a:r>
            <a:r>
              <a:rPr sz="1100" b="0" i="0">
                <a:solidFill>
                  <a:srgbClr val="33414F"/>
                </a:solidFill>
                <a:latin typeface="Calibri"/>
              </a:rPr>
              <a:t>Topic 4 (RTL Design Using HDL, 6 hours) is where you stop drawing gates and start writing them. Every construct you meet there maps onto something from this topic — which is why this topic came first.</a:t>
            </a:r>
          </a:p>
        </p:txBody>
      </p:sp>
      <p:sp>
        <p:nvSpPr>
          <p:cNvPr id="10" name="Rectangle 9"/>
          <p:cNvSpPr/>
          <p:nvPr/>
        </p:nvSpPr>
        <p:spPr>
          <a:xfrm>
            <a:off x="411480" y="1783080"/>
            <a:ext cx="5486400" cy="41148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783080"/>
            <a:ext cx="5394960" cy="41148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you learned in Topic 3</a:t>
            </a:r>
          </a:p>
        </p:txBody>
      </p:sp>
      <p:sp>
        <p:nvSpPr>
          <p:cNvPr id="12" name="Rectangle 11"/>
          <p:cNvSpPr/>
          <p:nvPr/>
        </p:nvSpPr>
        <p:spPr>
          <a:xfrm>
            <a:off x="5897880" y="1783080"/>
            <a:ext cx="5760720" cy="41148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943600" y="1783080"/>
            <a:ext cx="5669280" cy="41148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How it appears in Topic 4</a:t>
            </a:r>
          </a:p>
        </p:txBody>
      </p:sp>
      <p:sp>
        <p:nvSpPr>
          <p:cNvPr id="14" name="Rectangle 13"/>
          <p:cNvSpPr/>
          <p:nvPr/>
        </p:nvSpPr>
        <p:spPr>
          <a:xfrm>
            <a:off x="411480" y="2194560"/>
            <a:ext cx="548640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57200" y="2194560"/>
            <a:ext cx="5394960" cy="411480"/>
          </a:xfrm>
          <a:prstGeom prst="rect">
            <a:avLst/>
          </a:prstGeom>
          <a:noFill/>
        </p:spPr>
        <p:txBody>
          <a:bodyPr wrap="square" lIns="0" rIns="0" tIns="0" bIns="0" anchor="ctr">
            <a:spAutoFit/>
          </a:bodyPr>
          <a:lstStyle/>
          <a:p>
            <a:pPr algn="ctr">
              <a:lnSpc>
                <a:spcPct val="103000"/>
              </a:lnSpc>
            </a:pPr>
            <a:r>
              <a:rPr sz="1050" b="1" i="0">
                <a:solidFill>
                  <a:srgbClr val="1B9AAA"/>
                </a:solidFill>
                <a:latin typeface="Calibri"/>
              </a:rPr>
              <a:t>Truth table, SOP, K-map</a:t>
            </a:r>
          </a:p>
        </p:txBody>
      </p:sp>
      <p:sp>
        <p:nvSpPr>
          <p:cNvPr id="16" name="Rectangle 15"/>
          <p:cNvSpPr/>
          <p:nvPr/>
        </p:nvSpPr>
        <p:spPr>
          <a:xfrm>
            <a:off x="5897880" y="2194560"/>
            <a:ext cx="576072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943600" y="2194560"/>
            <a:ext cx="5669280" cy="411480"/>
          </a:xfrm>
          <a:prstGeom prst="rect">
            <a:avLst/>
          </a:prstGeom>
          <a:noFill/>
        </p:spPr>
        <p:txBody>
          <a:bodyPr wrap="square" lIns="0" rIns="0" tIns="0" bIns="0" anchor="ctr">
            <a:spAutoFit/>
          </a:bodyPr>
          <a:lstStyle/>
          <a:p>
            <a:pPr algn="ctr">
              <a:lnSpc>
                <a:spcPct val="103000"/>
              </a:lnSpc>
            </a:pPr>
            <a:r>
              <a:rPr sz="1050" b="0" i="0">
                <a:solidFill>
                  <a:srgbClr val="33414F"/>
                </a:solidFill>
                <a:latin typeface="Calibri"/>
              </a:rPr>
              <a:t>assign  and  always @(*)  with case/if</a:t>
            </a:r>
          </a:p>
        </p:txBody>
      </p:sp>
      <p:sp>
        <p:nvSpPr>
          <p:cNvPr id="18" name="Rectangle 17"/>
          <p:cNvSpPr/>
          <p:nvPr/>
        </p:nvSpPr>
        <p:spPr>
          <a:xfrm>
            <a:off x="411480" y="2606040"/>
            <a:ext cx="548640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7200" y="2606040"/>
            <a:ext cx="5394960" cy="411480"/>
          </a:xfrm>
          <a:prstGeom prst="rect">
            <a:avLst/>
          </a:prstGeom>
          <a:noFill/>
        </p:spPr>
        <p:txBody>
          <a:bodyPr wrap="square" lIns="0" rIns="0" tIns="0" bIns="0" anchor="ctr">
            <a:spAutoFit/>
          </a:bodyPr>
          <a:lstStyle/>
          <a:p>
            <a:pPr algn="ctr">
              <a:lnSpc>
                <a:spcPct val="103000"/>
              </a:lnSpc>
            </a:pPr>
            <a:r>
              <a:rPr sz="1050" b="1" i="0">
                <a:solidFill>
                  <a:srgbClr val="1B9AAA"/>
                </a:solidFill>
                <a:latin typeface="Calibri"/>
              </a:rPr>
              <a:t>Multiplexer</a:t>
            </a:r>
          </a:p>
        </p:txBody>
      </p:sp>
      <p:sp>
        <p:nvSpPr>
          <p:cNvPr id="20" name="Rectangle 19"/>
          <p:cNvSpPr/>
          <p:nvPr/>
        </p:nvSpPr>
        <p:spPr>
          <a:xfrm>
            <a:off x="5897880" y="2606040"/>
            <a:ext cx="576072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943600" y="2606040"/>
            <a:ext cx="5669280" cy="411480"/>
          </a:xfrm>
          <a:prstGeom prst="rect">
            <a:avLst/>
          </a:prstGeom>
          <a:noFill/>
        </p:spPr>
        <p:txBody>
          <a:bodyPr wrap="square" lIns="0" rIns="0" tIns="0" bIns="0" anchor="ctr">
            <a:spAutoFit/>
          </a:bodyPr>
          <a:lstStyle/>
          <a:p>
            <a:pPr algn="ctr">
              <a:lnSpc>
                <a:spcPct val="103000"/>
              </a:lnSpc>
            </a:pPr>
            <a:r>
              <a:rPr sz="1050" b="0" i="0">
                <a:solidFill>
                  <a:srgbClr val="33414F"/>
                </a:solidFill>
                <a:latin typeface="Calibri"/>
              </a:rPr>
              <a:t>the ternary operator and every case statement</a:t>
            </a:r>
          </a:p>
        </p:txBody>
      </p:sp>
      <p:sp>
        <p:nvSpPr>
          <p:cNvPr id="22" name="Rectangle 21"/>
          <p:cNvSpPr/>
          <p:nvPr/>
        </p:nvSpPr>
        <p:spPr>
          <a:xfrm>
            <a:off x="411480" y="3017520"/>
            <a:ext cx="548640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3017520"/>
            <a:ext cx="5394960" cy="411480"/>
          </a:xfrm>
          <a:prstGeom prst="rect">
            <a:avLst/>
          </a:prstGeom>
          <a:noFill/>
        </p:spPr>
        <p:txBody>
          <a:bodyPr wrap="square" lIns="0" rIns="0" tIns="0" bIns="0" anchor="ctr">
            <a:spAutoFit/>
          </a:bodyPr>
          <a:lstStyle/>
          <a:p>
            <a:pPr algn="ctr">
              <a:lnSpc>
                <a:spcPct val="103000"/>
              </a:lnSpc>
            </a:pPr>
            <a:r>
              <a:rPr sz="1050" b="1" i="0">
                <a:solidFill>
                  <a:srgbClr val="1B9AAA"/>
                </a:solidFill>
                <a:latin typeface="Calibri"/>
              </a:rPr>
              <a:t>Full adder, ripple carry</a:t>
            </a:r>
          </a:p>
        </p:txBody>
      </p:sp>
      <p:sp>
        <p:nvSpPr>
          <p:cNvPr id="24" name="Rectangle 23"/>
          <p:cNvSpPr/>
          <p:nvPr/>
        </p:nvSpPr>
        <p:spPr>
          <a:xfrm>
            <a:off x="5897880" y="3017520"/>
            <a:ext cx="576072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943600" y="3017520"/>
            <a:ext cx="5669280" cy="411480"/>
          </a:xfrm>
          <a:prstGeom prst="rect">
            <a:avLst/>
          </a:prstGeom>
          <a:noFill/>
        </p:spPr>
        <p:txBody>
          <a:bodyPr wrap="square" lIns="0" rIns="0" tIns="0" bIns="0" anchor="ctr">
            <a:spAutoFit/>
          </a:bodyPr>
          <a:lstStyle/>
          <a:p>
            <a:pPr algn="ctr">
              <a:lnSpc>
                <a:spcPct val="103000"/>
              </a:lnSpc>
            </a:pPr>
            <a:r>
              <a:rPr sz="1050" b="0" i="0">
                <a:solidFill>
                  <a:srgbClr val="33414F"/>
                </a:solidFill>
                <a:latin typeface="Calibri"/>
              </a:rPr>
              <a:t>the  +  operator — and the timing report that follows it</a:t>
            </a:r>
          </a:p>
        </p:txBody>
      </p:sp>
      <p:sp>
        <p:nvSpPr>
          <p:cNvPr id="26" name="Rectangle 25"/>
          <p:cNvSpPr/>
          <p:nvPr/>
        </p:nvSpPr>
        <p:spPr>
          <a:xfrm>
            <a:off x="411480" y="3429000"/>
            <a:ext cx="548640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57200" y="3429000"/>
            <a:ext cx="5394960" cy="411480"/>
          </a:xfrm>
          <a:prstGeom prst="rect">
            <a:avLst/>
          </a:prstGeom>
          <a:noFill/>
        </p:spPr>
        <p:txBody>
          <a:bodyPr wrap="square" lIns="0" rIns="0" tIns="0" bIns="0" anchor="ctr">
            <a:spAutoFit/>
          </a:bodyPr>
          <a:lstStyle/>
          <a:p>
            <a:pPr algn="ctr">
              <a:lnSpc>
                <a:spcPct val="103000"/>
              </a:lnSpc>
            </a:pPr>
            <a:r>
              <a:rPr sz="1050" b="1" i="0">
                <a:solidFill>
                  <a:srgbClr val="1B9AAA"/>
                </a:solidFill>
                <a:latin typeface="Calibri"/>
              </a:rPr>
              <a:t>D flip-flop, register</a:t>
            </a:r>
          </a:p>
        </p:txBody>
      </p:sp>
      <p:sp>
        <p:nvSpPr>
          <p:cNvPr id="28" name="Rectangle 27"/>
          <p:cNvSpPr/>
          <p:nvPr/>
        </p:nvSpPr>
        <p:spPr>
          <a:xfrm>
            <a:off x="5897880" y="3429000"/>
            <a:ext cx="576072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943600" y="3429000"/>
            <a:ext cx="5669280" cy="411480"/>
          </a:xfrm>
          <a:prstGeom prst="rect">
            <a:avLst/>
          </a:prstGeom>
          <a:noFill/>
        </p:spPr>
        <p:txBody>
          <a:bodyPr wrap="square" lIns="0" rIns="0" tIns="0" bIns="0" anchor="ctr">
            <a:spAutoFit/>
          </a:bodyPr>
          <a:lstStyle/>
          <a:p>
            <a:pPr algn="ctr">
              <a:lnSpc>
                <a:spcPct val="103000"/>
              </a:lnSpc>
            </a:pPr>
            <a:r>
              <a:rPr sz="1050" b="0" i="0">
                <a:solidFill>
                  <a:srgbClr val="33414F"/>
                </a:solidFill>
                <a:latin typeface="Calibri"/>
              </a:rPr>
              <a:t>always @(posedge clk)  with non-blocking assignment</a:t>
            </a:r>
          </a:p>
        </p:txBody>
      </p:sp>
      <p:sp>
        <p:nvSpPr>
          <p:cNvPr id="30" name="Rectangle 29"/>
          <p:cNvSpPr/>
          <p:nvPr/>
        </p:nvSpPr>
        <p:spPr>
          <a:xfrm>
            <a:off x="411480" y="3840480"/>
            <a:ext cx="548640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57200" y="3840480"/>
            <a:ext cx="5394960" cy="411480"/>
          </a:xfrm>
          <a:prstGeom prst="rect">
            <a:avLst/>
          </a:prstGeom>
          <a:noFill/>
        </p:spPr>
        <p:txBody>
          <a:bodyPr wrap="square" lIns="0" rIns="0" tIns="0" bIns="0" anchor="ctr">
            <a:spAutoFit/>
          </a:bodyPr>
          <a:lstStyle/>
          <a:p>
            <a:pPr algn="ctr">
              <a:lnSpc>
                <a:spcPct val="103000"/>
              </a:lnSpc>
            </a:pPr>
            <a:r>
              <a:rPr sz="1050" b="1" i="0">
                <a:solidFill>
                  <a:srgbClr val="1B9AAA"/>
                </a:solidFill>
                <a:latin typeface="Calibri"/>
              </a:rPr>
              <a:t>Reset behaviour</a:t>
            </a:r>
          </a:p>
        </p:txBody>
      </p:sp>
      <p:sp>
        <p:nvSpPr>
          <p:cNvPr id="32" name="Rectangle 31"/>
          <p:cNvSpPr/>
          <p:nvPr/>
        </p:nvSpPr>
        <p:spPr>
          <a:xfrm>
            <a:off x="5897880" y="3840480"/>
            <a:ext cx="576072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943600" y="3840480"/>
            <a:ext cx="5669280" cy="411480"/>
          </a:xfrm>
          <a:prstGeom prst="rect">
            <a:avLst/>
          </a:prstGeom>
          <a:noFill/>
        </p:spPr>
        <p:txBody>
          <a:bodyPr wrap="square" lIns="0" rIns="0" tIns="0" bIns="0" anchor="ctr">
            <a:spAutoFit/>
          </a:bodyPr>
          <a:lstStyle/>
          <a:p>
            <a:pPr algn="ctr">
              <a:lnSpc>
                <a:spcPct val="103000"/>
              </a:lnSpc>
            </a:pPr>
            <a:r>
              <a:rPr sz="1050" b="0" i="0">
                <a:solidFill>
                  <a:srgbClr val="33414F"/>
                </a:solidFill>
                <a:latin typeface="Calibri"/>
              </a:rPr>
              <a:t>the two reset templates, and why the async one is in the sensitivity list</a:t>
            </a:r>
          </a:p>
        </p:txBody>
      </p:sp>
      <p:sp>
        <p:nvSpPr>
          <p:cNvPr id="34" name="Rectangle 33"/>
          <p:cNvSpPr/>
          <p:nvPr/>
        </p:nvSpPr>
        <p:spPr>
          <a:xfrm>
            <a:off x="411480" y="4251960"/>
            <a:ext cx="548640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4251960"/>
            <a:ext cx="5394960" cy="411480"/>
          </a:xfrm>
          <a:prstGeom prst="rect">
            <a:avLst/>
          </a:prstGeom>
          <a:noFill/>
        </p:spPr>
        <p:txBody>
          <a:bodyPr wrap="square" lIns="0" rIns="0" tIns="0" bIns="0" anchor="ctr">
            <a:spAutoFit/>
          </a:bodyPr>
          <a:lstStyle/>
          <a:p>
            <a:pPr algn="ctr">
              <a:lnSpc>
                <a:spcPct val="103000"/>
              </a:lnSpc>
            </a:pPr>
            <a:r>
              <a:rPr sz="1050" b="1" i="0">
                <a:solidFill>
                  <a:srgbClr val="1B9AAA"/>
                </a:solidFill>
                <a:latin typeface="Calibri"/>
              </a:rPr>
              <a:t>State diagram, state table</a:t>
            </a:r>
          </a:p>
        </p:txBody>
      </p:sp>
      <p:sp>
        <p:nvSpPr>
          <p:cNvPr id="36" name="Rectangle 35"/>
          <p:cNvSpPr/>
          <p:nvPr/>
        </p:nvSpPr>
        <p:spPr>
          <a:xfrm>
            <a:off x="5897880" y="4251960"/>
            <a:ext cx="576072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943600" y="4251960"/>
            <a:ext cx="5669280" cy="411480"/>
          </a:xfrm>
          <a:prstGeom prst="rect">
            <a:avLst/>
          </a:prstGeom>
          <a:noFill/>
        </p:spPr>
        <p:txBody>
          <a:bodyPr wrap="square" lIns="0" rIns="0" tIns="0" bIns="0" anchor="ctr">
            <a:spAutoFit/>
          </a:bodyPr>
          <a:lstStyle/>
          <a:p>
            <a:pPr algn="ctr">
              <a:lnSpc>
                <a:spcPct val="103000"/>
              </a:lnSpc>
            </a:pPr>
            <a:r>
              <a:rPr sz="1050" b="0" i="0">
                <a:solidFill>
                  <a:srgbClr val="33414F"/>
                </a:solidFill>
                <a:latin typeface="Calibri"/>
              </a:rPr>
              <a:t>the three-block FSM template with localparam states</a:t>
            </a:r>
          </a:p>
        </p:txBody>
      </p:sp>
      <p:sp>
        <p:nvSpPr>
          <p:cNvPr id="38" name="Rectangle 37"/>
          <p:cNvSpPr/>
          <p:nvPr/>
        </p:nvSpPr>
        <p:spPr>
          <a:xfrm>
            <a:off x="411480" y="4663440"/>
            <a:ext cx="548640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57200" y="4663440"/>
            <a:ext cx="5394960" cy="411480"/>
          </a:xfrm>
          <a:prstGeom prst="rect">
            <a:avLst/>
          </a:prstGeom>
          <a:noFill/>
        </p:spPr>
        <p:txBody>
          <a:bodyPr wrap="square" lIns="0" rIns="0" tIns="0" bIns="0" anchor="ctr">
            <a:spAutoFit/>
          </a:bodyPr>
          <a:lstStyle/>
          <a:p>
            <a:pPr algn="ctr">
              <a:lnSpc>
                <a:spcPct val="103000"/>
              </a:lnSpc>
            </a:pPr>
            <a:r>
              <a:rPr sz="1050" b="1" i="0">
                <a:solidFill>
                  <a:srgbClr val="1B9AAA"/>
                </a:solidFill>
                <a:latin typeface="Calibri"/>
              </a:rPr>
              <a:t>Hazard, latch inference</a:t>
            </a:r>
          </a:p>
        </p:txBody>
      </p:sp>
      <p:sp>
        <p:nvSpPr>
          <p:cNvPr id="40" name="Rectangle 39"/>
          <p:cNvSpPr/>
          <p:nvPr/>
        </p:nvSpPr>
        <p:spPr>
          <a:xfrm>
            <a:off x="5897880" y="4663440"/>
            <a:ext cx="576072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943600" y="4663440"/>
            <a:ext cx="5669280" cy="411480"/>
          </a:xfrm>
          <a:prstGeom prst="rect">
            <a:avLst/>
          </a:prstGeom>
          <a:noFill/>
        </p:spPr>
        <p:txBody>
          <a:bodyPr wrap="square" lIns="0" rIns="0" tIns="0" bIns="0" anchor="ctr">
            <a:spAutoFit/>
          </a:bodyPr>
          <a:lstStyle/>
          <a:p>
            <a:pPr algn="ctr">
              <a:lnSpc>
                <a:spcPct val="103000"/>
              </a:lnSpc>
            </a:pPr>
            <a:r>
              <a:rPr sz="1050" b="0" i="0">
                <a:solidFill>
                  <a:srgbClr val="33414F"/>
                </a:solidFill>
                <a:latin typeface="Calibri"/>
              </a:rPr>
              <a:t>the synthesis warnings you must never ignore</a:t>
            </a:r>
          </a:p>
        </p:txBody>
      </p:sp>
      <p:sp>
        <p:nvSpPr>
          <p:cNvPr id="42" name="Rounded Rectangle 41"/>
          <p:cNvSpPr/>
          <p:nvPr/>
        </p:nvSpPr>
        <p:spPr>
          <a:xfrm>
            <a:off x="411480" y="5166360"/>
            <a:ext cx="11247120" cy="8229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76072" y="523036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Before the next session</a:t>
            </a:r>
          </a:p>
        </p:txBody>
      </p:sp>
      <p:sp>
        <p:nvSpPr>
          <p:cNvPr id="44" name="TextBox 43"/>
          <p:cNvSpPr txBox="1"/>
          <p:nvPr/>
        </p:nvSpPr>
        <p:spPr>
          <a:xfrm>
            <a:off x="576072" y="550468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Finish tutorials T1–T4 and the workbook exercises. Bring your working seq_detect_1011.v — Topic 4 begins by rewriting it three different ways and comparing the synthesis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