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Define VLSI and introduce the running 4-bit-counter example.
SPEAKER SCRIPT / TIMING:
~6 min. Transistor-as-switch → billions → we describe behaviour, tools build gates. Announce the counter as the thread we will reuse.
INTERVIEW QUESTIONS:
Basic: Expand VLSI. · Advanced: Why is design productivity, not transistor count, the modern bottleneck?
COMMON MISCONCEPTION: Students think engineers draw transistors; stress they write RTL.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Show how integration is achieved by hierarchical composition.
SPEAKER SCRIPT / TIMING:
~4 min. Walk left-to-right: switch → gate → block → chip. Land the point that the RTL designer lives at the block level and trusts the levels below to the tools.
INTERVIEW QUESTIONS:
Basic: What is built from logic gates? · Advanced: Why is hierarchy essential to managing complexity?
COMMON MISCONCEPTION: Students picture designers placing transistors; reinforce the block-level reality.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Show the Basic→Industry progression for VLSI itself.
SPEAKER SCRIPT / TIMING:
~4 min. Read each tier; ask the class which tier they are at now. Reassure beginners we start at Basic everywhere.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Trace IC history and tie each era to a product class.
SPEAKER SCRIPT / TIMING:
~5 min. Stress each density step was newly-possible, not just more of the same.
INTERVIEW QUESTIONS:
Basic: Who is credited with the IC? · Advanced: Why is the SSI/MSI naming about gate count?
TAGS: TO1 · Bloom: Remember ·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Explain Moore's law vs Dennard scaling and the architectural pivot.
SPEAKER SCRIPT / TIMING:
~7 min. Draw the log curve. Separate count (Moore) from power (Dennard).
INTERVIEW QUESTIONS:
Intermediate: Why did clocks stop rising ~2005? · Advanced: What replaced pure scaling for performance?
COMMON MISCONCEPTION: Students equate Moore's law with 'chips get faster' — that was Dennard scaling.
TAGS: TO1 · Bloom: Understand · Analyze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Apply Moore's law quantitatively and interpret the result critically.
SPEAKER SCRIPT / TIMING:
~6 min. Work it on the board. Emphasise order-of-magnitude reasoning and the ‹verify› habit.
INTERVIEW QUESTIONS:
Numerical: Given a start count and a doubling period, compute a future estimate.
TAGS: TO1 · Bloom: Apply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Survey domains and their dominant constraints.
SPEAKER SCRIPT / TIMING:
~5 min. Ask which devices they used today; map to domains.
INTERVIEW QUESTIONS:
Advanced: How do constraints differ between automotive and data-centre chips?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Map the value chain and locate the RTL engineer.
SPEAKER SCRIPT / TIMING:
~6 min. Use real company names per role.
INTERVIEW QUESTIONS:
Advanced: Why is the fabless/foundry split economically rational?
COMMON MISCONCEPTION: Students assume one company does everything (old IDM model).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Compare the three targets; emphasise RTL portability.
SPEAKER SCRIPT / TIMING:
~6 min. Walk the table rows.
INTERVIEW QUESTIONS:
Intermediate: What is NRE and why is it high for ASICs?
TAGS: TO1 · Bloom: Understand · Analyze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Compute an ASIC/FPGA cost break-even and interpret it.
SPEAKER SCRIPT / TIMING:
~6 min. Derive the linear equations together; stress non-cost factors too.
INTERVIEW QUESTIONS:
Numerical/scenario: Given NREs and unit costs, find break-even volume and recommend a target.
TAGS: TO1 · Bloom: Apply · Evaluate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Walk the flow stage by stage and locate RTL.
SPEAKER SCRIPT / TIMING:
~8 min. For each stage state what comes in and out. Mark RTL+verification as 'this module'.
INTERVIEW QUESTIONS:
Intermediate: What does synthesis produce? · Advanced: Why is verification before synthesis?
COMMON MISCONCEPTION: Students think it is one-pass; emphasise iteration.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Tier the design flow Basic→Industry.
SPEAKER SCRIPT / TIMING:
~4 min. Connect to the diagram on the previous slide.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Distinguish front-end from back-end and the handoff.
SPEAKER SCRIPT / TIMING:
~5 min. The front-end delivers a verified netlist + constraints.
INTERVIEW QUESTIONS:
Basic: Is synthesis front- or back-end?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Show the abstraction descent; RTL quality propagates downstream.
SPEAKER SCRIPT / TIMING:
~5 min. Preview that Topic 4 coding rules exist for this reason.
INTERVIEW QUESTIONS:
Advanced: Give an RTL mistake the back-end cannot recover from.
TAGS: TO1 · Bloom: Understand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Make the flow concrete by tracing the counter through every stage.
SPEAKER SCRIPT / TIMING:
~6 min. This is the bridge into the tutorials — they will actually do stages 2–4.
INTERVIEW QUESTIONS:
Intermediate: What hardware does a 4-bit counter synthesise to?
TAGS: TO1 TO3 · Bloom: Understand · Apply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Show the behaviour (waveform) and structure (gates) views of the counter.
SPEAKER SCRIPT / TIMING:
~6 min. Put the two views side by side and stress: same design, two lenses. Verification cares about the waveform; synthesis about the gate count. This primes both Tutorial T2 outputs.
INTERVIEW QUESTIONS:
Intermediate: How many flip-flops does a 4-bit counter need, and why? · What does the count do after 15?
COMMON MISCONCEPTION: Students think the waveform and the schematic are different designs; they are the same RTL seen two ways.
TAGS: TO1 TO3 · Bloom: Understand · Apply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Install and verify the open-source toolchain.
SPEAKER SCRIPT / TIMING:
~15 min hands-on. Have students run each command and paste version output into a shared sheet. Resolve PATH issues live.
INTERVIEW QUESTIONS:
Viva: Which tool simulates, which synthesises, which views waveforms?
TAGS: TO1 · Lab Block 1 · Bloom: Apply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Run the counter through compile/sim/view/synthesis on real tools.
SPEAKER SCRIPT / TIMING:
~25 min hands-on. Walk the four command blocks. Show the waveform counting and the Yosys 'stat' output (4 flip-flops). Do not yet explain Verilog syntax in depth — that is Topic 4; here the goal is to experience the flow.
INTERVIEW QUESTIONS:
Viva: Which file is synthesizable and which is not, and why? · What does Yosys 'stat' report?
COMMON MISCONCEPTION: Students try to synthesise the testbench; clarify only counter4.v goes to Yosys.
TAGS: TO1 TO2 · Lab Block 1 · Bloom: Apply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Provide a reusable glossary for Topic 1 terms.
SPEAKER SCRIPT / TIMING:
~3 min. Tell students this glossary grows each topic and is in the handbook.
TAGS: TO1 · Bloom: Remember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OBJECTIVE: Consolidate Topic 1 and bridge to Topic 2.
SPEAKER SCRIPT / TIMING:
~5 min. Run self-check as think-pair-share.
TAGS: TO1 · Bloom: Evaluate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VLSI Design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Subtopic 1a: VLSI technology and its applications  ·  Subtopic 1b: the VLSI design flow. Tiered Basic→Industry, with worked examples and hands-on tutorials.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4014216"/>
            <a:ext cx="237744" cy="23774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931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· What VLSI is, IC evolution, Moore's law, applications, ecosystem, ASIC/FPGA/SoC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4471416"/>
            <a:ext cx="237744" cy="23774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89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· The design flow, front/back-end, RTL-to-GDSII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3232" y="4928616"/>
            <a:ext cx="237744" cy="23774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46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 · Worked example (4-bit counter) · Tutorials T1–T2 · Glossary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VLSI? From a Transistor to a Billion of Them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(Very-Large-Scale Integration)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practice of fabricating an entire electronic system — millions to billions of transistors — onto a single piece of silicon called a die. The transistor is the atomic switch of digital electronics: apply a voltage to its gate and it conducts, remove it and it blocks. Wire millions of these switches in the right pattern and you get adders, processors, memories and radios.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“scale”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how many devices share one chip. Integration grew through clear eras — SSI, MSI, LSI and finally VLSI — as photolithography printed ever-smaller features. A 1971 microprocessor held ~2,300 transistors; modern processors hold tens of billions on a fingernail-sized die. No human places those by hand: we describe behaviour in Verilog and let synthesis build the gates. RTL is therefore the human entry point into VLSI — the purpose of this module.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3127248"/>
            <a:ext cx="1091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· Why · How · Limitation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4015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system on silicon.  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cuts cost, power and size while raising performance.  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lithography prints transistors; designers describe behaviour in HDL.  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(heat, leakage, cost) is slowing pure scaling — so efficient design and reuse now differentiate.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4270248"/>
            <a:ext cx="6711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517136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= an entire system of millions–billions of transistors on one die.</a:t>
            </a:r>
            <a:endParaRPr lang="en-US" sz="1050" dirty="0"/>
          </a:p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scaled SSI → MSI → LSI → VLSI as feature sizes shrank.</a:t>
            </a:r>
            <a:endParaRPr lang="en-US" sz="1050" dirty="0"/>
          </a:p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is how humans design at that scale; the tools build the transistors.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42062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70248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industry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90688" y="45171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3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lnSpc>
                <a:spcPct val="97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“scale” in VLSI refer to, and name the integration eras.</a:t>
            </a:r>
            <a:endParaRPr lang="en-US" sz="93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93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lnSpc>
                <a:spcPct val="97000"/>
              </a:lnSpc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approximate transistor counts per era; it is a common warm-up question.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11480" y="53035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5367528"/>
            <a:ext cx="1091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 used throughout this topic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60527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follow one tiny design — a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counter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idea, through the design flow, to simulation and synthesis in the tutorials. Reusing one example keeps every concept concrete and connected.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BUILD-UP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Transistor to a System — Integration by Hierarchy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 few switches become a billion-transistor chip?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hierarchy. Each level is built from many copies of the level below: transistors form logic gates, gates form functional blocks, and blocks tile up into a complete chip. You, the RTL designer, work at the block level — describing behaviour — while synthesis and the foundry handle the gates and transistors beneath you.</a:t>
            </a:r>
            <a:endParaRPr lang="en-US" sz="1250" dirty="0"/>
          </a:p>
        </p:txBody>
      </p:sp>
      <p:pic>
        <p:nvPicPr>
          <p:cNvPr id="8" name="Image 0" descr="images/integration_buil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10515600" cy="3154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553212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650992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is what makes VLSI humanly possible. Nobody reasons about a billion transistors at once; they reason about a handful of blocks, each verified and reused. RTL is the level where that human reasoning happens.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TIERED DEPTH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VLSI at Four Levels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deepened. Every concept in this module is taught at four levels so it is accessible to a beginner yet useful to a practitioner.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91640"/>
            <a:ext cx="1737360" cy="9144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783080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means putting a whole circuit — lots of tiny switches (transistors) — onto one small chip instead of many separate parts.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4A25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715768"/>
            <a:ext cx="1737360" cy="91440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15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807208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switches form logic gates; gates form blocks (adders, registers); blocks form systems. Designers work at the block level using a hardware language, not at the transistor level.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39896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77514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39896"/>
            <a:ext cx="1737360" cy="914400"/>
          </a:xfrm>
          <a:prstGeom prst="rect">
            <a:avLst/>
          </a:prstGeom>
          <a:solidFill>
            <a:srgbClr val="C7751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39896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831336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are captured at register-transfer level (RTL) and synthesised to gates for a target process. Trade-offs in area, timing and power are managed quantitatively across the flow.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764024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764024"/>
            <a:ext cx="1737360" cy="91440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76402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4855464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scaling slowing, value comes from architecture, verified reusable IP, low-power design and fast timing closure — so clean, synthesis-aware, well-verified RTL is the skill employers pay for.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EVOLUTION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Integrated Circuits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ICs, computers used discrete transistors and vacuum tubes — bulky, hot, unreliable. Jack Kilby (TI, 1958) and Robert Noyce (Fairchild, 1959) independently integrated components on one substrate, founding the IC. Integration density then climbed through well-defined generations, each multiplying gates per chip and unlocking new product classes.</a:t>
            </a:r>
            <a:endParaRPr lang="en-US" sz="1250" dirty="0"/>
          </a:p>
        </p:txBody>
      </p:sp>
      <p:pic>
        <p:nvPicPr>
          <p:cNvPr id="8" name="Image 0" descr="images/ic_e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402336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20640" y="2560320"/>
            <a:ext cx="65379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1B9A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85232" y="2624328"/>
            <a:ext cx="6208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era enabled a new product class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3520" y="2971800"/>
            <a:ext cx="6217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(1–10 gates): basic logic on a chip → early digital boards.</a:t>
            </a:r>
            <a:endParaRPr lang="en-US" sz="1100" dirty="0"/>
          </a:p>
          <a:p>
            <a:pPr marL="165100" indent="-16510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 of gates): adders, counters, multiplexers → calculators.</a:t>
            </a:r>
            <a:endParaRPr lang="en-US" sz="1100" dirty="0"/>
          </a:p>
          <a:p>
            <a:pPr marL="165100" indent="-16510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LSI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(hundreds–thousands): the first microprocessors and memories.</a:t>
            </a:r>
            <a:endParaRPr lang="en-US" sz="1100" dirty="0"/>
          </a:p>
          <a:p>
            <a:pPr marL="165100" indent="-16510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 of thousands+): full CPUs, DSPs, graphics.</a:t>
            </a:r>
            <a:endParaRPr lang="en-US" sz="1100" dirty="0"/>
          </a:p>
          <a:p>
            <a:pPr marL="165100" indent="-16510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ULSI / GSI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(millions–billions): today's SoCs, GPUs, AI chips.</a:t>
            </a:r>
            <a:endParaRPr lang="en-US" sz="1100" dirty="0"/>
          </a:p>
          <a:p>
            <a:pPr marL="165100" indent="-165100">
              <a:lnSpc>
                <a:spcPct val="102000"/>
              </a:lnSpc>
              <a:buSzPct val="100000"/>
              <a:buChar char="•"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Gate-count bands are approximate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‹verify exact ranges›.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TREND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Moore's Law and Why Scaling Is Slowing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7040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(Gordon Moore, 1965) observes that transistors per chip double roughly every two years at constant cost. It is an economic/historical trend, not a physical law — but it held for ~50 years and drove the digital revolution by making computing cheaper every cycle.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Dennard scaling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companion: as transistors shrank, power density stayed constant, so smaller also meant faster and cooler. It broke down around 2005 — shrinking no longer cut power proportionally — so clock speeds plateaued and the industry pivoted to multi-core and accelerators.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scaling is decelerating and per-transistor cost has stopped falling, so performance now comes from architecture (chiplets, 3D stacking, AI accelerators) and design efficiency — raising the value of disciplined RTL.</a:t>
            </a:r>
            <a:endParaRPr lang="en-US" sz="1150" dirty="0"/>
          </a:p>
        </p:txBody>
      </p:sp>
      <p:pic>
        <p:nvPicPr>
          <p:cNvPr id="8" name="Image 0" descr="images/moores_l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371600"/>
            <a:ext cx="4023360" cy="22677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4206240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4270248"/>
            <a:ext cx="6711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4517136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law: ~2× transistors every ~2 years — economic, not physical.</a:t>
            </a:r>
            <a:endParaRPr lang="en-US" sz="1050" dirty="0"/>
          </a:p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Dennard scaling (constant power density) broke ~2005 → multi-core &amp; accelerators.</a:t>
            </a:r>
            <a:endParaRPr lang="en-US" sz="1050" dirty="0"/>
          </a:p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slowing; architecture, reuse and good RTL are the new levers.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35240" y="42062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9832" y="4270248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industry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90688" y="45171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3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lnSpc>
                <a:spcPct val="97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Moore's law and Dennard scaling?</a:t>
            </a:r>
            <a:endParaRPr lang="en-US" sz="93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93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lnSpc>
                <a:spcPct val="97000"/>
              </a:lnSpc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latest node/transistor figures from a current source, marked ‹verify› — never from memory.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PRACTICAL EXAMPLE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Numerical: Applying Moore's Law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98448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51206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 4004 (1971) had about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transistors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transistor count doubles every 2 years, estimate the count 50 years later (2021), and compare with reality.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number of doublings: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 = 50 years ÷ 2 = 25 doublings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apply the doubling: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 = 2,300 × 2</a:t>
            </a:r>
            <a:pPr algn="l" indent="0" marL="0">
              <a:lnSpc>
                <a:spcPct val="103000"/>
              </a:lnSpc>
              <a:buNone/>
            </a:pPr>
            <a:r>
              <a:rPr lang="en-US" sz="110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2,300 × 33,554,432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 ≈ 7.7 × 10</a:t>
            </a:r>
            <a:pPr algn="l" indent="0" marL="0">
              <a:lnSpc>
                <a:spcPct val="103000"/>
              </a:lnSpc>
              <a:buNone/>
            </a:pPr>
            <a:r>
              <a:rPr lang="en-US" sz="1100" baseline="30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 77 billion transistors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298448"/>
            <a:ext cx="5230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627632"/>
            <a:ext cx="52120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high-end chips around 2021 held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billions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transistors ‹verify exact figures› — the same order of magnitude as our estimate.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slightly overshoots because the doubling period stretched toward ~2.5–3 years as scaling slowed. 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 is a remarkably good first-order estimator over decades, but it is a trend — always sanity-check against current data, and treat memorised figures as ‹verify›.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6634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4727448"/>
            <a:ext cx="1091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497433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design had 1 million gates in 2010, roughly how many would the trend predict for 2020?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(Answer: 5 doublings → ×2</a:t>
            </a:r>
            <a:pPr algn="l" indent="0" marL="0">
              <a:lnSpc>
                <a:spcPct val="103000"/>
              </a:lnSpc>
              <a:buNone/>
            </a:pPr>
            <a:r>
              <a:rPr lang="en-US" sz="1100" baseline="300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×32 ≈ 32 million gates.) Discuss why the real number is usually lower.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APPLICATIONS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VLSI Chips Are Used — Six Domains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is invisible but everywhere. The same RTL skills serve every domain, each with a dominant constraint — performance, power, cost, safety or reliability — that shapes its sign-off criteria.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920240"/>
            <a:ext cx="118872" cy="12344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116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data centre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CPUs, GPUs, AI accelerators; performance &amp; memory bandwidth dominate, power/cooling limit.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178808" y="19202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F4A25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78808" y="1920240"/>
            <a:ext cx="118872" cy="123444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0116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consumer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340864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Phone/wearable SoCs, TVs; energy-per-operation (battery life) is king.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946136" y="19202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46136" y="1920240"/>
            <a:ext cx="118872" cy="123444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20116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02168" y="2340864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ECUs, ADAS, EV power; functional safety (ISO 26262) and temperature range dominate.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6C5CE7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91840"/>
            <a:ext cx="118872" cy="1234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3832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512" y="3712464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Imaging, implants, monitors; ultra-low power, reliability, certification.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178808" y="32918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C77514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78808" y="3291840"/>
            <a:ext cx="118872" cy="1234440"/>
          </a:xfrm>
          <a:prstGeom prst="rect">
            <a:avLst/>
          </a:prstGeom>
          <a:solidFill>
            <a:srgbClr val="C77514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3832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/ IoT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34840" y="3712464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controllers, edge AI; cost, integration, long lifetimes.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946136" y="32918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5A6B7B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46136" y="3291840"/>
            <a:ext cx="118872" cy="123444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30" name="Text 28"/>
          <p:cNvSpPr/>
          <p:nvPr/>
        </p:nvSpPr>
        <p:spPr>
          <a:xfrm>
            <a:off x="8202168" y="33832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&amp; defence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02168" y="3712464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Radiation-hardened, high-reliability parts; correctness over raw speed.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11480" y="48006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937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skill, different sign-off: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written in Verilog is the same RTL in a toy or a satellite — the satellite just adds radiation hardening and far heavier verification.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INDUSTRY 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Semiconductor Ecosystem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company designs, makes, packages and sells a chip alone.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specialised, and the chain tells you where an RTL engineer works.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Fabless design houses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chip — RTL is written and verified here — but own no factory.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Foundries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 silicon from the GDSII the design house sends; a leading-edge fab costs tens of billions.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vendors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reusable blocks; EDA companies provide the tools; OSATs assemble, package and test.</a:t>
            </a:r>
            <a:endParaRPr lang="en-US" sz="1150" dirty="0"/>
          </a:p>
        </p:txBody>
      </p:sp>
      <p:pic>
        <p:nvPicPr>
          <p:cNvPr id="8" name="Image 0" descr="images/eco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40233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3657600"/>
            <a:ext cx="7040880" cy="91440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3721608"/>
            <a:ext cx="6711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3968496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Fabless designs (RTL here) → foundry manufactures → OSAT packages/tests.</a:t>
            </a:r>
            <a:endParaRPr lang="en-US" sz="1050" dirty="0"/>
          </a:p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vendors supply reusable blocks; EDA vendors supply the tools.</a:t>
            </a:r>
            <a:endParaRPr lang="en-US" sz="1050" dirty="0"/>
          </a:p>
          <a:p>
            <a:pPr marL="165100" indent="-1651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gave each layer huge scale and capital efficiency.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35240" y="36576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9832" y="3721608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industry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90688" y="39684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3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lnSpc>
                <a:spcPct val="97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fabless company, and why did the model win?</a:t>
            </a:r>
            <a:endParaRPr lang="en-US" sz="93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93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lnSpc>
                <a:spcPct val="97000"/>
              </a:lnSpc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Semiconductor Mission funds across the chain; near-term graduate opportunity is design (RTL/verification).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411480" y="475488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fit: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trains the front-end design skill fabless houses and IP vendors hire for — your Verilog becomes the foundry's input and, ultimately, silicon.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TARGETS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vs FPGA vs SoC — Choosing the Silicon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is the common starting point, but it can be realised on different silicon. The choice trades upfront cost against unit cost, performance and time-to-market — and the same Verilog can target all three.</a:t>
            </a:r>
            <a:endParaRPr lang="en-US" sz="1250" dirty="0"/>
          </a:p>
        </p:txBody>
      </p:sp>
      <p:pic>
        <p:nvPicPr>
          <p:cNvPr id="8" name="Image 0" descr="images/asic_fpga_s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6949440" cy="30266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874520"/>
            <a:ext cx="4114800" cy="3026664"/>
          </a:xfrm>
          <a:prstGeom prst="roundRect">
            <a:avLst>
              <a:gd name="adj" fmla="val 1813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198424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RTL connection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26680" y="2313432"/>
            <a:ext cx="3749040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synthesizable Verilog targets all three. 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reprogrammable, low upfront cost: prototype and low volume.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 silicon, lowest unit cost and best power at high volume, but huge NRE.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whole system (logic + CPU + IP) on one die; the dominant modern form.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1A · PRACTICAL EXAMPLE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Numerical: ASIC vs FPGA Break-Even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98448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5120640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ship a product. Two options (illustrative ‹verify›):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FPGA: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 = $0, unit cost = $50.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ASIC: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 = $2,000,000, unit cost = $5.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volume N where total costs are equal.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= NRE + unit×N: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FPGA: 50N      ASIC: 2,000,000 + 5N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equal:  50N = 2,000,000 + 5N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45N = 2,000,000  →  N ≈ 44,444 units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5577840" cy="3566160"/>
          </a:xfrm>
          <a:prstGeom prst="roundRect">
            <a:avLst>
              <a:gd name="adj" fmla="val 1538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298448"/>
            <a:ext cx="5230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627632"/>
            <a:ext cx="5212080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~44,000 units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FPGA is cheaper overall — no NRE to amortise.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~44,000 units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ASIC wins — its low unit cost repays the NRE.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teams </a:t>
            </a:r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 FPGA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migrate to ASIC only once volume justifies the NRE.</a:t>
            </a:r>
            <a:endParaRPr lang="en-US" sz="1100" dirty="0"/>
          </a:p>
          <a:p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decisions also weigh power, performance, time-to-market and risk — not cost alone — but the break-even is the first cut.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9377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5001768"/>
            <a:ext cx="1091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2395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ASIC NRE were $500,000 instead, what is the new break-even?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(45N = 500,000 → N ≈ 11,111 units — a lower NRE makes the ASIC attractive much sooner.)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DESIGN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VLSI Design Flow — Specification to Silicon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68580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chip is built through a disciplined sequence, each stage refining the design and handing it on.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Specification &amp; architecture </a:t>
            </a:r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define function, performance, power, area; partition into blocks and a micro-architecture.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RTL design </a:t>
            </a:r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capture behaviour in synthesizable Verilog. The creative heart of the front-end and the focus of this module.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Functional verification </a:t>
            </a:r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prove the RTL matches the spec via testbenches, simulation, assertions and coverage, before any silicon.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Logic synthesis </a:t>
            </a:r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map RTL to a gate-level netlist for a target library, optimising timing, area and power.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Physical design </a:t>
            </a:r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floorplan, place, route and build the clock tree into a layout.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STA, signoff, fabrication </a:t>
            </a:r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verify timing across corners, run signoff, send GDSII to the foundry for manufacture, packaging and test.</a:t>
            </a:r>
            <a:endParaRPr lang="en-US" sz="1150" dirty="0"/>
          </a:p>
        </p:txBody>
      </p:sp>
      <p:pic>
        <p:nvPicPr>
          <p:cNvPr id="8" name="Image 0" descr="images/vlsi_flow_i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17320"/>
            <a:ext cx="4160520" cy="33284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498348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 w="13970">
            <a:solidFill>
              <a:srgbClr val="F4A2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16368" y="51023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stages top-down; highlight RTL + verification (this module); fade the back-end.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TIERED DEPTH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Design Flow at Four Levels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flow, deepened from a beginner's mental model to how it is run in industry.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91640"/>
            <a:ext cx="1737360" cy="9144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783080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the chip should do, describe it, check it works, then turn it into something a factory can build.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4A25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715768"/>
            <a:ext cx="1737360" cy="91440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15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807208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RTL (Verilog) → verify by simulation → synthesise to gates → place &amp; route → send layout (GDSII) to the foundry.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39896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77514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39896"/>
            <a:ext cx="1737360" cy="914400"/>
          </a:xfrm>
          <a:prstGeom prst="rect">
            <a:avLst/>
          </a:prstGeom>
          <a:solidFill>
            <a:srgbClr val="C7751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39896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831336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tools and checks: lint and coverage in verification; timing/area/power optimisation in synthesis; STA across process corners before signoff. The flow iterates — failures loop back to RTL.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764024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764024"/>
            <a:ext cx="1737360" cy="91440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76402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4855464"/>
            <a:ext cx="9144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and back-end teams hand off a constrained netlist; 'shift-left' pushes verification early because a silicon respin costs months and millions. Clean, synthesis-aware RTL minimises late surprises.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FLOW SPLIT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vs Back-End — Where RTL Lives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divides into a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front-end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the chip does) and a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back-end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it is laid out). They meet at the gate-level netlist handoff. RTL engineers own the front-end — but must write code aware of the back-end's timing and area realities.</a:t>
            </a:r>
            <a:endParaRPr lang="en-US" sz="1250" dirty="0"/>
          </a:p>
        </p:txBody>
      </p:sp>
      <p:pic>
        <p:nvPicPr>
          <p:cNvPr id="8" name="Image 0" descr="images/frontend_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331720"/>
            <a:ext cx="7955280" cy="31912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ABSTRACTION DESCENT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RTL-to-GDSII — Your Code Becomes Polygons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intent to manufacturable layout is a steady descent in abstraction: you write behaviour at RTL; synthesis makes a gate-level netlist; place-and-route makes a physical arrangement; GDSII is the polygon file the foundry uses. You will perform the RTL→netlist step yourself in Tutorial T2.</a:t>
            </a:r>
            <a:endParaRPr lang="en-US" sz="1250" dirty="0"/>
          </a:p>
        </p:txBody>
      </p:sp>
      <p:pic>
        <p:nvPicPr>
          <p:cNvPr id="8" name="Image 0" descr="images/rtl_to_gdsi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331720"/>
            <a:ext cx="8229600" cy="3127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553212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DF1E3"/>
          </a:solidFill>
          <a:ln w="13970">
            <a:solidFill>
              <a:srgbClr val="F4A2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6509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 as an RTL coder?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stage inherits your decisions. Huge combinational paths, accidental latches or a poor reset strategy create timing/area problems the back-end cannot fully fix. Clean RTL is the cheapest place to get the whole chip right.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WORKED EXAMPLE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 4-Bit Counter Through the Flow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running example, stage by stage — so the abstract flow becomes concrete before we ever write full Verilog.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1247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91640"/>
            <a:ext cx="1691640" cy="84124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91640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Spec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86000" y="1801368"/>
            <a:ext cx="9235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4-bit counter: on each rising clock edge, increment 0→15 then wrap; an active-low reset forces 0.”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24328"/>
            <a:ext cx="11247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F4A25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24328"/>
            <a:ext cx="1691640" cy="841248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624328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RTL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86000" y="2734056"/>
            <a:ext cx="9235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Verilog module with a clocked always block (shown in Tutorial T2). Human-readable behaviour.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57016"/>
            <a:ext cx="11247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C77514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57016"/>
            <a:ext cx="1691640" cy="841248"/>
          </a:xfrm>
          <a:prstGeom prst="rect">
            <a:avLst/>
          </a:prstGeom>
          <a:solidFill>
            <a:srgbClr val="C7751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557016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Verify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86000" y="3666744"/>
            <a:ext cx="9235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testbench drives clk and rst_n and checks the count sequence; we view it as a waveform in GTKWave.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489704"/>
            <a:ext cx="11247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489704"/>
            <a:ext cx="1691640" cy="841248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489704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Synthesis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86000" y="4599432"/>
            <a:ext cx="9235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maps the RTL to gates: four flip-flops + an incrementer. 'stat' reports the cell/area 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5422392"/>
            <a:ext cx="11247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5A6B7B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5422392"/>
            <a:ext cx="1691640" cy="841248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5422392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Phys/GDSII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86000" y="5532120"/>
            <a:ext cx="9235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Place-and-route would arrange those cells and wires into a layout (out of scope here; done by OpenLane).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WORKED EXAMPLE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Counter Becomes — Two Views of One Design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counter has two complementary views.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looks at behaviour over time (a waveform); synthesis looks at structure (gates). Both describe the identical design — you will produce both in Tutorial T2.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(what verification sees)</a:t>
            </a:r>
            <a:endParaRPr lang="en-US" sz="1200" dirty="0"/>
          </a:p>
        </p:txBody>
      </p:sp>
      <p:pic>
        <p:nvPicPr>
          <p:cNvPr id="9" name="Image 0" descr="images/count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4560"/>
            <a:ext cx="5577840" cy="18196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7220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(what synthesis produces)</a:t>
            </a:r>
            <a:endParaRPr lang="en-US" sz="1200" dirty="0"/>
          </a:p>
        </p:txBody>
      </p:sp>
      <p:pic>
        <p:nvPicPr>
          <p:cNvPr id="11" name="Image 1" descr="images/counter_g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0280"/>
            <a:ext cx="5486400" cy="19110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1480" y="4343400"/>
            <a:ext cx="5577840" cy="1417320"/>
          </a:xfrm>
          <a:prstGeom prst="roundRect">
            <a:avLst>
              <a:gd name="adj" fmla="val 3871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4453128"/>
            <a:ext cx="5230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waveform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4782312"/>
            <a:ext cx="521208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</a:t>
            </a:r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C775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rst_n=0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is held at 0. Once reset releases,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by 1 on every rising clock edge — 0,1,2,…,15 — then wraps back to 0. This is the functional behaviour a testbench checks.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72200" y="434340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355080" y="4453128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gates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55080" y="4782312"/>
            <a:ext cx="51206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turns the RTL into </a:t>
            </a:r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 flip-flops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per bit) plus an </a:t>
            </a:r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incrementer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adds 1 to the current value and feeds it back. Yosys'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will list exactly these cells — structure, not behaviour.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TUTORIAL T1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the Open-Source RTL Toolchain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install and verify the free toolchain on Ubuntu so every later lab runs. Industry relevance: these tools mirror commercial EDA steps (simulate, synthesize, analyse).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5532120" cy="3383280"/>
          </a:xfrm>
          <a:prstGeom prst="roundRect">
            <a:avLst>
              <a:gd name="adj" fmla="val 1351"/>
            </a:avLst>
          </a:prstGeom>
          <a:solidFill>
            <a:srgbClr val="0B223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783080"/>
            <a:ext cx="5202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 terminal  (‹verify versions›)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93976"/>
            <a:ext cx="51663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update package lists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install simulator, waveform viewer,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linter, synthesis tool, git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iverilog gtkwave \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verilator yosys git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verify each tool is on the PATH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 -V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yosys -V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gtkwave --version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verilator --version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32120" cy="3383280"/>
          </a:xfrm>
          <a:prstGeom prst="roundRect">
            <a:avLst>
              <a:gd name="adj" fmla="val 1622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01368"/>
            <a:ext cx="5184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&amp; troubleshooting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130552"/>
            <a:ext cx="516636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alternative: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OSS CAD Suite bundle ships current, matched versions of all these tools — prefer it if the apt versions are old ‹verify›.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'command not found'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install failed or the PATH is stale; re-run install, reopen the terminal.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GTKWave won't open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headless server → use an X-forwarding SSH session or a desktop VM.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 </a:t>
            </a:r>
            <a:pPr algn="l" indent="0" marL="0">
              <a:lnSpc>
                <a:spcPct val="103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'-V' prints a version banner. That confirms a working environment.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52120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533095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version commands print a banner with no errors. Commit a short README to Git recording the versions you installed — reproducibility is an industry habit.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1B · TUTORIAL T2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Counter: Compile → Simulate → View → Synthesize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take the running 4-bit counter through the front-end flow on real tools. (Full Verilog is taught in Topic 4; here you run it to see the flow work.)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852160" cy="2331720"/>
          </a:xfrm>
          <a:prstGeom prst="roundRect">
            <a:avLst>
              <a:gd name="adj" fmla="val 1961"/>
            </a:avLst>
          </a:prstGeom>
          <a:solidFill>
            <a:srgbClr val="0B223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719072"/>
            <a:ext cx="5522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counter4.v   (synthesizable design)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548640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counter4 (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          clk,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          rst_n,   // active-low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[3:0] count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 @(posedge clk or negedge rst_n)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(!rst_n) count &lt;= 4'b0000;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count &lt;= count + 1'b1;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627632"/>
            <a:ext cx="5303520" cy="2331720"/>
          </a:xfrm>
          <a:prstGeom prst="roundRect">
            <a:avLst>
              <a:gd name="adj" fmla="val 1961"/>
            </a:avLst>
          </a:prstGeom>
          <a:solidFill>
            <a:srgbClr val="0B2236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1719072"/>
            <a:ext cx="4974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counter4_tb.v   (testbench — sim only)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029968"/>
            <a:ext cx="493776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`timescale 1ns/1ps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counter4_tb;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 clk=0, rst_n=0; wire [3:0] count;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counter4 dut(.clk(clk),.rst_n(rst_n),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.count(count));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 #5 clk = ~clk;      // 100 MHz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 begin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$dumpfile("c.vcd"); $dumpvars(0,counter4_tb);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#12 rst_n=1; #200 $finish;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114800"/>
            <a:ext cx="5852160" cy="1783080"/>
          </a:xfrm>
          <a:prstGeom prst="roundRect">
            <a:avLst>
              <a:gd name="adj" fmla="val 2564"/>
            </a:avLst>
          </a:prstGeom>
          <a:solidFill>
            <a:srgbClr val="0B2236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4206240"/>
            <a:ext cx="5522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simulate + view waveform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517136"/>
            <a:ext cx="54864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 -o c.vvp counter4_tb.v counter4.v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vvp c.vvp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gtkwave c.vcd &amp;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expect: count 0,1,2,...,15,0,... after reset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411480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0B2236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06240"/>
            <a:ext cx="4974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synthesize with Yosys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4517136"/>
            <a:ext cx="49377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yosys -p "read_verilog counter4.v; \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DC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synth -top counter4; stat"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expect: ~4 DFFs + an incrementer;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7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'stat' lists the cell/area summary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603504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FDF1E3"/>
          </a:solidFill>
          <a:ln w="13970">
            <a:solidFill>
              <a:srgbClr val="F4A2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0899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$dumpfile/$dumpvars and #delays live only in the testbench — never in the synthesizable design. This is the rule we enforce all module.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GLOSSARY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&amp; Acronyms (Topic 1)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527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12527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Very-Large-Scale Integration — millions+ transistors on one chip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2527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 / die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09560" y="12527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Circuit / the silicon piece a chip is cut from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11480" y="1911096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9293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19293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Register-Transfer Level — the design-entry abstraction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035040" y="1911096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9293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09560" y="19293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Description Language (e.g., Verilog)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11480" y="2587752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6060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26060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RTL to a gate-level netlist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035040" y="2587752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6060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09560" y="26060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described as gates and their connections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11480" y="3264408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2826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GDSII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0" y="328269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layout/polygon file sent to the foundry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035040" y="3264408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2826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09560" y="328269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Application-Specific IC — custom silicon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411480" y="3941064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9593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86000" y="39593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Field-Programmable Gate Array — reconfigurable chip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035040" y="3941064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39593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09560" y="39593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System-on-Chip — logic + CPU + IP on one die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411480" y="4617720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46360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Fabless / Foundry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86000" y="46360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house without a fab / the manufacturer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6035040" y="4617720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46360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09560" y="46360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Non-Recurring Engineering — one-time design/tooling cost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411480" y="5294376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4F8FB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53126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86000" y="531266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Timing Analysis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035040" y="5294376"/>
            <a:ext cx="544068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53126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Tapeout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09560" y="531266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the final layout to the foundry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 — Consolidation &amp; Self-Check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78992" y="1024128"/>
            <a:ext cx="10579608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7040880" cy="3840480"/>
          </a:xfrm>
          <a:prstGeom prst="roundRect">
            <a:avLst>
              <a:gd name="adj" fmla="val 1429"/>
            </a:avLst>
          </a:prstGeom>
          <a:solidFill>
            <a:srgbClr val="EAF6EE"/>
          </a:solidFill>
          <a:ln w="13970">
            <a:solidFill>
              <a:srgbClr val="2A9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52728"/>
            <a:ext cx="6711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now be able to 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6766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VLSI is and why RTL is the human entry point (Basic→Industry).</a:t>
            </a:r>
            <a:endParaRPr lang="en-US" sz="1150" dirty="0"/>
          </a:p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Recount </a:t>
            </a:r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 eras and state Moore's law and why scaling is slowing.</a:t>
            </a:r>
            <a:endParaRPr lang="en-US" sz="1150" dirty="0"/>
          </a:p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 and an ASIC/FPGA break-even numerically.</a:t>
            </a:r>
            <a:endParaRPr lang="en-US" sz="1150" dirty="0"/>
          </a:p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</a:t>
            </a:r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domains, the ecosystem, and ASIC/FPGA/SoC trade-offs.</a:t>
            </a:r>
            <a:endParaRPr lang="en-US" sz="1150" dirty="0"/>
          </a:p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</a:t>
            </a:r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flow and a 4-bit counter through it.</a:t>
            </a:r>
            <a:endParaRPr lang="en-US" sz="1150" dirty="0"/>
          </a:p>
          <a:p>
            <a:pPr marL="165100" indent="-165100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toolchain: install it (T1) and compile/simulate/synthesize (T2).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188720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F4F8FB"/>
          </a:solidFill>
          <a:ln w="13970">
            <a:solidFill>
              <a:srgbClr val="1B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1252728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90688" y="1572768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a billion-transistor chip be drawn gate by gate?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Moore's law and one reason scaling is slowing.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Fabless vs foundry — what is the difference?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volume does the ASIC beat the FPGA in our example?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synthesis produce, and which tool did we use?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in T2 is NOT synthesizable, and why?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52578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3970">
            <a:solidFill>
              <a:srgbClr val="C775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5321808"/>
            <a:ext cx="1091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5595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RTL Design Methodology </a:t>
            </a:r>
            <a:pPr algn="l" indent="0" marL="0">
              <a:lnSpc>
                <a:spcPct val="103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zooms into the front-end: what RTL really is, why it is the design-entry level, and the HDL landscape — setting up the hands-on Verilog coding in Topic 4, still using our counter.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Verilog RTL Coding for Synthesis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66960" y="6547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NIE/ELE/N0102 · Topic 1 · 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RTL Coding for Synthesis - Topic 1</dc:title>
  <dc:subject>PptxGenJS Presentation</dc:subject>
  <dc:creator>NIELIT Module 2</dc:creator>
  <cp:lastModifiedBy>NIELIT Module 2</cp:lastModifiedBy>
  <cp:revision>1</cp:revision>
  <dcterms:created xsi:type="dcterms:W3CDTF">2026-06-28T15:25:02Z</dcterms:created>
  <dcterms:modified xsi:type="dcterms:W3CDTF">2026-06-28T15:25:02Z</dcterms:modified>
</cp:coreProperties>
</file>