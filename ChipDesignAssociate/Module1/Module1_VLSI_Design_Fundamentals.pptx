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</p:sldIdLst>
  <p:notesMasterIdLst>
    <p:notesMasterId r:id="rId1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notesMaster" Target="notesMasters/notesMaster1.xml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47"/>
                </a:solidFill>
                <a:latin typeface="Cambria"/>
              </a:defRPr>
            </a:pPr>
            <a:r>
              <a:rPr sz="1200" b="0" i="0" u="none" strike="noStrike">
                <a:solidFill>
                  <a:srgbClr val="0E2A47"/>
                </a:solidFill>
                <a:latin typeface="Cambria"/>
              </a:rPr>
              <a:t>Moore's Law (log scale)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log10(transistors)</c:v>
                </c:pt>
              </c:strCache>
            </c:strRef>
          </c:tx>
          <c:spPr>
            <a:solidFill>
              <a:srgbClr val="1B9AAA"/>
            </a:solidFill>
            <a:ln w="38100" cap="flat">
              <a:solidFill>
                <a:srgbClr val="1B9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9AAA"/>
              </a:solidFill>
              <a:ln w="9525" cap="flat">
                <a:solidFill>
                  <a:srgbClr val="1B9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1971</c:v>
                  </c:pt>
                  <c:pt idx="1">
                    <c:v>1985</c:v>
                  </c:pt>
                  <c:pt idx="2">
                    <c:v>1999</c:v>
                  </c:pt>
                  <c:pt idx="3">
                    <c:v>2008</c:v>
                  </c:pt>
                  <c:pt idx="4">
                    <c:v>2017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3.4</c:v>
                </c:pt>
                <c:pt idx="1">
                  <c:v>5.4</c:v>
                </c:pt>
                <c:pt idx="2">
                  <c:v>7</c:v>
                </c:pt>
                <c:pt idx="3">
                  <c:v>9.3</c:v>
                </c:pt>
                <c:pt idx="4">
                  <c:v>9.9</c:v>
                </c:pt>
                <c:pt idx="5">
                  <c:v>10.8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image" Target="../media/image-6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image" Target="../media/image-7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image" Target="../media/image-7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image" Target="../media/image-8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image" Target="../media/image-95-3.png"/><Relationship Id="rId4" Type="http://schemas.openxmlformats.org/officeDocument/2006/relationships/image" Target="../media/image-95-4.png"/><Relationship Id="rId5" Type="http://schemas.openxmlformats.org/officeDocument/2006/relationships/image" Target="../media/image-9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image" Target="../media/image-9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image" Target="../media/image-98-3.png"/><Relationship Id="rId4" Type="http://schemas.openxmlformats.org/officeDocument/2006/relationships/image" Target="../media/image-9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png"/><Relationship Id="rId3" Type="http://schemas.openxmlformats.org/officeDocument/2006/relationships/image" Target="../media/image-10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image" Target="../media/image-10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image" Target="../media/image-10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png"/><Relationship Id="rId3" Type="http://schemas.openxmlformats.org/officeDocument/2006/relationships/image" Target="../media/image-10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image" Target="../media/image-10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image" Target="../media/image-110-2.png"/><Relationship Id="rId3" Type="http://schemas.openxmlformats.org/officeDocument/2006/relationships/image" Target="../media/image-1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image" Target="../media/image-1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image" Target="../media/image-1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image" Target="../media/image-1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image" Target="../media/image-1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image" Target="../media/image-1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image" Target="../media/image-1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image" Target="../media/image-1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image" Target="../media/image-1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image" Target="../media/image-122-2.png"/><Relationship Id="rId3" Type="http://schemas.openxmlformats.org/officeDocument/2006/relationships/image" Target="../media/image-122-3.png"/><Relationship Id="rId4" Type="http://schemas.openxmlformats.org/officeDocument/2006/relationships/image" Target="../media/image-1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image" Target="../media/image-1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image" Target="../media/image-1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image" Target="../media/image-126-2.png"/><Relationship Id="rId3" Type="http://schemas.openxmlformats.org/officeDocument/2006/relationships/image" Target="../media/image-126-3.png"/><Relationship Id="rId4" Type="http://schemas.openxmlformats.org/officeDocument/2006/relationships/image" Target="../media/image-126-4.png"/><Relationship Id="rId5" Type="http://schemas.openxmlformats.org/officeDocument/2006/relationships/image" Target="../media/image-126-5.png"/><Relationship Id="rId6" Type="http://schemas.openxmlformats.org/officeDocument/2006/relationships/image" Target="../media/image-126-6.png"/><Relationship Id="rId7" Type="http://schemas.openxmlformats.org/officeDocument/2006/relationships/image" Target="../media/image-126-7.png"/><Relationship Id="rId8" Type="http://schemas.openxmlformats.org/officeDocument/2006/relationships/image" Target="../media/image-126-8.png"/><Relationship Id="rId9" Type="http://schemas.openxmlformats.org/officeDocument/2006/relationships/image" Target="../media/image-12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858000" cy="68580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822960"/>
            <a:ext cx="4480560" cy="448056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86868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DESIGN ASSOCIATE  ·  O-LEVEL CHIP DESIGN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233172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VLSI Design Fundamentals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60-hour foundation — from silicon and the MOS transistor to CMOS logic, layout, interconnect and timing.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Training Deck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127 slides   ·   worked examples throughout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NIELIT · Centre of Excellence in Chip Design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this Module &amp; Learning Outcomes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builds the conceptual bedrock for the entire chip-design course. Everything in later modules — RTL, timing closure, FPGA — rests on the transistor-level understanding you gain here.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you will be able to: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514600"/>
            <a:ext cx="5669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VLSI design cycle and abstraction levels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NMOS / PMOS transistors switch and conduct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CMOS inverter, its VTC, noise margins, delay &amp; power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any static gate (NAND, NOR, AOI) from a Boolean function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schematics, stick diagrams and basic layout with design rules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on-chip wires as RC and estimate interconnect delay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propagation delay and reason about setup/hold timing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0" y="214884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9536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hours (theory + lab)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0" y="33558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95360" y="33558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digital electronics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858000" y="39227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introduced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595360" y="39227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NGSpice, Magic VLSI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858000" y="44897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95360" y="44897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+ design problems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858000" y="50566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into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595360" y="50566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Verilog · M3 STA · M4 FPGA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MAP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Topics, One Foundation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Module 1 syllabus has four topic areas. This deck expands each into theory + multiple worked examples.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231136"/>
            <a:ext cx="530352" cy="530352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2311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08760" y="213055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VLSI Design Cycle &amp; CMOS Transistor Theory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508760" y="25146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1–2: VLSI flow &amp; significance, MOS physics, I–V, switch model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012680" y="22860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1001268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hrs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08152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300984"/>
            <a:ext cx="530352" cy="530352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3009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508760" y="320040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 Inverter Characteristics &amp; Logic Design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508760" y="35844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3–4: VTC, noise margins, delay, power, NAND/NOR/AOI, adders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0012680" y="3355848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4A259"/>
          </a:solidFill>
          <a:ln/>
        </p:spPr>
      </p:sp>
      <p:sp>
        <p:nvSpPr>
          <p:cNvPr id="20" name="Text 17"/>
          <p:cNvSpPr/>
          <p:nvPr/>
        </p:nvSpPr>
        <p:spPr>
          <a:xfrm>
            <a:off x="10012680" y="33558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hrs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15137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370832"/>
            <a:ext cx="530352" cy="530352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3708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508760" y="427024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Layout, Interconnect &amp; Packaging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508760" y="465429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5–7: schematics, layout, design rules, wire modelling, bonding &amp; packaging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10012680" y="4425696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1B9AAA"/>
          </a:solidFill>
          <a:ln/>
        </p:spPr>
      </p:sp>
      <p:sp>
        <p:nvSpPr>
          <p:cNvPr id="27" name="Text 24"/>
          <p:cNvSpPr/>
          <p:nvPr/>
        </p:nvSpPr>
        <p:spPr>
          <a:xfrm>
            <a:off x="10012680" y="44256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hrs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522122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77240" y="5440680"/>
            <a:ext cx="530352" cy="530352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30" name="Text 27"/>
          <p:cNvSpPr/>
          <p:nvPr/>
        </p:nvSpPr>
        <p:spPr>
          <a:xfrm>
            <a:off x="777240" y="54406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508760" y="534009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Delay, Timing &amp; Optimization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508760" y="57241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8–10: gate delays &amp; logical effort, critical-path optimization, sequential timing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10012680" y="5495544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4A259"/>
          </a:solidFill>
          <a:ln/>
        </p:spPr>
      </p:sp>
      <p:sp>
        <p:nvSpPr>
          <p:cNvPr id="34" name="Text 31"/>
          <p:cNvSpPr/>
          <p:nvPr/>
        </p:nvSpPr>
        <p:spPr>
          <a:xfrm>
            <a:off x="10012680" y="54955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hrs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91440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77724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20116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VLSI Design Cycle &amp; CMOS Transistor Theory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chips are designed, and the physics of the MOS switch that makes it all possible.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080" y="3822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approx. 18 hours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24281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0704" y="42062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technology, significance &amp; applications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948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0704" y="455828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&amp; back-end design flow in detail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94690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0704" y="49103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styles: full-custom, standard-cell, FPGA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29894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60704" y="526237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theory: MOSFET operation, modeling &amp; characteristics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650992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60704" y="561441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Square-law model, capacitances, second-order effects</a:t>
            </a:r>
            <a:endParaRPr lang="en-US" sz="13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6003036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60704" y="59664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trends: Moore/Dennard, nodes, FinFET &amp; GAA</a:t>
            </a:r>
            <a:endParaRPr lang="en-US" sz="1350" dirty="0"/>
          </a:p>
        </p:txBody>
      </p:sp>
      <p:sp>
        <p:nvSpPr>
          <p:cNvPr id="21" name="Text 1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INTRODUCTION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VLSI?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(Very Large Scale Integration) </a:t>
            </a:r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of creating an integrated circuit by combining millions–billions of transistors onto one silicon chip — enough to build a whole digital system (a System-on-Chip).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577840" cy="566928"/>
          </a:xfrm>
          <a:prstGeom prst="roundRect">
            <a:avLst>
              <a:gd name="adj" fmla="val 8065"/>
            </a:avLst>
          </a:prstGeom>
          <a:solidFill>
            <a:srgbClr val="F4F8FB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26974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86000" y="269748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566160" y="26974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~1–10 gates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5577840" cy="566928"/>
          </a:xfrm>
          <a:prstGeom prst="roundRect">
            <a:avLst>
              <a:gd name="adj" fmla="val 8065"/>
            </a:avLst>
          </a:prstGeom>
          <a:solidFill>
            <a:srgbClr val="F4F8FB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33375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86000" y="333756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566160" y="33375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~10–100 gates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977640"/>
            <a:ext cx="5577840" cy="566928"/>
          </a:xfrm>
          <a:prstGeom prst="roundRect">
            <a:avLst>
              <a:gd name="adj" fmla="val 8065"/>
            </a:avLst>
          </a:prstGeom>
          <a:solidFill>
            <a:srgbClr val="F4F8FB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9776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286000" y="39776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70s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566160" y="39776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~hundreds–thousands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617720"/>
            <a:ext cx="5577840" cy="566928"/>
          </a:xfrm>
          <a:prstGeom prst="roundRect">
            <a:avLst>
              <a:gd name="adj" fmla="val 8065"/>
            </a:avLst>
          </a:prstGeom>
          <a:solidFill>
            <a:srgbClr val="F4F8FB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461772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VLSI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286000" y="461772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1980s+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566160" y="46177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thousands+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257800"/>
            <a:ext cx="5577840" cy="566928"/>
          </a:xfrm>
          <a:prstGeom prst="roundRect">
            <a:avLst>
              <a:gd name="adj" fmla="val 8065"/>
            </a:avLst>
          </a:prstGeom>
          <a:solidFill>
            <a:srgbClr val="0E2A47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525780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ULSI / SoC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286000" y="52578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566160" y="52578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millions–billions</a:t>
            </a:r>
            <a:endParaRPr lang="en-US" sz="11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400800" y="146304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6400800" y="4389120"/>
            <a:ext cx="5212080" cy="1600200"/>
          </a:xfrm>
          <a:prstGeom prst="roundRect">
            <a:avLst>
              <a:gd name="adj" fmla="val 4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535424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949440" y="450799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Moore's Law in numbers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6949440" y="4864608"/>
            <a:ext cx="443484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4004 (1971):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~2,300 transistors. 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M-series / modern SoC: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billions. 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roughly a doubling every ~2 years for 50 years.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INTRODUCTION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IC Integration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circuits have grown through five named eras, each defined by how many devices fit on one chip. VLSI is the era that made the modern computer possible.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0574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103120" y="21122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Small-Scale Integration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103120" y="24414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1960s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17920" y="2057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~1–10 gates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0" y="20574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logic gates, flip-flops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03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1B9AAA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28803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103120" y="293522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Medium-Scale Integration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103120" y="32644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1960s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217920" y="28803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~10–100 gates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412480" y="2880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Adders, counters, multiplexers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7033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4A259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7033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LSI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103120" y="37581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Large-Scale Integration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2103120" y="40873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17920" y="3703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~1k–10k devices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0" y="3703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microprocessors, memories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45262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4864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4A259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5262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VLSI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2103120" y="45811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Very-Large-Scale Integration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2103120" y="4910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 onward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217920" y="4526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thousands+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412480" y="4526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CPUs on one chip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864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D7263D"/>
          </a:solidFill>
          <a:ln/>
        </p:spPr>
      </p:sp>
      <p:sp>
        <p:nvSpPr>
          <p:cNvPr id="37" name="Text 34"/>
          <p:cNvSpPr/>
          <p:nvPr/>
        </p:nvSpPr>
        <p:spPr>
          <a:xfrm>
            <a:off x="548640" y="53492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ULSI / SoC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2103120" y="54041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Ultra-Large-Scale / System-on-Chip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2103120" y="57332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217920" y="5349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millions–billions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412480" y="5349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systems on one die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pace — a doubling of transistor count roughly every two years — is Moore's Law, and it has held for ~50 years.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SIGNIFICANCE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VLSI Powers the World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electronic product you touch is enabled by VLSI chips. Integration is what makes them small, fast, cheap and power-efficient enough to be everywhere.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331720"/>
            <a:ext cx="566928" cy="566928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45973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04672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CPUs, GPUs, memory — laptops to data-centre servers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51960" y="210312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80560" y="2331720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45973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&amp; Wireless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507992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SoCs, 5G modems, Wi-Fi &amp; Bluetooth radios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955280" y="210312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0E2A4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83880" y="2331720"/>
            <a:ext cx="566928" cy="566928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459736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1540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Accelerators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211312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Neural-network chips, TPUs, edge-AI inference engines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393192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2A9D5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rgbClr val="2A9D5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288536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08760" y="41879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804672" y="48463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Engine/EV control, ADAS, sensors, infotainment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251960" y="393192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480560" y="4160520"/>
            <a:ext cx="566928" cy="566928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4288536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12080" y="41879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&amp; Wearables</a:t>
            </a:r>
            <a:endParaRPr lang="en-US" sz="1550" dirty="0"/>
          </a:p>
        </p:txBody>
      </p:sp>
      <p:sp>
        <p:nvSpPr>
          <p:cNvPr id="31" name="Text 23"/>
          <p:cNvSpPr/>
          <p:nvPr/>
        </p:nvSpPr>
        <p:spPr>
          <a:xfrm>
            <a:off x="4507992" y="48463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Ultra-low-power microcontrollers &amp; sensor hubs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7955280" y="393192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D726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183880" y="4160520"/>
            <a:ext cx="566928" cy="566928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6" y="4288536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915400" y="41879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&amp; Comms</a:t>
            </a:r>
            <a:endParaRPr lang="en-US" sz="1550" dirty="0"/>
          </a:p>
        </p:txBody>
      </p:sp>
      <p:sp>
        <p:nvSpPr>
          <p:cNvPr id="36" name="Text 27"/>
          <p:cNvSpPr/>
          <p:nvPr/>
        </p:nvSpPr>
        <p:spPr>
          <a:xfrm>
            <a:off x="8211312" y="48463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imaging, implants, networking &amp; satellites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SIGNIFICANCE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VLSI Matters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not just convenient — it fundamentally improves every design metric, and it underpins a strategically vital global industry.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advantages of integration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688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43230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size: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devices on a fingernail-sized die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4436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90779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speed: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on-chip wires → faster signalling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419856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33832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power: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capacitances switch with little energy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95344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38587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cost: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fabrication → very low cost per chip at volume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370832"/>
            <a:ext cx="292608" cy="29260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433425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reliability: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external connections → fewer failure points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6309360" y="2057400"/>
            <a:ext cx="5303520" cy="3794760"/>
          </a:xfrm>
          <a:prstGeom prst="roundRect">
            <a:avLst>
              <a:gd name="adj" fmla="val 2410"/>
            </a:avLst>
          </a:prstGeom>
          <a:solidFill>
            <a:srgbClr val="0E2A47"/>
          </a:solidFill>
          <a:ln/>
        </p:spPr>
      </p:sp>
      <p:sp>
        <p:nvSpPr>
          <p:cNvPr id="19" name="Text 11"/>
          <p:cNvSpPr/>
          <p:nvPr/>
        </p:nvSpPr>
        <p:spPr>
          <a:xfrm>
            <a:off x="6537960" y="22128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&amp; strategic importance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6537960" y="2697480"/>
            <a:ext cx="4892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Semiconductors are a </a:t>
            </a:r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trillion-dollar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industry underpinning all modern electronics.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design (front-end) and fabrication (foundry) are increasingly </a:t>
            </a:r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businesses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fabless model.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Nations treat chip capability as </a:t>
            </a:r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infrastructure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India's Semiconductor Mission aims to build design &amp; fab talent.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trains the </a:t>
            </a:r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— exactly the skills in highest demand.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MOTIVATION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VLSI? Design Metrics (PPA)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more on one chip improves almost everything that matters. Chip designers constantly trade off three metrics — Power, Performance, Area (PPA) — plus cost and reliability.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/ clock frequency, throughput, latency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51960" y="210312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2331720"/>
            <a:ext cx="457200" cy="45720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07992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+ leakage power; battery life &amp; heat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55280" y="210312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25400">
            <a:solidFill>
              <a:srgbClr val="0E2A4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83880" y="2331720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4"/>
          <p:cNvSpPr/>
          <p:nvPr/>
        </p:nvSpPr>
        <p:spPr>
          <a:xfrm>
            <a:off x="877824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11312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area → cost per chip; smaller = cheaper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25400">
            <a:solidFill>
              <a:srgbClr val="2A9D5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7240" y="3913632"/>
            <a:ext cx="457200" cy="457200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21" name="Text 18"/>
          <p:cNvSpPr/>
          <p:nvPr/>
        </p:nvSpPr>
        <p:spPr>
          <a:xfrm>
            <a:off x="1371600" y="39136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4672" y="4434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(NRE) + per-unit manufacturing cost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251960" y="370332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25400">
            <a:solidFill>
              <a:srgbClr val="D726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80560" y="3913632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5" name="Text 22"/>
          <p:cNvSpPr/>
          <p:nvPr/>
        </p:nvSpPr>
        <p:spPr>
          <a:xfrm>
            <a:off x="5074920" y="39136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07992" y="4434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immunity, yield, lifetime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955280" y="370332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3849624"/>
            <a:ext cx="310896" cy="31089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503920" y="382219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 example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8503920" y="4178808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a transistor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gate (lower R) 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area &amp; power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(higher C). PPA is always a balance.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DESIGN FLOW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VLSI Design Flow — Big Picture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chip is built through well-defined stages, each refining the design and adding detail from idea to fabricated silicon. The flow splits into a logic-focused FRONT-END and a geometry-focused BACK-END.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331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24128" y="2478024"/>
            <a:ext cx="475488" cy="47548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2478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57784" y="3008376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7784" y="35204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Function, PPA targets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22653" y="3108960"/>
            <a:ext cx="92354" cy="0"/>
          </a:xfrm>
          <a:prstGeom prst="line">
            <a:avLst/>
          </a:prstGeom>
          <a:noFill/>
          <a:ln w="25400">
            <a:solidFill>
              <a:srgbClr val="0E2A4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116836" y="2331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38044" y="2478024"/>
            <a:ext cx="475488" cy="47548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5" name="Text 12"/>
          <p:cNvSpPr/>
          <p:nvPr/>
        </p:nvSpPr>
        <p:spPr>
          <a:xfrm>
            <a:off x="2638044" y="2478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71700" y="3008376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Design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171700" y="35204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/ VHDL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36569" y="3108960"/>
            <a:ext cx="92354" cy="0"/>
          </a:xfrm>
          <a:prstGeom prst="line">
            <a:avLst/>
          </a:prstGeom>
          <a:noFill/>
          <a:ln w="25400">
            <a:solidFill>
              <a:srgbClr val="0E2A47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730752" y="2331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251960" y="2478024"/>
            <a:ext cx="475488" cy="47548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1" name="Text 18"/>
          <p:cNvSpPr/>
          <p:nvPr/>
        </p:nvSpPr>
        <p:spPr>
          <a:xfrm>
            <a:off x="4251960" y="2478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785616" y="3008376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785616" y="35204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&amp; check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250485" y="3108960"/>
            <a:ext cx="92354" cy="0"/>
          </a:xfrm>
          <a:prstGeom prst="line">
            <a:avLst/>
          </a:prstGeom>
          <a:noFill/>
          <a:ln w="25400">
            <a:solidFill>
              <a:srgbClr val="0E2A47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344668" y="2331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865876" y="2478024"/>
            <a:ext cx="475488" cy="47548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7" name="Text 24"/>
          <p:cNvSpPr/>
          <p:nvPr/>
        </p:nvSpPr>
        <p:spPr>
          <a:xfrm>
            <a:off x="5865876" y="2478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399532" y="3008376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399532" y="35204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→ gate netlist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864401" y="3108960"/>
            <a:ext cx="92354" cy="0"/>
          </a:xfrm>
          <a:prstGeom prst="line">
            <a:avLst/>
          </a:prstGeom>
          <a:noFill/>
          <a:ln w="25400">
            <a:solidFill>
              <a:srgbClr val="0E2A47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958584" y="2331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479792" y="2478024"/>
            <a:ext cx="475488" cy="475488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33" name="Text 30"/>
          <p:cNvSpPr/>
          <p:nvPr/>
        </p:nvSpPr>
        <p:spPr>
          <a:xfrm>
            <a:off x="7479792" y="2478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013448" y="3008376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Design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013448" y="35204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Floorplan, P&amp;R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478317" y="3108960"/>
            <a:ext cx="92354" cy="0"/>
          </a:xfrm>
          <a:prstGeom prst="line">
            <a:avLst/>
          </a:prstGeom>
          <a:noFill/>
          <a:ln w="25400">
            <a:solidFill>
              <a:srgbClr val="0E2A47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8572500" y="2331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9093708" y="2478024"/>
            <a:ext cx="475488" cy="475488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39" name="Text 36"/>
          <p:cNvSpPr/>
          <p:nvPr/>
        </p:nvSpPr>
        <p:spPr>
          <a:xfrm>
            <a:off x="9093708" y="2478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8627364" y="3008376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627364" y="35204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DRC, LVS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0092233" y="3108960"/>
            <a:ext cx="92354" cy="0"/>
          </a:xfrm>
          <a:prstGeom prst="line">
            <a:avLst/>
          </a:prstGeom>
          <a:noFill/>
          <a:ln w="25400">
            <a:solidFill>
              <a:srgbClr val="0E2A47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10186416" y="2331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10707624" y="2478024"/>
            <a:ext cx="475488" cy="475488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45" name="Text 42"/>
          <p:cNvSpPr/>
          <p:nvPr/>
        </p:nvSpPr>
        <p:spPr>
          <a:xfrm>
            <a:off x="10707624" y="2478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0241280" y="3008376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GDSII → Fab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241280" y="352044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→ foundry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02920" y="3995928"/>
            <a:ext cx="6359652" cy="384048"/>
          </a:xfrm>
          <a:prstGeom prst="roundRect">
            <a:avLst>
              <a:gd name="adj" fmla="val 14286"/>
            </a:avLst>
          </a:prstGeom>
          <a:solidFill>
            <a:srgbClr val="1B9AAA"/>
          </a:solidFill>
          <a:ln/>
        </p:spPr>
      </p:sp>
      <p:sp>
        <p:nvSpPr>
          <p:cNvPr id="49" name="Text 46"/>
          <p:cNvSpPr/>
          <p:nvPr/>
        </p:nvSpPr>
        <p:spPr>
          <a:xfrm>
            <a:off x="502920" y="3995928"/>
            <a:ext cx="63596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 (logic design)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958584" y="3995928"/>
            <a:ext cx="4745736" cy="384048"/>
          </a:xfrm>
          <a:prstGeom prst="roundRect">
            <a:avLst>
              <a:gd name="adj" fmla="val 14286"/>
            </a:avLst>
          </a:prstGeom>
          <a:solidFill>
            <a:srgbClr val="F4A259"/>
          </a:solidFill>
          <a:ln/>
        </p:spPr>
      </p:sp>
      <p:sp>
        <p:nvSpPr>
          <p:cNvPr id="51" name="Text 48"/>
          <p:cNvSpPr/>
          <p:nvPr/>
        </p:nvSpPr>
        <p:spPr>
          <a:xfrm>
            <a:off x="6958584" y="3995928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 (physical)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548640" y="502920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hand-off between them is the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gate-level netlist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synthesis.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verified before the next — a bug caught late costs far more to fix.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7680960" y="498348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5129784"/>
            <a:ext cx="310896" cy="310896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8229600" y="51023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course tools fit</a:t>
            </a:r>
            <a:endParaRPr lang="en-US" sz="1350" dirty="0"/>
          </a:p>
        </p:txBody>
      </p:sp>
      <p:sp>
        <p:nvSpPr>
          <p:cNvPr id="56" name="Text 52"/>
          <p:cNvSpPr/>
          <p:nvPr/>
        </p:nvSpPr>
        <p:spPr>
          <a:xfrm>
            <a:off x="8229600" y="5458968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synthesis;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timing; 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NGSpice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simulation;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layout/DRC;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GTKWave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waveforms.</a:t>
            </a:r>
            <a:endParaRPr lang="en-US" sz="1250" dirty="0"/>
          </a:p>
        </p:txBody>
      </p:sp>
      <p:sp>
        <p:nvSpPr>
          <p:cNvPr id="57" name="Text 5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DESIGN FLOW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Design Flow (Logic)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front-end turns an idea into a verified, technology-mapped gate-level netlist. It is all about defining and proving correct behaviour — no physical geometry yet.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EAF4F7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2221992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210312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931920" y="2103120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function, interfaces and PPA targets in a spec / micro-architecture.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779776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EAF4F7"/>
          </a:solidFill>
          <a:ln/>
        </p:spPr>
      </p:sp>
      <p:sp>
        <p:nvSpPr>
          <p:cNvPr id="13" name="Shape 10"/>
          <p:cNvSpPr/>
          <p:nvPr/>
        </p:nvSpPr>
        <p:spPr>
          <a:xfrm>
            <a:off x="713232" y="2898648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34440" y="2779776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design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931920" y="2779776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into blocks (datapath, control, memory); define the high-level plan.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456432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EAF4F7"/>
          </a:solidFill>
          <a:ln/>
        </p:spPr>
      </p:sp>
      <p:sp>
        <p:nvSpPr>
          <p:cNvPr id="18" name="Shape 15"/>
          <p:cNvSpPr/>
          <p:nvPr/>
        </p:nvSpPr>
        <p:spPr>
          <a:xfrm>
            <a:off x="713232" y="3575304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34440" y="345643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coding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931920" y="3456432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behaviour in Verilog/VHDL at the register-transfer level.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413308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EAF4F7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4251960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34440" y="413308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verification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3931920" y="4133088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against a testbench; check coverage. (GTKWave views waveforms.)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4809744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EAF4F7"/>
          </a:solidFill>
          <a:ln/>
        </p:spPr>
      </p:sp>
      <p:sp>
        <p:nvSpPr>
          <p:cNvPr id="28" name="Shape 25"/>
          <p:cNvSpPr/>
          <p:nvPr/>
        </p:nvSpPr>
        <p:spPr>
          <a:xfrm>
            <a:off x="713232" y="4928616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9" name="Text 26"/>
          <p:cNvSpPr/>
          <p:nvPr/>
        </p:nvSpPr>
        <p:spPr>
          <a:xfrm>
            <a:off x="713232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234440" y="4809744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synthesis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3931920" y="4809744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RTL to a gate-level netlist in a target cell library. (Yosys.)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48640" y="548640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EAF4F7"/>
          </a:solidFill>
          <a:ln/>
        </p:spPr>
      </p:sp>
      <p:sp>
        <p:nvSpPr>
          <p:cNvPr id="33" name="Shape 30"/>
          <p:cNvSpPr/>
          <p:nvPr/>
        </p:nvSpPr>
        <p:spPr>
          <a:xfrm>
            <a:off x="713232" y="5605272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34" name="Text 31"/>
          <p:cNvSpPr/>
          <p:nvPr/>
        </p:nvSpPr>
        <p:spPr>
          <a:xfrm>
            <a:off x="713232" y="5605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234440" y="548640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DFT &amp; formal checks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3931920" y="5486400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scan/test logic; run equivalence checking and early timing.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the front-end → a verified gate-level netlist, handed to the back-end.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DESIGN FLOW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 Design Flow (Physical)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back-end turns the netlist into manufacturable geometry (GDSII). It is all about placing cells, wiring them, and proving the layout meets timing and fabrication rules.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DF1E3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2221992"/>
            <a:ext cx="365760" cy="365760"/>
          </a:xfrm>
          <a:prstGeom prst="ellipse">
            <a:avLst/>
          </a:prstGeom>
          <a:solidFill>
            <a:srgbClr val="C77514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210312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Floorplanning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931920" y="2103120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die size, block locations, power grid and I/O placement.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779776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DF1E3"/>
          </a:solidFill>
          <a:ln/>
        </p:spPr>
      </p:sp>
      <p:sp>
        <p:nvSpPr>
          <p:cNvPr id="13" name="Shape 10"/>
          <p:cNvSpPr/>
          <p:nvPr/>
        </p:nvSpPr>
        <p:spPr>
          <a:xfrm>
            <a:off x="713232" y="2898648"/>
            <a:ext cx="365760" cy="365760"/>
          </a:xfrm>
          <a:prstGeom prst="ellipse">
            <a:avLst/>
          </a:prstGeom>
          <a:solidFill>
            <a:srgbClr val="C77514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34440" y="2779776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931920" y="2779776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every standard cell on the floorplan, minimising wire length.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456432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DF1E3"/>
          </a:solidFill>
          <a:ln/>
        </p:spPr>
      </p:sp>
      <p:sp>
        <p:nvSpPr>
          <p:cNvPr id="18" name="Shape 15"/>
          <p:cNvSpPr/>
          <p:nvPr/>
        </p:nvSpPr>
        <p:spPr>
          <a:xfrm>
            <a:off x="713232" y="3575304"/>
            <a:ext cx="365760" cy="365760"/>
          </a:xfrm>
          <a:prstGeom prst="ellipse">
            <a:avLst/>
          </a:prstGeom>
          <a:solidFill>
            <a:srgbClr val="C77514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34440" y="345643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Clock-tree synthesis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931920" y="3456432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balanced clock network so all flip-flops switch together.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413308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DF1E3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4251960"/>
            <a:ext cx="365760" cy="365760"/>
          </a:xfrm>
          <a:prstGeom prst="ellipse">
            <a:avLst/>
          </a:prstGeom>
          <a:solidFill>
            <a:srgbClr val="C77514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34440" y="413308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3931920" y="4133088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cells with metal layers, honouring spacing rules.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4809744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DF1E3"/>
          </a:solidFill>
          <a:ln/>
        </p:spPr>
      </p:sp>
      <p:sp>
        <p:nvSpPr>
          <p:cNvPr id="28" name="Shape 25"/>
          <p:cNvSpPr/>
          <p:nvPr/>
        </p:nvSpPr>
        <p:spPr>
          <a:xfrm>
            <a:off x="713232" y="4928616"/>
            <a:ext cx="365760" cy="365760"/>
          </a:xfrm>
          <a:prstGeom prst="ellipse">
            <a:avLst/>
          </a:prstGeom>
          <a:solidFill>
            <a:srgbClr val="C77514"/>
          </a:solidFill>
          <a:ln/>
        </p:spPr>
      </p:sp>
      <p:sp>
        <p:nvSpPr>
          <p:cNvPr id="29" name="Text 26"/>
          <p:cNvSpPr/>
          <p:nvPr/>
        </p:nvSpPr>
        <p:spPr>
          <a:xfrm>
            <a:off x="713232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234440" y="4809744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&amp; STA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3931920" y="4809744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real R/C parasitics; sign off timing on every path. (OpenSTA.)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48640" y="548640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DF1E3"/>
          </a:solidFill>
          <a:ln/>
        </p:spPr>
      </p:sp>
      <p:sp>
        <p:nvSpPr>
          <p:cNvPr id="33" name="Shape 30"/>
          <p:cNvSpPr/>
          <p:nvPr/>
        </p:nvSpPr>
        <p:spPr>
          <a:xfrm>
            <a:off x="713232" y="5605272"/>
            <a:ext cx="365760" cy="365760"/>
          </a:xfrm>
          <a:prstGeom prst="ellipse">
            <a:avLst/>
          </a:prstGeom>
          <a:solidFill>
            <a:srgbClr val="C77514"/>
          </a:solidFill>
          <a:ln/>
        </p:spPr>
      </p:sp>
      <p:sp>
        <p:nvSpPr>
          <p:cNvPr id="34" name="Text 31"/>
          <p:cNvSpPr/>
          <p:nvPr/>
        </p:nvSpPr>
        <p:spPr>
          <a:xfrm>
            <a:off x="713232" y="5605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234440" y="548640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verification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3931920" y="5486400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DRC and LVS; export GDSII for the foundry. (Magic.)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the back-end → GDSII layout, the file a foundry uses to make photomasks.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DESIGN FLOW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vs Back-End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halves are essential and tightly linked through the netlist hand-off. Knowing which concerns live where helps you debug and optimise effectively.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chip does (logic)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everything physically goes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inputs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Gate-level netlist +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activities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RTL, verification, synthesis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Floorplan, place, CTS, 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sim, equivalence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STA, DRC, LVS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Gate-level netlist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GDSII layout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Yosys, GTKWave, NGSpice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OpenSTA, Magic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63270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560527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hand-off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5961888"/>
            <a:ext cx="10287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ends the front-end by emitting a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gate-level netlist;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back-end consumes it. A timing problem found in back-end STA may send the design all the way back to RTL — which is why front-end quality matters so much.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ABSTRACTION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 of Abstraction &amp; the Y-Chart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85B8C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173736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/ Architecture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749040" y="1737360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CPU, memory, bus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5FA8C4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" y="2496312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Register-Transfer (RTL)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749040" y="2496312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+ logic in Verilog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255264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3F8DB0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9808" y="3255264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/ Gate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749040" y="3255264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NAND, flip-flops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014216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27628A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49808" y="4014216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/ Transistor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749040" y="4014216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NMOS &amp; PMOS, the inverter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773168"/>
            <a:ext cx="5852160" cy="676656"/>
          </a:xfrm>
          <a:prstGeom prst="roundRect">
            <a:avLst>
              <a:gd name="adj" fmla="val 8108"/>
            </a:avLst>
          </a:prstGeom>
          <a:solidFill>
            <a:srgbClr val="0E2A47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49808" y="4773168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/ Layout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749040" y="4773168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&amp; polygons → GDSII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583680" y="1828800"/>
            <a:ext cx="0" cy="3383280"/>
          </a:xfrm>
          <a:prstGeom prst="line">
            <a:avLst/>
          </a:prstGeom>
          <a:noFill/>
          <a:ln w="38100">
            <a:solidFill>
              <a:srgbClr val="F4A259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 rot="5400000">
            <a:off x="6400800" y="338328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</a:t>
            </a:r>
            <a:endParaRPr lang="en-US" sz="1000" dirty="0"/>
          </a:p>
        </p:txBody>
      </p:sp>
      <p:pic>
        <p:nvPicPr>
          <p:cNvPr id="23" name="Image 1" descr="images/y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4663440" cy="424281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1.1 · IMPLEMENTATION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Styles &amp; ASIC vs FPGA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logic can be realised in different ways, trading design effort, cost, performance and flexibility.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386584"/>
            <a:ext cx="420624" cy="42062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21671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Full-custom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25880" y="25328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transistor hand-drawn. Best PPA, slowest to design (e.g. CPU cores).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0574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73368" y="2386584"/>
            <a:ext cx="420624" cy="420624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3" name="Text 10"/>
          <p:cNvSpPr/>
          <p:nvPr/>
        </p:nvSpPr>
        <p:spPr>
          <a:xfrm>
            <a:off x="6949440" y="21671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Standard-cell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49440" y="25328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Pre-designed cell library auto placed &amp; routed. The mainstream ASIC flow.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2918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3621024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4"/>
          <p:cNvSpPr/>
          <p:nvPr/>
        </p:nvSpPr>
        <p:spPr>
          <a:xfrm>
            <a:off x="1325880" y="34015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array / SoG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25880" y="37673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Pre-fabricated transistors, customise only wiring. Faster turnaround.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72200" y="32918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73368" y="3621024"/>
            <a:ext cx="420624" cy="420624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21" name="Text 18"/>
          <p:cNvSpPr/>
          <p:nvPr/>
        </p:nvSpPr>
        <p:spPr>
          <a:xfrm>
            <a:off x="6949440" y="34015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49440" y="37673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Re-programmable logic — no fabrication. Best for prototyping (Module 4).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vs FPGA at a glance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83480"/>
          <a:ext cx="6400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 (high vol.)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Upfront/NRE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Time-to-market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Re-programmable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7315200" y="4617720"/>
            <a:ext cx="4297680" cy="1554480"/>
          </a:xfrm>
          <a:prstGeom prst="roundRect">
            <a:avLst>
              <a:gd name="adj" fmla="val 4118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4764024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863840" y="47365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of thumb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863840" y="5093208"/>
            <a:ext cx="35204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or low volume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units, tight power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8686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 Transistor Theory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the MOSFET — the switch behind every CMOS gate: how it works, how we model it, and how it has scaled for fifty years.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977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39410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of MOSFET operation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43068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formation, threshold, NMOS &amp; PMOS, on/off behaviour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476402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47274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MOSFET characteristics &amp; modeling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50932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I–V regions, the square-law model, capacitances, non-idealities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5550408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55138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trends &amp; technology advancements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5879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 &amp; Dennard scaling, nodes, FinFET and gate-all-around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2A · FUNDAMENTALS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Semiconductor &amp; MOS Basics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semiconductor — conductivity between metal and insulator.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Doping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impurities: </a:t>
            </a:r>
            <a:pPr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n-type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(extra electrons) or </a:t>
            </a:r>
            <a:pPr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p-type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(extra holes).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pn-junction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basic building block; a MOSFET uses doped source/drain regions in a body.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= Metal–Oxide–Semiconductor: a gate over a thin oxide controls a channel.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5669280" cy="2103120"/>
          </a:xfrm>
          <a:prstGeom prst="roundRect">
            <a:avLst>
              <a:gd name="adj" fmla="val 304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89534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86791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voltage Vth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97280" y="4224528"/>
            <a:ext cx="48920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voltage at which a conducting channel just forms. 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NMOS: channel of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when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(positive).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PMOS: channel of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when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(negative).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|Vth| ≈ 0.3–0.7 V in modern processes.</a:t>
            </a:r>
            <a:endParaRPr lang="en-US" sz="1250" dirty="0"/>
          </a:p>
        </p:txBody>
      </p:sp>
      <p:pic>
        <p:nvPicPr>
          <p:cNvPr id="11" name="Image 2" descr="images/cmos_pro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303520" cy="24597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0" y="44348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CMOS process places NMOS in the p-substrate and PMOS in an n-well, side by side.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2A · FUNDAMENTALS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 Capacitor &amp; Channel Formation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current can flow, the gate must create a conducting channel. Watch what happens at the silicon surface as the gate voltage on an NMOS (p-substrate) rises.</a:t>
            </a:r>
            <a:endParaRPr lang="en-US" sz="1400" dirty="0"/>
          </a:p>
        </p:txBody>
      </p:sp>
      <p:pic>
        <p:nvPicPr>
          <p:cNvPr id="7" name="Image 1" descr="images/mos_capac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7315200" cy="22585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4544568"/>
            <a:ext cx="310896" cy="310896"/>
          </a:xfrm>
          <a:prstGeom prst="ellipse">
            <a:avLst/>
          </a:prstGeom>
          <a:solidFill>
            <a:srgbClr val="C77514"/>
          </a:solidFill>
          <a:ln/>
        </p:spPr>
      </p:sp>
      <p:sp>
        <p:nvSpPr>
          <p:cNvPr id="9" name="Text 5"/>
          <p:cNvSpPr/>
          <p:nvPr/>
        </p:nvSpPr>
        <p:spPr>
          <a:xfrm>
            <a:off x="1024128" y="450799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Accumulation: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0: majority holes pile up at the surface — no channel.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5001768"/>
            <a:ext cx="310896" cy="310896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11" name="Text 7"/>
          <p:cNvSpPr/>
          <p:nvPr/>
        </p:nvSpPr>
        <p:spPr>
          <a:xfrm>
            <a:off x="1024128" y="496519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Depletion: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&lt; V</a:t>
            </a:r>
            <a:pPr indent="0" marL="0"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V_th: holes are pushed away, leaving a depleted region.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5458968"/>
            <a:ext cx="310896" cy="31089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9"/>
          <p:cNvSpPr/>
          <p:nvPr/>
        </p:nvSpPr>
        <p:spPr>
          <a:xfrm>
            <a:off x="1024128" y="542239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Inversion: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V_th: electrons invert the surface → a conducting n-channel forms.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2011680"/>
            <a:ext cx="3383280" cy="2258568"/>
          </a:xfrm>
          <a:prstGeom prst="roundRect">
            <a:avLst>
              <a:gd name="adj" fmla="val 2834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5798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0" y="213055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voltage Vth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778240" y="2487168"/>
            <a:ext cx="2606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gate voltage at which inversion begins.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oxide thickness, doping, and the gate material.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|V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≈ 0.3–0.7 V.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2A · FUNDAMENTALS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NMOS Structure &amp; Operation</a:t>
            </a:r>
            <a:endParaRPr lang="en-US" sz="2700" dirty="0"/>
          </a:p>
        </p:txBody>
      </p:sp>
      <p:pic>
        <p:nvPicPr>
          <p:cNvPr id="6" name="Image 1" descr="images/nmos_cross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200"/>
            <a:ext cx="5577840" cy="34107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NMOS — a switch closed by a HIGH gate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155448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terminals: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Gate, Source, Drain, Body.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the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p-substrate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n+ source/drain.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electron channel forms →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a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0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weak 1 → used to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down.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3611880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5818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7307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is the NMOS on?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97280" y="4087368"/>
            <a:ext cx="46177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0.5 V.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=1.8 V,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 →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=1.8 V &gt; 0.5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=0.3 V,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 →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=0.3 V &lt; 0.5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As a pass device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=1.3 V,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=1.8 V →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=0.5 V =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barely on (weak 1).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2A · FUNDAMENTALS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PMOS Structure &amp; Operation</a:t>
            </a:r>
            <a:endParaRPr lang="en-US" sz="2700" dirty="0"/>
          </a:p>
        </p:txBody>
      </p:sp>
      <p:pic>
        <p:nvPicPr>
          <p:cNvPr id="6" name="Image 1" descr="images/pmos_cross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200"/>
            <a:ext cx="5577840" cy="34107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PMOS — a switch closed by a LOW gate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155448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inside an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n-well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p+ source/drain.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(negative) → hole channel →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a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1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weak 0 → used to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PMOS is the electrical complement of NMOS.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3611880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5818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7307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is the PMOS on?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97280" y="4087368"/>
            <a:ext cx="46177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−0.5 V, source tied to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1.8 V.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 V →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=0−1.8=−1.8 V &lt; −0.5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=1.8 V →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 V &gt; −0.5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LOW input turns the pull-up PMOS on — exactly what an inverter needs.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2B · CHARACTERISTICS &amp; MODELING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MOSFET I–V &amp; Operating Regions</a:t>
            </a:r>
            <a:endParaRPr lang="en-US" sz="2700" dirty="0"/>
          </a:p>
        </p:txBody>
      </p:sp>
      <p:pic>
        <p:nvPicPr>
          <p:cNvPr id="6" name="Image 1" descr="images/mosfet_i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94960" cy="35478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554480"/>
            <a:ext cx="5486400" cy="1078992"/>
          </a:xfrm>
          <a:prstGeom prst="roundRect">
            <a:avLst>
              <a:gd name="adj" fmla="val 593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94944" y="1901952"/>
            <a:ext cx="365760" cy="365760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9" name="Text 5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Cutoff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3749040" y="1664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V_GS &lt; V_th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188720" y="2057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I_D ≈ 0. Switch OFF.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743200"/>
            <a:ext cx="5486400" cy="1078992"/>
          </a:xfrm>
          <a:prstGeom prst="roundRect">
            <a:avLst>
              <a:gd name="adj" fmla="val 593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94944" y="3090672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4" name="Text 10"/>
          <p:cNvSpPr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Triode / Linear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49040" y="28529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V_DS &lt; V_GS − V_th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188720" y="32461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I_D = k[(V_GS−V_th)V_DS − V_DS²/2]. Resistor-like.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931920"/>
            <a:ext cx="5486400" cy="1078992"/>
          </a:xfrm>
          <a:prstGeom prst="roundRect">
            <a:avLst>
              <a:gd name="adj" fmla="val 593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4944" y="4279392"/>
            <a:ext cx="365760" cy="36576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9" name="Text 15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Saturation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3749040" y="40416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V_DS ≥ V_GS − V_th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88720" y="4434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I_D = ½k(V_GS−V_th)². ~Constant current.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309360" y="5212080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5358384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58000" y="53309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858000" y="5687568"/>
            <a:ext cx="4617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=0.4,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=1.2,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=0.3: overdrive=0.8;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(0.3)&lt;0.8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triode.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2B · CHARACTERISTICS &amp; MODELING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Square-Law (Shockley) Model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first-order MOSFET model gives one equation per region. It is the workhorse for hand analysis and for understanding behaviour.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7040880" cy="1143000"/>
          </a:xfrm>
          <a:prstGeom prst="roundRect">
            <a:avLst>
              <a:gd name="adj" fmla="val 56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011680"/>
            <a:ext cx="146304" cy="1143000"/>
          </a:xfrm>
          <a:prstGeom prst="roundRect">
            <a:avLst/>
          </a:prstGeom>
          <a:solidFill>
            <a:srgbClr val="5A6B7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10312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Cutoff</a:t>
            </a:r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(V_GS &lt; V_th)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24688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I_D = 0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8680" y="28163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is open — only tiny leakage flows.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273552"/>
            <a:ext cx="7040880" cy="1143000"/>
          </a:xfrm>
          <a:prstGeom prst="roundRect">
            <a:avLst>
              <a:gd name="adj" fmla="val 56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3273552"/>
            <a:ext cx="146304" cy="1143000"/>
          </a:xfrm>
          <a:prstGeom prst="roundRect">
            <a:avLst/>
          </a:prstGeom>
          <a:solidFill>
            <a:srgbClr val="1B9AA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36499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Triode / Linear</a:t>
            </a:r>
            <a:pPr indent="0" marL="0">
              <a:buNone/>
            </a:pPr>
            <a:r>
              <a:rPr lang="en-US" sz="1100" i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(V_DS &lt; V_GS − V_th)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68680" y="373075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I_D = k·[(V_GS−V_th)·V_DS − V_DS²/2]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8680" y="4078224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acts like a voltage-controlled resistor.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535424"/>
            <a:ext cx="7040880" cy="1143000"/>
          </a:xfrm>
          <a:prstGeom prst="roundRect">
            <a:avLst>
              <a:gd name="adj" fmla="val 56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4535424"/>
            <a:ext cx="146304" cy="1143000"/>
          </a:xfrm>
          <a:prstGeom prst="roundRect">
            <a:avLst/>
          </a:prstGeom>
          <a:solidFill>
            <a:srgbClr val="C77514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4626864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Saturation</a:t>
            </a:r>
            <a:pPr indent="0" marL="0">
              <a:buNone/>
            </a:pPr>
            <a:r>
              <a:rPr lang="en-US" sz="1100" i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(V_DS ≥ V_GS − V_th)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68680" y="499262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I_D = ½·k·(V_GS−V_th)²·(1+λV_DS)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68680" y="5340096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pinches off; current ≈ constant (λ adds slope).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863840" y="2011680"/>
            <a:ext cx="3749040" cy="3822192"/>
          </a:xfrm>
          <a:prstGeom prst="roundRect">
            <a:avLst>
              <a:gd name="adj" fmla="val 2439"/>
            </a:avLst>
          </a:prstGeom>
          <a:solidFill>
            <a:srgbClr val="0E2A47"/>
          </a:solidFill>
          <a:ln/>
        </p:spPr>
      </p:sp>
      <p:sp>
        <p:nvSpPr>
          <p:cNvPr id="23" name="Text 20"/>
          <p:cNvSpPr/>
          <p:nvPr/>
        </p:nvSpPr>
        <p:spPr>
          <a:xfrm>
            <a:off x="8092440" y="21579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parameters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092440" y="2606040"/>
            <a:ext cx="3337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µ·C</a:t>
            </a:r>
            <a:pPr indent="0" marL="0">
              <a:spcAft>
                <a:spcPts val="800"/>
              </a:spcAft>
              <a:buNone/>
            </a:pPr>
            <a:r>
              <a:rPr lang="en-US" sz="1150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</a:t>
            </a:r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·(W/L)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transconductance parameter.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carrier mobility (electrons &gt; holes).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150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oxide capacitance / area.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W/L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transistor aspect ratio — the designer's main knob.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channel-length-modulation factor.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2B · CHARACTERISTICS &amp; MODELING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&amp; Transfer Characteristics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standard plots summarise a transistor's behaviour. Together they let you read off the operating region and the drive current at a glance.</a:t>
            </a:r>
            <a:endParaRPr lang="en-US" sz="1400" dirty="0"/>
          </a:p>
        </p:txBody>
      </p:sp>
      <p:pic>
        <p:nvPicPr>
          <p:cNvPr id="7" name="Image 1" descr="images/id_vds_fami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1680"/>
            <a:ext cx="5486400" cy="3602736"/>
          </a:xfrm>
          <a:prstGeom prst="rect">
            <a:avLst/>
          </a:prstGeom>
        </p:spPr>
      </p:pic>
      <p:pic>
        <p:nvPicPr>
          <p:cNvPr id="8" name="Image 2" descr="images/id_vgs_transf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11680"/>
            <a:ext cx="5486400" cy="34472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360" y="5669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–V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stepped V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shows triode→saturation.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6263640" y="5532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Transfer: </a:t>
            </a:r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–V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shows V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sub-threshold tail.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2B · CHARACTERISTICS &amp; MODELING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— Drain Current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three: k = 200 µA/V², Vth = 0.5 V. First find the region, then apply the right equation.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5798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30552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— saturation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97280" y="2487168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=1.5,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=2.0 V. Overdrive = 1.0 V;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1.0 → saturation.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½·k·(V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)² = ½·200µ·(1.0)²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µA.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2011680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EAF6E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15798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2130552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— triode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720840" y="2487168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=1.5,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=0.5 V. Overdrive = 1.0 V;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1.0 → triode.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k·[(V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²/2] = 200µ·[0.5−0.125]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µA.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06908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21538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187952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3 — cutoff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097280" y="4544568"/>
            <a:ext cx="46634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=0.3 V &lt;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(0.5). The device is off.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(only leakage).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172200" y="406908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4215384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20840" y="4187952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4 — sizing effect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720840" y="4544568"/>
            <a:ext cx="46634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W/L (so k → 400 µA/V²) in Example 1.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½·400µ·(1.0)²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µA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current scales with W/L.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2B · CHARACTERISTICS &amp; MODELING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MOSFET Capacitances &amp; Speed</a:t>
            </a:r>
            <a:endParaRPr lang="en-US" sz="2700" dirty="0"/>
          </a:p>
        </p:txBody>
      </p:sp>
      <p:pic>
        <p:nvPicPr>
          <p:cNvPr id="6" name="Image 1" descr="images/mosfet_ca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577840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54480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transistor is not just a switch — it has </a:t>
            </a:r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parasitic capacitances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must be charged and discharged.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caps: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between gate and the other terminals.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caps: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jsb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reverse-biased source/drain to body.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set how fast a gate can switch and how much </a:t>
            </a:r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power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burns.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4297680"/>
            <a:ext cx="5394960" cy="1554480"/>
          </a:xfrm>
          <a:prstGeom prst="roundRect">
            <a:avLst>
              <a:gd name="adj" fmla="val 4118"/>
            </a:avLst>
          </a:prstGeom>
          <a:solidFill>
            <a:srgbClr val="EAF6E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44398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4165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modeling capacitance matters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4773168"/>
            <a:ext cx="46177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≈ 0.69·R·C and dynamic power ∝ C·V²·f.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fF of gate and wire capacitance directly slows the circuit and raises its energy — so accurate C models drive timing and power sign-off.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2B · CHARACTERISTICS &amp; MODELING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Second-Order (Non-ideal) Effects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square-law model is a teaching tool. Real short-channel devices show extra effects you should recognise: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313432"/>
            <a:ext cx="402336" cy="40233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1298448" y="2148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Channel-length modulation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98448" y="24963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I_D rises slightly with V_DS in saturation (the λ term).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205740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73368" y="2313432"/>
            <a:ext cx="402336" cy="40233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3" name="Text 10"/>
          <p:cNvSpPr/>
          <p:nvPr/>
        </p:nvSpPr>
        <p:spPr>
          <a:xfrm>
            <a:off x="6922008" y="2148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effect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22008" y="24963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V_th increases when source-to-body voltage is non-zero.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3364992"/>
            <a:ext cx="402336" cy="402336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4"/>
          <p:cNvSpPr/>
          <p:nvPr/>
        </p:nvSpPr>
        <p:spPr>
          <a:xfrm>
            <a:off x="1298448" y="3200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 saturation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98448" y="354787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stop speeding up at high fields → current grows ~linearly, not squared.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72200" y="310896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73368" y="3364992"/>
            <a:ext cx="402336" cy="40233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1" name="Text 18"/>
          <p:cNvSpPr/>
          <p:nvPr/>
        </p:nvSpPr>
        <p:spPr>
          <a:xfrm>
            <a:off x="6922008" y="3200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Sub-threshold leakage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22008" y="354787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current flows even below V_th — a key source of static power.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16052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9808" y="4416552"/>
            <a:ext cx="402336" cy="40233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5" name="Text 22"/>
          <p:cNvSpPr/>
          <p:nvPr/>
        </p:nvSpPr>
        <p:spPr>
          <a:xfrm>
            <a:off x="1298448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Sub-threshold leakage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98448" y="45994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current flows even below Vth — a major source of static power in modern chips, and why leakage now matters as much as switching.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won't be asked to derive these in Module 1 — just to know they exist and why the ideal equations are approximations.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2B · CHARACTERISTICS &amp; MODELING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Transistor as a Switch (RC Model)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digital design we hide the I–V curves and treat each MOSFET as an </a:t>
            </a:r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switch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finite ON resistance.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NMOS: ON when gate = 1 (closes to GND).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PMOS: ON when gate = 0 (closes to V</a:t>
            </a:r>
            <a:pPr indent="0" marL="0">
              <a:spcAft>
                <a:spcPts val="800"/>
              </a:spcAft>
              <a:buNone/>
            </a:pPr>
            <a:r>
              <a:rPr lang="en-US" sz="13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device ≈ resistor R; the load it drives ≈ capacitor C → an </a:t>
            </a:r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switching model.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840480"/>
            <a:ext cx="5669280" cy="2011680"/>
          </a:xfrm>
          <a:prstGeom prst="roundRect">
            <a:avLst>
              <a:gd name="adj" fmla="val 3636"/>
            </a:avLst>
          </a:prstGeom>
          <a:solidFill>
            <a:srgbClr val="F4F8F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9502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↔ logic mapping</a:t>
            </a:r>
            <a:endParaRPr lang="en-US" sz="13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370832"/>
          <a:ext cx="5394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91640"/>
                <a:gridCol w="1691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(Low)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(High)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5440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opposite — the basis of complementary CMOS.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92240" y="1508760"/>
            <a:ext cx="5120640" cy="2011680"/>
          </a:xfrm>
          <a:prstGeom prst="roundRect">
            <a:avLst>
              <a:gd name="adj" fmla="val 3182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5506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162763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ON resistance &amp; delay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040880" y="1984248"/>
            <a:ext cx="434340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gate's ON resistance R≈8 kΩ drives C≈30 fF.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time constant τ = RC = 8k × 30f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 ns.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≈ 0.69·RC ≈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ps.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92240" y="3840480"/>
            <a:ext cx="5120640" cy="2011680"/>
          </a:xfrm>
          <a:prstGeom prst="roundRect">
            <a:avLst>
              <a:gd name="adj" fmla="val 3182"/>
            </a:avLst>
          </a:prstGeom>
          <a:solidFill>
            <a:srgbClr val="EAF6E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98678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40880" y="395935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model is powerful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7040880" y="4315968"/>
            <a:ext cx="434340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us reason about whole gates and paths with simple R and C values — no differential equations.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switches → resistances add; parallel switches → conductances add.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foundation for the delay maths in the performance topics.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2C · SCALING &amp; TECHNOLOGY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Moore's Law &amp; Dennard Scaling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Moore's Law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/ empirical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transistor count per chip doubles ~every 2 years.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shrinking feature sizes — it predicts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speed.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55448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Dennard Scaling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355080" y="210312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as dimensions shrink by 1/S, voltage scales too, so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density stays constant.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made each node both smaller </a:t>
            </a:r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at the same power.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947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94106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391363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distinction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097280" y="4270248"/>
            <a:ext cx="1028700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Moore's Law says we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more transistors on a chip; Dennard scaling explained why doing so used to come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free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power. Around 2005 Dennard scaling broke down — the start of the 'power wall'.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of the breakdown: clock frequencies stalled near a few GHz, and designers turned to multi-core and specialised accelerators instead of ever-faster single cores.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2C · SCALING &amp; TECHNOLOGY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Constant-Field Scaling Theory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ideal constant-field scaling, every dimension and the supply voltage shrink by the same factor S, keeping the internal electric field constant.</a:t>
            </a:r>
            <a:endParaRPr lang="en-US" sz="1400" dirty="0"/>
          </a:p>
        </p:txBody>
      </p:sp>
      <p:pic>
        <p:nvPicPr>
          <p:cNvPr id="7" name="Image 1" descr="images/scaling_conce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1680"/>
            <a:ext cx="6035040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4983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 device by factor 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8580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key quantities scale (factor S)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377440"/>
          <a:ext cx="47548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Length, width, oxide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voltage VDD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delay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 S (faster)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per 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 S²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density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constant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Transistors /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S²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858000" y="4663440"/>
            <a:ext cx="4754880" cy="1188720"/>
          </a:xfrm>
          <a:prstGeom prst="roundRect">
            <a:avLst>
              <a:gd name="adj" fmla="val 538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4809744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06640" y="478231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06640" y="513892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2: dimensions halve, density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delay halves, power/device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÷4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power density unchanged.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2C · SCALING &amp; TECHNOLOGY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Nodes &amp; Short-Channel Effects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'node' (once the gate length, now a marketing label) has shrunk from microns to a few nanometres. Shrinking brings new problems collectively called short-channel effects.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F4F8F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2219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1µm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587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21408" y="2532888"/>
            <a:ext cx="128016" cy="0"/>
          </a:xfrm>
          <a:prstGeom prst="line">
            <a:avLst/>
          </a:prstGeom>
          <a:noFill/>
          <a:ln w="25400">
            <a:solidFill>
              <a:srgbClr val="1B9AA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249424" y="214884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F4F8FB"/>
          </a:solidFill>
          <a:ln/>
        </p:spPr>
      </p:sp>
      <p:sp>
        <p:nvSpPr>
          <p:cNvPr id="12" name="Text 9"/>
          <p:cNvSpPr/>
          <p:nvPr/>
        </p:nvSpPr>
        <p:spPr>
          <a:xfrm>
            <a:off x="2249424" y="22219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350nm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249424" y="2587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730752" y="2532888"/>
            <a:ext cx="128016" cy="0"/>
          </a:xfrm>
          <a:prstGeom prst="line">
            <a:avLst/>
          </a:prstGeom>
          <a:noFill/>
          <a:ln w="25400">
            <a:solidFill>
              <a:srgbClr val="1B9AA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858768" y="214884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F4F8FB"/>
          </a:solidFill>
          <a:ln/>
        </p:spPr>
      </p:sp>
      <p:sp>
        <p:nvSpPr>
          <p:cNvPr id="16" name="Text 13"/>
          <p:cNvSpPr/>
          <p:nvPr/>
        </p:nvSpPr>
        <p:spPr>
          <a:xfrm>
            <a:off x="3858768" y="22219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130nm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858768" y="2587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340096" y="2532888"/>
            <a:ext cx="128016" cy="0"/>
          </a:xfrm>
          <a:prstGeom prst="line">
            <a:avLst/>
          </a:prstGeom>
          <a:noFill/>
          <a:ln w="25400">
            <a:solidFill>
              <a:srgbClr val="1B9AA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468112" y="214884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F4F8FB"/>
          </a:solidFill>
          <a:ln/>
        </p:spPr>
      </p:sp>
      <p:sp>
        <p:nvSpPr>
          <p:cNvPr id="20" name="Text 17"/>
          <p:cNvSpPr/>
          <p:nvPr/>
        </p:nvSpPr>
        <p:spPr>
          <a:xfrm>
            <a:off x="5468112" y="22219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45nm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468112" y="2587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949440" y="2532888"/>
            <a:ext cx="128016" cy="0"/>
          </a:xfrm>
          <a:prstGeom prst="line">
            <a:avLst/>
          </a:prstGeom>
          <a:noFill/>
          <a:ln w="25400">
            <a:solidFill>
              <a:srgbClr val="1B9AAA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077456" y="214884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F4F8FB"/>
          </a:solidFill>
          <a:ln/>
        </p:spPr>
      </p:sp>
      <p:sp>
        <p:nvSpPr>
          <p:cNvPr id="24" name="Text 21"/>
          <p:cNvSpPr/>
          <p:nvPr/>
        </p:nvSpPr>
        <p:spPr>
          <a:xfrm>
            <a:off x="7077456" y="22219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14nm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077456" y="2587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558784" y="2532888"/>
            <a:ext cx="128016" cy="0"/>
          </a:xfrm>
          <a:prstGeom prst="line">
            <a:avLst/>
          </a:prstGeom>
          <a:noFill/>
          <a:ln w="25400">
            <a:solidFill>
              <a:srgbClr val="1B9AA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686800" y="214884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F4F8FB"/>
          </a:solidFill>
          <a:ln/>
        </p:spPr>
      </p:sp>
      <p:sp>
        <p:nvSpPr>
          <p:cNvPr id="28" name="Text 25"/>
          <p:cNvSpPr/>
          <p:nvPr/>
        </p:nvSpPr>
        <p:spPr>
          <a:xfrm>
            <a:off x="8686800" y="22219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5nm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686800" y="2587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0168128" y="2532888"/>
            <a:ext cx="128016" cy="0"/>
          </a:xfrm>
          <a:prstGeom prst="line">
            <a:avLst/>
          </a:prstGeom>
          <a:noFill/>
          <a:ln w="25400">
            <a:solidFill>
              <a:srgbClr val="1B9AAA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0296144" y="214884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0E2A47"/>
          </a:solidFill>
          <a:ln/>
        </p:spPr>
      </p:sp>
      <p:sp>
        <p:nvSpPr>
          <p:cNvPr id="32" name="Text 29"/>
          <p:cNvSpPr/>
          <p:nvPr/>
        </p:nvSpPr>
        <p:spPr>
          <a:xfrm>
            <a:off x="10296144" y="22219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2nm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0296144" y="2587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~2025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Short-channel effects to know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48640" y="3639312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31520" y="3913632"/>
            <a:ext cx="384048" cy="38404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37" name="Text 34"/>
          <p:cNvSpPr/>
          <p:nvPr/>
        </p:nvSpPr>
        <p:spPr>
          <a:xfrm>
            <a:off x="1261872" y="37307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 saturation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1261872" y="40965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grows ~linearly, not as the square, at high fields.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172200" y="3639312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355080" y="3913632"/>
            <a:ext cx="384048" cy="384048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41" name="Text 38"/>
          <p:cNvSpPr/>
          <p:nvPr/>
        </p:nvSpPr>
        <p:spPr>
          <a:xfrm>
            <a:off x="6885432" y="37307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DIBL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6885432" y="40965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voltage lowers the barrier → V_th drops with V_DS.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48640" y="4718304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31520" y="4992624"/>
            <a:ext cx="384048" cy="38404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45" name="Text 42"/>
          <p:cNvSpPr/>
          <p:nvPr/>
        </p:nvSpPr>
        <p:spPr>
          <a:xfrm>
            <a:off x="1261872" y="4809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Increased leakage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1261872" y="517550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oxides &amp; low V_th raise sub-threshold and gate-tunnelling current.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172200" y="4718304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355080" y="4992624"/>
            <a:ext cx="384048" cy="3840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49" name="Text 46"/>
          <p:cNvSpPr/>
          <p:nvPr/>
        </p:nvSpPr>
        <p:spPr>
          <a:xfrm>
            <a:off x="6885432" y="4809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V_th variation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6885432" y="517550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dopant fluctuation makes identical devices differ.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2C · SCALING &amp; TECHNOLOGY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Evolution: Planar → FinFET → GAA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scaling working once planar transistors leaked too much, the industry re-shaped the device so the gate controls the channel from more sides.</a:t>
            </a:r>
            <a:endParaRPr lang="en-US" sz="1400" dirty="0"/>
          </a:p>
        </p:txBody>
      </p:sp>
      <p:pic>
        <p:nvPicPr>
          <p:cNvPr id="7" name="Image 1" descr="images/device_evol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8229600" cy="2697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98280" y="2011680"/>
            <a:ext cx="2514600" cy="2697480"/>
          </a:xfrm>
          <a:prstGeom prst="roundRect">
            <a:avLst>
              <a:gd name="adj" fmla="val 3636"/>
            </a:avLst>
          </a:prstGeom>
          <a:solidFill>
            <a:srgbClr val="0E2A47"/>
          </a:solidFill>
          <a:ln/>
        </p:spPr>
      </p:sp>
      <p:sp>
        <p:nvSpPr>
          <p:cNvPr id="9" name="Text 5"/>
          <p:cNvSpPr/>
          <p:nvPr/>
        </p:nvSpPr>
        <p:spPr>
          <a:xfrm>
            <a:off x="928116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control →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9281160" y="25603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side.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FinFET: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sides (≈2011, 22nm).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 / nanosheet: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sides (≈2nm).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383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01091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material &amp; technique advances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97280" y="5367528"/>
            <a:ext cx="1028700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Strained silicon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(faster carriers),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high-k / metal gate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(less gate leakage), and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EUV lithography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(printing tiny features) all keep Moore's Law alive even as Dennard scaling has slowed.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91440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77724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20116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 Inverter Characteristics &amp; Logic Design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inverter is the 'hello world' of VLSI. Master its behaviour, robustness and sizing, and every other gate follows.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080" y="3822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1.2 · approx. 18 hours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24281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0704" y="42062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operation and the voltage transfer characteristic (VTC)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948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0704" y="455828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threshold and voltage gain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94690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0704" y="49103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Noise-margin analysis and power (dynamic, short-circuit, leakage)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29894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60704" y="526237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sizing: the β ratio and equal rise/fall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650992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60704" y="561441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large loads: buffer chains, FO4 and optimal stages</a:t>
            </a:r>
            <a:endParaRPr lang="en-US" sz="13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6003036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60704" y="59664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CMOS logic and NAND / NOR / AOI design</a:t>
            </a:r>
            <a:endParaRPr lang="en-US" sz="1350" dirty="0"/>
          </a:p>
        </p:txBody>
      </p:sp>
      <p:sp>
        <p:nvSpPr>
          <p:cNvPr id="21" name="Text 1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22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8686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 Inverter Characteristics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makes the inverter a good digital gate — its transfer curve, its robustness to noise, its power, and how we size it for speed.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977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39410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 &amp; voltage transfer characteristic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430682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VTC regions, switching threshold V_M and gain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476402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4727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margins &amp; power consumption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50932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NM_H / NM_L analysis; dynamic, short-circuit and leakage power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5550408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5513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&amp; optimization techniques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5879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ratio, equal rise/fall, buffer chains, FO4 and optimal stages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3A · OPERATION &amp; VTC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CMOS Inverter</a:t>
            </a:r>
            <a:endParaRPr lang="en-US" sz="2700" dirty="0"/>
          </a:p>
        </p:txBody>
      </p:sp>
      <p:pic>
        <p:nvPicPr>
          <p:cNvPr id="6" name="Image 1" descr="images/cmos_inver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4023360" cy="4169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0640" y="155448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PMOS (pull-up) + one NMOS (pull-down) </a:t>
            </a:r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input at their gates and the output at their drains, between V</a:t>
            </a:r>
            <a:pPr indent="0" marL="0">
              <a:buNone/>
            </a:pPr>
            <a:r>
              <a:rPr lang="en-US" sz="145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GND.</a:t>
            </a:r>
            <a:endParaRPr lang="en-US" sz="14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331720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46304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(Low)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(High)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(High)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(Low)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120640" y="3520440"/>
            <a:ext cx="6492240" cy="1051560"/>
          </a:xfrm>
          <a:prstGeom prst="roundRect">
            <a:avLst>
              <a:gd name="adj" fmla="val 6087"/>
            </a:avLst>
          </a:prstGeom>
          <a:solidFill>
            <a:srgbClr val="EAF6E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3666744"/>
            <a:ext cx="310896" cy="310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69280" y="3639312"/>
            <a:ext cx="5760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it — Vin = 0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5669280" y="3995928"/>
            <a:ext cx="571500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PMOS gate sees 0 → ON; NMOS gate sees 0 → OFF. Output connects to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logic 1. Complement confirmed.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5120640" y="4709160"/>
            <a:ext cx="6492240" cy="1005840"/>
          </a:xfrm>
          <a:prstGeom prst="roundRect">
            <a:avLst>
              <a:gd name="adj" fmla="val 7273"/>
            </a:avLst>
          </a:prstGeom>
          <a:solidFill>
            <a:srgbClr val="F4F8FB"/>
          </a:solidFill>
          <a:ln/>
        </p:spPr>
      </p:sp>
      <p:sp>
        <p:nvSpPr>
          <p:cNvPr id="14" name="Text 8"/>
          <p:cNvSpPr/>
          <p:nvPr/>
        </p:nvSpPr>
        <p:spPr>
          <a:xfrm>
            <a:off x="5349240" y="480060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network conducts at a time, so there is no steady DC path from V</a:t>
            </a:r>
            <a:pPr indent="0" marL="0"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GND → near-zero static power. This is why CMOS won.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3A · OPERATION &amp; VTC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 Transfer Characteristic (VTC)</a:t>
            </a:r>
            <a:endParaRPr lang="en-US" sz="2700" dirty="0"/>
          </a:p>
        </p:txBody>
      </p:sp>
      <p:pic>
        <p:nvPicPr>
          <p:cNvPr id="6" name="Image 1" descr="images/vtc_reg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035040" cy="39136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15544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VTC plots 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passes through five regions (A–E).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NMOS off, output = 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C: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transistors saturated — the steep, high-gain transition.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E: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PMOS off, output = 0.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steeper transition (|gain| ≫ 1) = a more 'ideal' digital gate.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858000" y="4434840"/>
            <a:ext cx="4754880" cy="128016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458114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06640" y="455371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Switching threshold VM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406640" y="4910328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where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For a balanced inverter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PMOS wider raises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sizing NMOS wider lowers it.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3A · OPERATION &amp; VTC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Switching Threshold &amp; Voltage Gain</a:t>
            </a:r>
            <a:endParaRPr lang="en-US" sz="2700" dirty="0"/>
          </a:p>
        </p:txBody>
      </p:sp>
      <p:pic>
        <p:nvPicPr>
          <p:cNvPr id="6" name="Image 1" descr="images/vtc_siz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087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switching threshold 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input at which 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(both devices saturated).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set by the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strengths: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rises if the PMOS is made relatively stronger (wider).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gain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slope dV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near 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good inverter has |gain| ≫ 1.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gain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regenerates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logic levels back to full 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 — essential for cascading gates.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443484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8114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5537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centred VM is good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4910328"/>
            <a:ext cx="470916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 makes the high and low noise margins roughly equal → the most robust, balanced gate.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target the β ratio (Topic 3c) is chosen to hit.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3B · NOISE &amp; POWER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Margins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margins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much unwanted voltage a signal can absorb and still be read correctly.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</a:t>
            </a:r>
            <a:pPr indent="0" marL="0">
              <a:spcAft>
                <a:spcPts val="800"/>
              </a:spcAft>
              <a:buNone/>
            </a:pPr>
            <a:r>
              <a:rPr lang="en-US" sz="13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</a:t>
            </a:r>
            <a:pPr indent="0" marL="0">
              <a:spcAft>
                <a:spcPts val="800"/>
              </a:spcAft>
              <a:buNone/>
            </a:pPr>
            <a:r>
              <a:rPr lang="en-US" sz="13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V</a:t>
            </a:r>
            <a:pPr indent="0" marL="0">
              <a:spcAft>
                <a:spcPts val="800"/>
              </a:spcAft>
              <a:buNone/>
            </a:pPr>
            <a:r>
              <a:rPr lang="en-US" sz="13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(high-side margin)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</a:t>
            </a:r>
            <a:pPr indent="0" marL="0">
              <a:spcAft>
                <a:spcPts val="800"/>
              </a:spcAft>
              <a:buNone/>
            </a:pPr>
            <a:r>
              <a:rPr lang="en-US" sz="13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</a:t>
            </a:r>
            <a:pPr indent="0" marL="0">
              <a:spcAft>
                <a:spcPts val="800"/>
              </a:spcAft>
              <a:buNone/>
            </a:pPr>
            <a:r>
              <a:rPr lang="en-US" sz="13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V</a:t>
            </a:r>
            <a:pPr indent="0" marL="0">
              <a:spcAft>
                <a:spcPts val="800"/>
              </a:spcAft>
              <a:buNone/>
            </a:pPr>
            <a:r>
              <a:rPr lang="en-US" sz="13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(low-side margin)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spcAft>
                <a:spcPts val="800"/>
              </a:spcAft>
              <a:buNone/>
            </a:pPr>
            <a:r>
              <a:rPr lang="en-US" sz="13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</a:t>
            </a:r>
            <a:pPr indent="0" marL="0">
              <a:spcAft>
                <a:spcPts val="800"/>
              </a:spcAft>
              <a:buNone/>
            </a:pPr>
            <a:r>
              <a:rPr lang="en-US" sz="13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the VTC points where the slope = −1.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key voltages</a:t>
            </a:r>
            <a:endParaRPr lang="en-US" sz="13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high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low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input read as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input read as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0" y="1463040"/>
            <a:ext cx="5212080" cy="2286000"/>
          </a:xfrm>
          <a:prstGeom prst="roundRect">
            <a:avLst>
              <a:gd name="adj" fmla="val 28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60934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9440" y="158191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compute margins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949440" y="1938528"/>
            <a:ext cx="443484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=1.8,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=0.0,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=1.1,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=0.7 V.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1.8 − 1.1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V.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0.7 − 0.0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V.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Equal, healthy margins → robust, well-balanced gate.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400800" y="3886200"/>
            <a:ext cx="5212080" cy="1828800"/>
          </a:xfrm>
          <a:prstGeom prst="roundRect">
            <a:avLst>
              <a:gd name="adj" fmla="val 3500"/>
            </a:avLst>
          </a:prstGeom>
          <a:solidFill>
            <a:srgbClr val="EAF6E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032504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49440" y="400507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949440" y="4361688"/>
            <a:ext cx="44348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Crosstalk, supply droop and IR drop all inject noise.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NM → fewer functional failures, better yield.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shrink as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scales down — a real design challenge.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3B · NOISE &amp; POWER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Noise-Margin Analysis on the VTC</a:t>
            </a:r>
            <a:endParaRPr lang="en-US" sz="2700" dirty="0"/>
          </a:p>
        </p:txBody>
      </p:sp>
      <p:pic>
        <p:nvPicPr>
          <p:cNvPr id="6" name="Image 1" descr="images/noise_marg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200"/>
            <a:ext cx="5577840" cy="3767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0876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</a:t>
            </a:r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two points where the VTC slope = −1 (unity gain).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input is safely a 0; above 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safely a 1.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margins are the gaps to the output levels: NM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NM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steeper VTC pushes 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toward 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spcAft>
                <a:spcPts val="700"/>
              </a:spcAft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larger margins.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416052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0682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27939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(3.3 V logic)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4636008"/>
            <a:ext cx="461772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=3.3,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=0.1,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=2.0,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=1.1 V.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3.3−2.0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V;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1.1−0.1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V.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positive and sizeable → a robust gate.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3B · SWITCHING CHARACTERISTICS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Switching Delay of the Inverter</a:t>
            </a:r>
            <a:endParaRPr lang="en-US" sz="2700" dirty="0"/>
          </a:p>
        </p:txBody>
      </p:sp>
      <p:pic>
        <p:nvPicPr>
          <p:cNvPr id="6" name="Image 1" descr="images/prop_de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486400" cy="28163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0876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delay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input-50% to output-50%. Average of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pLH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Rise/fall times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10%–90% output transition.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model: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0.69·R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·C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 (wider transistors) or lower C (lighter load) → faster.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3657600"/>
            <a:ext cx="5486400" cy="2194560"/>
          </a:xfrm>
          <a:prstGeom prst="roundRect">
            <a:avLst>
              <a:gd name="adj" fmla="val 2917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80390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377647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inverter delay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4133088"/>
            <a:ext cx="470916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12 kΩ, C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25 fF.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= 12×10</a:t>
            </a:r>
            <a:pPr indent="0" marL="0">
              <a:lnSpc>
                <a:spcPct val="102000"/>
              </a:lnSpc>
              <a:buNone/>
            </a:pPr>
            <a:r>
              <a:rPr lang="en-US" sz="1250" baseline="3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25×10</a:t>
            </a:r>
            <a:pPr indent="0" marL="0">
              <a:lnSpc>
                <a:spcPct val="102000"/>
              </a:lnSpc>
              <a:buNone/>
            </a:pPr>
            <a:r>
              <a:rPr lang="en-US" sz="1250" baseline="3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3.0×10</a:t>
            </a:r>
            <a:pPr indent="0" marL="0">
              <a:lnSpc>
                <a:spcPct val="102000"/>
              </a:lnSpc>
              <a:buNone/>
            </a:pPr>
            <a:r>
              <a:rPr lang="en-US" sz="1250" baseline="3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0.69 × 3.0×10</a:t>
            </a:r>
            <a:pPr indent="0" marL="0">
              <a:lnSpc>
                <a:spcPct val="102000"/>
              </a:lnSpc>
              <a:buNone/>
            </a:pPr>
            <a:r>
              <a:rPr lang="en-US" sz="1250" baseline="3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ps.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the load → delay doubles (414 ps): delay is linear in C.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217920" y="4617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Fan-out, wire load and input slope all add to the effective C and slow the gate down.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3B · POWER CONSUMPTION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Dissipation in CMOS</a:t>
            </a:r>
            <a:endParaRPr lang="en-US" sz="2700" dirty="0"/>
          </a:p>
        </p:txBody>
      </p:sp>
      <p:pic>
        <p:nvPicPr>
          <p:cNvPr id="6" name="Image 1" descr="images/power_b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4846320" cy="2788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0876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(switching):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α·C·V</a:t>
            </a:r>
            <a:pPr indent="0" marL="0">
              <a:spcAft>
                <a:spcPts val="9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²·f. Charging/discharging load caps — usually dominant.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V</a:t>
            </a:r>
            <a:pPr indent="0" marL="0">
              <a:spcAft>
                <a:spcPts val="9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-to-GND current while both devices conduct during a transition.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(leakage):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sub-threshold + gate leakage; flows even when idle. Grows as devices shrink.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3977640"/>
            <a:ext cx="5943600" cy="1874520"/>
          </a:xfrm>
          <a:prstGeom prst="roundRect">
            <a:avLst>
              <a:gd name="adj" fmla="val 341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12394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09651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dynamic power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4453128"/>
            <a:ext cx="516636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5 pF total switching cap,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1.2 V, f = 1 GHz, activity α = 0.2.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 × 5×10</a:t>
            </a:r>
            <a:pPr indent="0" marL="0">
              <a:lnSpc>
                <a:spcPct val="102000"/>
              </a:lnSpc>
              <a:buNone/>
            </a:pPr>
            <a:r>
              <a:rPr lang="en-US" sz="1250" baseline="3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(1.2)² × 1×10</a:t>
            </a:r>
            <a:pPr indent="0" marL="0">
              <a:lnSpc>
                <a:spcPct val="102000"/>
              </a:lnSpc>
              <a:buNone/>
            </a:pPr>
            <a:r>
              <a:rPr lang="en-US" sz="1250" baseline="3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0.2 × 5×10</a:t>
            </a:r>
            <a:pPr indent="0" marL="0">
              <a:lnSpc>
                <a:spcPct val="102000"/>
              </a:lnSpc>
              <a:buNone/>
            </a:pPr>
            <a:r>
              <a:rPr lang="en-US" sz="1250" baseline="3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1.44 × 10</a:t>
            </a:r>
            <a:pPr indent="0" marL="0">
              <a:lnSpc>
                <a:spcPct val="102000"/>
              </a:lnSpc>
              <a:buNone/>
            </a:pPr>
            <a:r>
              <a:rPr lang="en-US" sz="1250" baseline="3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 mW.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cuts dynamic power ~4× — why voltage scaling is so valuable.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766560" y="46177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per switch = ½·C·VDD² — independent of frequency.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3B · POWER CONSUMPTION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Short-Circuit, Leakage &amp; Low-Power</a:t>
            </a:r>
            <a:endParaRPr lang="en-US" sz="2700" dirty="0"/>
          </a:p>
        </p:txBody>
      </p:sp>
      <p:pic>
        <p:nvPicPr>
          <p:cNvPr id="6" name="Image 1" descr="images/sc_cur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486400" cy="28163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power: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input transition there is a brief window where V</a:t>
            </a:r>
            <a:pPr indent="0" marL="0"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V</a:t>
            </a:r>
            <a:pPr indent="0" marL="0"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V</a:t>
            </a:r>
            <a:pPr indent="0" marL="0"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−|V</a:t>
            </a:r>
            <a:pPr indent="0" marL="0"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and </a:t>
            </a:r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 conduct — a current spike straight from V</a:t>
            </a:r>
            <a:pPr indent="0" marL="0"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GND.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small by </a:t>
            </a:r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input edges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(sharp transitions spend less time in the danger window).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(static) power: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sub-threshold + gate-oxide tunnelling; now a major fraction at advanced nodes.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76402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473659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Low-power design techniques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97280" y="5093208"/>
            <a:ext cx="102870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scaling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(biggest lever, V² term)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gating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(cut α)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gating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(cut leakage when idle) ·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cells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 where needed, low-leak elsewhere)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sizing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(less C).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3C · SIZING &amp; OPTIMIZATION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Inverter Sizing: the β Ratio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move ~2–3× faster than holes, so an equal-width PMOS is weaker than the NMOS. We size the PMOS wider to balance the inverter.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symmetric VTC (VM = VDD/2)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57860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so the pull-up and pull-down strengths match: </a:t>
            </a:r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/ Wn ≈ µn/µp ≈ 2–3.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the ratio (β = βn/βp)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416052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PMOS → higher V</a:t>
            </a:r>
            <a:pPr indent="0" marL="0">
              <a:spcAft>
                <a:spcPts val="5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stronger pull-up, faster rise; costs area &amp; input capacitance.</a:t>
            </a:r>
            <a:endParaRPr lang="en-US" sz="1200" dirty="0"/>
          </a:p>
        </p:txBody>
      </p:sp>
      <p:pic>
        <p:nvPicPr>
          <p:cNvPr id="13" name="Image 1" descr="images/vtc_siz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212080" cy="34747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1266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528523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097280" y="5641848"/>
            <a:ext cx="1028700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ratio of ~2 balances rise and fall and centres the VTC; using 1:1 saves area but skews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low and makes the rise slower than the fall.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3C · SIZING &amp; OPTIMIZATION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for Delay &amp; Equal Rise/Fall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≈ 0.69·R·C.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transistor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its R (faster) but raises the C it presents to the previous stage.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rise/fall: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Wp ≈ 2·Wn so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pLH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Up-sizing a gate only helps if it drives a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external load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for self-load it just moves the problem upstream.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size depends on the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 ÷ input cap) the gate must drive.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434840"/>
            <a:ext cx="5669280" cy="1417320"/>
          </a:xfrm>
          <a:prstGeom prst="roundRect">
            <a:avLst>
              <a:gd name="adj" fmla="val 4516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58114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455371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equal rise/fall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97280" y="4910328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NMOS R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=10 kΩ; PMOS of equal width R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=20 kΩ (holes slower).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the PMOS width → R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halves to 10 kΩ → rise and fall delays now match.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92240" y="1508760"/>
            <a:ext cx="5120640" cy="4343400"/>
          </a:xfrm>
          <a:prstGeom prst="roundRect">
            <a:avLst>
              <a:gd name="adj" fmla="val 2105"/>
            </a:avLst>
          </a:prstGeom>
          <a:solidFill>
            <a:srgbClr val="F4F8FB"/>
          </a:solidFill>
          <a:ln/>
        </p:spPr>
      </p:sp>
      <p:sp>
        <p:nvSpPr>
          <p:cNvPr id="12" name="Text 8"/>
          <p:cNvSpPr/>
          <p:nvPr/>
        </p:nvSpPr>
        <p:spPr>
          <a:xfrm>
            <a:off x="6720840" y="1664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of thumb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720840" y="2231136"/>
            <a:ext cx="292608" cy="29260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4" name="Text 10"/>
          <p:cNvSpPr/>
          <p:nvPr/>
        </p:nvSpPr>
        <p:spPr>
          <a:xfrm>
            <a:off x="7114032" y="215798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balanced VTC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114032" y="25054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Wp/Wn ≈ 2–3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720840" y="3099816"/>
            <a:ext cx="292608" cy="292608"/>
          </a:xfrm>
          <a:prstGeom prst="ellipse">
            <a:avLst/>
          </a:prstGeom>
          <a:solidFill>
            <a:srgbClr val="C77514"/>
          </a:solidFill>
          <a:ln/>
        </p:spPr>
      </p:sp>
      <p:sp>
        <p:nvSpPr>
          <p:cNvPr id="17" name="Text 13"/>
          <p:cNvSpPr/>
          <p:nvPr/>
        </p:nvSpPr>
        <p:spPr>
          <a:xfrm>
            <a:off x="7114032" y="302666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min area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114032" y="33741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Wp/Wn = 1 (skewed)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720840" y="3968496"/>
            <a:ext cx="292608" cy="29260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0" name="Text 16"/>
          <p:cNvSpPr/>
          <p:nvPr/>
        </p:nvSpPr>
        <p:spPr>
          <a:xfrm>
            <a:off x="7114032" y="389534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 big load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114032" y="42428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Up-size whole gate / add buffers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720840" y="4837176"/>
            <a:ext cx="292608" cy="292608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23" name="Text 19"/>
          <p:cNvSpPr/>
          <p:nvPr/>
        </p:nvSpPr>
        <p:spPr>
          <a:xfrm>
            <a:off x="7114032" y="476402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Speed-critical path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114032" y="51114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FO4-sized stages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3C · SIZING &amp; OPTIMIZATION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 Large Loads: Buffer Chains &amp; FO4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gate cannot quickly drive a big load (a long wire or many inputs). The fix is a chain of inverters that grows geometrically in size.</a:t>
            </a:r>
            <a:endParaRPr lang="en-US" sz="1400" dirty="0"/>
          </a:p>
        </p:txBody>
      </p:sp>
      <p:pic>
        <p:nvPicPr>
          <p:cNvPr id="7" name="Image 1" descr="images/inverter_ch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7315200" cy="27157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8006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Fan-out-of-4 (FO4):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about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one is close to the minimum-delay taper — a standard rule of thumb and a common delay unit.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229600" y="2011680"/>
            <a:ext cx="3383280" cy="2715768"/>
          </a:xfrm>
          <a:prstGeom prst="roundRect">
            <a:avLst>
              <a:gd name="adj" fmla="val 3367"/>
            </a:avLst>
          </a:prstGeom>
          <a:solidFill>
            <a:srgbClr val="0E2A47"/>
          </a:solidFill>
          <a:ln/>
        </p:spPr>
      </p:sp>
      <p:sp>
        <p:nvSpPr>
          <p:cNvPr id="10" name="Text 6"/>
          <p:cNvSpPr/>
          <p:nvPr/>
        </p:nvSpPr>
        <p:spPr>
          <a:xfrm>
            <a:off x="8458200" y="215798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taper?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458200" y="260604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gate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overload the source.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tiny stages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overhead.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geometric taper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effort evenly.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3C · SIZING &amp; OPTIMIZATION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Optimal Number of Stages</a:t>
            </a:r>
            <a:endParaRPr lang="en-US" sz="2700" dirty="0"/>
          </a:p>
        </p:txBody>
      </p:sp>
      <p:pic>
        <p:nvPicPr>
          <p:cNvPr id="6" name="Image 1" descr="images/delay_st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34472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087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fixed total job (path effort F), there is a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number of stages 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stages → each must do too much work (huge fan-out) → slow.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stages → the fixed per-stage overhead (parasitic delay) dominates → slow.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delay is near a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effort of ≈ 4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mathematical optimum is e ≈ 2.7, but ~4 is used in practice).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443484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8114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5537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4910328"/>
            <a:ext cx="470916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 load 64× the input cap (F = 64).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stage effort ≈ 4 → N = log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(64)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stages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1× → 4× → 16× (driving 64×).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8686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 Logic Design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four basic gates to any combinational function — built systematically from complementary MOS networks.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977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39410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logic gates: AND, OR, NAND, NOR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430682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Symbols, truth tables, CMOS realisation and universality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476402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4727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Combinational logic design in CMOS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50932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PUN/PDN method and a systematic design procedure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5550408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5513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complex logic functions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5879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 / OAI gates, factoring, and transmission-gate logic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4A · BASIC GATES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Logic Gates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digital function is built from a small set of gates. Here are the workhorses, their Boolean expressions and truth tables.</a:t>
            </a:r>
            <a:endParaRPr lang="en-US" sz="1400" dirty="0"/>
          </a:p>
        </p:txBody>
      </p:sp>
      <p:pic>
        <p:nvPicPr>
          <p:cNvPr id="7" name="Image 1" descr="images/gate_symb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11064240" cy="2816352"/>
          </a:xfrm>
          <a:prstGeom prst="rect">
            <a:avLst/>
          </a:prstGeom>
        </p:spPr>
      </p:pic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188720"/>
                <a:gridCol w="1188720"/>
                <a:gridCol w="128016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8595360" y="4937760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5084064"/>
            <a:ext cx="310896" cy="310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0" y="50566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CMOS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9144000" y="5413248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&amp; NOR are the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gates; AND/OR add an inverter.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4A · BASIC GATES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2-input NAND</a:t>
            </a:r>
            <a:endParaRPr lang="en-US" sz="2700" dirty="0"/>
          </a:p>
        </p:txBody>
      </p:sp>
      <p:pic>
        <p:nvPicPr>
          <p:cNvPr id="6" name="Image 1" descr="images/nand_g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417320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(A · B)′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48640" y="2011680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15568" y="197510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0 only when A AND B = 1.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(AND condition.)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2633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115568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PDN: two NMOS in SERIES to GND.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(series = AND.)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255264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15568" y="321868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(dual): two PMOS in PARALLEL to VDD.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(parallel.)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115568" y="384048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4 transistors. Verify all 4 rows.</a:t>
            </a:r>
            <a:endParaRPr lang="en-US" sz="13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2743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21" name="Shape 16"/>
          <p:cNvSpPr/>
          <p:nvPr/>
        </p:nvSpPr>
        <p:spPr>
          <a:xfrm>
            <a:off x="3566160" y="4572000"/>
            <a:ext cx="4297680" cy="1417320"/>
          </a:xfrm>
          <a:prstGeom prst="roundRect">
            <a:avLst>
              <a:gd name="adj" fmla="val 4516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471830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114800" y="469087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Generalise it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114800" y="5047488"/>
            <a:ext cx="352044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n-input NAND needs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 transistors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NMOS in series + n PMOS in parallel).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3-input NAND → 6 transistors.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4A · BASIC GATES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2-input NOR</a:t>
            </a:r>
            <a:endParaRPr lang="en-US" sz="2700" dirty="0"/>
          </a:p>
        </p:txBody>
      </p:sp>
      <p:pic>
        <p:nvPicPr>
          <p:cNvPr id="6" name="Image 1" descr="images/nor_g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417320"/>
            <a:ext cx="3657600" cy="3776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(A + B)′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48640" y="2011680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15568" y="197510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0 when A OR B = 1.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(OR condition.)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2633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115568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PDN: two NMOS in PARALLEL to GND.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(parallel = OR.)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255264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15568" y="321868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(dual): two PMOS in SERIES to VDD.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(series.)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115568" y="384048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4 transistors. Verify all 4 rows.</a:t>
            </a:r>
            <a:endParaRPr lang="en-US" sz="13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2743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21" name="Shape 16"/>
          <p:cNvSpPr/>
          <p:nvPr/>
        </p:nvSpPr>
        <p:spPr>
          <a:xfrm>
            <a:off x="3566160" y="4572000"/>
            <a:ext cx="4297680" cy="1417320"/>
          </a:xfrm>
          <a:prstGeom prst="roundRect">
            <a:avLst>
              <a:gd name="adj" fmla="val 4516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471830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114800" y="469087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NAND vs NOR pattern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114800" y="5047488"/>
            <a:ext cx="352044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→ NMOS series, PMOS parallel.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 → NMOS parallel, PMOS series.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NAND is preferred (PMOS in series is slow).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4A · BASIC GATES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AND and OR in CMOS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CMOS gates are naturally inverting (the output network always inverts). A plain AND or OR therefore needs an extra inverter on the output of a NAND or NOR.</a:t>
            </a:r>
            <a:endParaRPr lang="en-US" sz="1400" dirty="0"/>
          </a:p>
        </p:txBody>
      </p:sp>
      <p:pic>
        <p:nvPicPr>
          <p:cNvPr id="7" name="Image 1" descr="images/and_or_constru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10607040" cy="297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= 4 (NAND) + 2 (INV) = 6 transistors; a NAND alone is only 4. This is why synthesis tools favour NAND/NOR/AOI over AND/OR.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4A · BASIC GATES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NAND &amp; NOR are Universal</a:t>
            </a:r>
            <a:endParaRPr lang="en-US" sz="2700" dirty="0"/>
          </a:p>
        </p:txBody>
      </p:sp>
      <p:pic>
        <p:nvPicPr>
          <p:cNvPr id="6" name="Image 1" descr="images/nand_univers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7315200" cy="17922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gate type from which ANY logic function can be built is called universal. Both NAND and NOR are universal — a powerful and practical fact.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39776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NAND with its inputs tied together.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NAND followed by NAND-as-inverter.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invert both inputs (NANDs) then NAND them (De Morgan).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138160" y="1920240"/>
            <a:ext cx="3474720" cy="3657600"/>
          </a:xfrm>
          <a:prstGeom prst="roundRect">
            <a:avLst>
              <a:gd name="adj" fmla="val 1842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06654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0" y="20391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686800" y="2395728"/>
            <a:ext cx="269748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chip can be built from one repeated cell — simpler libraries and fabrication.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Morgan's laws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 convert any AND/OR network into NAND-only or NOR-only form.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is usually preferred over NOR (faster pull-up).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4B · COMBINATIONAL DESIGN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CMOS: the Universal Recipe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static CMOS gate is built from two complementary networks between the output and the rails.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DCEEF4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084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Pull-Up Network (PUN)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PMOS only. Connects output to V</a:t>
            </a:r>
            <a:pPr indent="0" marL="0"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drives a logic 1. Conducts when the inputs are LOW.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4747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CE3C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3593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Pull-Down Network (PDN)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39776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NMOS only. Connects output to GND → drives a logic 0. Conducts when the inputs are HIGH.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4F8FB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0749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Duality: 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and PDN are duals — devices in series in one network are in parallel in the other.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1965960"/>
            <a:ext cx="5212080" cy="3886200"/>
          </a:xfrm>
          <a:prstGeom prst="roundRect">
            <a:avLst>
              <a:gd name="adj" fmla="val 2353"/>
            </a:avLst>
          </a:prstGeom>
          <a:solidFill>
            <a:srgbClr val="0E2A47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21214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4-step design recipe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675120" y="2651760"/>
            <a:ext cx="457200" cy="45720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315200" y="2606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output as Y = (expression)′.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675120" y="3456432"/>
            <a:ext cx="457200" cy="45720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15200" y="341071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PDN: AND → NMOS in series; OR → NMOS in parallel.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675120" y="4261104"/>
            <a:ext cx="457200" cy="45720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4" name="Text 21"/>
          <p:cNvSpPr/>
          <p:nvPr/>
        </p:nvSpPr>
        <p:spPr>
          <a:xfrm>
            <a:off x="667512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315200" y="4215384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PUN as the dual (swap series ↔ parallel) with PMOS.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675120" y="5065776"/>
            <a:ext cx="457200" cy="45720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7" name="Text 24"/>
          <p:cNvSpPr/>
          <p:nvPr/>
        </p:nvSpPr>
        <p:spPr>
          <a:xfrm>
            <a:off x="6675120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315200" y="5020056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transistors (2 per input) and verify the truth table.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4B · COMBINATIONAL DESIGN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a 2:1 Multiplexer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multiplexer selects one of two inputs. It is a classic small combinational block, and shows two valid CMOS styles.</a:t>
            </a:r>
            <a:endParaRPr lang="en-US" sz="1400" dirty="0"/>
          </a:p>
        </p:txBody>
      </p:sp>
      <p:pic>
        <p:nvPicPr>
          <p:cNvPr id="7" name="Image 1" descr="images/mux2_tg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486400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Function:  Y = S·A + S′·B</a:t>
            </a:r>
            <a:endParaRPr lang="en-US" sz="16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48640" y="36118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Static-CMOS style: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 Y′ = (S·A + S′·B)′ as one AOI-style gate, then invert.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Transmission-gate style: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TGs select A or B — only ~6 transistors (shown).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48640" y="512064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266944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523951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97280" y="5596128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combinational blocks (adders, comparators, decoders) are assembled from these gate-level pieces.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4B · COMBINATIONAL DESIGN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a Half Adder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 adder adds two bits and produces a sum and a carry. It shows how a small combinational block is assembled from basic gates.</a:t>
            </a:r>
            <a:endParaRPr lang="en-US" sz="1400" dirty="0"/>
          </a:p>
        </p:txBody>
      </p:sp>
      <p:pic>
        <p:nvPicPr>
          <p:cNvPr id="7" name="Image 1" descr="images/half_ad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486400" cy="28254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Logic:  Sum = A ⊕ B,  Carry = A·B</a:t>
            </a:r>
            <a:endParaRPr lang="en-US" sz="15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44805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28016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48640" y="406908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XOR (true when inputs differ).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AND (true only when both are 1).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48640" y="5074920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221224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519379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 realisation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97280" y="5550408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≈ 8–12 transistors; AND = NAND+INV. Or build the whole thing in transmission-gate logic for fewer devices.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4C · COMPLEX FUNCTIONS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Gates — AOI</a:t>
            </a:r>
            <a:endParaRPr lang="en-US" sz="2700" dirty="0"/>
          </a:p>
        </p:txBody>
      </p:sp>
      <p:pic>
        <p:nvPicPr>
          <p:cNvPr id="6" name="Image 1" descr="images/aoi_g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566160" cy="38221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(A·B + C)′   — AND-OR-Invert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548640" y="2011680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15568" y="197510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inversion: (A·B) + C.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(read the expression.)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2633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115568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PDN: (A series B) in PARALLEL with C.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(AND→series, OR→parallel.)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255264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15568" y="321868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dual: (A ∥ B) in SERIES with C.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(swap everything.)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115568" y="384048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NMOS + 3 PMOS = 6 transistors.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7315200" cy="1188720"/>
          </a:xfrm>
          <a:prstGeom prst="roundRect">
            <a:avLst>
              <a:gd name="adj" fmla="val 538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809744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4782312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complex gates are great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097280" y="5138928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AOI gate implements A·B+C′-style logic with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transistors and less delay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wiring separate AND + OR + INV gates (which would need ~14 transistors).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4C · COMPLEX FUNCTIONS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Gates — OAI</a:t>
            </a:r>
            <a:endParaRPr lang="en-US" sz="2700" dirty="0"/>
          </a:p>
        </p:txBody>
      </p:sp>
      <p:pic>
        <p:nvPicPr>
          <p:cNvPr id="6" name="Image 1" descr="images/oai_g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566160" cy="38221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((A + B)·C)′   — OR-AND-Invert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548640" y="2011680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15568" y="197510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inversion: (A+B)·C.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(read the expression.)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2633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115568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PDN: (A ∥ B) in SERIES with C.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(OR→parallel, AND→series.)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255264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15568" y="321868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dual: (A series B) in PARALLEL with C.</a:t>
            </a:r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(swap everything.)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115568" y="384048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NMOS + 3 PMOS = 6 transistors.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7315200" cy="1188720"/>
          </a:xfrm>
          <a:prstGeom prst="roundRect">
            <a:avLst>
              <a:gd name="adj" fmla="val 538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809744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4782312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AOI vs OAI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097280" y="5138928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OAI is the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AOI: start from the OR terms in the PDN. Choose whichever matches your Boolean expression with the fewest transistors.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4C · COMPLEX FUNCTIONS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Any Function to a CMOS Gate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inverting function can become one complex static gate. The trick is to factor the Boolean expression to minimise transistors.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03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5568" y="206654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the output in inverted form Y = (f)′.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24912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5568" y="268833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PDN map AND→series, OR→parallel of NMOS.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346704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346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15568" y="331012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PUN as the dual with PMOS.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968496"/>
            <a:ext cx="420624" cy="42062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968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15568" y="393192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f to share transistors and shrink the stack.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70916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855464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97280" y="482803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Factoring example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097280" y="5184648"/>
            <a:ext cx="470916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(A·B + A·C)′ has 6 literals.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Factor: A·B + A·C = A·(B + C) → Y = (A·(B+C))′ — now only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NMOS in the stack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in series with B∥C) instead of 4.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217920" y="210312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4F8FB"/>
          </a:solidFill>
          <a:ln/>
        </p:spPr>
      </p:sp>
      <p:sp>
        <p:nvSpPr>
          <p:cNvPr id="24" name="Text 20"/>
          <p:cNvSpPr/>
          <p:nvPr/>
        </p:nvSpPr>
        <p:spPr>
          <a:xfrm>
            <a:off x="644652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limits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446520" y="26974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stacks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slow — keep them to ≈ 4 transistors high (fan-in limit).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PMOS stacks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worst (slow holes) — prefer AOI over OAI when you can.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functions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split into several gates (multi-level logic) for speed.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always inverting; add an inverter for the true polarity if needed.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4C · COMPLEX FUNCTIONS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a Full Adder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adder adds three bits (A, B and a carry-in). It is the canonical example of multi-level logic — several gates composed to realise a richer function.</a:t>
            </a:r>
            <a:endParaRPr lang="en-US" sz="1400" dirty="0"/>
          </a:p>
        </p:txBody>
      </p:sp>
      <p:pic>
        <p:nvPicPr>
          <p:cNvPr id="7" name="Image 1" descr="images/full_ad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65960"/>
            <a:ext cx="5760720" cy="28072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Logic:  Sum = A ⊕ B ⊕ Cin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Cout = A·B + Cin·(A ⊕ B)</a:t>
            </a:r>
            <a:endParaRPr lang="en-US" sz="15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48463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1005840"/>
                <a:gridCol w="100584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48640" y="44348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XOR + 2 AND + 1 OR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two half adders + an OR).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48640" y="502920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75504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514807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097280" y="5504688"/>
            <a:ext cx="4526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n full adders gives an n-bit ripple-carry adder — the heart of every ALU.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4C · COMPLEX FUNCTIONS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Transmission-Gate &amp; Pass Logic</a:t>
            </a:r>
            <a:endParaRPr lang="en-US" sz="2700" dirty="0"/>
          </a:p>
        </p:txBody>
      </p:sp>
      <p:pic>
        <p:nvPicPr>
          <p:cNvPr id="6" name="Image 1" descr="images/tg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57200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5448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NMOS passes a strong 0 but weak 1; a single PMOS the opposite.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them in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(gated by C and C′) → a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gate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passes both 0 and 1 cleanly.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build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multiplexers, latches and XOR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pass-transistor logic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efficient, but needs care with signal levels and drive.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4206240"/>
            <a:ext cx="6035040" cy="1645920"/>
          </a:xfrm>
          <a:prstGeom prst="roundRect">
            <a:avLst>
              <a:gd name="adj" fmla="val 3889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5254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325112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a 2:1 multiplexer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4681728"/>
            <a:ext cx="5257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transmission gates select between inputs A and B using S and S′: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= A when S=1, B when S=0 — just 4 transistors plus an inverter for S′.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949440" y="4617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CMOS is the default; pass-transistor logic is a specialised tool.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91440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77724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20116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Transistor Schematic, Layout &amp; Wire Modelling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circuit into geometry that a foundry can actually manufacture.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080" y="3822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1.3 · approx. 12 hours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24281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0704" y="42062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Transistor-level schematic design &amp; Euler-path layout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948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0704" y="455828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vs layout, stick diagrams &amp; standard cells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94690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0704" y="49103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design rules, DRC &amp; LVS verification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29894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60704" y="526237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the inverter layout; metal layers &amp; routing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650992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60704" y="561441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Standard-cell strategy and full-custom layout</a:t>
            </a:r>
            <a:endParaRPr lang="en-US" sz="13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6003036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60704" y="59664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a dedicated topic on on-chip wire modeling</a:t>
            </a:r>
            <a:endParaRPr lang="en-US" sz="1350" dirty="0"/>
          </a:p>
        </p:txBody>
      </p:sp>
      <p:sp>
        <p:nvSpPr>
          <p:cNvPr id="21" name="Text 1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22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8686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Transistor-Level Schematics &amp; Layouts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transistor netlist to a manufacturable polygon layout — the physical-design half of the flow.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977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39410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Transistor-level design techniques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430682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schematics, shared diffusion and Euler-path ordering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476402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4727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Schematic design &amp; layout considerations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50932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vs layout, stick diagrams, cell layout &amp; standard cells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5550408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5513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rules, metal layers &amp; routing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58795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λ-rules, DRC/LVS, the metal stack, vias and interconnect routing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5A · DESIGN TECHNIQUES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Transistor-Level Schematic Design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layout, the circuit is captured as a transistor schematic (and an equivalent text netlist). It fixes exactly which transistors connect to which nets.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5577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transistor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drawn with its gate, source, drain (and body) and a W/L size.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(wires) join terminals; V</a:t>
            </a:r>
            <a:pPr indent="0" marL="0">
              <a:spcAft>
                <a:spcPts val="8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GND are the rails.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SPICE netlist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every device, e.g.  M1 Y A VDD VDD pmos W=2u L=0.1u.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NGSpice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function, delay and power before layout.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20116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0B1E33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netlist — inverter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29400" y="26060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CMOS inverter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 Y  A  VDD VDD  pmos  W=2u L=0.1u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 Y  A  GND GND  nmos  W=1u L=0.1u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 Y  GND  4f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80060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94690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491947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Schematic → layout → silicon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097280" y="5276088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schematic defines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&amp; sizes;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 then realises it as polygons. LVS later proves the two match before tape-out.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5A · DESIGN TECHNIQUES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Diffusion &amp; Euler Paths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transistor-level layout technique: order transistors so that adjacent ones share a source/drain diffusion. This shrinks area and capacitance.</a:t>
            </a:r>
            <a:endParaRPr lang="en-US" sz="1400" dirty="0"/>
          </a:p>
        </p:txBody>
      </p:sp>
      <p:pic>
        <p:nvPicPr>
          <p:cNvPr id="7" name="Image 1" descr="images/euler_diffu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498080" cy="2450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6177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Abutting diffusions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contact and a gap → smaller, faster cell.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path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gate network gives the transistor ordering that keeps the diffusion strip unbroken.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321040" y="2057400"/>
            <a:ext cx="3291840" cy="3749040"/>
          </a:xfrm>
          <a:prstGeom prst="roundRect">
            <a:avLst>
              <a:gd name="adj" fmla="val 1944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20370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69680" y="21762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869680" y="2532888"/>
            <a:ext cx="251460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transistors (as in a NAND PDN) naturally share their middle node.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ordering means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diffusion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row → minimum width.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Standard-cell libraries are hand-tuned this way for density.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5B · LAYOUT CONSIDERATIONS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Schematic vs Layout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4592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1B9AA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91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Schematic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connects to what (connectivity).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 as symbols, nets as lines.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logical &amp; electrical design.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simulation (NGSpice).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nothing about physical size or position.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64592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164592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4A259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1691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492240" y="26060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WHERE every shape sits on silicon.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polygons on stacked mask layers.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literally what gets fabricated.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obey design rules (checked by DRC).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real area, parasitics and yield.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5B · LAYOUT CONSIDERATIONS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 Fabrication Layers</a:t>
            </a:r>
            <a:endParaRPr lang="en-US" sz="2700" dirty="0"/>
          </a:p>
        </p:txBody>
      </p:sp>
      <p:pic>
        <p:nvPicPr>
          <p:cNvPr id="6" name="Image 1" descr="images/cmos_pro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486400" cy="2542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0" y="4526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built up by repeated deposit → pattern (mask) → etch steps.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1728216"/>
            <a:ext cx="310896" cy="31089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5"/>
          <p:cNvSpPr/>
          <p:nvPr/>
        </p:nvSpPr>
        <p:spPr>
          <a:xfrm>
            <a:off x="96012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n-well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108960" y="16642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the PMOS devices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295144"/>
            <a:ext cx="310896" cy="31089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2128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/ diffusion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108960" y="223113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 and p+ source/drain regions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862072"/>
            <a:ext cx="310896" cy="310896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" y="27797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Polysilicon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108960" y="27980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 gates + short wires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429000"/>
            <a:ext cx="310896" cy="310896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33467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Contacts / vias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108960" y="33649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connections between layers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3995928"/>
            <a:ext cx="310896" cy="310896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21" name="Text 17"/>
          <p:cNvSpPr/>
          <p:nvPr/>
        </p:nvSpPr>
        <p:spPr>
          <a:xfrm>
            <a:off x="960120" y="3913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 1…N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10896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wiring; many stacked layers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48640" y="461772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764024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473659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layer = one photomask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1097280" y="5093208"/>
            <a:ext cx="461772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process can use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40–60+ masks.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cost is a big part of the high ASIC NRE we saw in Section 1.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5B · LAYOUT CONSIDERATIONS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Stick Diagrams</a:t>
            </a:r>
            <a:endParaRPr lang="en-US" sz="2700" dirty="0"/>
          </a:p>
        </p:txBody>
      </p:sp>
      <p:pic>
        <p:nvPicPr>
          <p:cNvPr id="6" name="Image 1" descr="images/stick_lay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486400" cy="3191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5448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diagram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colour-coded cartoon of the layout — lines for wires, no exact dimensions.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by convention: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diffusion,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poly,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poly crosses diffusion, a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formed.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plan topology &amp; ordering </a:t>
            </a:r>
            <a:pPr indent="0" marL="0">
              <a:spcAft>
                <a:spcPts val="700"/>
              </a:spcAft>
              <a:buNone/>
            </a:pPr>
            <a:r>
              <a:rPr lang="en-US" sz="13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to full layout.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411480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26110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23367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inverter stick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4590288"/>
            <a:ext cx="46177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vertical poly line = the shared gate (input).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PMOS diffusion on top (in n-well, near V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NMOS below (near GND).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metal line joins the two drains = output. That's the whole inverter.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5B · LAYOUT CONSIDERATIONS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the Inverter Layout</a:t>
            </a:r>
            <a:endParaRPr lang="en-US" sz="2700" dirty="0"/>
          </a:p>
        </p:txBody>
      </p:sp>
      <p:pic>
        <p:nvPicPr>
          <p:cNvPr id="6" name="Image 1" descr="images/inverter_lay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212080" cy="38679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5448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PMOS on top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(p+ in the n-well, by 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NMOS below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(n+, by GND).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vertical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forms both gates = the input A.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Metal-1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V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GND rails and the shared output 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(black) tie diffusion and poly up to the metal.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transistors share the input gate and the output node — exactly the schematic.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466344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80974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78231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= the schematic, in geometry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5138928"/>
            <a:ext cx="480060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wire and device in the schematic maps to specific polygons on specific mask layers.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5B · LAYOUT CONSIDERATIONS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Standard-Cell Layout Strategy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hand-draw every gate, modern chips use a library of fixed-height standard cells that the tools place in rows — the basis of automated physical design.</a:t>
            </a:r>
            <a:endParaRPr lang="en-US" sz="1400" dirty="0"/>
          </a:p>
        </p:txBody>
      </p:sp>
      <p:pic>
        <p:nvPicPr>
          <p:cNvPr id="7" name="Image 1" descr="images/standard_cell_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315200" cy="31363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cell height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cells abut into rows that share V</a:t>
            </a:r>
            <a:pPr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/GND rails; width varies with complexity.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138160" y="205740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4F8FB"/>
          </a:solidFill>
          <a:ln/>
        </p:spPr>
      </p:sp>
      <p:sp>
        <p:nvSpPr>
          <p:cNvPr id="10" name="Text 6"/>
          <p:cNvSpPr/>
          <p:nvPr/>
        </p:nvSpPr>
        <p:spPr>
          <a:xfrm>
            <a:off x="836676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standard cells?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366760" y="2633472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Pre-characterised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timing &amp; power.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automatic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&amp; route.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across designs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 turnaround.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Full-custom is reserved for critical blocks.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5C · RULES, METAL &amp; ROUTING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Design Rules (λ-rules)</a:t>
            </a:r>
            <a:endParaRPr lang="en-US" sz="2700" dirty="0"/>
          </a:p>
        </p:txBody>
      </p:sp>
      <p:pic>
        <p:nvPicPr>
          <p:cNvPr id="6" name="Image 1" descr="images/design_ru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94960" cy="27706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5448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minimum widths and spacings the foundry guarantees it can build reliably.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in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(lambda)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scalable unit ≈ half the minimum feature size.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min metal width 3λ, min spacing 3λ, gate poly 2λ.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(Design-Rule Check) flags every violation before tape-out.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LVS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 checks Layout-vs-Schematic equivalence.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217920" y="4754880"/>
            <a:ext cx="5394960" cy="1097280"/>
          </a:xfrm>
          <a:prstGeom prst="roundRect">
            <a:avLst>
              <a:gd name="adj" fmla="val 5833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490118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66560" y="48737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λ scaling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66560" y="5230368"/>
            <a:ext cx="4617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λ = 0.1 µm, a 3λ wire is 0.3 µm wide. Move to a newer node (λ = 0.05 µm) and the </a:t>
            </a:r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drawing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2× automatically.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5C · RULES, METAL &amp; ROUTING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Verification: DRC &amp; LVS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layout can be sent to the foundry it must pass two automated checks that guarantee it is both manufacturable and correct.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05740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1031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DRC — Design Rule Check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97180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layout obeys every </a:t>
            </a:r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rule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 width, spacing, enclosure).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shapes can actually be </a:t>
            </a:r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acceptable yield.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</a:t>
            </a:r>
            <a:pPr indent="0" marL="0">
              <a:spcAft>
                <a:spcPts val="700"/>
              </a:spcAft>
              <a:buNone/>
            </a:pPr>
            <a:r>
              <a:rPr lang="en-US" sz="125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this be made?”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20574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05740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F4A259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1031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LVS — Layout vs Schematic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97180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 netlist from the layout and </a:t>
            </a:r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 the schematic.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geometry implements the </a:t>
            </a:r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circuit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devices and connections.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</a:t>
            </a:r>
            <a:pPr indent="0" marL="0">
              <a:spcAft>
                <a:spcPts val="700"/>
              </a:spcAft>
              <a:buNone/>
            </a:pPr>
            <a:r>
              <a:rPr lang="en-US" sz="1250" i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we draw the right circuit?”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440680"/>
            <a:ext cx="11064240" cy="411480"/>
          </a:xfrm>
          <a:prstGeom prst="roundRect">
            <a:avLst>
              <a:gd name="adj" fmla="val 15556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586984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97280" y="555955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097280" y="5916168"/>
            <a:ext cx="10287000" cy="-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course,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DRC (and extraction) on your layouts. Both checks must be clean before tape-out.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5C · RULES, METAL &amp; ROUTING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 Layers &amp; the Routing Stack</a:t>
            </a:r>
            <a:endParaRPr lang="en-US" sz="2700" dirty="0"/>
          </a:p>
        </p:txBody>
      </p:sp>
      <p:pic>
        <p:nvPicPr>
          <p:cNvPr id="6" name="Image 1" descr="images/metal_st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577840" cy="34655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544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runs on several stacked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layers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(M1, M2, … up to 10+), separated by insulator.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metals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(M1–M3) are thin and dense → local, short connections.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metals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thick and wide → low-resistance global routing, power grids and clocks.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Vias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vertical connections between adjacent metal layers.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4617720"/>
            <a:ext cx="5486400" cy="1234440"/>
          </a:xfrm>
          <a:prstGeom prst="roundRect">
            <a:avLst>
              <a:gd name="adj" fmla="val 518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76402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73659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 many layers?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5093208"/>
            <a:ext cx="47091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nets cannot share one plane. Many layers give the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capacity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connect everything without short circuits.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5C · RULES, METAL &amp; ROUTING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Interconnect Routing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the step that connects all the placed cells with wires on the metal stack, obeying the design rules and the available tracks.</a:t>
            </a:r>
            <a:endParaRPr lang="en-US" sz="1400" dirty="0"/>
          </a:p>
        </p:txBody>
      </p:sp>
      <p:pic>
        <p:nvPicPr>
          <p:cNvPr id="7" name="Image 1" descr="images/routing_cha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132320" cy="3474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5280" y="210312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directions: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 routes horizontally, the next vertically, to avoid clashes.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Vias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between layers where a wire must change direction.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legal wire positions; congestion happens when too many nets want the same region.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</a:t>
            </a:r>
            <a:pPr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connection, meet timing, minimise wire length &amp; vias.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8686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6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On-Chip Wire Modeling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are no longer free. At modern nodes the interconnect — not the transistor — often sets a chip's speed and power.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977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39410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on-chip interconnects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430682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 hierarchy and why interconnect now matters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476402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47274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parasitics &amp; their impact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50932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C and coupling — delay, crosstalk, IR drop, electromigration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5550408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55138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&amp; simulation of on-chip wires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58795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Lumped / π / distributed / Elmore models, repeaters and extraction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6A · INTERCONNECTS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On-Chip Interconnects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interconnect is simply the metal wire that carries a signal between gates. A modern chip holds kilometres of wiring across many metal tiers.</a:t>
            </a:r>
            <a:endParaRPr lang="en-US" sz="1400" dirty="0"/>
          </a:p>
        </p:txBody>
      </p:sp>
      <p:pic>
        <p:nvPicPr>
          <p:cNvPr id="7" name="Image 1" descr="images/wire_hierarc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315200" cy="33924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wires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short and thin;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wires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long and thick (lower resistance) for chip-wide signals, power and clocks.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138160" y="205740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0E2A47"/>
          </a:solidFill>
          <a:ln/>
        </p:spPr>
      </p:sp>
      <p:sp>
        <p:nvSpPr>
          <p:cNvPr id="10" name="Text 6"/>
          <p:cNvSpPr/>
          <p:nvPr/>
        </p:nvSpPr>
        <p:spPr>
          <a:xfrm>
            <a:off x="836676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interconnect problem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366760" y="26517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faster every node.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relatively slower (thinner → more R).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interconnect now </a:t>
            </a:r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delay, power and area on many paths.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6B · WIRE PARASITICS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On-Chip Wires Are Not Ideal</a:t>
            </a:r>
            <a:endParaRPr lang="en-US" sz="2700" dirty="0"/>
          </a:p>
        </p:txBody>
      </p:sp>
      <p:pic>
        <p:nvPicPr>
          <p:cNvPr id="6" name="Image 1" descr="images/wire_parasit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394960" cy="27706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5448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wire has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R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(grows with length, shrinks with width/thickness).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 C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 the substrate (C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to neighbours (coupling C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C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causes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crosstalk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switching neighbour disturbs a quiet wire.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advanced nodes wire delay can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delay.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309360" y="4709160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485546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0" y="482803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reality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858000" y="5184648"/>
            <a:ext cx="46177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 got faster every node, but wires got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relatively slower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 interconnect now dominates many timing paths.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6B · WIRE PARASITICS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Resistance &amp; Capacitance</a:t>
            </a:r>
            <a:endParaRPr lang="en-US" sz="2700" dirty="0"/>
          </a:p>
        </p:txBody>
      </p:sp>
      <p:pic>
        <p:nvPicPr>
          <p:cNvPr id="6" name="Image 1" descr="images/wire_cap_compon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577840" cy="2788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5448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ρ·L /(W·t) = R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·(L/W). Long, thin wires are resistive.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three parts: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 the plane below),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fringe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 fields) and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 side neighbours).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wires get closer,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C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— and it is data-dependent.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4251960"/>
            <a:ext cx="5486400" cy="1600200"/>
          </a:xfrm>
          <a:prstGeom prst="roundRect">
            <a:avLst>
              <a:gd name="adj" fmla="val 4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9826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37083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wire 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4727448"/>
            <a:ext cx="470916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0.1 Ω/□, length 200 µm, width 0.2 µm.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= L/W = 200/0.2 = 1000.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 × 1000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Ω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that single wire.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6B · WIRE PARASITICS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on Circuit Performance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parasitics degrade a design in four distinct ways. Physical design exists largely to keep these under control.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359152"/>
            <a:ext cx="566928" cy="566928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4871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3774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Propagation delay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22960" y="30358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of the wire adds to path delay; long wires can dominate timing.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210312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D726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28232" y="2359152"/>
            <a:ext cx="566928" cy="566928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4871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8040" y="23774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Crosstalk noise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446520" y="30358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C lets a switching aggressor inject noise onto a victim net.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393192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31596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206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drop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22960" y="48646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in the power grid lowers the local V_DD, slowing gates.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172200" y="393192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0E2A4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28232" y="4187952"/>
            <a:ext cx="566928" cy="566928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431596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78040" y="4206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Electromigration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6446520" y="48646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current density in thin wires moves metal atoms → long-term failure.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6C · MODELING &amp; SIMULATION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 Wire-Delay Models</a:t>
            </a:r>
            <a:endParaRPr lang="en-US" sz="2700" dirty="0"/>
          </a:p>
        </p:txBody>
      </p:sp>
      <p:pic>
        <p:nvPicPr>
          <p:cNvPr id="6" name="Image 1" descr="images/rc_w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486400" cy="2450592"/>
          </a:xfrm>
          <a:prstGeom prst="rect">
            <a:avLst/>
          </a:prstGeom>
        </p:spPr>
      </p:pic>
      <p:pic>
        <p:nvPicPr>
          <p:cNvPr id="7" name="Image 2" descr="images/elmore_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5303520" cy="2514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40690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Lumped RC: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whole wire as one R and one C. Simple, pessimistic.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RC: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ladder of small R–C segments. Delay ∝ length².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6400800" y="4160520"/>
            <a:ext cx="5303520" cy="1691640"/>
          </a:xfrm>
          <a:prstGeom prst="roundRect">
            <a:avLst>
              <a:gd name="adj" fmla="val 3784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306824"/>
            <a:ext cx="310896" cy="310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49440" y="427939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Elmore delay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949440" y="4636008"/>
            <a:ext cx="452628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as 2 segments: R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=R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 kΩ, C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=10 fF.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R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(R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)C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1k·20f + 2k·10f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long wires by inserting buffers to break length² growth.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6C · MODELING &amp; SIMULATION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Wire Model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wire is modelled trades accuracy for effort. Pick the simplest model that is accurate enough for the job.</a:t>
            </a:r>
            <a:endParaRPr lang="en-US" sz="1400" dirty="0"/>
          </a:p>
        </p:txBody>
      </p:sp>
      <p:pic>
        <p:nvPicPr>
          <p:cNvPr id="7" name="Image 1" descr="images/wire_mode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10607040" cy="2697480"/>
          </a:xfrm>
          <a:prstGeom prst="rect">
            <a:avLst/>
          </a:prstGeom>
        </p:spPr>
      </p:pic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  <a:gridCol w="3017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Lumped R,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hand estimates of short nets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Pessimistic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π-model (C/2·R·C/2)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One-segment sign-off of medium nets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/ Elmore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nets and RC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6C · MODELING &amp; SIMULATION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Repeaters: Taming Long-Wire Delay</a:t>
            </a:r>
            <a:endParaRPr lang="en-US" sz="2700" dirty="0"/>
          </a:p>
        </p:txBody>
      </p:sp>
      <p:pic>
        <p:nvPicPr>
          <p:cNvPr id="6" name="Image 1" descr="images/repeater_inser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669280" cy="2267712"/>
          </a:xfrm>
          <a:prstGeom prst="rect">
            <a:avLst/>
          </a:prstGeom>
        </p:spPr>
      </p:pic>
      <p:pic>
        <p:nvPicPr>
          <p:cNvPr id="7" name="Image 2" descr="images/wire_delay_leng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5120640" cy="32186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393192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unbuffered wire's delay grows as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(distributed RC).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it into k segments with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repeaters (buffers)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delay grow linearly with L.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548640" y="5440680"/>
            <a:ext cx="566928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586984"/>
            <a:ext cx="310896" cy="310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555955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097280" y="5916168"/>
            <a:ext cx="4892040" cy="-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an optimal repeater size and spacing that minimises total delay — a standard back-end optimisation.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6C · MODELING &amp; SIMULATION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Extracting &amp; Simulating Wires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sign-off, the real wires in a layout are turned into R and C values and simulated — this is how timing tools know the true delay.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618488" y="2404872"/>
            <a:ext cx="475488" cy="47548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1618488" y="2404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295351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28269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drawn polygons (Magic)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72968" y="2926080"/>
            <a:ext cx="182880" cy="0"/>
          </a:xfrm>
          <a:prstGeom prst="line">
            <a:avLst/>
          </a:prstGeom>
          <a:noFill/>
          <a:ln w="25400">
            <a:solidFill>
              <a:srgbClr val="0E2A4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64992" y="22402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2404872"/>
            <a:ext cx="475488" cy="475488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5" name="Text 12"/>
          <p:cNvSpPr/>
          <p:nvPr/>
        </p:nvSpPr>
        <p:spPr>
          <a:xfrm>
            <a:off x="4434840" y="2404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456432" y="295351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Parasitic extraction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56432" y="328269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 &amp; C of every wire from geometry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2926080"/>
            <a:ext cx="182880" cy="0"/>
          </a:xfrm>
          <a:prstGeom prst="line">
            <a:avLst/>
          </a:prstGeom>
          <a:noFill/>
          <a:ln w="25400">
            <a:solidFill>
              <a:srgbClr val="0E2A47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181344" y="22402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2A4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251192" y="2404872"/>
            <a:ext cx="475488" cy="47548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1" name="Text 18"/>
          <p:cNvSpPr/>
          <p:nvPr/>
        </p:nvSpPr>
        <p:spPr>
          <a:xfrm>
            <a:off x="7251192" y="2404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272784" y="295351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 netlist (SPEF)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72784" y="328269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annotated, back-annotated netlist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805672" y="2926080"/>
            <a:ext cx="182880" cy="0"/>
          </a:xfrm>
          <a:prstGeom prst="line">
            <a:avLst/>
          </a:prstGeom>
          <a:noFill/>
          <a:ln w="25400">
            <a:solidFill>
              <a:srgbClr val="0E2A47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997696" y="22402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A9D5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0067544" y="2404872"/>
            <a:ext cx="475488" cy="475488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27" name="Text 24"/>
          <p:cNvSpPr/>
          <p:nvPr/>
        </p:nvSpPr>
        <p:spPr>
          <a:xfrm>
            <a:off x="10067544" y="2404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089136" y="295351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/ STA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089136" y="328269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NGSpice or static timing uses the real R, C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11622024" y="2926080"/>
            <a:ext cx="182880" cy="0"/>
          </a:xfrm>
          <a:prstGeom prst="line">
            <a:avLst/>
          </a:prstGeom>
          <a:noFill/>
          <a:ln w="25400">
            <a:solidFill>
              <a:srgbClr val="0E2A47"/>
            </a:solidFill>
            <a:prstDash val="solid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548640" y="39776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layout geometry and the process data to compute resistance and capacitance for each net.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feeds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simulation (NGSpice)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static timing — closing the loop between layout and real-world performance.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521208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358384"/>
            <a:ext cx="310896" cy="3108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97280" y="533095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course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1097280" y="5687568"/>
            <a:ext cx="10287000" cy="73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parasitics from your layout;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NGSpice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simulates the netlist with those R and C values to confirm the delay you estimated by hand.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8686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7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Bonding, Packaging &amp; Assembly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die cannot be used on its own. Packaging protects it, connects it to the board, and removes its heat — the bridge from silicon to system.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977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39410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technologies &amp; assembly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430682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assembly flow and the main package families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476402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47274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Bonding diagram design &amp; considerations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509320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Wire-bond vs flip-chip, and mapping die pads to package pins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5550408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55138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trends &amp; challenges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587959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packaging, thermal, signal integrity, heterogeneous integration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7A · PACKAGING &amp; ASSEMBLY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Die to Package: the Assembly Flow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fabrication, the wafer is cut into dies and each good die is assembled into a package. Packaging gives the chip mechanical protection, electrical connections and a heat path.</a:t>
            </a:r>
            <a:endParaRPr lang="en-US" sz="1400" dirty="0"/>
          </a:p>
        </p:txBody>
      </p:sp>
      <p:pic>
        <p:nvPicPr>
          <p:cNvPr id="7" name="Image 1" descr="images/assembly_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11064240" cy="34381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must deliver four things: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protection, power &amp; signal connections, heat removal, and a footprint the board can use.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7A · PACKAGING &amp; ASSEMBLY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Assembly Process, Step by Step</a:t>
            </a:r>
            <a:endParaRPr lang="en-US" sz="2700" dirty="0"/>
          </a:p>
        </p:txBody>
      </p:sp>
      <p:pic>
        <p:nvPicPr>
          <p:cNvPr id="6" name="Image 1" descr="images/assembly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11247120" cy="3154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709160"/>
            <a:ext cx="5440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Wafer &amp; back-grind: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wafer is thinned from the back so the die is flatter and dissipates heat better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172200" y="4709160"/>
            <a:ext cx="5440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Dicing (sawing):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diamond saw (or laser) cuts the wafer into individual dies along the scribe lines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5276088"/>
            <a:ext cx="5440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Die attach: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good die is picked and glued onto the leadframe paddle (or substrate) with epoxy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172200" y="5276088"/>
            <a:ext cx="5440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Wire bonding: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gold/copper wires join the die's bond pads to the package leads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8640" y="5843016"/>
            <a:ext cx="5440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Encapsulation (mould):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assembly is sealed in epoxy mould compound (or a ceramic/metal lid) for protection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172200" y="5843016"/>
            <a:ext cx="5440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Mark, trim &amp; form: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laser-mark the part number, then trim the leadframe and bend the leads to shape; final test follows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7A · PACKAGING &amp; ASSEMBLY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Package</a:t>
            </a:r>
            <a:endParaRPr lang="en-US" sz="2700" dirty="0"/>
          </a:p>
        </p:txBody>
      </p:sp>
      <p:pic>
        <p:nvPicPr>
          <p:cNvPr id="6" name="Image 1" descr="images/package_cross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949440" cy="40416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8952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inside a packaged chip: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7589520" y="2093976"/>
            <a:ext cx="274320" cy="2743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5"/>
          <p:cNvSpPr/>
          <p:nvPr/>
        </p:nvSpPr>
        <p:spPr>
          <a:xfrm>
            <a:off x="7973568" y="202082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die:  </a:t>
            </a:r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chip itself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589520" y="2697480"/>
            <a:ext cx="274320" cy="274320"/>
          </a:xfrm>
          <a:prstGeom prst="ellipse">
            <a:avLst/>
          </a:prstGeom>
          <a:solidFill>
            <a:srgbClr val="C77514"/>
          </a:solidFill>
          <a:ln/>
        </p:spPr>
      </p:sp>
      <p:sp>
        <p:nvSpPr>
          <p:cNvPr id="11" name="Text 7"/>
          <p:cNvSpPr/>
          <p:nvPr/>
        </p:nvSpPr>
        <p:spPr>
          <a:xfrm>
            <a:off x="7973568" y="262432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Die-attach adhesive:  </a:t>
            </a:r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glues the die to the paddle, conducts heat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589520" y="3300984"/>
            <a:ext cx="274320" cy="274320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13" name="Text 9"/>
          <p:cNvSpPr/>
          <p:nvPr/>
        </p:nvSpPr>
        <p:spPr>
          <a:xfrm>
            <a:off x="7973568" y="322783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Leadframe / paddle:  </a:t>
            </a:r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frame that supports the die and forms the leads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589520" y="3904488"/>
            <a:ext cx="274320" cy="27432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5" name="Text 11"/>
          <p:cNvSpPr/>
          <p:nvPr/>
        </p:nvSpPr>
        <p:spPr>
          <a:xfrm>
            <a:off x="7973568" y="383133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wires:  </a:t>
            </a:r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signals from die pads to the leads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589520" y="4507992"/>
            <a:ext cx="274320" cy="2743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3"/>
          <p:cNvSpPr/>
          <p:nvPr/>
        </p:nvSpPr>
        <p:spPr>
          <a:xfrm>
            <a:off x="7973568" y="44348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 compound:  </a:t>
            </a:r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epoxy that seals and protects everything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589520" y="5111496"/>
            <a:ext cx="274320" cy="2743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9" name="Text 15"/>
          <p:cNvSpPr/>
          <p:nvPr/>
        </p:nvSpPr>
        <p:spPr>
          <a:xfrm>
            <a:off x="7973568" y="50383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balls:  </a:t>
            </a:r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external pins the board solders to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7A · PACKAGING &amp; ASSEMBLY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Wire Bond Is Made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bonding step (4 in the assembly flow) is itself a precise four-stage process. The most common method is thermosonic ball-stitch bonding, using heat, force and ultrasonic energy.</a:t>
            </a:r>
            <a:endParaRPr lang="en-US" sz="1400" dirty="0"/>
          </a:p>
        </p:txBody>
      </p:sp>
      <p:pic>
        <p:nvPicPr>
          <p:cNvPr id="7" name="Image 1" descr="images/wire_bond_pro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40"/>
            <a:ext cx="11247120" cy="29992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21208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Free-air ball: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electric spark (EFO) melts the wire tip into a tiny ball at the capillary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172200" y="521208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First (ball) bond: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is pressed onto the die pad — heat + force + ultrasound weld it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5596128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Loop: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capillary rises and moves to the lead, paying out a controlled arc of wire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172200" y="5596128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Second (stitch) bond:  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 is crushed onto the lead (wedge bond), then the wire is broken to finish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bonding (aluminium wire, no ball) is the other main method — slower, but used for power and aluminium pads.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7A · PACKAGING &amp; ASSEMBLY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Technologies (Families)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have evolved from a handful of through-hole pins to dense ball arrays and stacked multi-die modules, tracking the rising pin counts and integration of the chips inside.</a:t>
            </a:r>
            <a:endParaRPr lang="en-US" sz="1400" dirty="0"/>
          </a:p>
        </p:txBody>
      </p:sp>
      <p:pic>
        <p:nvPicPr>
          <p:cNvPr id="7" name="Image 1" descr="images/package_fami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11064240" cy="4325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7A · PACKAGING &amp; ASSEMBLY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Packages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families can be sorted along three independent axes — a useful way to read any package's datasheet.</a:t>
            </a:r>
            <a:endParaRPr lang="en-US" sz="1400" dirty="0"/>
          </a:p>
        </p:txBody>
      </p:sp>
      <p:pic>
        <p:nvPicPr>
          <p:cNvPr id="7" name="Image 1" descr="images/package_taxonom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040880" cy="38953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63840" y="1920240"/>
            <a:ext cx="3749040" cy="3886200"/>
          </a:xfrm>
          <a:prstGeom prst="roundRect">
            <a:avLst>
              <a:gd name="adj" fmla="val 2439"/>
            </a:avLst>
          </a:prstGeom>
          <a:solidFill>
            <a:srgbClr val="F4F8FB"/>
          </a:solidFill>
          <a:ln/>
        </p:spPr>
      </p:sp>
      <p:sp>
        <p:nvSpPr>
          <p:cNvPr id="9" name="Text 5"/>
          <p:cNvSpPr/>
          <p:nvPr/>
        </p:nvSpPr>
        <p:spPr>
          <a:xfrm>
            <a:off x="809244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92440" y="251460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through-hole pins go through the board; surface-mount sit on top (denser, dominant today).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location: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leads sit on the edges; area-array balls cover the underside (far more I/O).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is cheap and common; ceramic is hermetic for harsh/high-reliability use.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7A · PACKAGING &amp; ASSEMBLY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 of Packaging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is a hierarchy. The single-chip package (Level 1) is just one rung between the bare die and the finished product.</a:t>
            </a:r>
            <a:endParaRPr lang="en-US" sz="1400" dirty="0"/>
          </a:p>
        </p:txBody>
      </p:sp>
      <p:pic>
        <p:nvPicPr>
          <p:cNvPr id="7" name="Image 1" descr="images/packaging_leve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10881360" cy="31363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adds interconnect: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wires/bumps (L1), solder joints to the PCB (L2), and connectors/cables (L3) — every hop adds delay, loss and cost.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7A · PACKAGING &amp; ASSEMBLY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Through-Hole vs Surface-Mount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package attaches to the board is a basic technology split. Surface-mount has largely replaced through-hole because it is far denser and machine-assembled.</a:t>
            </a:r>
            <a:endParaRPr lang="en-US" sz="1400" dirty="0"/>
          </a:p>
        </p:txBody>
      </p:sp>
      <p:pic>
        <p:nvPicPr>
          <p:cNvPr id="7" name="Image 1" descr="images/mounting_typ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7315200" cy="23865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2440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4F8FB"/>
          </a:solidFill>
          <a:ln/>
        </p:spPr>
      </p:sp>
      <p:sp>
        <p:nvSpPr>
          <p:cNvPr id="9" name="Text 5"/>
          <p:cNvSpPr/>
          <p:nvPr/>
        </p:nvSpPr>
        <p:spPr>
          <a:xfrm>
            <a:off x="832104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SMT won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321040" y="274320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board can be populated.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drilled holes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smaller pads, finer pitch.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pick-and-place + reflow soldering.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Through-hole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where mechanical strength matters (connectors, power).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4709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Surface-mount enables the QFP, QFN and BGA families; through-hole is the DIP/PGA world.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7A · PACKAGING &amp; ASSEMBLY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Types at a Glance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 to the main package types, their typical pin counts and where each is used.</a:t>
            </a:r>
            <a:endParaRPr lang="en-US" sz="14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1645920"/>
                <a:gridCol w="1645920"/>
                <a:gridCol w="4023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Through-hole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legacy, prototyping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Surface-mount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jellybean 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Surface-mount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32–256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0.4–0.8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MCUs, ASICs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Surface-mount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0.4–0.65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compact, low-cost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Through-hole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100–1000+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CPUs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Surface-mount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100–2000+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0.4–1.0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pin count, SoCs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WLCSP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Surface-mount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0.35–0.5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mobile, chip-scale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count and pitch are indicative — exact ranges vary by vendor and generation.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11667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67842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565099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trend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97280" y="6007608"/>
            <a:ext cx="10287000" cy="-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move down, mounting goes surface-mount, pitch shrinks and pin count climbs — exactly the DIP → BGA/WLCSP progression seen in the family chart.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7A · PACKAGING &amp; ASSEMBLY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Wafer-Level &amp; Advanced Assembly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Traditionally a wafer is diced first, then each die is packaged. Wafer-level packaging (WLP) builds the package on the whole wafer before dicing — giving the smallest possible packages.</a:t>
            </a:r>
            <a:endParaRPr lang="en-US" sz="1400" dirty="0"/>
          </a:p>
        </p:txBody>
      </p:sp>
      <p:pic>
        <p:nvPicPr>
          <p:cNvPr id="7" name="Image 1" descr="images/wlp_typ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8412480" cy="27523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 (WLCSP):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is the size of the die; solder balls fit within the die footprint. Best for low pin counts and tiny mobile parts.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(FOWLP):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die is embedded in mould and a redistribution layer (RDL) spreads the I/O beyond the die, allowing more balls and finer integration.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9098280" y="214884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0E2A47"/>
          </a:solidFill>
          <a:ln/>
        </p:spPr>
      </p:sp>
      <p:sp>
        <p:nvSpPr>
          <p:cNvPr id="10" name="Text 6"/>
          <p:cNvSpPr/>
          <p:nvPr/>
        </p:nvSpPr>
        <p:spPr>
          <a:xfrm>
            <a:off x="928116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281160" y="2724912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and lowest profile.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→ better electrical performance.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2.5D/3D integration.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7B · BONDING DIAGRAM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Die: Wire-Bond vs Flip-Chip</a:t>
            </a:r>
            <a:endParaRPr lang="en-US" sz="2700" dirty="0"/>
          </a:p>
        </p:txBody>
      </p:sp>
      <p:pic>
        <p:nvPicPr>
          <p:cNvPr id="6" name="Image 1" descr="images/bond_typ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3611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212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bond: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face-up; thin gold/copper wires arc from pads to the substrate. Cheap, mature, but pads only on the die edge.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126480" y="5212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Flip-chip: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face-down on solder bumps in an area array. More I/O, shorter connections, better electrical &amp; thermal — used at high performance.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7B · BONDING DIAGRAM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Bonding Diagram &amp; Its Considerations</a:t>
            </a:r>
            <a:endParaRPr lang="en-US" sz="2700" dirty="0"/>
          </a:p>
        </p:txBody>
      </p:sp>
      <p:pic>
        <p:nvPicPr>
          <p:cNvPr id="6" name="Image 1" descr="images/bonding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17320"/>
            <a:ext cx="4937760" cy="44897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4630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bonding diagram maps every die pad to its package pin and shows each bond wire — the contract between the chip designer and the assembly house.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242316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placement: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pads around the die edge for short, even wires.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length &amp; angle: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bonds short and avoid crossing or shorting wires.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ground: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multiple bonds for V</a:t>
            </a:r>
            <a:pPr indent="0" marL="0">
              <a:spcAft>
                <a:spcPts val="700"/>
              </a:spcAft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/GND to lower inductance and IR drop.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integrity: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bond-wire inductance causes ground bounce — a real limit on fast I/O.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assignment: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package pinout to the board for clean routing.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7C · TRENDS &amp; CHALLENGES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Trends &amp; Challenges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single-die scaling slows, packaging has become a primary lever for performance — but it brings its own hard problems.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Trends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1401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integration: 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CPU, memory, analog &amp; chiplets in one package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8094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" y="29443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2.5D (interposers): 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 side-by-side on a silicon interposer with dense links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47872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2688" y="35112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stacking: 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dies vertically (e.g. HBM memory) with through-silicon vias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1480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32688" y="40782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System-in-Package (SiP): 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subsystem in one module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6309360" y="201168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0E2A47"/>
          </a:solidFill>
          <a:ln/>
        </p:spPr>
      </p:sp>
      <p:sp>
        <p:nvSpPr>
          <p:cNvPr id="17" name="Text 10"/>
          <p:cNvSpPr/>
          <p:nvPr/>
        </p:nvSpPr>
        <p:spPr>
          <a:xfrm>
            <a:off x="6537960" y="21579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6537960" y="2633472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heat from dense, stacked dies.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&amp; power integrity: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inductance, ground bounce, IR drop at high speed.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stress: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thermal-expansion mismatch and warpage.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&amp; test: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known-good-die testing before costly stacking.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packaging can rival the die in cost.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8686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PERFORMANCE &amp; TIMING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18745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Delay, Power &amp; Timing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can the chip run? The next four sections build from first principles of delay to full sequential timing.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88620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386791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4197096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delay, transition times and the RC / Elmore model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" y="448970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44714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delays &amp; logical effort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80160" y="48006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and sizing gates for speed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8368" y="5093208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50749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Critical-path optimization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80160" y="540410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shortening the longest combinational path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58368" y="5696712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5696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80160" y="567842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Sequential-circuit timing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280160" y="60076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Flip-flops, setup/hold and pipelining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· FOUNDATIONS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&amp; Transition Times</a:t>
            </a:r>
            <a:endParaRPr lang="en-US" sz="2700" dirty="0"/>
          </a:p>
        </p:txBody>
      </p:sp>
      <p:pic>
        <p:nvPicPr>
          <p:cNvPr id="6" name="Image 1" descr="images/prop_de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28163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544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pLH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high→low / low→high delay, measured at 50%.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½(t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pLH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gate's average delay.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Rise/fall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10%–90% transition; set by drive strength and load.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gate has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t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pLH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(size PMOS ~2× NMOS to match).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217920" y="4617720"/>
            <a:ext cx="5486400" cy="1234440"/>
          </a:xfrm>
          <a:prstGeom prst="roundRect">
            <a:avLst>
              <a:gd name="adj" fmla="val 518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476402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66560" y="473659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balancing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66560" y="5093208"/>
            <a:ext cx="47091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move ~2× faster than holes, so a same-size PMOS is ~2× weaker. Widening PMOS ~2× equalises rise and fall delays.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· FOUNDATIONS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RC Delay Model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each driver as resistance R, each node as capacitance C.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stage: t</a:t>
            </a:r>
            <a:pPr indent="0" marL="0">
              <a:spcAft>
                <a:spcPts val="800"/>
              </a:spcAft>
              <a:buNone/>
            </a:pPr>
            <a:r>
              <a:rPr lang="en-US" sz="13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0.69·R·C.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trees: use </a:t>
            </a:r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Elmore delay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node's delay = Σ (shared upstream R × downstream C).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resistances add; parallel branches share upstream R.</a:t>
            </a:r>
            <a:endParaRPr lang="en-US" sz="1350" dirty="0"/>
          </a:p>
        </p:txBody>
      </p:sp>
      <p:pic>
        <p:nvPicPr>
          <p:cNvPr id="7" name="Image 1" descr="images/elmore_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212080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749040"/>
            <a:ext cx="5669280" cy="2103120"/>
          </a:xfrm>
          <a:prstGeom prst="roundRect">
            <a:avLst>
              <a:gd name="adj" fmla="val 3043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89534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386791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two-stage path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4224528"/>
            <a:ext cx="48920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R=6 kΩ charges C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=15 fF (wire) then gate input C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=10 fF.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Lumped C = 25 fF → t</a:t>
            </a:r>
            <a:pPr indent="0" marL="0">
              <a:lnSpc>
                <a:spcPct val="102000"/>
              </a:lnSpc>
              <a:buNone/>
            </a:pPr>
            <a:r>
              <a:rPr lang="en-US" sz="12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0.69 × 6k × 25f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ps.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speed up: lower R (bigger driver) or split the wire with a buffer.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400800" y="4160520"/>
            <a:ext cx="5212080" cy="1691640"/>
          </a:xfrm>
          <a:prstGeom prst="roundRect">
            <a:avLst>
              <a:gd name="adj" fmla="val 3784"/>
            </a:avLst>
          </a:prstGeom>
          <a:solidFill>
            <a:srgbClr val="EAF6E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306824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0" y="427939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of thumb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949440" y="4636008"/>
            <a:ext cx="443484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scales with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more gates adds load C and slows the stage.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insertion trades a little extra delay per stage for a big win on long nets.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8686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8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Delays &amp; Logical Effort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powerful way to estimate gate delay by hand, size gates for speed, and balance speed against power.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977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39410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delay modeling &amp; estimation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430682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delay model d = g·h + p; effort, parasitic and electrical effort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476402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47274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logical effort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509320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effort g of gates, path effort and sizing for minimum delay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5550408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55138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Delay–power trade-off via P/N ratio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587959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β = W_p/W_n trades speed against area and power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8A · DELAY MODELING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Gate Delay: d = g·h + p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effort models a gate's delay as a straight line. Delay is split into a fixed part and a part that grows with the load the gate must drive.</a:t>
            </a:r>
            <a:endParaRPr lang="en-US" sz="1400" dirty="0"/>
          </a:p>
        </p:txBody>
      </p:sp>
      <p:pic>
        <p:nvPicPr>
          <p:cNvPr id="7" name="Image 1" descr="images/delay_mod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303520" cy="3383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182880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g·h + p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units of an inverter's basic delay τ).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— logical effort: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worse than an inverter the gate is at producing output current (gate-type property).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— electrical effort (fanout):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C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load ÷ the gate's own input cap.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parasitic delay: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intrinsic self-load delay, independent of fanout.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g·h is the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delay;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line's slope is g and its intercept is p.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5257800"/>
            <a:ext cx="5486400" cy="640080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0410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537667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delay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97280" y="5733288"/>
            <a:ext cx="4709160" cy="73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delay = d × τ, where τ (≈ a few ps) is the technology's basic inverter delay.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8A · DELAY ESTIMATION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Delay: Fanout &amp; Gate Type</a:t>
            </a:r>
            <a:endParaRPr lang="en-US" sz="2700" dirty="0"/>
          </a:p>
        </p:txBody>
      </p:sp>
      <p:pic>
        <p:nvPicPr>
          <p:cNvPr id="6" name="Image 1" descr="images/delay_vs_fan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303520" cy="34015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load (higher h)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delay, linearly.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with larger g or p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slower than an inverter at the same fanout.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beats NOR: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PMOS in the NOR make it weaker, so g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g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prefer NAND-based logic.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4251960"/>
            <a:ext cx="5486400" cy="1645920"/>
          </a:xfrm>
          <a:prstGeom prst="roundRect">
            <a:avLst>
              <a:gd name="adj" fmla="val 3889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9826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37083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estimate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4727448"/>
            <a:ext cx="47091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NAND2 (g=4/3, p=2) drives a load 3× its input cap (h=3).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g·h + p = (4/3)(3) + 2 = 4 + 2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τ.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inverter (g=1, p=1) at the same h: d = 3 + 1 = 4 τ — clearly faster.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8B · LOGICAL EFFORT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Effort of Common Gates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effort g captures how a gate's topology hurts its drive strength. An inverter is the reference (g = 1); every other gate is worse.</a:t>
            </a:r>
            <a:endParaRPr lang="en-US" sz="1400" dirty="0"/>
          </a:p>
        </p:txBody>
      </p:sp>
      <p:pic>
        <p:nvPicPr>
          <p:cNvPr id="7" name="Image 1" descr="images/logical_effort_b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6675120" cy="35112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06640" y="2103120"/>
            <a:ext cx="4206240" cy="3520440"/>
          </a:xfrm>
          <a:prstGeom prst="roundRect">
            <a:avLst>
              <a:gd name="adj" fmla="val 2597"/>
            </a:avLst>
          </a:prstGeom>
          <a:solidFill>
            <a:srgbClr val="F4F8FB"/>
          </a:solidFill>
          <a:ln/>
        </p:spPr>
      </p:sp>
      <p:sp>
        <p:nvSpPr>
          <p:cNvPr id="9" name="Text 5"/>
          <p:cNvSpPr/>
          <p:nvPr/>
        </p:nvSpPr>
        <p:spPr>
          <a:xfrm>
            <a:off x="763524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 comes from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635240" y="2697480"/>
            <a:ext cx="3794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transistors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made wider to keep drive → larger input cap → larger g.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NMOS (strong); </a:t>
            </a:r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PMOS (weak), so NOR's g is higher.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n-input gates: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grows with n — wide gates are costly.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fan-in low and favour NAND.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8B · LOGICAL EFFORT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a Path for Minimum Delay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effort extends to a whole path of gates, telling us how to size each stage so the path is as fast as possible.</a:t>
            </a:r>
            <a:endParaRPr lang="en-US" sz="1400" dirty="0"/>
          </a:p>
        </p:txBody>
      </p:sp>
      <p:pic>
        <p:nvPicPr>
          <p:cNvPr id="7" name="Image 1" descr="images/path_eff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731520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effort  F = G·B·H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 = product of g's, B = branching, H = C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delay when each of N stages carries equal effort 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F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^(1/N);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size stages back-to-front from C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g·C</a:t>
            </a:r>
            <a:pPr indent="0" marL="0">
              <a:spcAft>
                <a:spcPts val="7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092440" y="21031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DF1E3"/>
          </a:solidFill>
          <a:ln/>
        </p:spPr>
      </p:sp>
      <p:sp>
        <p:nvSpPr>
          <p:cNvPr id="10" name="Text 6"/>
          <p:cNvSpPr/>
          <p:nvPr/>
        </p:nvSpPr>
        <p:spPr>
          <a:xfrm>
            <a:off x="8321040" y="2240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Worked: F = 64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321040" y="269748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stage effort ≈ 4 → N = log</a:t>
            </a:r>
            <a:pPr indent="0" marL="0">
              <a:spcAft>
                <a:spcPts val="600"/>
              </a:spcAft>
              <a:buNone/>
            </a:pPr>
            <a:r>
              <a:rPr lang="en-US" sz="11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= 3 stages.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 = 64^(1/3) = 4; size 1× → 4× → 16×.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8C · DELAY–POWER TRADE-OFF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P/N Ratio (β = W_p / W_n)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P/N ratio sets how strong the PMOS pull-up is relative to the NMOS pull-down — the central knob for trading delay against area and power.</a:t>
            </a:r>
            <a:endParaRPr lang="en-US" sz="1400" dirty="0"/>
          </a:p>
        </p:txBody>
      </p:sp>
      <p:pic>
        <p:nvPicPr>
          <p:cNvPr id="7" name="Image 1" descr="images/pn_ratio_trade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486400" cy="34107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18288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are ~2× slower,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 equal-width PMOS is weaker; raising β strengthens the pull-up.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≈ 2: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rise and fall times (symmetric VTC, balanced margins).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≈ √2 (~1.4):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average delay — the speed-optimal point.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1: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PMOS → least area, input cap and dynamic power, but slower rise.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5120640"/>
            <a:ext cx="5486400" cy="777240"/>
          </a:xfrm>
          <a:prstGeom prst="roundRect">
            <a:avLst>
              <a:gd name="adj" fmla="val 823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26694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52395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97280" y="5596128"/>
            <a:ext cx="470916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β buys speed/symmetry; smaller β buys area &amp; power. Area/power ∝ (1+β), so pushing β up costs more on every gate.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8C · DELAY–POWER TRADE-OFF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Best P/N Ratio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'right' β — it depends on what the design is optimising. These are the standard operating points.</a:t>
            </a:r>
            <a:endParaRPr lang="en-US" sz="1400" dirty="0"/>
          </a:p>
        </p:txBody>
      </p:sp>
      <p:graphicFrame>
        <p:nvGraphicFramePr>
          <p:cNvPr id="1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  <a:gridCol w="4023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P/N ratio 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optimises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trade-off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area, input cap &amp; dynamic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 VTC; slower rise than fall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√2 ≈ 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average gate delay (speed)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Rise/fall slightly unequal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rise/fall, symmetric VTC, balanced noise margins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area &amp; power than β=1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rise / drives heavy capacitive loads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Diminishing returns; large area &amp;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71830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69087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guidance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5047488"/>
            <a:ext cx="10287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/ dense logic: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β ≈ 1–1.5 to save area and switching power.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standard cells: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β ≈ 2 so cells behave symmetrically in timing.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Speed-critical nets: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up (β toward 2 and beyond) only where the path demands it — the energy cost is paid on every switch.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8686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9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18745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Critical-Path Optimization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chip is only as fast as its slowest combinational path. Finding that path — and shortening it — is the heart of timing closure.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93192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389534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critical paths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42611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times, the longest path, slack and static timing analysis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471830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718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46817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sizing &amp; logic restructuring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504748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Upsizing critical gates and rebuilding logic into shallow trees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5504688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54681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optimization for performance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58338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optimisation loop and the full toolbox of speed-up techniques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9A · IDENTIFYING CRITICAL PATHS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Critical Path?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path is the longest delay path from any input (or register) to any output (or register). Its delay sets the fastest clock the circuit can run at.</a:t>
            </a:r>
            <a:endParaRPr lang="en-US" sz="1400" dirty="0"/>
          </a:p>
        </p:txBody>
      </p:sp>
      <p:pic>
        <p:nvPicPr>
          <p:cNvPr id="7" name="Image 1" descr="images/critical_pa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7589520" cy="3794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0" y="2103120"/>
            <a:ext cx="3383280" cy="3749040"/>
          </a:xfrm>
          <a:prstGeom prst="roundRect">
            <a:avLst>
              <a:gd name="adj" fmla="val 2703"/>
            </a:avLst>
          </a:prstGeom>
          <a:solidFill>
            <a:srgbClr val="F4F8FB"/>
          </a:solidFill>
          <a:ln/>
        </p:spPr>
      </p:sp>
      <p:sp>
        <p:nvSpPr>
          <p:cNvPr id="9" name="Text 5"/>
          <p:cNvSpPr/>
          <p:nvPr/>
        </p:nvSpPr>
        <p:spPr>
          <a:xfrm>
            <a:off x="845820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find it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458200" y="26974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time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gate = max of input arrivals + that gate's delay.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from inputs to outputs.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with the </a:t>
            </a:r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arrival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critical path.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</a:t>
            </a:r>
            <a:pPr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A→g1→g4→g6→g7 = 10, the longest of all paths.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9A · IDENTIFYING CRITICAL PATHS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Timing Analysis &amp; Slack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designs have millions of paths, so tools find the critical ones automatically with Static Timing Analysis (STA) — no simulation vectors needed.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time: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signal actually reaches a node (forward pass).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time: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must arrive to meet the clock (backward pass).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= required − arrival.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slack = a timing violation.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path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one with the worst (most negative) slack.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 also flags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paths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(can't actually toggle) and </a:t>
            </a:r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multicycle paths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aren't fixed needlessly.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210312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0E2A47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timing equation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2940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ctr"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≥  t</a:t>
            </a:r>
            <a:pPr algn="ctr"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t</a:t>
            </a:r>
            <a:pPr algn="ctr"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t</a:t>
            </a:r>
            <a:pPr algn="ctr"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629400" y="3520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t_logic is the combinational critical-path delay — the only term logic optimisation can shrink.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29400" y="4297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t_logic → higher clock frequency.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521208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35838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533095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only the critical path matters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097280" y="5687568"/>
            <a:ext cx="10287000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 non-critical path does nothing for the clock. Effort goes only where slack is negative — then the next-worst path becomes the new target.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9B · SIZING &amp; RESTRUCTURING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1: Gate Sizing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quickest fix: make the transistors in the critical gates wider so they drive their load faster. Logical effort tells us how much.</a:t>
            </a:r>
            <a:endParaRPr lang="en-US" sz="1400" dirty="0"/>
          </a:p>
        </p:txBody>
      </p:sp>
      <p:pic>
        <p:nvPicPr>
          <p:cNvPr id="7" name="Image 1" descr="images/gate_sizing_o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7315200" cy="365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0" y="228600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Upsize only the gates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critical path — leave the rest small.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gate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lower output resistance → less delay.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area, input capacitance and power.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gate also loads the stage before it.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done </a:t>
            </a:r>
            <a:pPr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logical-effort sizing (Topic 8).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9B · SIZING &amp; RESTRUCTURING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2: Logic Restructuring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only goes so far. Often the bigger win is changing the logic itself so the critical signal passes through fewer levels.</a:t>
            </a:r>
            <a:endParaRPr lang="en-US" sz="1400" dirty="0"/>
          </a:p>
        </p:txBody>
      </p:sp>
      <p:pic>
        <p:nvPicPr>
          <p:cNvPr id="7" name="Image 1" descr="images/logic_restru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7498080" cy="2596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Re-association / tree balancing: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deep chain of gates into a balanced tree — same function, fewer logic levels.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183880" y="210312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FDF1E3"/>
          </a:solidFill>
          <a:ln/>
        </p:spPr>
      </p:sp>
      <p:sp>
        <p:nvSpPr>
          <p:cNvPr id="10" name="Text 6"/>
          <p:cNvSpPr/>
          <p:nvPr/>
        </p:nvSpPr>
        <p:spPr>
          <a:xfrm>
            <a:off x="841248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restructuring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412480" y="2670048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Factoring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shorten the late-arriving input's path.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Buffer/repeater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on long, heavily-loaded nets.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Cloning/duplication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split a high-fanout driver.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5532120"/>
            <a:ext cx="1106424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678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565099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Late-arriving inputs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097280" y="6007608"/>
            <a:ext cx="10287000" cy="-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so the signal that arrives latest passes through the fewest remaining gates — a powerful, area-cheap speed-up.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9C · TIMING OPTIMIZATION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Optimising for Performance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optimisation is an iterative loop: find the worst path, fix it, re-analyse — until all slack is non-negative (timing closure).</a:t>
            </a:r>
            <a:endParaRPr lang="en-US" sz="1400" dirty="0"/>
          </a:p>
        </p:txBody>
      </p:sp>
      <p:pic>
        <p:nvPicPr>
          <p:cNvPr id="7" name="Image 1" descr="images/slack_optimiz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6126480" cy="29900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0" y="2148840"/>
            <a:ext cx="4754880" cy="3611880"/>
          </a:xfrm>
          <a:prstGeom prst="roundRect">
            <a:avLst>
              <a:gd name="adj" fmla="val 2532"/>
            </a:avLst>
          </a:prstGeom>
          <a:solidFill>
            <a:srgbClr val="F4F8FB"/>
          </a:solidFill>
          <a:ln/>
        </p:spPr>
      </p:sp>
      <p:sp>
        <p:nvSpPr>
          <p:cNvPr id="9" name="Text 5"/>
          <p:cNvSpPr/>
          <p:nvPr/>
        </p:nvSpPr>
        <p:spPr>
          <a:xfrm>
            <a:off x="7086600" y="2286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optimisation toolbox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086600" y="274320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sizing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widen critical gates.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balance trees, factor, clone.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insertion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drive long/loaded nets.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split logic with a register to cut t</a:t>
            </a:r>
            <a:pPr indent="0" marL="0">
              <a:spcAft>
                <a:spcPts val="7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Retiming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move registers to balance stages.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spcAft>
                <a:spcPts val="7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</a:t>
            </a:r>
            <a:pPr indent="0" marL="0">
              <a:spcAft>
                <a:spcPts val="7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tuning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faster cells on critical paths.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5257800"/>
            <a:ext cx="6126480" cy="640080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0410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37667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97280" y="5733288"/>
            <a:ext cx="5349240" cy="73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one path can expose another; iterate until every path meets its constraint, balancing speed against area and power.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8686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10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18745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in Sequential Circuits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chips have memory. Flip-flops store state on the clock edge — and the clock period must respect their setup and hold requirements.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93192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389534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circuits: flip-flops &amp; registers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42611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Latches vs edge-triggered flip-flops, and registers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471830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718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468172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hold time analysis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504748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sampling window and the max/min-delay timing equations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5504688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546811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considerations &amp; optimization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58338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skew, jitter, metastability, pipelining and retiming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10A · FLIP-FLOPS &amp; REGISTERS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Circuits &amp; the D Flip-Flop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 depends only on its present inputs. Sequential logic also depends on stored state — held in flip-flops and clocked by a common clock.</a:t>
            </a:r>
            <a:endParaRPr lang="en-US" sz="1400" dirty="0"/>
          </a:p>
        </p:txBody>
      </p:sp>
      <p:pic>
        <p:nvPicPr>
          <p:cNvPr id="7" name="Image 1" descr="images/dff_bas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740664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92440" y="224028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 flip-flop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D to Q on the rising clock edge, then holds it.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edges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stable — a 1-bit memory.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just N flip-flops sharing one clock, storing an N-bit word.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logic + clock </a:t>
            </a:r>
            <a:pPr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synchronous system.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10A · FLIP-FLOPS &amp; REGISTERS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Latches vs Flip-Flops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store a bit, but they capture data differently — a distinction that matters for timing.</a:t>
            </a:r>
            <a:endParaRPr lang="en-US" sz="1400" dirty="0"/>
          </a:p>
        </p:txBody>
      </p:sp>
      <p:pic>
        <p:nvPicPr>
          <p:cNvPr id="7" name="Image 1" descr="images/latch_vs_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8229600" cy="2423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 (level-sensitive):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the whole time the clock is high — Q follows D — and holds when the clock is low.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 (edge-triggered):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D only at the clock edge, so the output changes at most once per cycle — easier to reason about, and the default for synchronous design.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9052560" y="20116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4F8FB"/>
          </a:solidFill>
          <a:ln/>
        </p:spPr>
      </p:sp>
      <p:sp>
        <p:nvSpPr>
          <p:cNvPr id="10" name="Text 6"/>
          <p:cNvSpPr/>
          <p:nvPr/>
        </p:nvSpPr>
        <p:spPr>
          <a:xfrm>
            <a:off x="928116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Build-up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281160" y="25603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latches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(master + slave) on opposite clock phases = one edge-triggered flip-flop.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10A · FLIP-FLOPS &amp; REGISTERS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Flip-Flop: Master–Slave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edge-triggered flip-flop is built from two level-sensitive latches in series, clocked on opposite phases — this is what makes it capture on the edge.</a:t>
            </a:r>
            <a:endParaRPr lang="en-US" sz="1400" dirty="0"/>
          </a:p>
        </p:txBody>
      </p:sp>
      <p:pic>
        <p:nvPicPr>
          <p:cNvPr id="7" name="Image 1" descr="images/master_slave_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7680960" cy="28986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66760" y="2286000"/>
            <a:ext cx="3246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clk = 0: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is transparent and tracks D; the slave holds the old value.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rising edge: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freezes its value and the slave becomes transparent, passing it to Q.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updates once, exactly at the edge — true edge-triggered behaviour.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master's last value before the edge </a:t>
            </a:r>
            <a:pPr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why setup time exists.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10A · FLIP-FLOPS &amp; REGISTERS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Flip-Flop Types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 flip-flop is the workhorse of synchronous design, but the same edge-triggered storage comes in four classic flavours.</a:t>
            </a:r>
            <a:endParaRPr lang="en-US" sz="1400" dirty="0"/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3840480"/>
                <a:gridCol w="4206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state Q⁺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Q⁺ =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storage, registers (most common)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if T=1, else 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counters, frequency dividers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J,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set/reset; J=K=1 toggles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general-purpose, no invalid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S, 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S=1 set, R=1 reset; S=R=1 invalid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latch /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DF1E3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71830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690872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 dominates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97280" y="5047488"/>
            <a:ext cx="102870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flip-flops map directly onto how synthesis tools build registers, are easy to time, and avoid the invalid/forbidden states of SR.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and JK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mainly seen inside counters;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underlying latch primitive.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10A · FLIP-FLOPS &amp; REGISTERS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Registers, Shift Registers &amp; Counters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flip-flops together and they become the storage and data-movement building blocks of every datapath.</a:t>
            </a:r>
            <a:endParaRPr lang="en-US" sz="1400" dirty="0"/>
          </a:p>
        </p:txBody>
      </p:sp>
      <p:pic>
        <p:nvPicPr>
          <p:cNvPr id="7" name="Image 1" descr="images/shift_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7498080" cy="21214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4348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flip-flops on one clock holding an N-bit word — the basic parallel store.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register: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flip-flops chained Q→D so data moves one position per clock — used for serial↔parallel conversion and delays.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183880" y="21488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4F8FB"/>
          </a:solidFill>
          <a:ln/>
        </p:spPr>
      </p:sp>
      <p:sp>
        <p:nvSpPr>
          <p:cNvPr id="10" name="Text 6"/>
          <p:cNvSpPr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built from FFs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412480" y="26974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(toggle FFs that count clock edges).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state register + next-state logic).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10B · SETUP &amp; HOLD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Hold Time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flip-flop to capture data reliably, the data input must be stable in a window around the clock edge — or the output can go metastable.</a:t>
            </a:r>
            <a:endParaRPr lang="en-US" sz="1400" dirty="0"/>
          </a:p>
        </p:txBody>
      </p:sp>
      <p:pic>
        <p:nvPicPr>
          <p:cNvPr id="7" name="Image 1" descr="images/setup_hold_win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6949440" cy="2907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80960" y="228600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 t</a:t>
            </a:r>
            <a:pPr indent="0" marL="0">
              <a:spcAft>
                <a:spcPts val="700"/>
              </a:spcAft>
              <a:buNone/>
            </a:pPr>
            <a:r>
              <a:rPr lang="en-US" sz="1200" b="1" baseline="-40000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data must be steady </a:t>
            </a:r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time t</a:t>
            </a:r>
            <a:pPr indent="0" marL="0">
              <a:spcAft>
                <a:spcPts val="700"/>
              </a:spcAft>
              <a:buNone/>
            </a:pPr>
            <a:r>
              <a:rPr lang="en-US" sz="1200" b="1" baseline="-400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data must stay steady </a:t>
            </a:r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 either </a:t>
            </a:r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metastability: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hovers between 0 and 1 unpredictably.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set the </a:t>
            </a:r>
            <a:pPr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constraints on every path.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10B · SETUP &amp; HOLD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Timing Diagram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clock, data and output on one timing diagram shows exactly where setup, hold and clock-to-Q live.</a:t>
            </a:r>
            <a:endParaRPr lang="en-US" sz="1400" dirty="0"/>
          </a:p>
        </p:txBody>
      </p:sp>
      <p:pic>
        <p:nvPicPr>
          <p:cNvPr id="7" name="Image 1" descr="images/seq_wave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7498080" cy="323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880" y="2286000"/>
            <a:ext cx="3429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700"/>
              </a:spcAft>
              <a:buNone/>
            </a:pPr>
            <a:r>
              <a:rPr lang="en-US" sz="1200" b="1" baseline="-4000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</a:t>
            </a:r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(clock-to-Q):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from the edge until Q is valid.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700"/>
              </a:spcAft>
              <a:buNone/>
            </a:pPr>
            <a:r>
              <a:rPr lang="en-US" sz="1200" b="1" baseline="-40000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must already be steady this long before the edge.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700"/>
              </a:spcAft>
              <a:buNone/>
            </a:pPr>
            <a:r>
              <a:rPr lang="en-US" sz="1200" b="1" baseline="-400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must stay steady this long after the edge.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shaded band </a:t>
            </a:r>
            <a:pPr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keep-out window where D must not change.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10B · SETUP &amp; HOLD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a Register-to-Register Path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two flip-flops sits combinational logic. Two inequalities must hold — one for the slowest path, one for the fastest.</a:t>
            </a:r>
            <a:endParaRPr lang="en-US" sz="1400" dirty="0"/>
          </a:p>
        </p:txBody>
      </p:sp>
      <p:pic>
        <p:nvPicPr>
          <p:cNvPr id="7" name="Image 1" descr="images/seq_path_tim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7589520" cy="28620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029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(max-delay):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t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limits the fastest clock.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(min-delay):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logic(min)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t</a:t>
            </a:r>
            <a:pPr indent="0" marL="0">
              <a:spcAft>
                <a:spcPts val="600"/>
              </a:spcAft>
              <a:buNone/>
            </a:pPr>
            <a:r>
              <a:rPr lang="en-US" sz="13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independent of clock period; fix with min-delay buffers.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412480" y="210312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FDF1E3"/>
          </a:solidFill>
          <a:ln/>
        </p:spPr>
      </p:sp>
      <p:sp>
        <p:nvSpPr>
          <p:cNvPr id="10" name="Text 6"/>
          <p:cNvSpPr/>
          <p:nvPr/>
        </p:nvSpPr>
        <p:spPr>
          <a:xfrm>
            <a:off x="864108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Worked: max clock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41080" y="2670048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1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=50ps, t</a:t>
            </a:r>
            <a:pPr indent="0" marL="0">
              <a:spcAft>
                <a:spcPts val="600"/>
              </a:spcAft>
              <a:buNone/>
            </a:pPr>
            <a:r>
              <a:rPr lang="en-US" sz="11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=300ps, t</a:t>
            </a:r>
            <a:pPr indent="0" marL="0">
              <a:spcAft>
                <a:spcPts val="600"/>
              </a:spcAft>
              <a:buNone/>
            </a:pPr>
            <a:r>
              <a:rPr lang="en-US" sz="11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=40ps.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1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390ps → f</a:t>
            </a:r>
            <a:pPr indent="0" marL="0">
              <a:spcAft>
                <a:spcPts val="600"/>
              </a:spcAft>
              <a:buNone/>
            </a:pPr>
            <a:r>
              <a:rPr lang="en-US" sz="115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2.56 GHz.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10B · SETUP &amp; HOLD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 Skew &amp; Timing Margins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never reaches every flip-flop at the same instant. That difference — clock skew — shifts the timing budget, helping one check and hurting the other.</a:t>
            </a:r>
            <a:endParaRPr lang="en-US" sz="1400" dirty="0"/>
          </a:p>
        </p:txBody>
      </p:sp>
      <p:pic>
        <p:nvPicPr>
          <p:cNvPr id="7" name="Image 1" descr="images/clock_sk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7589520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880" y="2286000"/>
            <a:ext cx="3429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δ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clock arriving later at the capture flip-flop than the launch one.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relaxes: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7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δ ≥ t</a:t>
            </a:r>
            <a:pPr indent="0" marL="0">
              <a:spcAft>
                <a:spcPts val="7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</a:t>
            </a:r>
            <a:pPr indent="0" marL="0">
              <a:spcAft>
                <a:spcPts val="7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</a:t>
            </a:r>
            <a:pPr indent="0" marL="0">
              <a:spcAft>
                <a:spcPts val="7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data gets extra time.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tightens: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spcAft>
                <a:spcPts val="7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</a:t>
            </a:r>
            <a:pPr indent="0" marL="0">
              <a:spcAft>
                <a:spcPts val="7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logic(min)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t</a:t>
            </a:r>
            <a:pPr indent="0" marL="0">
              <a:spcAft>
                <a:spcPts val="7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δ — skew eats hold margin.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skew is a double-edged sword; </a:t>
            </a:r>
            <a:pPr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clock-tree design works to minimise it.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10C · CONSIDERATIONS &amp; OPTIMIZATION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 Skew, Jitter &amp; Metastability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basic equations, real clocks are imperfect — three effects every sequential design must manage.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350008"/>
            <a:ext cx="566928" cy="566928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47802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 skew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572000" y="222199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reaches different flip-flops at slightly different times; it eats into setup margin (or worsens hold) and must be budgeted.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3648456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77647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5387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 jitter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572000" y="35204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cycle-to-cycle variation in the clock edge; it shrinks the usable period, so designers keep a margin.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654296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726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68680" y="4946904"/>
            <a:ext cx="566928" cy="566928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507492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48371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Metastability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4572000" y="4818888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setup/hold violation can leave a flip-flop's output undefined for a while; synchronizers (two FFs in series) reduce the risk for asynchronous inputs.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10C · CONSIDERATIONS &amp; OPTIMIZATION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Metastability &amp; Synchronizers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input is asynchronous (from another clock domain or the outside world), it can violate setup/hold and make a flip-flop metastable. A synchronizer manages the risk.</a:t>
            </a:r>
            <a:endParaRPr lang="en-US" sz="1400" dirty="0"/>
          </a:p>
        </p:txBody>
      </p:sp>
      <p:pic>
        <p:nvPicPr>
          <p:cNvPr id="7" name="Image 1" descr="images/synchroniz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768096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Metastability: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flip-flop caught mid-transition can sit between 0 and 1 for an unpredictable time before settling.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Two-FF synchronizer: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flip-flop gives the first a full clock cycle to resolve, so the chance of a metastable value reaching the logic becomes astronomically small (huge MTBF).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412480" y="219456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FDF1E3"/>
          </a:solidFill>
          <a:ln/>
        </p:spPr>
      </p:sp>
      <p:sp>
        <p:nvSpPr>
          <p:cNvPr id="10" name="Text 6"/>
          <p:cNvSpPr/>
          <p:nvPr/>
        </p:nvSpPr>
        <p:spPr>
          <a:xfrm>
            <a:off x="864108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thumb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41080" y="274320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crossing a clock domain.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fan out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un-synchronised async signal to many places.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10C · CONSIDERATIONS &amp; OPTIMIZATION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Pipelining &amp; Retiming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a sequential design faster, shorten the logic between registers. Two classic transformations do exactly that.</a:t>
            </a:r>
            <a:endParaRPr lang="en-US" sz="1400" dirty="0"/>
          </a:p>
        </p:txBody>
      </p:sp>
      <p:pic>
        <p:nvPicPr>
          <p:cNvPr id="7" name="Image 1" descr="images/pipeli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7223760" cy="3191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09560" y="2286000"/>
            <a:ext cx="3703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registers to split a deep logic block into shorter stages → smaller t</a:t>
            </a:r>
            <a:pPr indent="0" marL="0">
              <a:spcAft>
                <a:spcPts val="700"/>
              </a:spcAft>
              <a:buNone/>
            </a:pPr>
            <a:r>
              <a:rPr lang="en-US" sz="1200" baseline="-4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faster clock and higher throughput (at the cost of latency).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Retiming: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existing registers across logic to balance stage delays — same function, better worst-case stage.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parallelism, and the gate-level tricks from Topic 9 (sizing, restructuring).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Formula Sheet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8FB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1801368"/>
            <a:ext cx="256032" cy="256032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60934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Saturation current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97280" y="193852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I_D = ½·k·(V_GS − V_th)²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8FB"/>
          </a:solidFill>
          <a:ln/>
        </p:spPr>
      </p:sp>
      <p:sp>
        <p:nvSpPr>
          <p:cNvPr id="11" name="Shape 8"/>
          <p:cNvSpPr/>
          <p:nvPr/>
        </p:nvSpPr>
        <p:spPr>
          <a:xfrm>
            <a:off x="6336792" y="1801368"/>
            <a:ext cx="256032" cy="256032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2" name="Text 9"/>
          <p:cNvSpPr/>
          <p:nvPr/>
        </p:nvSpPr>
        <p:spPr>
          <a:xfrm>
            <a:off x="6720840" y="160934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Triode current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720840" y="193852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I_D = k·[(V_GS−V_th)·V_DS − V_DS²/2]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414016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8FB"/>
          </a:solidFill>
          <a:ln/>
        </p:spPr>
      </p:sp>
      <p:sp>
        <p:nvSpPr>
          <p:cNvPr id="15" name="Shape 12"/>
          <p:cNvSpPr/>
          <p:nvPr/>
        </p:nvSpPr>
        <p:spPr>
          <a:xfrm>
            <a:off x="713232" y="2660904"/>
            <a:ext cx="256032" cy="256032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24688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Propagation delay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97280" y="279806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t_p ≈ 0.69 · R · C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2414016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8FB"/>
          </a:solidFill>
          <a:ln/>
        </p:spPr>
      </p:sp>
      <p:sp>
        <p:nvSpPr>
          <p:cNvPr id="19" name="Shape 16"/>
          <p:cNvSpPr/>
          <p:nvPr/>
        </p:nvSpPr>
        <p:spPr>
          <a:xfrm>
            <a:off x="6336792" y="2660904"/>
            <a:ext cx="256032" cy="256032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0" name="Text 17"/>
          <p:cNvSpPr/>
          <p:nvPr/>
        </p:nvSpPr>
        <p:spPr>
          <a:xfrm>
            <a:off x="6720840" y="24688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Elmore delay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20840" y="279806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τ_i = Σ_k R_ik · C_k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273552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8FB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3520440"/>
            <a:ext cx="256032" cy="256032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24" name="Text 21"/>
          <p:cNvSpPr/>
          <p:nvPr/>
        </p:nvSpPr>
        <p:spPr>
          <a:xfrm>
            <a:off x="1097280" y="332841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power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097280" y="36576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P_dyn = α · C · V_DD² · f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72200" y="3273552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8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336792" y="3520440"/>
            <a:ext cx="256032" cy="256032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28" name="Text 25"/>
          <p:cNvSpPr/>
          <p:nvPr/>
        </p:nvSpPr>
        <p:spPr>
          <a:xfrm>
            <a:off x="6720840" y="332841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per switch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720840" y="36576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½ · C · V_DD²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133088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8FB"/>
          </a:solidFill>
          <a:ln/>
        </p:spPr>
      </p:sp>
      <p:sp>
        <p:nvSpPr>
          <p:cNvPr id="31" name="Shape 28"/>
          <p:cNvSpPr/>
          <p:nvPr/>
        </p:nvSpPr>
        <p:spPr>
          <a:xfrm>
            <a:off x="713232" y="4379976"/>
            <a:ext cx="256032" cy="25603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2" name="Text 29"/>
          <p:cNvSpPr/>
          <p:nvPr/>
        </p:nvSpPr>
        <p:spPr>
          <a:xfrm>
            <a:off x="1097280" y="41879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margins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097280" y="45171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NM_H = V_OH−V_IH ;  NM_L = V_IL−V_OL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172200" y="4133088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8FB"/>
          </a:solidFill>
          <a:ln/>
        </p:spPr>
      </p:sp>
      <p:sp>
        <p:nvSpPr>
          <p:cNvPr id="35" name="Shape 32"/>
          <p:cNvSpPr/>
          <p:nvPr/>
        </p:nvSpPr>
        <p:spPr>
          <a:xfrm>
            <a:off x="6336792" y="4379976"/>
            <a:ext cx="256032" cy="256032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36" name="Text 33"/>
          <p:cNvSpPr/>
          <p:nvPr/>
        </p:nvSpPr>
        <p:spPr>
          <a:xfrm>
            <a:off x="6720840" y="41879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effort delay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6720840" y="45171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g · h + p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48640" y="4992624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8FB"/>
          </a:solidFill>
          <a:ln/>
        </p:spPr>
      </p:sp>
      <p:sp>
        <p:nvSpPr>
          <p:cNvPr id="39" name="Shape 36"/>
          <p:cNvSpPr/>
          <p:nvPr/>
        </p:nvSpPr>
        <p:spPr>
          <a:xfrm>
            <a:off x="713232" y="5239512"/>
            <a:ext cx="256032" cy="256032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40" name="Text 37"/>
          <p:cNvSpPr/>
          <p:nvPr/>
        </p:nvSpPr>
        <p:spPr>
          <a:xfrm>
            <a:off x="1097280" y="50474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constraint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1097280" y="537667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≥ t_cq + t_logic + t_setup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172200" y="4992624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8FB"/>
          </a:solidFill>
          <a:ln/>
        </p:spPr>
      </p:sp>
      <p:sp>
        <p:nvSpPr>
          <p:cNvPr id="43" name="Shape 40"/>
          <p:cNvSpPr/>
          <p:nvPr/>
        </p:nvSpPr>
        <p:spPr>
          <a:xfrm>
            <a:off x="6336792" y="5239512"/>
            <a:ext cx="256032" cy="256032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44" name="Text 41"/>
          <p:cNvSpPr/>
          <p:nvPr/>
        </p:nvSpPr>
        <p:spPr>
          <a:xfrm>
            <a:off x="6720840" y="50474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delay scaling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6720840" y="537667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t_wire ∝ (length)²  (un-buffered)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023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9576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Key Takeaways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7335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3584" y="1618488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VLSI integrates billions of transistors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243584" y="2057400"/>
            <a:ext cx="4544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through a layered flow (spec → GDSII), trading off Power-Performance-Area.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72200" y="150876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67335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67144" y="1618488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MOSFET is a voltage-controlled switch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867144" y="2057400"/>
            <a:ext cx="4544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NMOS pulls down on a HIGH input; PMOS pulls up on a LOW input.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2734056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898648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43584" y="2843784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 is complementary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243584" y="3282696"/>
            <a:ext cx="4544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conducts at a time → full swing and near-zero static power.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72200" y="2734056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289864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67144" y="2843784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gate = PUN + PDN duals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867144" y="3282696"/>
            <a:ext cx="4544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↔ parallel; NAND, NOR and AOI all follow one 4-step recipe.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48640" y="3959352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123944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43584" y="4069080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makes it physical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1243584" y="4507992"/>
            <a:ext cx="4544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diagrams, λ design rules and DRC/LVS turn schematics into silicon.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172200" y="3959352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4123944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67144" y="4069080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Wires are not free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6867144" y="4507992"/>
            <a:ext cx="4544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interconnect adds delay; models and repeaters keep it in check.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548640" y="5184648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349240"/>
            <a:ext cx="347472" cy="34747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243584" y="5294376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sets the speed</a:t>
            </a:r>
            <a:endParaRPr lang="en-US" sz="1350" dirty="0"/>
          </a:p>
        </p:txBody>
      </p:sp>
      <p:sp>
        <p:nvSpPr>
          <p:cNvPr id="33" name="Text 23"/>
          <p:cNvSpPr/>
          <p:nvPr/>
        </p:nvSpPr>
        <p:spPr>
          <a:xfrm>
            <a:off x="1243584" y="5733288"/>
            <a:ext cx="4544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t_p ≈ 0.69·RC; setup/hold and the critical path fix the clock frequency.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6172200" y="5184648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3368" y="5349240"/>
            <a:ext cx="347472" cy="34747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867144" y="5294376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bridges chip &amp; system</a:t>
            </a:r>
            <a:endParaRPr lang="en-US" sz="1350" dirty="0"/>
          </a:p>
        </p:txBody>
      </p:sp>
      <p:sp>
        <p:nvSpPr>
          <p:cNvPr id="37" name="Text 26"/>
          <p:cNvSpPr/>
          <p:nvPr/>
        </p:nvSpPr>
        <p:spPr>
          <a:xfrm>
            <a:off x="6867144" y="5733288"/>
            <a:ext cx="4544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bonding, assembly, thermal and advanced packaging finish the job.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5486400" cy="5486400"/>
          </a:xfrm>
          <a:prstGeom prst="ellipse">
            <a:avLst/>
          </a:prstGeom>
          <a:solidFill>
            <a:srgbClr val="1639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8229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makes it permanent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2514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companion workbook expands every topic above into guided tutorials and a large graded problem set — all with full worked solutions.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6118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6395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840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Guided Tutorials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design flow, transistor analysis, gate design, delay, layout &amp; wires.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36118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6395E"/>
          </a:solidFill>
          <a:ln/>
        </p:spPr>
      </p:sp>
      <p:sp>
        <p:nvSpPr>
          <p:cNvPr id="10" name="Text 7"/>
          <p:cNvSpPr/>
          <p:nvPr/>
        </p:nvSpPr>
        <p:spPr>
          <a:xfrm>
            <a:off x="4617720" y="3840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Practice Problems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17720" y="45262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Conceptual, design and numerical — graded easy → hard, across nine sections.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38160" y="36118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6395E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0" y="3840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Solutions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412480" y="45262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worked out so you can self-assess and learn.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6928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→  Module 2: Verilog RTL Coding for Synthesis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VLSI Design Fundamentals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127</Slides>
  <Notes>127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1 - VLSI Design Fundamentals (Expanded)</dc:title>
  <dc:subject>PptxGenJS Presentation</dc:subject>
  <dc:creator>NIELIT CoE Chip Design</dc:creator>
  <cp:lastModifiedBy>NIELIT CoE Chip Design</cp:lastModifiedBy>
  <cp:revision>1</cp:revision>
  <dcterms:created xsi:type="dcterms:W3CDTF">2026-06-24T18:23:24Z</dcterms:created>
  <dcterms:modified xsi:type="dcterms:W3CDTF">2026-06-24T18:23:24Z</dcterms:modified>
</cp:coreProperties>
</file>