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 i="0" spc="300">
                <a:solidFill>
                  <a:srgbClr val="1B9AAA"/>
                </a:solidFill>
                <a:latin typeface="Calibri"/>
              </a:rPr>
              <a:t>HARDWARE MODELING USING VERILOG · NPTEL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500" b="1" i="0">
                <a:solidFill>
                  <a:srgbClr val="FFFFFF"/>
                </a:solidFill>
                <a:latin typeface="Cambria"/>
              </a:rPr>
              <a:t>Lecture 01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C9D6E3"/>
                </a:solidFill>
                <a:latin typeface="Calibri"/>
              </a:rPr>
              <a:t>Prof. Indranil Sengupta · Department of Computer Science and Engineering · IIT Kharagpur   ·   expanded for the Chip Design Associate programme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40142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1 · Why this course exists — the six objectives, and what a hardware description language actually is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4714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2 · The problem — complexity, Moore's Law, and why manual design was ruled out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9286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3 · The answer — a standardized design flow, and the CAD tools that walk it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53858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4 · The steps, one at a time — behavioural, data path, logic, physical, and the rest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58430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Practical · Five labs · install the toolchain, then check every claim in the lecture on your own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Where This Lecture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</a:t>
            </a:r>
          </a:p>
        </p:txBody>
      </p:sp>
      <p:pic>
        <p:nvPicPr>
          <p:cNvPr id="9" name="Picture 8" descr="cour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4253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614027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678035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Eight weeks, forty-one lectures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952355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Lecture 01 carries no Verilog syntax at all. Its job is to give you the map: what a VLSI design flow is, what each step of it produces, and why a language like Verilog has to exist at all. Everything in Weeks 2–8 is a detail of this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CHIP DESIGN ASSOCIATE · NOS NIE/ELE/N0102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Terminal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</a:t>
            </a:r>
          </a:p>
        </p:txBody>
      </p:sp>
      <p:pic>
        <p:nvPicPr>
          <p:cNvPr id="9" name="Picture 8" descr="terminal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1468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561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9961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Outcome 1 is this lecture, almost word for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393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"Explain the design cycle of a VLSI circuit." That is the whole of Lecture 01. The remaining outcomes are opened here and closed over the rest of the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LECTURE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</a:t>
            </a:r>
          </a:p>
        </p:txBody>
      </p:sp>
      <p:pic>
        <p:nvPicPr>
          <p:cNvPr id="9" name="Picture 8" descr="learning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5104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LECTURE 01 ·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Original Lecture, and How This Session Expands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</a:t>
            </a:r>
          </a:p>
        </p:txBody>
      </p:sp>
      <p:pic>
        <p:nvPicPr>
          <p:cNvPr id="9" name="Picture 8" descr="sour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661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Theory, Then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737360" cy="1005840"/>
          </a:xfrm>
          <a:prstGeom prst="roundRect">
            <a:avLst>
              <a:gd name="adj" fmla="val 5714"/>
            </a:avLst>
          </a:prstGeom>
          <a:solidFill>
            <a:srgbClr val="0E2A47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1887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Four sections that follow the lecturer's own running order, slide by slide. Nothing has been reordered; material has only been added around what is already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9456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194560"/>
            <a:ext cx="1737360" cy="1005840"/>
          </a:xfrm>
          <a:prstGeom prst="roundRect">
            <a:avLst>
              <a:gd name="adj" fmla="val 5714"/>
            </a:avLst>
          </a:prstGeom>
          <a:solidFill>
            <a:srgbClr val="2A9D5C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9456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2402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Five labs. Every one of them is a command you run, and every number quoted in this deck came out of running them. If a slide states a figure, a lab produced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4612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1737360" cy="1005840"/>
          </a:xfrm>
          <a:prstGeom prst="roundRect">
            <a:avLst>
              <a:gd name="adj" fmla="val 5714"/>
            </a:avLst>
          </a:prstGeom>
          <a:solidFill>
            <a:srgbClr val="1B9AAA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4612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WORKBOOK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2918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A companion document carries the full tutorial, the installation walkthrough, worked solutions and the exercises. The deck is for the room; the workbook is for afterwards.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89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00" b="1" i="0">
                <a:solidFill>
                  <a:srgbClr val="0E2A47"/>
                </a:solidFill>
                <a:latin typeface="Calibri"/>
              </a:rPr>
              <a:t>The notional slot for Lecture 01 is about half an hour. This deck is deliberately longer: lecture from the section openers to fit the slot, and let the rest carry the labs and the self-study.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1B9AAA"/>
                </a:solidFill>
                <a:latin typeface="Calibri"/>
              </a:rPr>
              <a:t>THEORY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Why This Course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The lecturer opens with six objectives. They are worth reading slowly, because between them they describe everything the next eight weeks will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six objectives of the course, and what each one will mean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What a hardware description language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And — more important — what it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1.1 · THE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Main Objectives of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8</a:t>
            </a:r>
          </a:p>
        </p:txBody>
      </p:sp>
      <p:pic>
        <p:nvPicPr>
          <p:cNvPr id="9" name="Picture 8" descr="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51501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1.2 · WHAT AN HDL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Hardware Description Language Is Not a Programming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9</a:t>
            </a:r>
          </a:p>
        </p:txBody>
      </p:sp>
      <p:pic>
        <p:nvPicPr>
          <p:cNvPr id="9" name="Picture 8" descr="hdl_not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21" y="1097280"/>
            <a:ext cx="10450238" cy="42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4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5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01F43"/>
                </a:solidFill>
                <a:latin typeface="Cambria"/>
              </a:rPr>
              <a:t>The single most common beginner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7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Reading Verilog as if it were C. It is not a list of steps to carry out; it is a description of something that exists all at once and stays there. Hold on to that and most of the confusion in Weeks 2 and 3 never happens.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1.2 · WHAT AN HDL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Same Three Lines, Side by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118872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01F43"/>
                </a:solidFill>
                <a:latin typeface="Cambria"/>
              </a:rPr>
              <a:t>In C, this is a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Three assignments, carried out one after another. After the first line runs, a is 1. Time passes between the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11887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In Verilog, this is a circuit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Three pieces of wire, each permanently driven. There is no "after". All three statements are true at every instant the circuit is powered.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423160"/>
            <a:ext cx="11247120" cy="214757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3746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the text looks similar; the meaning is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11780"/>
            <a:ext cx="10881360" cy="164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// C                      // Verilog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a = 1;                    assign a = 1;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b = 2;                    assign b = 2;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c = 3;                    assign c = 3;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// swap two lines and     // swap two lines and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// the program changes    // NOTHING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217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Hardware is not executed. It is built, and then it sits there behaving.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C77514"/>
                </a:solidFill>
                <a:latin typeface="Calibri"/>
              </a:rPr>
              <a:t>THEORY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Before the flow and the tools and the language, the reason for all three: designs got far bigger, far faster, than anyone could follow by hand.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complexity of VLSI circuits, and what drove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Moore's Law — and why it is an observation, not a law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requirements that conflict: area, speed, 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Why manual design was ruled out, in arithmetic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 ·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VLSI Design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12</a:t>
            </a:r>
          </a:p>
        </p:txBody>
      </p:sp>
      <p:pic>
        <p:nvPicPr>
          <p:cNvPr id="9" name="Picture 8" descr="design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0" y="1097280"/>
            <a:ext cx="11117599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Read the chain left to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Each box is caused by the one before it. The last box — "CAD tools need a language" — is where Verilog enters, and it is the only reason this course has a subject.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2.2 · 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Scale Problem, 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13</a:t>
            </a:r>
          </a:p>
        </p:txBody>
      </p:sp>
      <p:pic>
        <p:nvPicPr>
          <p:cNvPr id="9" name="Picture 8" descr="sca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7115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2.3 · MOORE'S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Moore's Law — Measured, Not Predicted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14</a:t>
            </a:r>
          </a:p>
        </p:txBody>
      </p:sp>
      <p:pic>
        <p:nvPicPr>
          <p:cNvPr id="9" name="Picture 8" descr="moor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29" y="1097280"/>
            <a:ext cx="8651421" cy="43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5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6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What a straight line on a log scale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8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Constant exponential growth. Every point is a real, published transistor count, and the dashed line is a plain doubling every two years anchored on the 4004 — drawn to show that the data really does track it over five decades.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2.3 · MOORE'S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Why It Is an Observation, Not a Law of 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15</a:t>
            </a:r>
          </a:p>
        </p:txBody>
      </p:sp>
      <p:pic>
        <p:nvPicPr>
          <p:cNvPr id="9" name="Picture 8" descr="moore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5057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2.4 · 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Made It Possible — and Where It Stands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16</a:t>
            </a:r>
          </a:p>
        </p:txBody>
      </p:sp>
      <p:pic>
        <p:nvPicPr>
          <p:cNvPr id="9" name="Picture 8" descr="tech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912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2.4 · 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a "Nanometre" Actually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17</a:t>
            </a:r>
          </a:p>
        </p:txBody>
      </p:sp>
      <p:pic>
        <p:nvPicPr>
          <p:cNvPr id="9" name="Picture 8" descr="featur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6993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2.5 ·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Three Requirements That Fight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18</a:t>
            </a:r>
          </a:p>
        </p:txBody>
      </p:sp>
      <p:pic>
        <p:nvPicPr>
          <p:cNvPr id="9" name="Picture 8" descr="tradeoff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19" y="1097280"/>
            <a:ext cx="10185441" cy="42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4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5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This is why the flow has choices in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7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If one design were simply best, a tool could find it and the job would be done. Because these three pull against each other, somebody has to decide which matters most — and that somebody is the designer, not the tool.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2.6 · THE CONSEQUENCE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"Manual Design Is Simply Ruled Out"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19</a:t>
            </a:r>
          </a:p>
        </p:txBody>
      </p:sp>
      <p:pic>
        <p:nvPicPr>
          <p:cNvPr id="9" name="Picture 8" descr="manual_impos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5817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6B45A8"/>
                </a:solidFill>
                <a:latin typeface="Calibri"/>
              </a:rPr>
              <a:t>THEORY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The Answer: a Standardized Design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If no one person can place the transistors, the work has to be split into steps with defined inputs and outputs — and handed to programs.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steps of the flow, and what each produces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What a CAD tool actually does: HDL in, more detailed HDL 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two competing HDLs, and the others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One circuit carried down all five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3.1 ·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VLSI Design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21</a:t>
            </a:r>
          </a:p>
        </p:txBody>
      </p:sp>
      <p:pic>
        <p:nvPicPr>
          <p:cNvPr id="9" name="Picture 8" descr="design_flow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1427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1420"/>
            <a:ext cx="11247120" cy="10972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954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Why it had to be standardized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69748"/>
            <a:ext cx="10917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Dozens of engineers, several companies and a fabrication plant all work on one chip. A standard flow gives each step a defined input, a defined output and a defined check — so the work can be divided up, and a mistake is caught at the step that made it rather than three steps later.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3.2 · THE CAD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a CAD Tool Actually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22</a:t>
            </a:r>
          </a:p>
        </p:txBody>
      </p:sp>
      <p:pic>
        <p:nvPicPr>
          <p:cNvPr id="9" name="Picture 8" descr="cad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73" y="1097280"/>
            <a:ext cx="11083333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The idea to hold on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At every one of these steps, both the input and the output are hardware descriptions. Nothing is ever "compiled into a program" — the design simply gets described in progressively more concrete terms, until the last description is a set of shapes a factory can print.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3.3 · THE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Two Competing HDLs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23</a:t>
            </a:r>
          </a:p>
        </p:txBody>
      </p:sp>
      <p:pic>
        <p:nvPicPr>
          <p:cNvPr id="9" name="Picture 8" descr="hdl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7222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910966"/>
            <a:ext cx="11247120" cy="13716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974974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"Designs are created typically using HDLs, which get transformed from one level of abstraction to the next as the design flow progresses."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249294"/>
            <a:ext cx="1091793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Both Verilog and VHDL can describe the same hardware, and a synthesis tool will produce the same gates from either. The choice is a matter of house style, existing code and local convention — not of what the silicon can do. In Lab 5 you will write the same counter in both and compare the waveforms.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3.3 · THE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Same Counter, in Both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VERILOG  ·  rtl/counter4.v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Terse. The register, the reset and the increment fit in four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>VHDL  ·  vhdl/counter4.vhd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Verbose and strongly typed — the count has to be converted before it leaves the entity.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03120"/>
            <a:ext cx="5532120" cy="290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217420"/>
            <a:ext cx="5166360" cy="267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module counter4 (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input  wire       clk,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input  wire       rst,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output reg  [3:0] q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);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always @(posedge clk) begin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    if (rst) q &lt;= 4'd0;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    else     q &lt;= q + 4'd1;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    end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D8E4F0"/>
                </a:solidFill>
                <a:latin typeface="Consolas"/>
              </a:rPr>
              <a:t>endmodule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103120"/>
            <a:ext cx="5532120" cy="396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17420"/>
            <a:ext cx="5166360" cy="373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entity counter4 is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port (clk : in  std_logic;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    rst : in  std_logic;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    q   : out std_logic_vector(3 downto 0));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end entity;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architecture rtl of counter4 is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signal cnt : unsigned(3 downto 0);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begin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process (clk) begin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if rising_edge(clk) then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  if rst = '1' then cnt &lt;= (others =&gt; '0');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  else              cnt &lt;= cnt + 1;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  end if;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  end if;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end process;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  q &lt;= std_logic_vector(cnt);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8E4F0"/>
                </a:solidFill>
                <a:latin typeface="Consolas"/>
              </a:rPr>
              <a:t>end architecture;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3.4 · 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Simplistic View of the Design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25</a:t>
            </a:r>
          </a:p>
        </p:txBody>
      </p:sp>
      <p:pic>
        <p:nvPicPr>
          <p:cNvPr id="9" name="Picture 8" descr="flow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01" y="1097280"/>
            <a:ext cx="11075878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3.4 · 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One Circuit, All Five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26</a:t>
            </a:r>
          </a:p>
        </p:txBody>
      </p:sp>
      <p:pic>
        <p:nvPicPr>
          <p:cNvPr id="9" name="Picture 8" descr="ladd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62" y="1097280"/>
            <a:ext cx="10105556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The point of the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All five describe exactly the same counter. A designer writes the first one; tools produce the other four. In Lab 3 you will run that descent yourself and count what comes out at each level.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3.4 · THE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Counts as a "Component" at Each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27</a:t>
            </a:r>
          </a:p>
        </p:txBody>
      </p:sp>
      <p:pic>
        <p:nvPicPr>
          <p:cNvPr id="9" name="Picture 8" descr="abstraction_what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6171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805853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869861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Read the last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144181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number of things to keep track of grows by roughly a factor of ten at every level. That growth is exactly why a designer works at the top of the table and lets tools handle the bottom.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2A9D5C"/>
                </a:solidFill>
                <a:latin typeface="Calibri"/>
              </a:rPr>
              <a:t>THEORY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The Steps,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The lecturer now walks down the ladder, naming each level and saying what its description is made of. This section follows him rung by rung.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Behavioral design — four ways of saying what a circuit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Data path design, and what a netlist really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Logic design, standard cells, and the optimisation trade-off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Physical design, manufacturing, and the FPGA alternative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8698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other steps: simulation, formal verification,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4.1 · BEHAVIORAL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Four Ways of Saying What a Circuit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29</a:t>
            </a:r>
          </a:p>
        </p:txBody>
      </p:sp>
      <p:pic>
        <p:nvPicPr>
          <p:cNvPr id="9" name="Picture 8" descr="behavioral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37" y="1097280"/>
            <a:ext cx="10412207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>What they have in common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Not one of these says how the circuit is BUILT. Each one says only what the circuit must DO. That is what makes them behavioural — and it is why a synthesis tool is free to build them in whichever way is cheapest.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4.2 · DATA PATH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Register Transfer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33414F"/>
                </a:solidFill>
                <a:latin typeface="Calibri"/>
              </a:rPr>
              <a:t>The components are no longer statements. They are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registers, adders, multipliers, multiplexers, decoders and buses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 — things you could point at on a block diagram.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33414F"/>
                </a:solidFill>
                <a:latin typeface="Calibri"/>
              </a:rPr>
              <a:t>The name says what happens: on each clock edge, values are </a:t>
            </a:r>
            <a:r>
              <a:rPr sz="1250" b="1" i="0">
                <a:solidFill>
                  <a:srgbClr val="1B9AAA"/>
                </a:solidFill>
                <a:latin typeface="Calibri"/>
              </a:rPr>
              <a:t>TRANSFERRED between REGISTERS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, possibly through some logic on the 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33414F"/>
                </a:solidFill>
                <a:latin typeface="Calibri"/>
              </a:rPr>
              <a:t>This is the level a Verilog designer actually works at, and it is the level the rest of Module 2 is about.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06040"/>
            <a:ext cx="11247120" cy="163068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2034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out/counter4_rtl.v — produced by Yosys in Lab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94660"/>
            <a:ext cx="10881360" cy="112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the behavioural description above, as the tool re-wrote it: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_0_ = q + 4'h1;          // an incrementer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always @(posedge clk)           // a 4-bit register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if (rst) q &lt;= 4'h0;           // with a synchronous reset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else     q &lt;= _0_;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328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00" b="1" i="0">
                <a:solidFill>
                  <a:srgbClr val="0E2A47"/>
                </a:solidFill>
                <a:latin typeface="Calibri"/>
              </a:rPr>
              <a:t>Two components: one adder and one register. That is what "data path design" means, and you will see Yosys report exactly those two cells.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4.2 · DATA PATH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Netlist Is a Directed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31</a:t>
            </a:r>
          </a:p>
        </p:txBody>
      </p:sp>
      <p:pic>
        <p:nvPicPr>
          <p:cNvPr id="9" name="Picture 8" descr="netlis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68" y="1097280"/>
            <a:ext cx="10326744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Why a graph, and not a 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Because a graph is something a program can hold in memory and transform. Every CAD step after this one — optimisation, mapping, placement, routing — is an operation on this graph.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4.2 · DATA PATH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Same Netlist, at Three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32</a:t>
            </a:r>
          </a:p>
        </p:txBody>
      </p:sp>
      <p:pic>
        <p:nvPicPr>
          <p:cNvPr id="9" name="Picture 8" descr="netlist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7566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945419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009427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The same design, three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283747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Each level is a netlist. What changes is only what counts as a vertex. Synthesis is the process of rewriting a netlist in terms of smaller vertices.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4.3 · THE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Structural or Behavioural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33</a:t>
            </a:r>
          </a:p>
        </p:txBody>
      </p:sp>
      <p:pic>
        <p:nvPicPr>
          <p:cNvPr id="9" name="Picture 8" descr="struct_vs_beh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5305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719289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783297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Two consequences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057617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netlist IS a structural description — the lecturer says so explicitly. And synthesis is simply the act of turning one into the other: you write behavioural Verilog, and the tool emits structural Verilog.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4.3 · THE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Same Adder, Written Both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08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5166360" cy="185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// BEHAVIOURAL - say what it does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module add2 (input a, b, cin,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         output sum, cout);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assign {cout, sum} = a + b + cin;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endmodule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// one line. The tool picks the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532120" cy="283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57300"/>
            <a:ext cx="5166360" cy="260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// STRUCTURAL - say what it is made of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module add2 (input a, b, cin,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         output sum, cout);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wire s1, c1, c2;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xor  u1 (s1,   a,  b);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and  u2 (c1,   a,  b);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xor  u3 (sum,  s1, cin);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and  u4 (c2,   s1, cin);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    or   u5 (cout, c1, c2);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8E4F0"/>
                </a:solidFill>
                <a:latin typeface="Consolas"/>
              </a:rPr>
              <a:t>endmodule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6444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41284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Both are legal Verilog, and both describe the same 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40276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You will write far more behavioural code than structural. But the tool's OUTPUT is always structural — which is exactly why you have to be able to read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4.4 · LOGIC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a Standard Cell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35</a:t>
            </a:r>
          </a:p>
        </p:txBody>
      </p:sp>
      <p:pic>
        <p:nvPicPr>
          <p:cNvPr id="9" name="Picture 8" descr="standard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4" y="1097280"/>
            <a:ext cx="10784071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A cell is all of these at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standard cell is stored in a library as a symbol to place, a truth table to simulate, a timing model, and a finished piece of layout. Synthesis picks cells from that library; the place-and-route tool stamps their layouts down.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4.4 · LOGIC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Why a Cell Library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36</a:t>
            </a:r>
          </a:p>
        </p:txBody>
      </p:sp>
      <p:pic>
        <p:nvPicPr>
          <p:cNvPr id="9" name="Picture 8" descr="opt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6171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805853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869861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Why a library exists at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144181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Laying out a NAND gate correctly takes a skilled engineer a long time. Doing it once, perfectly, and then reusing it a million times is the only way the numbers work.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4.4 · LOGIC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Three Goals That Pull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1B9AAA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18872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Fewer cells, less silicon, cheaper chip — but the cheapest structure is often a deep one, and deep means slow.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5740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057400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6B45A8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0312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The depth of the logic IS its delay, and delay is what limits the clock. Flattening it costs extra gates.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97180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2971800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C77514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7180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TRANSITIONS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1752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Every change at a gate output moves charge and spends energy. Reducing switching usually means adding control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97764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0416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"These requirements are often conflicting"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31596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synthesis tool does not find THE answer — there isn't one. It finds an answer that satisfies the constraints you gave it. Give it different constraints and you get different hardware from the same Verilog.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4.5 · PHYSICAL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Polygons, One Layer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38</a:t>
            </a:r>
          </a:p>
        </p:txBody>
      </p:sp>
      <p:pic>
        <p:nvPicPr>
          <p:cNvPr id="9" name="Picture 8" descr="physical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9572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145925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209933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Why the shapes are all rectangles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484253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Because they are printed photographically, layer by layer, onto a silicon wafer. Regular shapes expose cleanly and etch predictably; awkward ones do not.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4.5 · PHYSICAL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Two Ways to Finish: ASIC or FPGA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39</a:t>
            </a:r>
          </a:p>
        </p:txBody>
      </p:sp>
      <p:pic>
        <p:nvPicPr>
          <p:cNvPr id="9" name="Picture 8" descr="asic_vs_fp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093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281954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45962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"Much greater flexibility, but less speed"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20282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trade-off the lecturer names. An FPGA is a chip already manufactured, full of configurable blocks you program in your own laboratory. An ASIC is a chip built for your design alone.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4.6 · THE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Other Steps in the Design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40</a:t>
            </a:r>
          </a:p>
        </p:txBody>
      </p:sp>
      <p:pic>
        <p:nvPicPr>
          <p:cNvPr id="9" name="Picture 8" descr="other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7222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910966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974974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Where each of these returns in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249294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Simulation is used in almost every lecture from Week 1 onwards, and Week 5 is devoted to test benches. Formal verification and testability are named here, but are beyond this course's scope.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4.7 ·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Where the Rest of This Course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41</a:t>
            </a:r>
          </a:p>
        </p:txBody>
      </p:sp>
      <p:pic>
        <p:nvPicPr>
          <p:cNvPr id="9" name="Picture 8" descr="cours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87" y="1097280"/>
            <a:ext cx="10877305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Notice what is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Nothing after logic design. Physical design, manufacturing and test are real and essential, but in this course they are the tools' job. Your work ends at a netlist.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2A9D5C"/>
                </a:solidFill>
                <a:latin typeface="Calibri"/>
              </a:rPr>
              <a:t>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Check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Lecture 01 makes one big claim: a CAD tool rewrites a hardware description as a more detailed one without changing what it does. In this section you install four free tools and test that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Install Icarus Verilog, GTKWave, Yosys and GHDL — any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 1 · simulate a counter and look at its waveform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 2 · watch a tool rewrite your Verilog, and prove it still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 3 · count the cells at each level of the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8698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 4 · ASIC mapping against FPGA mapping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99846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 5 · the same design in Verilog and in VHDL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L01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P.1 · 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Toolchain for This 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43</a:t>
            </a:r>
          </a:p>
        </p:txBody>
      </p:sp>
      <p:pic>
        <p:nvPicPr>
          <p:cNvPr id="9" name="Picture 8" descr="too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" y="1097280"/>
            <a:ext cx="11020219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Why these four, and why they are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Every tool here is open source and runs on Windows, macOS and Linux. Nothing in Lecture 01 needs a licence, a university server or a vendor account — which means you can do all of it on your own machine, tonight.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P.1 · 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Installing It — One Line per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44</a:t>
            </a:r>
          </a:p>
        </p:txBody>
      </p:sp>
      <p:pic>
        <p:nvPicPr>
          <p:cNvPr id="9" name="Picture 8" descr="install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093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281954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45962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If you are on Windows, use WSL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20282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Windows Subsystem for Linux gives you a real Ubuntu inside Windows, and every command in this lab then works unchanged. Install it once with  wsl --install  in an Administrator PowerShell, restart, and follow the Linux column.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P.1 · 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Checking That It Worked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45</a:t>
            </a:r>
          </a:p>
        </p:txBody>
      </p:sp>
      <p:pic>
        <p:nvPicPr>
          <p:cNvPr id="9" name="Picture 8" descr="verify_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39633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152109"/>
            <a:ext cx="11247120" cy="11887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216117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Versions newer than these are 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490437"/>
            <a:ext cx="109179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figures quoted throughout this deck were produced with Icarus 12.0, Yosys 0.33 and GHDL 4.1.0. A newer synthesiser may optimise slightly differently and report a different cell count — which is itself worth noticing, because it shows that optimisation has no single right answer.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P.2 · THE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Five Labs, and What Each One Proves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46</a:t>
            </a:r>
          </a:p>
        </p:txBody>
      </p:sp>
      <p:pic>
        <p:nvPicPr>
          <p:cNvPr id="9" name="Picture 8" descr="lab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18" y="1097280"/>
            <a:ext cx="9062245" cy="4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87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4027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Every claim in this lecture is checked by one of these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770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theory section asserts that a CAD tool rewrites one hardware description as a more detailed one without changing what it does. Lab 2 proves exactly that, on your own machine, in about thirty seconds.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LAB 1 · make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Design: a 4-Bit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38862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rtl/counter4.v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31620"/>
            <a:ext cx="108813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counter4 - a 4-bit up counter, written BEHAVIOURALLY.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Nothing here says which gates to use, or how many. It says only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what the output must be after each rising clock edge. Choosing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the gates is the synthesis tool's job.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module counter4 (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input  wire       clk,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input  wire       rst,     // synchronous, active high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output reg  [3:0] q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);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always @(posedge clk) begin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    if (rst) q &lt;= 4'd0;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    else     q &lt;= q + 4'd1;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end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endmodule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2064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51846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2A9D5C"/>
                </a:solidFill>
                <a:latin typeface="Cambria"/>
              </a:rPr>
              <a:t>Ten lines of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45896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This file never mentions a gate, a flip-flop or a wire between them. That is the whole point: it is a behavioural description, and everything below it in the flow will be produced from it by a program.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LAB 1 · make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Test 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3961384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rtl/tb_counter4.v  (abridged)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31620"/>
            <a:ext cx="10881360" cy="3458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`timescale 1ns/1ps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module tb_counter4;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reg clk = 1'b0,  rst = 1'b1;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wire [3:0] q;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counter4 dut (.clk(clk), .rst(rst), .q(q));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always #5 clk = ~clk;        // 100 MHz: a 10 ns period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initial begin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    $dumpfile("out/counter4.vcd");  // record for GTKWave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    $dumpvars(0, tb_counter4);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    @(negedge clk);  rst = 1'b0;    // release reset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    ...                             // check 20 cycles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    $display("PASS  counter4 counted 0..15 and wrapped");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end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endmodule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95824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5259832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A test bench is not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534152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It has no ports, it is never synthesised, and it may use delays, loops and $display freely. It is a program whose job is to drive the hardware and watch what comes out.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LAB 2 · make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HDL In, HDL Out —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3657600" cy="1581912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329184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1. what you wrote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always @(posedge clk)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begin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if (rst) q &lt;= 4'd0;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  else     q &lt;= q + 4'd1;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43000"/>
            <a:ext cx="3657600" cy="143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57300"/>
            <a:ext cx="3291840" cy="120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2. after synthesis (RTL)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_0_ = q + 4'h1;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always @(posedge clk)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if (rst) q &lt;= 4'h0;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  else     q &lt;= _0_;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143000"/>
            <a:ext cx="3657600" cy="196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57300"/>
            <a:ext cx="3291840" cy="173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// 3. after mapping (gates)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_02_[0] = ~q[0];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_00_ = q[0] &amp; q[1];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_01_ = ~(q[2] &amp; _00_);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_03_[3] = ~(q[3] ^ _01_);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_03_[1] = q[0] ^ q[1];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8E4F0"/>
                </a:solidFill>
                <a:latin typeface="Consolas"/>
              </a:rPr>
              <a:t>assign _03_[2] = q[2] ^ _00_;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9444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2584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>All three are Verilog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53276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That is the lecture's central slide, made concrete. The tool did not compile your design into something else — it re-described it, twice, each time in more detail. The third column is a netlist: gates and the wires between them.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6B45A8"/>
                </a:solidFill>
                <a:latin typeface="Calibri"/>
              </a:rPr>
              <a:t>LAB 2 · make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And It Still Behaves the Same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3529076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the whole claim of Lecture 01, in one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31620"/>
            <a:ext cx="10881360" cy="302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$ make prove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--- 1. the behavioural description (what the designer wrote) ---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PASS  counter4 counted 0..15 and wrapped correctly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--- 2. synthesise it down to gates ---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   wrote out/counter4_gates.v (33 lines)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--- 3. the SAME test bench, run against the gate netlist ---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PASS  counter4 counted 0..15 and wrapped correctly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--- 4. compare the two waveforms, cycle by cycle ---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IDENTICAL - 22 transitions, same value at the same time.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8E4F0"/>
                </a:solidFill>
                <a:latin typeface="Consolas"/>
              </a:rPr>
              <a:t>The synthesiser changed the DESCRIPTION, not the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763516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4827524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>Why this is worth running yourself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101844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One test bench, two very different descriptions, identical output at every instant. Nothing in the lecture has to be taken on trust after this.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LAB 3 · make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the Tools Actually Reported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51</a:t>
            </a:r>
          </a:p>
        </p:txBody>
      </p:sp>
      <p:pic>
        <p:nvPicPr>
          <p:cNvPr id="9" name="Picture 8" descr="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247120" cy="41427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314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954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These are measured numbers, not illustrations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697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Every figure on this slide came out of Yosys 0.33 running on the counter in rtl/counter4.v. Run  make ladder  and you will get the same table. If your version of Yosys gives slightly different numbers, that is itself worth discussing — optimisation is not unique.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LAB 4 · make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ASIC Mapping against FPGA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26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5166360" cy="203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=== mapped to logic GATES (the ASIC route) ===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Number of cells:         10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$_AND_                  1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$_NAND_                 1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$_NOT_                  1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$_SDFF_PP0_             4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$_XNOR_                 1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$_XOR_                 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532120" cy="22600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57300"/>
            <a:ext cx="5166360" cy="203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=== mapped to 4-input LUTs (the FPGA route) ===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Number of cells:          8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$_SDFF_PP0_             4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 $lut                    4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// four look-up tables replace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// the six gates on the left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9444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5584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Same source file, two different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832768"/>
            <a:ext cx="10917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four flip-flops are the same either way — one per bit of the counter. What changes is the combinational logic: six dedicated gates for silicon you will manufacture, or four look-up tables inside a chip you can buy today. That is the flexibility-for-speed trade the lecturer names.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LAB 5 · make langs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Same Design in Two Languages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332232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two languages, one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31620"/>
            <a:ext cx="10881360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$ make langs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--- Verilog (Icarus) ---     PASS  counted 0..15 and wrapped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--- VHDL (GHDL) ---          PASS  counted 0..15 and wrapped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--- the whole run, including time zero ---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they differ, and ONLY here: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&lt;      0.000 ns   xxxx          (Verilog)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&lt;      5.000 ns   0000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   &gt;      0.000 ns   0000          (VHDL)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--- from the end of reset onwards (15 ns) ---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D8E4F0"/>
                </a:solidFill>
                <a:latin typeface="Consolas"/>
              </a:rPr>
              <a:t>IDENTICAL - 20 transitions, same value at the same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556760"/>
            <a:ext cx="11247120" cy="109728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46207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01F43"/>
                </a:solidFill>
                <a:latin typeface="Cambria"/>
              </a:rPr>
              <a:t>The one difference is the most useful part of the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95088"/>
            <a:ext cx="10917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Verilog reg holds x — unknown — until something drives it, so q reads xxxx until the reset edge clears it. The VHDL signal was declared with an initial value, so it reads 0000 from time zero. The hardware is identical: a real flip-flop also powers up unpredictably, which is why designs have resets.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P.3 ·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Take It Further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1.  Change the counter to 8 bits. Re-run </a:t>
            </a:r>
            <a:r>
              <a:rPr sz="1150" b="0" i="0">
                <a:solidFill>
                  <a:srgbClr val="33414F"/>
                </a:solidFill>
                <a:latin typeface="Consolas"/>
              </a:rPr>
              <a:t>make ladder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 and record the new cell counts. Did the number of gates double?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2.  Make the reset asynchronous — </a:t>
            </a:r>
            <a:r>
              <a:rPr sz="1100" b="0" i="0">
                <a:solidFill>
                  <a:srgbClr val="33414F"/>
                </a:solidFill>
                <a:latin typeface="Consolas"/>
              </a:rPr>
              <a:t>always @(posedge clk or posedge rst)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 — and compare the gate-level netlists before and after.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3.  Write a down-counter and prove it with </a:t>
            </a:r>
            <a:r>
              <a:rPr sz="1150" b="0" i="0">
                <a:solidFill>
                  <a:srgbClr val="33414F"/>
                </a:solidFill>
                <a:latin typeface="Consolas"/>
              </a:rPr>
              <a:t>make prove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. How many cells does it take compared with counting up?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146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4.  Open both </a:t>
            </a:r>
            <a:r>
              <a:rPr sz="1100" b="0" i="0">
                <a:solidFill>
                  <a:srgbClr val="33414F"/>
                </a:solidFill>
                <a:latin typeface="Consolas"/>
              </a:rPr>
              <a:t>out/counter4_behav.vcd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 and </a:t>
            </a:r>
            <a:r>
              <a:rPr sz="1100" b="0" i="0">
                <a:solidFill>
                  <a:srgbClr val="33414F"/>
                </a:solidFill>
                <a:latin typeface="Consolas"/>
              </a:rPr>
              <a:t>out/counter4_gates.vcd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 in GTKWave at the same time and align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718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5.  Try </a:t>
            </a:r>
            <a:r>
              <a:rPr sz="1150" b="0" i="0">
                <a:solidFill>
                  <a:srgbClr val="33414F"/>
                </a:solidFill>
                <a:latin typeface="Consolas"/>
              </a:rPr>
              <a:t>abc -lut 6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 instead of </a:t>
            </a:r>
            <a:r>
              <a:rPr sz="1150" b="0" i="0">
                <a:solidFill>
                  <a:srgbClr val="33414F"/>
                </a:solidFill>
                <a:latin typeface="Consolas"/>
              </a:rPr>
              <a:t>abc -lut 4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. Why do larger look-up tables need fewer of them?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290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1" i="0">
                <a:solidFill>
                  <a:srgbClr val="1B9AAA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6.  Write the counter in VHDL from memory, then diff your version against </a:t>
            </a:r>
            <a:r>
              <a:rPr sz="1100" b="0" i="0">
                <a:solidFill>
                  <a:srgbClr val="33414F"/>
                </a:solidFill>
                <a:latin typeface="Consolas"/>
              </a:rPr>
              <a:t>vhdl/counter4.vhd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77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00" b="1" i="0">
                <a:solidFill>
                  <a:srgbClr val="0E2A47"/>
                </a:solidFill>
                <a:latin typeface="Calibri"/>
              </a:rPr>
              <a:t>The workbook carries all of these with full worked solutions, plus thirty more.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0E2A47"/>
                </a:solidFill>
                <a:latin typeface="Calibri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Ten Questions on Lecture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011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1.  Name the five levels of the design flow, in order.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2.  What are the INPUT and the OUTPUT of a CAD tool?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3.  Define a netlist.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4.  What does "register transfer" refer to?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5.  Give two ways of specifying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2011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6.  What is a standard cell, and why does a library of them exist?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7.  State Moore's Law. Is it a law of physics?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8.  Name three optimisation goals that conflict.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9.  Give one advantage of an FPGA over an ASIC, and one the other way.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10. Why is a netlist also called a structural description?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461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3101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5844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Every one of these is answered somewhere in this deck, and all ten appear with model answers in the workbook. Questions 2, 3 and 10 are the ones that matter most for the rest of the module.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Lecture 01 Established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C01F43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18872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Chips grew from a handful of transistors to billions. No human can place them, and the requirements — area, speed, power — conflict.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48256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048256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C77514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48256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THE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093976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A standardized design flow: specification, behavioural design, data path, logic, physical, manufacturing. Each step has a defined input and output, and each is carried out by a program.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953512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2953512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6B45A8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53512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THE 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999232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A CAD tool reads a hardware description and writes a more detailed hardware description. It never changes what the circuit does — you proved this yourself in Lab 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858768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3858768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1B9AAA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858768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THE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904488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Those descriptions are written in an HDL. Verilog and VHDL are the two in common use; this course uses Verilog. An HDL is not a programming language.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64024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4764024"/>
            <a:ext cx="1737360" cy="868680"/>
          </a:xfrm>
          <a:prstGeom prst="roundRect">
            <a:avLst>
              <a:gd name="adj" fmla="val 5714"/>
            </a:avLst>
          </a:prstGeom>
          <a:solidFill>
            <a:srgbClr val="2A9D5C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764024"/>
            <a:ext cx="1737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YOUR PLACE IN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809744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33414F"/>
                </a:solidFill>
                <a:latin typeface="Calibri"/>
              </a:rPr>
              <a:t>A Verilog designer works at the behavioural and data path levels. Everything below is the tools' job — which is why those two levels are what the next seven weeks teach.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Lecture 02 — Design Representation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Hardware Modeling using Verilog (NPTEL, IIT Kharagpur) · Lecture 01: Introduction   ·   expanded for Chip Design Associate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L01 ·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300" b="0" i="0">
                <a:solidFill>
                  <a:srgbClr val="33414F"/>
                </a:solidFill>
                <a:latin typeface="Calibri"/>
              </a:rPr>
              <a:t>The next lecture takes the one idea this one left implicit — that the same design can be looked at from different angles — and makes it the subject.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74520"/>
            <a:ext cx="3627120" cy="11887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6B45A8"/>
                </a:solidFill>
                <a:latin typeface="Cambria"/>
              </a:rPr>
              <a:t>BEHAVIOURAL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335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Algorithms, specifications, Boolean expressions, truth tables, state diagrams.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1480" y="1874520"/>
            <a:ext cx="3627120" cy="11887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193852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1B9AAA"/>
                </a:solidFill>
                <a:latin typeface="Cambria"/>
              </a:rPr>
              <a:t>STRUCTURAL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2212848"/>
            <a:ext cx="335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Netlists: modules, gates and transistors, and the wires between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1480" y="1874520"/>
            <a:ext cx="3627120" cy="118872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8640" y="193852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C77514"/>
                </a:solidFill>
                <a:latin typeface="Cambria"/>
              </a:rPr>
              <a:t>PHYSICAL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212848"/>
            <a:ext cx="335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Floorplans, cell placement, routing, and the final layout geometry.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15468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21868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1" i="0">
                <a:solidFill>
                  <a:srgbClr val="0E2A47"/>
                </a:solidFill>
                <a:latin typeface="Cambria"/>
              </a:rPr>
              <a:t>The Y-diagram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49300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Lecture 02 arranges those three as the arms of a Y, with the highest level of abstraction at the outside and the finished layout at the centre. Every design step is then a move along an arm, or a jump between arms — and Module 2 lives on the behavioural and structural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