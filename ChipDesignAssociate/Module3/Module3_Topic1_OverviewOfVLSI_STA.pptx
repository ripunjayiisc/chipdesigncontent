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2103120"/>
            <a:ext cx="7315200" cy="73152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822960"/>
            <a:ext cx="4572000" cy="457200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500" b="1" i="0" spc="300">
                <a:solidFill>
                  <a:srgbClr val="1B9AAA"/>
                </a:solidFill>
                <a:latin typeface="Calibri"/>
              </a:rPr>
              <a:t>MODULE 3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2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500" b="1" i="0">
                <a:solidFill>
                  <a:srgbClr val="FFFFFF"/>
                </a:solidFill>
                <a:latin typeface="Cambria"/>
              </a:rPr>
              <a:t>Overview of VLSI 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0" i="0">
                <a:solidFill>
                  <a:srgbClr val="C9D6E3"/>
                </a:solidFill>
                <a:latin typeface="Calibri"/>
              </a:rPr>
              <a:t>Introduction to timing analysis  ·  Combinational circuit timing: races and hazards  ·  Sequential circuit timing: setup and hold  ·  Maximum frequency of operation  ·  Timing constraints for synthesis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40142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Theory 1 · What timing analysis is, and what a truth table cannot tell you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44714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Theory 2 · Races and hazards — the new material, and most of the session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9286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Theory 3 · Setup, hold, maximum frequency, and real violations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53858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Theory 4 · Timing constraints for synthesis, and what synthesis does back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5843016"/>
            <a:ext cx="237744" cy="237744"/>
          </a:xfrm>
          <a:prstGeom prst="ellipse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E7EEF5"/>
                </a:solidFill>
                <a:latin typeface="Calibri"/>
              </a:rPr>
              <a:t>Practical · Labs A–G · 12 hours · 58 exercises · Vivado on Zynq-7000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M3-T1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MODULE 3 · NOS NIE/ELE/N0103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Terminal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</a:t>
            </a:r>
          </a:p>
        </p:txBody>
      </p:sp>
      <p:pic>
        <p:nvPicPr>
          <p:cNvPr id="9" name="Picture 8" descr="terminal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453" y="1097280"/>
            <a:ext cx="6145173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30352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36752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This subtopic is the foundation for both of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64184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Outcome 1 is built here and completed in subtopic 3. Outcome 2 needs the vocabulary and the diagnostic habits this subtopic establishes — you cannot write an ECO for a violation you cannot classify.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MODULE 3 · TOPIC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Key 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</a:t>
            </a:r>
          </a:p>
        </p:txBody>
      </p:sp>
      <p:pic>
        <p:nvPicPr>
          <p:cNvPr id="9" name="Picture 8" descr="learning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614" y="1097280"/>
            <a:ext cx="6554852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577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100" b="1" i="0">
                <a:solidFill>
                  <a:srgbClr val="2A9D5C"/>
                </a:solidFill>
                <a:latin typeface="Calibri"/>
              </a:rPr>
              <a:t>Every outcome on that slide is assessed by something you run, not by something you recite.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TOPIC 1 ·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Every Syllabus Phrase, and Where It Is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</a:t>
            </a:r>
          </a:p>
        </p:txBody>
      </p:sp>
      <p:pic>
        <p:nvPicPr>
          <p:cNvPr id="9" name="Picture 8" descr="syllabu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177" y="1097280"/>
            <a:ext cx="6325725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852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The genuinely new material in this subtopic is races and hazards, so it is given the most room.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TOPIC 1 ·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How This Session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</a:t>
            </a:r>
          </a:p>
        </p:txBody>
      </p:sp>
      <p:pic>
        <p:nvPicPr>
          <p:cNvPr id="9" name="Picture 8" descr="topic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894" y="1097280"/>
            <a:ext cx="6418292" cy="4297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48640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55040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77514"/>
                </a:solidFill>
                <a:latin typeface="Cambria"/>
              </a:rPr>
              <a:t>A note on overlap with Module 2 Topic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82472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Setup, hold and constraints were taught there from the RTL designer's point of view. Here they return at gate level, as one half of a larger question — because a circuit can pass every timing check and still misbehave.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1B9AAA"/>
                </a:solidFill>
                <a:latin typeface="Calibri"/>
              </a:rPr>
              <a:t>THEORY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What Timing Analysis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A truth table tells you what a circuit computes. It says nothing at all about when.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Why a correct circuit can still be wrong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three questions timing 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Static analysis and dynamic simulation — two different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75504"/>
            <a:ext cx="91440" cy="182880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vocabulary the rest of the session assumes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M3-T1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01F43"/>
                </a:solidFill>
                <a:latin typeface="Calibri"/>
              </a:rPr>
              <a:t>1.1 ·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 Circuit Can Be Correct and Still Be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1247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250" b="0" i="0">
                <a:solidFill>
                  <a:srgbClr val="33414F"/>
                </a:solidFill>
                <a:latin typeface="Calibri"/>
              </a:rPr>
              <a:t>A truth table is a promise about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settled values</a:t>
            </a:r>
            <a:r>
              <a:rPr sz="1250" b="0" i="0">
                <a:solidFill>
                  <a:srgbClr val="33414F"/>
                </a:solidFill>
                <a:latin typeface="Calibri"/>
              </a:rPr>
              <a:t>. It says that once everything has stopped moving, the output will be this. It makes no promise whatsoever about </a:t>
            </a:r>
            <a:r>
              <a:rPr sz="1250" b="1" i="0">
                <a:solidFill>
                  <a:srgbClr val="C01F43"/>
                </a:solidFill>
                <a:latin typeface="Calibri"/>
              </a:rPr>
              <a:t>the journey</a:t>
            </a:r>
            <a:r>
              <a:rPr sz="1250" b="0" i="0">
                <a:solidFill>
                  <a:srgbClr val="33414F"/>
                </a:solidFill>
                <a:latin typeface="Calibri"/>
              </a:rPr>
              <a:t> — and real gates take real time to make that journey.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920240"/>
            <a:ext cx="3627120" cy="173736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84248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What the truth table guarantees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58568"/>
            <a:ext cx="335280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Given inputs A, B, C, the output will eventually be F.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Every row, every time.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This is what your RTL simulation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1480" y="1920240"/>
            <a:ext cx="3627120" cy="173736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640" y="1984248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77514"/>
                </a:solidFill>
                <a:latin typeface="Cambria"/>
              </a:rPr>
              <a:t>What it does not guarantee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2258568"/>
            <a:ext cx="335280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That F goes there directly.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That F does not visit the wrong value first.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That F arrives before the next clock edge.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1480" y="1920240"/>
            <a:ext cx="3627120" cy="173736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8640" y="1984248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And what neither one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2258568"/>
            <a:ext cx="335280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Whether the value that mattered was sampled at the right instant.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 design can be functionally perfect and electrically unusable.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749040"/>
            <a:ext cx="11247120" cy="109728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8130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Two failures that a functional simulation will never show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4087368"/>
            <a:ext cx="109179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1.  The output passes through a wrong value on its way to the right one — a HAZARD.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2.  The output arrives after the flip-flop needed it — a SETUP VIOLATION.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C01F43"/>
                </a:solidFill>
                <a:latin typeface="Calibri"/>
              </a:rPr>
              <a:t>Both are invisible in a zero-delay simulation, because a zero-delay simulation has no delays to get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1.2 · THE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Timing Analysis Asks Three Things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4114800" cy="45720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143000"/>
            <a:ext cx="4297680" cy="45720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430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failure if the answer is 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143000"/>
            <a:ext cx="2834640" cy="45720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143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Answered by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6002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Did the data arrive before the capturing edge needed it?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1600200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002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setup violation — the chip runs, but slower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160020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00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static timing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057400"/>
            <a:ext cx="411480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0574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Did the data stay put long enough after that edge?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2057400"/>
            <a:ext cx="429768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057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hold violation — the chip does not work at 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2057400"/>
            <a:ext cx="283464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20574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static timing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514600"/>
            <a:ext cx="4114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5146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Did the output pass through a wrong value on the way?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2514600"/>
            <a:ext cx="4297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25146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a hazard — a glitch, harmless or fatal depending on where it goes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2514600"/>
            <a:ext cx="2834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514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simulation with delays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3063240"/>
            <a:ext cx="11247120" cy="10972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1272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The first two are about ONE path. The third is about TWO.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3401568"/>
            <a:ext cx="109179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Setup and hold ask how long a path is. A hazard asks what happens when two paths of different length reconverge — so no measurement of any single path can detect one.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That is why this topic needs two different tools on the same circuit, and why a flow with only one of them has a blind spot.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251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100" b="1" i="0">
                <a:solidFill>
                  <a:srgbClr val="1B9AAA"/>
                </a:solidFill>
                <a:latin typeface="Calibri"/>
              </a:rPr>
              <a:t>Module 2 Topic 6 answered the first two thoroughly. This topic starts with the third.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1.3 · TWO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Two Tools, One Circuit, Two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9</a:t>
            </a:r>
          </a:p>
        </p:txBody>
      </p:sp>
      <p:pic>
        <p:nvPicPr>
          <p:cNvPr id="9" name="Picture 8" descr="sta_blind_to_haz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75" y="1097280"/>
            <a:ext cx="696453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852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C01F43"/>
                </a:solidFill>
                <a:latin typeface="Calibri"/>
              </a:rPr>
              <a:t>Run STA on the hazard circuit and every path meets timing, because every path does meet timing. The glitch is still there.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1.4 ·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Words the Rest of the Session Assumes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292608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143000"/>
            <a:ext cx="832104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143000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426464"/>
            <a:ext cx="2926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426464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combinational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426464"/>
            <a:ext cx="83210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426464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output depends only on the present inputs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709928"/>
            <a:ext cx="29260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09928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sequential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709928"/>
            <a:ext cx="83210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709928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output depends on the inputs and on stored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993392"/>
            <a:ext cx="2926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993392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propagation delay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1993392"/>
            <a:ext cx="83210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1993392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how long a gate takes to react to its input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276856"/>
            <a:ext cx="29260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276856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timing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2276856"/>
            <a:ext cx="83210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2276856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a route from a start point to an end point, with a delay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560320"/>
            <a:ext cx="2926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560320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arrival 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2560320"/>
            <a:ext cx="83210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2560320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when the data actually reaches a pin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843784"/>
            <a:ext cx="29260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843784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required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2843784"/>
            <a:ext cx="83210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2843784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when it had to be there for the check to 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127248"/>
            <a:ext cx="2926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127248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slack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7560" y="3127248"/>
            <a:ext cx="83210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83280" y="3127248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required minus arrival; negative means it does not fit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3410712"/>
            <a:ext cx="29260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410712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setup 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3410712"/>
            <a:ext cx="83210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3410712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how long D must be stable BEFORE the clock edge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694176"/>
            <a:ext cx="2926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694176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hold time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37560" y="3694176"/>
            <a:ext cx="83210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0" y="3694176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how long D must stay stable AFTER the clock edge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3977640"/>
            <a:ext cx="29260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977640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clock skew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3977640"/>
            <a:ext cx="83210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3977640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same edge reaching two registers at different instants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261104"/>
            <a:ext cx="2926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261104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glitch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37560" y="4261104"/>
            <a:ext cx="83210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83280" y="4261104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a momentary wrong value on an output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4544568"/>
            <a:ext cx="29260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544568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hazard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37560" y="4544568"/>
            <a:ext cx="83210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83280" y="4544568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a circuit's POTENTIAL to glitch, given unlucky delays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4828032"/>
            <a:ext cx="29260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828032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race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37560" y="4828032"/>
            <a:ext cx="83210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83280" y="4828032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two signals changing where the order decides the outcome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1.5 · A 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Hazard and Glitch Are Not the Same 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32120" cy="25603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6B45A8"/>
                </a:solidFill>
                <a:latin typeface="Cambria"/>
              </a:rPr>
              <a:t>HAZARD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5257800" cy="2157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 property of the CIRCUIT.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It means: there exists an assignment of gate delays for which this output glitches.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You can find it by inspecting the logic, with no simulation at all — which is what tools/hazard.py does.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It is either there or it is not.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532120" cy="25603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B9AAA"/>
                </a:solidFill>
                <a:latin typeface="Cambria"/>
              </a:rPr>
              <a:t>GLITCH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57800" cy="2157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An EVENT in one simulation.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It means: on this run, with these delays, the output actually moved when it should not have.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You can only see it by simulating with delays, and only on the transitions you stimulated.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It may or may not show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9476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85876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Why the distinction earns its keep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13308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C01F43"/>
                </a:solidFill>
                <a:latin typeface="Calibri"/>
              </a:rPr>
              <a:t>A circuit with a hazard may run for years without glitching, because the delays happened to fall the right way — until a new process corner, a new temperature, or a re-synthesis changes them. You remove hazards, not glitches.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C01F43"/>
                </a:solidFill>
                <a:latin typeface="Calibri"/>
              </a:rPr>
              <a:t>THEORY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Combinational Circuit Timing: Races and Hazards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The part of this subtopic that Module 2 never covered, and the part that static timing analysis is structurally unable to see.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What a hazard is, and why it is a property of the circuit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Static-1, static-0, dynamic — and the function hazard you cannot fix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Finding them: the adjacency rule, on a K-map and in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75504"/>
            <a:ext cx="91440" cy="182880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Removing them: the consensus term, and where it stops working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586984"/>
            <a:ext cx="91440" cy="182880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Races, and why synchronous design mostly makes them go 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M3-T1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01F43"/>
                </a:solidFill>
                <a:latin typeface="Calibri"/>
              </a:rPr>
              <a:t>2.1 ·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 Wrong Value On the Way To the Right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13</a:t>
            </a:r>
          </a:p>
        </p:txBody>
      </p:sp>
      <p:pic>
        <p:nvPicPr>
          <p:cNvPr id="9" name="Picture 8" descr="hazard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832" y="1097280"/>
            <a:ext cx="7090417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577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Two paths from one input, different delays, one output. That is the entire mechanism.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2.2 · THE KINDS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Three Kinds of Hazard, and One You Cannot Remove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14</a:t>
            </a:r>
          </a:p>
        </p:txBody>
      </p:sp>
      <p:pic>
        <p:nvPicPr>
          <p:cNvPr id="9" name="Picture 8" descr="hazard_ki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103" y="1097280"/>
            <a:ext cx="7967874" cy="4389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577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Logic hazards come from your implementation and can be removed. A function hazard belongs to the truth table itself.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77514"/>
                </a:solidFill>
                <a:latin typeface="Calibri"/>
              </a:rPr>
              <a:t>2.3 · FUNCTION HAZARDS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One No Implementation Can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250" b="0" i="0">
                <a:solidFill>
                  <a:srgbClr val="33414F"/>
                </a:solidFill>
                <a:latin typeface="Calibri"/>
              </a:rPr>
              <a:t>Everything else in this section assumes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one input changes at a time</a:t>
            </a:r>
            <a:r>
              <a:rPr sz="1250" b="0" i="0">
                <a:solidFill>
                  <a:srgbClr val="33414F"/>
                </a:solidFill>
                <a:latin typeface="Calibri"/>
              </a:rPr>
              <a:t>. Let two change at once and a new problem appears that no amount of redundant logic will touch.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28800"/>
            <a:ext cx="11247120" cy="2467102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431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1" i="0">
                <a:solidFill>
                  <a:srgbClr val="1B9AAA"/>
                </a:solidFill>
                <a:latin typeface="Calibri"/>
              </a:rPr>
              <a:t>two inputs changing at once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17420"/>
            <a:ext cx="10881360" cy="1964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F = A B' + B C        with A = 1, C = 0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start   A=1 B=1 C=0    -&gt;  F = 0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end     A=1 B=0 C=1    -&gt;  F = 1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Two inputs changed. In between, the circuit necessarily passes through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either A=1 B=1 C=1  (F = 1)  or  A=1 B=0 C=0  (F = 1),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depending which input the wiring happens to deliver first.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Both intermediate states give F = 1. The output is SUPPOSED to end at 1,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so here it is harmless - but change the example and it need not be.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387342"/>
            <a:ext cx="5532120" cy="155448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45135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Why it cannot be 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25670"/>
            <a:ext cx="525780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The glitch is in the FUNCTION, not the gates. Every correct implementation must pass through one of those intermediate states, because the inputs really do go through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387342"/>
            <a:ext cx="5532120" cy="155448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451350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What to do instead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725670"/>
            <a:ext cx="525780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Do not change those inputs simultaneously — which, in a synchronous design, is exactly what a common clock guarantees.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This is one more reason the clocked discipline is worth its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033262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0E2A47"/>
                </a:solidFill>
                <a:latin typeface="Calibri"/>
              </a:rPr>
              <a:t>From here on: one input at a time, and every hazard we discuss is a LOGIC hazard.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2.4 · 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Race, In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16</a:t>
            </a:r>
          </a:p>
        </p:txBody>
      </p:sp>
      <p:pic>
        <p:nvPicPr>
          <p:cNvPr id="9" name="Picture 8" descr="hazard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63" y="1097280"/>
            <a:ext cx="8975754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B C switches off as soon as B falls. A B' cannot switch on until B has been through the inverter. In between, nothing is holding F 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2.5 · THE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How To Find One Without Simulating Anything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0700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The adjacency rule, in one sentence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48132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1" i="0">
                <a:solidFill>
                  <a:srgbClr val="0E2A47"/>
                </a:solidFill>
                <a:latin typeface="Calibri"/>
              </a:rPr>
              <a:t>Take two input patterns that differ in exactly ONE variable and both give F = 1. If no single product term covers both of them, the circuit has a static-1 logic hazard on that transition.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57400"/>
            <a:ext cx="11247120" cy="201422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71700"/>
            <a:ext cx="10881360" cy="1785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F = A B' + B C          A=1, C=1, and B changes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B=1 :  F = 1, held up by  B C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B=0 :  F = 1, held up by  A B'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Does one term cover BOTH?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    A B'  needs B=0  -&gt;  covers only the second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    B C   needs B=1  -&gt;  covers only the first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No. So the output is handed from one term to the other, and whether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it dips depends on which gate wins.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163060"/>
            <a:ext cx="11247120" cy="100584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22706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B9AAA"/>
                </a:solidFill>
                <a:latin typeface="Cambria"/>
              </a:rPr>
              <a:t>Why this is the right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4501388"/>
            <a:ext cx="109179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If some term is 1 for both patterns, that term does not change at all during the transition — so it holds the output up throughout and no delay assignment can produce a dip. If no term does, then one must switch off while another switches on, and the order is decided by delays you do not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2.6 · ON A K-MAP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Adjacent 1s In Different Loops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18</a:t>
            </a:r>
          </a:p>
        </p:txBody>
      </p:sp>
      <p:pic>
        <p:nvPicPr>
          <p:cNvPr id="9" name="Picture 8" descr="hazard_k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56" y="1097280"/>
            <a:ext cx="7533568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852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0E2A47"/>
                </a:solidFill>
                <a:latin typeface="Calibri"/>
              </a:rPr>
              <a:t>Two 1-cells side by side with no single loop around both. That is the same test, drawn.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2.7 ·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Consensus Term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19</a:t>
            </a:r>
          </a:p>
        </p:txBody>
      </p:sp>
      <p:pic>
        <p:nvPicPr>
          <p:cNvPr id="9" name="Picture 8" descr="consensus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20" y="1097280"/>
            <a:ext cx="8322040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A term that covers no new 1s, changes nothing in the truth table, and holds the output up through the handover.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2.7 ·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Redundant Is Not a Criticism — It Is the Requirement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250" b="0" i="0">
                <a:solidFill>
                  <a:srgbClr val="33414F"/>
                </a:solidFill>
                <a:latin typeface="Calibri"/>
              </a:rPr>
              <a:t>The consensus term is </a:t>
            </a:r>
            <a:r>
              <a:rPr sz="1250" b="1" i="0">
                <a:solidFill>
                  <a:srgbClr val="0E2A47"/>
                </a:solidFill>
                <a:latin typeface="Calibri"/>
              </a:rPr>
              <a:t>logically redundant by construction</a:t>
            </a:r>
            <a:r>
              <a:rPr sz="1250" b="0" i="0">
                <a:solidFill>
                  <a:srgbClr val="33414F"/>
                </a:solidFill>
                <a:latin typeface="Calibri"/>
              </a:rPr>
              <a:t>. Delete it and the truth table is identical. That is not a flaw in the fix — it is what makes the fix safe, and it is also what makes it fragile.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28800"/>
            <a:ext cx="5532120" cy="173736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928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Why redundancy is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525780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 term that changed the function would not be a fix, it would be a bug.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The only way to hold the output up without altering what the circuit computes is to add cover that is already covered.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5532120" cy="173736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8928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Why it will not survive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67128"/>
            <a:ext cx="525780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Removing redundancy is precisely what a logic optimiser exists to do.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C01F43"/>
                </a:solidFill>
                <a:latin typeface="Calibri"/>
              </a:rPr>
              <a:t>Write the consensus term in RTL and synthesis will delete it — measured in Theory 4 of this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72160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B9AAA"/>
                </a:solidFill>
                <a:latin typeface="Cambria"/>
              </a:rPr>
              <a:t>How to find the term, every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99592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Take the two input patterns. Write down every variable they agree on, at the value they agree on. Drop the one that changed. That product is the term to add — and tools/hazard.py prescribes it automatically.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2.8 · THE ANALYSER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Doing It In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3085592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10881360" cy="2856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$ python3 tools/hazard.py "A B' + B C"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1 static-1 logic hazard(s) found: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B changes 1 -&gt; 0   with  A=1, C=1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  before the change, the output is held up by : B C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  after  the change, the output is held up by : A B'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  no single term covers both, so the handover is a race.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  ADD the redundant term:  A C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hazard-free cover: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  F = A B'  +  B C  +  A C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checking the proposed cover: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remaining static-1 hazards : 0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truth table unchanged      : 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320032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384040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It checks its own answer, and that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658360"/>
            <a:ext cx="109179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 tool that proposes a fix without verifying it is a tool that will eventually propose a wrong one. This one re-runs the analysis on the patched cover and re-derives the truth table before it prints.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2.8 · THE ANALYSER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How We Know the Rule Is Actually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The adjacency rule is a claim about </a:t>
            </a:r>
            <a:r>
              <a:rPr sz="1200" b="1" i="0">
                <a:solidFill>
                  <a:srgbClr val="0E2A47"/>
                </a:solidFill>
                <a:latin typeface="Calibri"/>
              </a:rPr>
              <a:t>logic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. Whether an output glitches is a fact about </a:t>
            </a:r>
            <a:r>
              <a:rPr sz="1200" b="1" i="0">
                <a:solidFill>
                  <a:srgbClr val="C01F43"/>
                </a:solidFill>
                <a:latin typeface="Calibri"/>
              </a:rPr>
              <a:t>time</a:t>
            </a:r>
            <a:r>
              <a:rPr sz="1200" b="0" i="0">
                <a:solidFill>
                  <a:srgbClr val="33414F"/>
                </a:solidFill>
                <a:latin typeface="Calibri"/>
              </a:rPr>
              <a:t>. Those are different things, so the analyser's self-test checks one against the 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28800"/>
            <a:ext cx="11247120" cy="2371344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43100"/>
            <a:ext cx="10881360" cy="2142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$ python3 tools/hazard.py --selftest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D. the combinatorial rule agrees with a delay simulation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(random functions; the rule and the timeline must never differ)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static-1 transitions cross-checked           PASS  (got True, want True)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disagreements between rule and simulation    PASS  (got 0, want 0)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E. the suggested fix always works, and never changes the function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fixes that left a hazard behind              PASS  (got 0, want 0)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fixes that altered the truth table           PASS  (got 0, want 0)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SELF-TEST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291584"/>
            <a:ext cx="11247120" cy="11887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4355592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What that test actually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629912"/>
            <a:ext cx="1091793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It generates hundreds of random covers. For every single-variable transition it asks the covering rule, and separately builds a timeline with randomised per-gate delays to see whether a dip is possible. Over several thousand transitions the two answers never differed.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2A9D5C"/>
                </a:solidFill>
                <a:latin typeface="Calibri"/>
              </a:rPr>
              <a:t>That is the difference between believing a textbook rule and having checked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2.9 · MEASURING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Finding Glitches By Counting, Not By Squinting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23</a:t>
            </a:r>
          </a:p>
        </p:txBody>
      </p:sp>
      <p:pic>
        <p:nvPicPr>
          <p:cNvPr id="9" name="Picture 8" descr="glitch_det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362" y="1097280"/>
            <a:ext cx="6729356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A waveform viewer does not scale, does not go in a regression, and does not tell you when you have fixed something.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2.10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Six Designs, One Detector, and a Surprise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24</a:t>
            </a:r>
          </a:p>
        </p:txBody>
      </p:sp>
      <p:pic>
        <p:nvPicPr>
          <p:cNvPr id="9" name="Picture 8" descr="hazar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034" y="1097280"/>
            <a:ext cx="7058011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100" b="1" i="0">
                <a:solidFill>
                  <a:srgbClr val="C77514"/>
                </a:solidFill>
                <a:latin typeface="Calibri"/>
              </a:rPr>
              <a:t>Read row five before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01F43"/>
                </a:solidFill>
                <a:latin typeface="Calibri"/>
              </a:rPr>
              <a:t>2.11 · THE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Where "Add the Consensus Term" Stops 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150" b="0" i="0">
                <a:solidFill>
                  <a:srgbClr val="33414F"/>
                </a:solidFill>
                <a:latin typeface="Calibri"/>
              </a:rPr>
              <a:t>hz_dynamic feeds the hazardous expression into an XOR where B reconverges. The detector reports five glitching transitions. Adding the consensus term removes </a:t>
            </a:r>
            <a:r>
              <a:rPr sz="1150" b="1" i="0">
                <a:solidFill>
                  <a:srgbClr val="C01F43"/>
                </a:solidFill>
                <a:latin typeface="Calibri"/>
              </a:rPr>
              <a:t>one</a:t>
            </a:r>
            <a:r>
              <a:rPr sz="1150" b="0" i="0">
                <a:solidFill>
                  <a:srgbClr val="33414F"/>
                </a:solidFill>
                <a:latin typeface="Calibri"/>
              </a:rPr>
              <a:t> of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3383280" cy="32004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1737360"/>
            <a:ext cx="3931920" cy="32004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7373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glitching transitions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80" y="1737360"/>
            <a:ext cx="3931920" cy="32004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73736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changed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057400"/>
            <a:ext cx="3383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hz_dynamic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94760" y="2057400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20574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5  (4 static, 1 dynamic)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2057400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20574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starting 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377440"/>
            <a:ext cx="3383280" cy="32004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7744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hz_dynamic_fix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4760" y="2377440"/>
            <a:ext cx="3931920" cy="32004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23774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4  (4 static)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377440"/>
            <a:ext cx="3931920" cy="32004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3774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consensus term added inside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697480"/>
            <a:ext cx="3383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6974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hz_flat_fix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94760" y="2697480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26974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80" y="2697480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6974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flattened to two levels, then re-covered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108960"/>
            <a:ext cx="11247120" cy="109728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317296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Why the four survivors do not respond to a redundant term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3447288"/>
            <a:ext cx="1091793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With A=0, C=1 the inner expression collapses to a delayed copy of B. The circuit is then computing B XOR B-delayed, which spikes on every edge no matter what.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C01F43"/>
                </a:solidFill>
                <a:latin typeface="Calibri"/>
              </a:rPr>
              <a:t>That is reconvergent fanout with unequal path delays. The cover is not what is wrong — the STRUCTURE is, and only restructuring fixes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2976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0E2A47"/>
                </a:solidFill>
                <a:latin typeface="Calibri"/>
              </a:rPr>
              <a:t>The consensus term cures a two-level logic hazard, and only that. Know the limit of your tool.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2.12 · DOES IT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One Glitchy Signal, Three Consumers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26</a:t>
            </a:r>
          </a:p>
        </p:txBody>
      </p:sp>
      <p:pic>
        <p:nvPicPr>
          <p:cNvPr id="9" name="Picture 8" descr="where_hazards_m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362" y="1097280"/>
            <a:ext cx="6729356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The glitch was placed 80 ns before any clock edge — the friendliest possible case for the usual reassurance.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2.12 · DOES IT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Rule, Stated Properly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68580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0700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Not "glitches do not matter in synchronous design"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481328"/>
            <a:ext cx="1091793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00" b="1" i="0">
                <a:solidFill>
                  <a:srgbClr val="0E2A47"/>
                </a:solidFill>
                <a:latin typeface="Calibri"/>
              </a:rPr>
              <a:t>A glitch is harmless ONLY where a clock edge samples the signal after it has settled.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920240"/>
            <a:ext cx="5532120" cy="201168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8424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Safe: level-sampled by a clock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58568"/>
            <a:ext cx="5257800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Data into a normally-clocked flip-flop.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Combinational logic between two registers in the same domain.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Here the clock is the referee, and the glitch has a whole cycle to go away.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5532120" cy="201168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98424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Unsafe: anything edge-sensitive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58568"/>
            <a:ext cx="5257800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Logic driving a CLOCK — every glitch is a clock edge.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An ASYNCHRONOUS reset or set — no clock referees it.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 LATCH enable — the latch is transparent while it is high.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 handshake crossing into another clock domain.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023360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08736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77514"/>
                </a:solidFill>
                <a:latin typeface="Cambria"/>
              </a:rPr>
              <a:t>And one cost that applies everywhere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361688"/>
            <a:ext cx="109179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Every glitch charges and discharges capacitance. On a wide bus that switches spuriously, glitch power is real and measurable — a reason to care about hazards even where they are functionally harmless.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2.13 · 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When Two State Variables Change At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28</a:t>
            </a:r>
          </a:p>
        </p:txBody>
      </p:sp>
      <p:pic>
        <p:nvPicPr>
          <p:cNvPr id="9" name="Picture 8" descr="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127" y="1097280"/>
            <a:ext cx="6697827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1264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A hazard is about one output taking a wrong value. A race is about a machine landing in the wrong STATE.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2.13 · 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Critical, Non-Critical, and the Essential Hazard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2377440" cy="45720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143000"/>
            <a:ext cx="5486400" cy="45720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1430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happens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143000"/>
            <a:ext cx="3383280" cy="45720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43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Is it a bug?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6002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Non-critical race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160020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6002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state variables change in either order and the machine still lands in the intended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600200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002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no — untidy, but correct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057400"/>
            <a:ext cx="237744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0574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Critical race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2057400"/>
            <a:ext cx="548640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0574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final state depends on which variable changed 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057400"/>
            <a:ext cx="338328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0574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yes — and it is delay-dependent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5146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514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Essential hazard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514600"/>
            <a:ext cx="5486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25146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an input change races its own inverted copy through the feedback path, and the machine sees the input twice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2514600"/>
            <a:ext cx="3383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514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yes — cured by delay in the feedback, not by logic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3063240"/>
            <a:ext cx="11247120" cy="100584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31272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Why these are asynchronous problems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3401568"/>
            <a:ext cx="109179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All three need state to change in response to an INPUT change. Put a clock in charge and state changes only on an edge, by which time everything has settled — which is why an entire class of problem disappears the moment you adopt synchronous discipline.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2.14 · THE 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Synchronous Design Buys You, and What It Does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30</a:t>
            </a:r>
          </a:p>
        </p:txBody>
      </p:sp>
      <p:pic>
        <p:nvPicPr>
          <p:cNvPr id="9" name="Picture 8" descr="races_c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75" y="1097280"/>
            <a:ext cx="696453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5852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C77514"/>
                </a:solidFill>
                <a:latin typeface="Calibri"/>
              </a:rPr>
              <a:t>It buys you almost everything in this section — except at the boundaries, where there is no clock to referee.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THEORY 2 ·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Ten Questions Before We Move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4864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143000"/>
            <a:ext cx="530352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143000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539496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143000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answer in one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426464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426464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1426464"/>
            <a:ext cx="53035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426464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Hazard or glitch — which is a property of the circuit?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426464"/>
            <a:ext cx="5394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426464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the hazard; the glitch is one event in one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09928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709928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1709928"/>
            <a:ext cx="53035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1709928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Which hazard can a two-level AND-OR circuit have?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709928"/>
            <a:ext cx="539496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709928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static-1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1993392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993392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1993392"/>
            <a:ext cx="53035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1993392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How many levels does a dynamic hazard need?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993392"/>
            <a:ext cx="5394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993392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three or more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276856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276856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2276856"/>
            <a:ext cx="53035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2276856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What is a function hazard?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276856"/>
            <a:ext cx="539496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276856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two inputs change at once and the function itself demands a glitch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560320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56032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2560320"/>
            <a:ext cx="53035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2560320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State the adjacency rule.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560320"/>
            <a:ext cx="5394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2560320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two 1-cells one variable apart, covered by no single term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843784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843784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" y="2843784"/>
            <a:ext cx="53035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2843784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How do you build the fixing term?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2843784"/>
            <a:ext cx="539496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2843784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the literals both patterns agree on, minus the one that changed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127248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127248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" y="3127248"/>
            <a:ext cx="53035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3127248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Why will synthesis delete it?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3127248"/>
            <a:ext cx="5394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3127248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it is redundant, by design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410712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410712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" y="3410712"/>
            <a:ext cx="53035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3410712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When does the consensus term NOT help?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3410712"/>
            <a:ext cx="539496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3410712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reconvergent fanout — a structural problem, not a cover one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3694176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694176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0120" y="3694176"/>
            <a:ext cx="53035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3694176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Where is a glitch genuinely dangerous?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63640" y="3694176"/>
            <a:ext cx="539496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3694176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clocks, async resets, latch enables, domain crossings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3977640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397764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10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0120" y="3977640"/>
            <a:ext cx="53035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3977640"/>
            <a:ext cx="52120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Why can STA not find any of this?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3977640"/>
            <a:ext cx="539496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3977640"/>
            <a:ext cx="53035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it measures one path; a hazard needs two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480" y="435254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2A9D5C"/>
                </a:solidFill>
                <a:latin typeface="Calibri"/>
              </a:rPr>
              <a:t>If question 8 or 10 is fuzzy, say so now — Theory 3 assumes both.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0E2A47"/>
                </a:solidFill>
                <a:latin typeface="Calibri"/>
              </a:rPr>
              <a:t>THEORY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Sequential Circuit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Once a clock is in charge, the question stops being "did it glitch?" and becomes "had it finished glitching by the time the edge arrived?".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sampling window: setup and hold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Maximum frequency of operation, derived rather than quoted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A real setup violation and the fix that clears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75504"/>
            <a:ext cx="91440" cy="1828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A real hold violation, and why the clock frequency cannot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M3-T1 ·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3.1 · THE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 Flip-Flop Samples Over a Window, Not At an Instant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33</a:t>
            </a:r>
          </a:p>
        </p:txBody>
      </p:sp>
      <p:pic>
        <p:nvPicPr>
          <p:cNvPr id="9" name="Picture 8" descr="setup_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250" y="1097280"/>
            <a:ext cx="7503580" cy="4389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577840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6418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Everything in this section comes from that one picture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916168"/>
            <a:ext cx="109179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Break the first half and the flop captures the previous value — a setup violation. Break the second and it captures the NEXT value, a whole cycle early — a hold violation.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3.2 · THE FOUR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Consumes the Clock Period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2377440" cy="32918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143000"/>
            <a:ext cx="5486400" cy="32918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143000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143000"/>
            <a:ext cx="3383280" cy="32918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4300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Who sets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472184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47218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clock-to-Q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1472184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472184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delay from the launching edge until Q is valid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472184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72184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library cell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801368"/>
            <a:ext cx="2377440" cy="32918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80136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logic delay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1801368"/>
            <a:ext cx="5486400" cy="32918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180136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every gate and wire between the two flops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801368"/>
            <a:ext cx="3383280" cy="32918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801368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your design, and synthesis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130552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13055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setup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2130552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2130552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how early the capturing flop needs the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2130552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130552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library cell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459736"/>
            <a:ext cx="2377440" cy="32918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45973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clock skew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2459736"/>
            <a:ext cx="5486400" cy="32918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2459736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difference in clock arrival between the two flops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2459736"/>
            <a:ext cx="3383280" cy="32918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245973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clock tree, after layout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788920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78892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uncertainty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2788920"/>
            <a:ext cx="5486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2788920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jitter, plus skew that is not modelled yet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2788920"/>
            <a:ext cx="3383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27889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you, in the constraint file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209544"/>
            <a:ext cx="11247120" cy="11684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3323844"/>
            <a:ext cx="10881360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D8E4F0"/>
                </a:solidFill>
                <a:latin typeface="Consolas"/>
              </a:rPr>
              <a:t>setup:   t_cq + t_logic   &lt;=   T + t_skew - t_setup - t_unc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D8E4F0"/>
                </a:solidFill>
                <a:latin typeface="Consolas"/>
              </a:rPr>
              <a:t>hold:    t_cq + t_logic   &gt;=   t_skew + t_hold + t_unc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D8E4F0"/>
                </a:solidFill>
                <a:latin typeface="Consolas"/>
              </a:rPr>
              <a:t>#  the clock period T is in the first line and NOT in the second.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D8E4F0"/>
                </a:solidFill>
                <a:latin typeface="Consolas"/>
              </a:rPr>
              <a:t>#  everything surprising about hold follows from that one asymmetry.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469384"/>
            <a:ext cx="11247120" cy="86868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72" y="4533392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77514"/>
                </a:solidFill>
                <a:latin typeface="Cambria"/>
              </a:rPr>
              <a:t>Note the sign on skew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4807712"/>
            <a:ext cx="109179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 capture clock that arrives LATE gives the data more time, so it helps setup — and it eats hold margin by exactly the same amount. Every clock-tree decision trades one against the other.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3.3 · FMAX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Maximum Frequency of Operation, Derived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35</a:t>
            </a:r>
          </a:p>
        </p:txBody>
      </p:sp>
      <p:pic>
        <p:nvPicPr>
          <p:cNvPr id="9" name="Picture 8" descr="fmax_der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216" y="1097280"/>
            <a:ext cx="7237649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Not quoted from a datasheet — rearranged from the setup inequality you just saw.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3.3 · FMAX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Worked, With Real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2728468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10881360" cy="2499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A path in the teaching library: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clock-to-Q (DFF)                       0.145 ns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logic: one XOR2 driving a flop D pin   0.117 ns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setup time (DFF)                       0.090 ns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uncertainty                            0.000 ns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skew                                   0.000 ns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                                    -----------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minimum period                         0.352 ns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  Fmax = 1 / 0.352 ns  =  2841 MHz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Add 0.15 ns of uncertainty and the same path gives 1992 MHz.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The circuit did not change. Your honesty about the clock did.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962908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026916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Which is why an Fmax figure without its assumptions is 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01236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Ask what corner, what uncertainty, and whether it is post-synthesis or post-route. The same netlist will happily produce two numbers a factor of two apart under different answers to those three questions.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3.4 · ONE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Fmax Is Set By One Stage — The Measurement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37</a:t>
            </a:r>
          </a:p>
        </p:txBody>
      </p:sp>
      <p:pic>
        <p:nvPicPr>
          <p:cNvPr id="9" name="Picture 8" descr="fmax_one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768" y="1097280"/>
            <a:ext cx="8202544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1264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2A9D5C"/>
                </a:solidFill>
                <a:latin typeface="Calibri"/>
              </a:rPr>
              <a:t>364.7 MHz to 473.2 MHz, by moving work rather than by making anything faster.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3.4 · ONE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Pipelining Costs, and What It Does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32120" cy="2103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What you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5257800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 shorter longest path, so a faster clock.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Throughput is unchanged once the pipe is full — one result per cycle, still.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Measured here: 1.30x.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532120" cy="210312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77514"/>
                </a:solidFill>
                <a:latin typeface="Cambria"/>
              </a:rPr>
              <a:t>What you 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57800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One more cycle of latency.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One more bank of registers — area and power.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C01F43"/>
                </a:solidFill>
                <a:latin typeface="Calibri"/>
              </a:rPr>
              <a:t>And every control signal travelling beside the data must be delayed to match, or the design meets timing and computes the wrong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33756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40156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The classic pipelining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67588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You cut the datapath and forget to delay a valid flag, an operand or an address alongside it. Timing improves; correctness quietly does not. Every optimisation needs a functional re-check — which is why the Module 2 lab ends with make verify.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3.5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 Real Setup Violation, and the Fix That Clears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39</a:t>
            </a:r>
          </a:p>
        </p:txBody>
      </p:sp>
      <p:pic>
        <p:nvPicPr>
          <p:cNvPr id="9" name="Picture 8" descr="setup_vi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539" y="1097280"/>
            <a:ext cx="7829002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Same constraint file, same target, two versions of the same arithmetic.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3.5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Sizing the Problem Before Choosing the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657600" cy="36576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Slack as a fraction of the 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143000"/>
            <a:ext cx="3657600" cy="36576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1430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that usually means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80" y="1143000"/>
            <a:ext cx="3931920" cy="365760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143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Where to 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0876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5087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under about 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150876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15087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tool nearly got there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80" y="150876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5087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check the constraint, then raise synthesis effort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874520"/>
            <a:ext cx="3657600" cy="36576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8745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2% to 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9080" y="1874520"/>
            <a:ext cx="3657600" cy="36576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18745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a genuinely long path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80" y="1874520"/>
            <a:ext cx="3931920" cy="36576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8745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restructure the logic, or retime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24028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2402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10% to 40%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2240280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22402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too much work in one cycle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2240280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2402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pipeline 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06040"/>
            <a:ext cx="3657600" cy="36576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606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over about 40%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2606040"/>
            <a:ext cx="3657600" cy="36576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2606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the target is wrong for this technology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80" y="2606040"/>
            <a:ext cx="3931920" cy="365760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2606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renegotiate the frequency, or change architecture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063240"/>
            <a:ext cx="11247120" cy="100584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31272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The measured case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3401568"/>
            <a:ext cx="109179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−0.322 ns on a 2.5 ns period is 13% over budget. That is out of reach of a synthesis option and about right for one pipeline cut — which is exactly what fixed it. Doing this arithmetic first saves you from trying the cheap fixes on a problem too big for them.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4160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C01F43"/>
                </a:solidFill>
                <a:latin typeface="Calibri"/>
              </a:rPr>
              <a:t>Change one thing per run, or you will not know which change helped.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3.6 ·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Hold Does Not Care What the Clock Period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41</a:t>
            </a:r>
          </a:p>
        </p:txBody>
      </p:sp>
      <p:pic>
        <p:nvPicPr>
          <p:cNvPr id="9" name="Picture 8" descr="hold_vi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643" y="1097280"/>
            <a:ext cx="7566795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1264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C01F43"/>
                </a:solidFill>
                <a:latin typeface="Calibri"/>
              </a:rPr>
              <a:t>A hundred-fold change in frequency. Not one picosecond of change in the violation.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3.6 ·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Why It Is a Different Kind of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5532120" cy="237744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77514"/>
                </a:solidFill>
                <a:latin typeface="Cambria"/>
              </a:rPr>
              <a:t>SETUP violation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5257800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The data arrived too late for this clock.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Slow the clock down and the chip works.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You have shipped a less competitive product — but a working one.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Found at synthesis, and again after layout.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532120" cy="237744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2070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HOLD violation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57800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The data changed too soon after the same edge.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There is no clock frequency at which the chip works.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Reaching silicon with one means a re-spin.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C01F43"/>
                </a:solidFill>
                <a:latin typeface="Calibri"/>
              </a:rPr>
              <a:t>Found only once a real clock tree exists.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1188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67588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So the fix is never the clock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95020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It is the clock TREE — rebalance it so the capture register sees less skew — or the data path: insert delay. Measured here: dropping skew from 0.25 ns to 0.10 ns took the slack from −0.119 ns to +0.031 ns.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3.6 ·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Why Hold Violations Turn Up So 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43</a:t>
            </a:r>
          </a:p>
        </p:txBody>
      </p:sp>
      <p:pic>
        <p:nvPicPr>
          <p:cNvPr id="9" name="Picture 8" descr="hold_why_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602" y="1097280"/>
            <a:ext cx="6330875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21208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27608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What RTL can do about it: not make it impossible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55040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No hand-gated clocks — use a clock enable. No unsynchronised domain crossings. No logic on an asynchronous reset. Beyond that, hold is place-and-route's job, and it has the one thing you do not: the real clock tree.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3.7 ·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Practical Examples of Violations, and Their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393192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338328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143000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Likely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80" y="1143000"/>
            <a:ext cx="393192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143000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426464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426464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one path fails, the rest are fine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426464"/>
            <a:ext cx="3383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426464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a genuinely long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80" y="1426464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426464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restructure or pipeline that path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09928"/>
            <a:ext cx="39319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709928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one cell has a huge incremental delay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1709928"/>
            <a:ext cx="3383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709928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high fanout or a weak driver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6680" y="1709928"/>
            <a:ext cx="39319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709928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set_max_fanout; let the tool buffer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1993392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993392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fifty small cells in one path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1993392"/>
            <a:ext cx="3383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1993392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the logic is too deep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1993392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1993392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balance it into a tree, then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276856"/>
            <a:ext cx="39319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276856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every path fails by a similar amount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2276856"/>
            <a:ext cx="3383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2276856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the period is too aggressive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80" y="2276856"/>
            <a:ext cx="39319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2276856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check the target against the technology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560320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560320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fails only after place-and-route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2560320"/>
            <a:ext cx="3383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2560320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routing delay, not logic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80" y="2560320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2560320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floorplan; keep the path local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843784"/>
            <a:ext cx="39319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843784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fails only at the slow corner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2843784"/>
            <a:ext cx="3383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0" y="2843784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correct behaviour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80" y="2843784"/>
            <a:ext cx="39319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2843784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that is the corner you sign off at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127248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127248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hold fails on a short path after CTS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3400" y="3127248"/>
            <a:ext cx="3383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0" y="3127248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clock skew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26680" y="3127248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0" y="3127248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rebalance the tree; insert hold buffers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410712"/>
            <a:ext cx="39319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410712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hold fails everywhere, at every speed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3400" y="3410712"/>
            <a:ext cx="3383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0" y="3410712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a structural problem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26680" y="3410712"/>
            <a:ext cx="39319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3410712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look for gated clocks and domain crossings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3694176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694176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a huge violation on a reset path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43400" y="3694176"/>
            <a:ext cx="3383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0" y="3694176"/>
            <a:ext cx="3291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a missing false path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26680" y="3694176"/>
            <a:ext cx="39319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0" y="3694176"/>
            <a:ext cx="38404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constrain it properly — this is not a design bug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THEORY 3 ·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Eight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4864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143000"/>
            <a:ext cx="502920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143000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143000"/>
            <a:ext cx="566928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143000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answer in one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426464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426464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1426464"/>
            <a:ext cx="5029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426464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Write the setup inequality.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426464"/>
            <a:ext cx="5669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426464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t_cq + t_logic &lt;= T + skew - setup - uncertainty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09928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709928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1709928"/>
            <a:ext cx="50292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1709928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Which term is missing from the hold inequality?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709928"/>
            <a:ext cx="5669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709928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the clock period 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1993392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993392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1993392"/>
            <a:ext cx="5029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1993392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Setup violation — what does the chip do?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1993392"/>
            <a:ext cx="5669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1993392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works, at a lower frequency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276856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276856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2276856"/>
            <a:ext cx="50292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2276856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Hold violation — what does it do?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2276856"/>
            <a:ext cx="5669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2276856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does not work at any frequency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560320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56032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2560320"/>
            <a:ext cx="5029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2560320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Late capture clock helps which check?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2560320"/>
            <a:ext cx="5669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2560320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setup; it hurts hold by the same amount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843784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843784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" y="2843784"/>
            <a:ext cx="50292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2843784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Which stage sets Fmax?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2843784"/>
            <a:ext cx="5669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2843784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the slowest one, on its own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127248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3127248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0120" y="3127248"/>
            <a:ext cx="5029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3127248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−0.322 ns on a 2.5 ns period — how big a problem?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89320" y="3127248"/>
            <a:ext cx="5669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3127248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13%; pipeline territory, not a tool setting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3410712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410712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0120" y="3410712"/>
            <a:ext cx="50292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3410712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Why do hold problems appear after CTS?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3410712"/>
            <a:ext cx="5669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35040" y="3410712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before it there is no clock tree, so no real skew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3785616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2A9D5C"/>
                </a:solidFill>
                <a:latin typeface="Calibri"/>
              </a:rPr>
              <a:t>Theory 4 asks what synthesis does with everything you have just decided.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6B45A8"/>
                </a:solidFill>
                <a:latin typeface="Calibri"/>
              </a:rPr>
              <a:t>THEORY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Timing Constraints for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A constraint file is not a report setting. It is the objective the optimiser is trying to meet — and it decides what circuit you 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What constraints actually do to synthesis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The minimum honest constraint set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What synthesis does to a hazard fix (it deletes it)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75504"/>
            <a:ext cx="91440" cy="182880"/>
          </a:xfrm>
          <a:prstGeom prst="rect">
            <a:avLst/>
          </a:prstGeom>
          <a:solidFill>
            <a:srgbClr val="6B45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Circuit synthesis and timing analysis as one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M3-T1 ·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4.1 · THE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Constraints Are an Input to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47</a:t>
            </a:r>
          </a:p>
        </p:txBody>
      </p:sp>
      <p:pic>
        <p:nvPicPr>
          <p:cNvPr id="9" name="Picture 8" descr="constraints_drive_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878" y="1097280"/>
            <a:ext cx="6856325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1264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0E2A47"/>
                </a:solidFill>
                <a:latin typeface="Calibri"/>
              </a:rPr>
              <a:t>The same RTL becomes a different circuit depending on what you asked for.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4.2 · THE MINIMUM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Minimum Honest Constraint Set, In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48</a:t>
            </a:r>
          </a:p>
        </p:txBody>
      </p:sp>
      <p:pic>
        <p:nvPicPr>
          <p:cNvPr id="9" name="Picture 8" descr="sdc_minim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144" y="1097280"/>
            <a:ext cx="6573793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Module 2 Topic 6 develops each of these in full. Here the point is what synthesis does once you have written them.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4.2 · THE MINIMUM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A Complete File For the Lab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2728468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10881360" cy="24998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# ==================================================== constraints/pipe.sdc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# ---- clock ------------------------------------------------------------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# 400 MHz. pipe_unbal cannot make this; pipe_bal can. That is the experiment.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create_clock -period 2.500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# jitter, plus a placeholder for the clock-tree skew that does not exist yet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set_clock_uncertainty 0.080 -setup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set_clock_uncertainty 0.020 -hold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# ---- boundary ---------------------------------------------------------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# Without these two lines every path touching a port is UNCONSTRAINED,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# and the analyser says so. Run without them once and read the warning.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set_input_delay  0.40 -clock clk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set_output_delay 0.35 -clock clk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962908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026916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The line to check on every single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301236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C01F43"/>
                </a:solidFill>
                <a:latin typeface="Calibri"/>
              </a:rPr>
              <a:t>The count of unconstrained endpoints. It must be zero. A design with WNS +2.0 ns and four hundred unconstrained endpoints is in far worse shape than one with WNS −0.1 ns and none — the first has not been analysed at all.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01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01F43"/>
                </a:solidFill>
                <a:latin typeface="Calibri"/>
              </a:rPr>
              <a:t>4.3 · THE COLLISION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Synthesis Deletes Your Hazard Fix. Every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50</a:t>
            </a:r>
          </a:p>
        </p:txBody>
      </p:sp>
      <p:pic>
        <p:nvPicPr>
          <p:cNvPr id="9" name="Picture 8" descr="synth_deletes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530" y="1097280"/>
            <a:ext cx="7017020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1264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C01F43"/>
                </a:solidFill>
                <a:latin typeface="Calibri"/>
              </a:rPr>
              <a:t>Both RTL versions produced the identical netlist: one multiplexer.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4.3 · THE COLLISION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Why This Is the Most Important Slide In the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Theory 2 taught you to add a redundant term to remove a hazard. Theory 4 has just shown that a synthesiser deletes it. Those two facts have to be reconciled, and the reconciliation is the practical skill.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82880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FDECEF"/>
          </a:solidFill>
          <a:ln w="13970">
            <a:solidFill>
              <a:srgbClr val="C01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928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01F43"/>
                </a:solidFill>
                <a:latin typeface="Cambria"/>
              </a:rPr>
              <a:t>What NOT to conclude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525780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"Hazard analysis is pointless because the tool undoes it."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"Just write the RTL and trust synthesis."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Both are wrong, and the second one ships broken asynchronous interfaces.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5532120" cy="192024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892808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What to conclude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67128"/>
            <a:ext cx="5257800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Hazard-freedom is a property of the NETLIST, not of your source.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So it has to be protected structurally, and then verified on the netlist.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1" i="0">
                <a:solidFill>
                  <a:srgbClr val="0E2A47"/>
                </a:solidFill>
                <a:latin typeface="Calibri"/>
              </a:rPr>
              <a:t>And on the vast majority of nets — everything sampled by a clock — you do not need it at 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4048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FF7EC"/>
          </a:solidFill>
          <a:ln w="13970">
            <a:solidFill>
              <a:srgbClr val="C77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90448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C77514"/>
                </a:solidFill>
                <a:latin typeface="Cambria"/>
              </a:rPr>
              <a:t>How to protect it, when you genuinely need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17880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A dont_touch or keep attribute on the net or cell  ·  instantiate the library cell directly  ·  put it in a module the tool is told not to flatten  ·  and then re-run the glitch detector on the post-synthesis netlist, not on the RTL.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4.4 ·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Circuit Synthesis and Timing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52</a:t>
            </a:r>
          </a:p>
        </p:txBody>
      </p:sp>
      <p:pic>
        <p:nvPicPr>
          <p:cNvPr id="9" name="Picture 8" descr="synth_to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706" y="1097280"/>
            <a:ext cx="7426669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2A9D5C"/>
                </a:solidFill>
                <a:latin typeface="Calibri"/>
              </a:rPr>
              <a:t>You leave the loop once, when all three conditions hold together. Two out of three is not closure.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4.5 · THE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Everything In This Topic Is a Trade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53</a:t>
            </a:r>
          </a:p>
        </p:txBody>
      </p:sp>
      <p:pic>
        <p:nvPicPr>
          <p:cNvPr id="9" name="Picture 8" descr="area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539" y="1097280"/>
            <a:ext cx="7829002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0E2A47"/>
                </a:solidFill>
                <a:latin typeface="Calibri"/>
              </a:rPr>
              <a:t>There is no free row in that table, and a design that pays nothing gets nothing.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THEORY 4 ·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Six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54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43000"/>
            <a:ext cx="54864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143000"/>
            <a:ext cx="502920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143000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143000"/>
            <a:ext cx="566928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143000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answer in one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426464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426464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1426464"/>
            <a:ext cx="5029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1426464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What does a constraint file do to synthesis?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426464"/>
            <a:ext cx="5669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426464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it is the objective the optimiser tries to meet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1709928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709928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1709928"/>
            <a:ext cx="50292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1709928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What happens with no constraints at all?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709928"/>
            <a:ext cx="5669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709928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the tool optimises for area; you get small and slow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1993392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993392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1993392"/>
            <a:ext cx="5029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1993392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What happens with an impossible period?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1993392"/>
            <a:ext cx="5669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1993392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it burns area and runtime and still fails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276856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276856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2276856"/>
            <a:ext cx="50292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2276856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What did synthesis do to the consensus term?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2276856"/>
            <a:ext cx="5669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2276856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deleted it — both versions gave one identical MUX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560320"/>
            <a:ext cx="54864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560320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2560320"/>
            <a:ext cx="50292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2560320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So where does hazard-freedom have to be checked?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2560320"/>
            <a:ext cx="56692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2560320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on the netlist, never on the RTL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2843784"/>
            <a:ext cx="54864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843784"/>
            <a:ext cx="457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1" i="0">
                <a:solidFill>
                  <a:srgbClr val="0E2A47"/>
                </a:solidFill>
                <a:latin typeface="Calibri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" y="2843784"/>
            <a:ext cx="50292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2843784"/>
            <a:ext cx="4937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When do you leave the synthesis/analysis loop?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2843784"/>
            <a:ext cx="566928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0" y="2843784"/>
            <a:ext cx="5577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950" b="0" i="0">
                <a:solidFill>
                  <a:srgbClr val="33414F"/>
                </a:solidFill>
                <a:latin typeface="Calibri"/>
              </a:rPr>
              <a:t>setup met, hold met, zero unconstrained endpoints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321868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100" b="1" i="0">
                <a:solidFill>
                  <a:srgbClr val="2A9D5C"/>
                </a:solidFill>
                <a:latin typeface="Calibri"/>
              </a:rPr>
              <a:t>That is the theory. The rest of the session is at the keyboard.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6400800" cy="6400800"/>
          </a:xfrm>
          <a:prstGeom prst="ellipse">
            <a:avLst/>
          </a:prstGeom>
          <a:solidFill>
            <a:srgbClr val="16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i="0" spc="300">
                <a:solidFill>
                  <a:srgbClr val="2A9D5C"/>
                </a:solidFill>
                <a:latin typeface="Calibri"/>
              </a:rPr>
              <a:t>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011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Labs A–G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i="0">
                <a:solidFill>
                  <a:srgbClr val="C9D6E3"/>
                </a:solidFill>
                <a:latin typeface="Calibri"/>
              </a:rPr>
              <a:t>12 hours, 58 graded exercises, and not one number in this deck that you cannot reproduce yourself.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4106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Which tool answers which question, and how to install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54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Labs A–C: hazards, on paper, in code, and in simulation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6402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Labs D–E: does it matter, and what synthesis does about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75504"/>
            <a:ext cx="91440" cy="182880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0" i="0">
                <a:solidFill>
                  <a:srgbClr val="E7EEF5"/>
                </a:solidFill>
                <a:latin typeface="Calibri"/>
              </a:rPr>
              <a:t>Labs F–G: setup, hold, Fmax — then the same design on a Zynq-7000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7C8EA2"/>
                </a:solidFill>
                <a:latin typeface="Calibri"/>
              </a:rPr>
              <a:t>M3-T1 ·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PRACTICAL ·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Which Tool Answers Which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56</a:t>
            </a:r>
          </a:p>
        </p:txBody>
      </p:sp>
      <p:pic>
        <p:nvPicPr>
          <p:cNvPr id="9" name="Picture 8" descr="tool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795" y="1097280"/>
            <a:ext cx="6546491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1264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A static analyser for setup and hold, a delay-annotated simulator for hazards. Neither substitutes for the other.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PRACTICAL · 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One apt Line, and the Whole Lab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57</a:t>
            </a:r>
          </a:p>
        </p:txBody>
      </p:sp>
      <p:pic>
        <p:nvPicPr>
          <p:cNvPr id="9" name="Picture 8" descr="install_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417" y="1097280"/>
            <a:ext cx="5613247" cy="3474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4663440"/>
            <a:ext cx="11247120" cy="1066800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7774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1" i="0">
                <a:solidFill>
                  <a:srgbClr val="1B9AAA"/>
                </a:solidFill>
                <a:latin typeface="Calibri"/>
              </a:rPr>
              <a:t>Debian / Ubuntu / WSL2 — copy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52060"/>
            <a:ext cx="10881360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D8E4F0"/>
                </a:solidFill>
                <a:latin typeface="Consolas"/>
              </a:rPr>
              <a:t>sudo apt update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D8E4F0"/>
                </a:solidFill>
                <a:latin typeface="Consolas"/>
              </a:rPr>
              <a:t>sudo apt install yosys iverilog gtkwave python3 python3-matplotlib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D8E4F0"/>
                </a:solidFill>
                <a:latin typeface="Consolas"/>
              </a:rPr>
              <a:t>yosys -V &amp;&amp; iverilog -V &amp;&amp; python3 tools/hazard.py --selftest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8216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On Windows: wsl --install first, then the same three lines inside 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PRACTICAL · 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The Vendor Tools the Syllabus Names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58</a:t>
            </a:r>
          </a:p>
        </p:txBody>
      </p:sp>
      <p:pic>
        <p:nvPicPr>
          <p:cNvPr id="9" name="Picture 8" descr="install_ven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216" y="1097280"/>
            <a:ext cx="7237649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1" i="0">
                <a:solidFill>
                  <a:srgbClr val="2A9D5C"/>
                </a:solidFill>
                <a:latin typeface="Calibri"/>
              </a:rPr>
              <a:t>Needed for lab G only. Labs A–F — 53 of the 58 exercises — run on the free toolchain alone.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PRACTICAL · THE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One Circuit, Two Toolchains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59</a:t>
            </a:r>
          </a:p>
        </p:txBody>
      </p:sp>
      <p:pic>
        <p:nvPicPr>
          <p:cNvPr id="9" name="Picture 8" descr="lab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878" y="1097280"/>
            <a:ext cx="6856325" cy="4937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12648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You write the hazard analyser here; you wrote the timing engine in Module 2. Nothing in the chain is a black box.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PRACTICAL ·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Seven Parts, Twelve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60</a:t>
            </a:r>
          </a:p>
        </p:txBody>
      </p:sp>
      <p:pic>
        <p:nvPicPr>
          <p:cNvPr id="9" name="Picture 8" descr="lab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321" y="1097280"/>
            <a:ext cx="6379438" cy="502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217920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Parts A–C build the understanding and the tool. D–E connect it to design decisions. F–G are the timing half.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LABS A–C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Hazards: On Paper, In Code, In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3627120" cy="320040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07008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1B9AAA"/>
                </a:solidFill>
                <a:latin typeface="Cambria"/>
              </a:rPr>
              <a:t>A · on paper (2 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3352800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Draw the K-map for F = A B' + B C.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Find the adjacent 1s that share no loop.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Derive the consensus term by hand.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Deliverable: the term, and a sentence saying why it 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1480" y="1143000"/>
            <a:ext cx="3627120" cy="320040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8640" y="1207008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B · in code (2 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8640" y="1481328"/>
            <a:ext cx="3352800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Write the adjacency test in tools/hazard.py.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Make the self-test pass, including the cross-check against a delay timeline.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Deliverable: PASSED, and an explanation of what section D of it proves.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1480" y="1143000"/>
            <a:ext cx="3627120" cy="320040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6B45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8640" y="1207008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6B45A8"/>
                </a:solidFill>
                <a:latin typeface="Cambria"/>
              </a:rPr>
              <a:t>C · in simulation (2 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640" y="1481328"/>
            <a:ext cx="3352800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Build the glitch detector.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Predict the glitching transition BEFORE running it.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Then the dynamic case, and its two different fixes.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Deliverable: the six-row results table, explained.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3484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3970">
            <a:solidFill>
              <a:srgbClr val="2A9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49884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2A9D5C"/>
                </a:solidFill>
                <a:latin typeface="Cambria"/>
              </a:rPr>
              <a:t>The exercise that teaches the most is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77316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Predict which of the 24 transitions will glitch, from the analyser's output, before you simulate. When the prediction matches, you have connected a piece of logic reasoning to a physical measurement — which is the whole of this subtopic.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LABS D–E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Does It Matter, and What Synthesis Does About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62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2109978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1" i="0">
                <a:solidFill>
                  <a:srgbClr val="1B9AAA"/>
                </a:solidFill>
                <a:latin typeface="Calibri"/>
              </a:rPr>
              <a:t>both results, 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31620"/>
            <a:ext cx="10881360" cy="16070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$ make capture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f as DATA, sampled by the clean clock   -&gt; correct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f as a CLOCK        edges after power-up = 4   &lt;- should be 0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f as an ASYNC RESET r_flag = 0                 &lt;- should be 1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$ make synth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f = a&amp;~b | b&amp;c                   1 cell   {'$_MUX_': 1}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f = a&amp;~b | b&amp;c | a&amp;c  (fixed)    1 cell   {'$_MUX_': 1}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The two netlists are IDENTICAL. The consensus term was deleted.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344418"/>
            <a:ext cx="118872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44418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Exercise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3344418"/>
            <a:ext cx="10058400" cy="283464"/>
          </a:xfrm>
          <a:prstGeom prst="rect">
            <a:avLst/>
          </a:prstGeom>
          <a:solidFill>
            <a:srgbClr val="0E2A47"/>
          </a:solidFill>
          <a:ln w="635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344418"/>
            <a:ext cx="99669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27882"/>
            <a:ext cx="11887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27882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D.1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627882"/>
            <a:ext cx="10058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627882"/>
            <a:ext cx="99669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Move the glitch to 5 ns before the clock edge. Does the DATA column still hold?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911346"/>
            <a:ext cx="11887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11346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D.2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3911346"/>
            <a:ext cx="100584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3911346"/>
            <a:ext cx="99669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Replace the async reset with a synchronous one. Re-measure.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94810"/>
            <a:ext cx="11887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194810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D.3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4194810"/>
            <a:ext cx="10058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194810"/>
            <a:ext cx="99669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Name three signals in a design you have written that are edge-sensitive.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478274"/>
            <a:ext cx="11887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78274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E.1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4478274"/>
            <a:ext cx="100584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4478274"/>
            <a:ext cx="99669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Add a keep attribute to the consensus term. Does it survive?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61738"/>
            <a:ext cx="118872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61738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E.2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0200" y="4761738"/>
            <a:ext cx="1005840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0" y="4761738"/>
            <a:ext cx="99669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Re-run the glitch detector on the post-synthesis netlist.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045202"/>
            <a:ext cx="118872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045202"/>
            <a:ext cx="109728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1" i="0">
                <a:solidFill>
                  <a:srgbClr val="0E2A47"/>
                </a:solidFill>
                <a:latin typeface="Calibri"/>
              </a:rPr>
              <a:t>E.3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5045202"/>
            <a:ext cx="10058400" cy="283464"/>
          </a:xfrm>
          <a:prstGeom prst="rect">
            <a:avLst/>
          </a:prstGeom>
          <a:solidFill>
            <a:srgbClr val="F4F8FB"/>
          </a:solidFill>
          <a:ln w="635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45920" y="5045202"/>
            <a:ext cx="99669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3000"/>
              </a:lnSpc>
            </a:pPr>
            <a:r>
              <a:rPr sz="1000" b="0" i="0">
                <a:solidFill>
                  <a:srgbClr val="33414F"/>
                </a:solidFill>
                <a:latin typeface="Calibri"/>
              </a:rPr>
              <a:t>Explain in writing why the tool chose a MUX.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LABS F–G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Setup, Hold, Fmax — Then an Industrial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63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2549906"/>
          </a:xfrm>
          <a:prstGeom prst="roundRect">
            <a:avLst>
              <a:gd name="adj" fmla="val 3000"/>
            </a:avLst>
          </a:prstGeom>
          <a:solidFill>
            <a:srgbClr val="112233"/>
          </a:solidFill>
          <a:ln w="13970">
            <a:solidFill>
              <a:srgbClr val="1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57300"/>
            <a:ext cx="10881360" cy="2321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$ make fmax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pipe_unbal     Fmax : 364.7 MHz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pipe_bal       Fmax : 473.2 MHz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$ make setup                             # target 400 MHz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pipe_unbal     WNS : -0.322 ns   VIOLATED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pipe_bal       WNS : +0.307 ns   MET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$ make hold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period    4.0 ns   WNS : -0.119 ns   VIOLATED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period   40.0 ns   WNS : -0.119 ns   VIOLATED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period  400.0 ns   WNS : -0.119 ns   VIOLATED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D8E4F0"/>
                </a:solidFill>
                <a:latin typeface="Consolas"/>
              </a:rPr>
              <a:t>  skew 0.25 -&gt; 0.10  WNS : -0.119 -&gt; +0.031 ns   MET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784346"/>
            <a:ext cx="11247120" cy="100584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3848354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Lab G: the same design on a Zynq-7000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122674"/>
            <a:ext cx="1091793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100" b="0" i="0">
                <a:solidFill>
                  <a:srgbClr val="33414F"/>
                </a:solidFill>
                <a:latin typeface="Calibri"/>
              </a:rPr>
              <a:t>vivado -mode batch -source vivado/zynq_sta.tcl, targeting xc7z020clg400-1. The absolute numbers will differ — a Zynq LUT is not the teaching library. What must match is the shape of the report, which path is critical, and the direction of every constraint change.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LABS ·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How the 58 Exercises Are Weighted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64</a:t>
            </a:r>
          </a:p>
        </p:txBody>
      </p:sp>
      <p:pic>
        <p:nvPicPr>
          <p:cNvPr id="9" name="Picture 8" descr="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034" y="1097280"/>
            <a:ext cx="7058011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6035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100" b="1" i="0">
                <a:solidFill>
                  <a:srgbClr val="C01F43"/>
                </a:solidFill>
                <a:latin typeface="Calibri"/>
              </a:rPr>
              <a:t>A fix you cannot explain is not a fix.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C77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C77514"/>
                </a:solidFill>
                <a:latin typeface="Calibri"/>
              </a:rPr>
              <a:t>PRACTICAL ·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This Lab Does Not Show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 i="0">
                <a:solidFill>
                  <a:srgbClr val="C77514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The gate delays are teaching-sized. A real inverter is not 4 ns; the mechanism is real, the timescale is 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002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 i="0">
                <a:solidFill>
                  <a:srgbClr val="C77514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The delay numbers in the Liberty file are invented, not any vendor's. They are chosen to be checkable by hand.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574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 i="0">
                <a:solidFill>
                  <a:srgbClr val="C77514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33414F"/>
                </a:solidFill>
                <a:latin typeface="Calibri"/>
              </a:rPr>
              <a:t>sta/sta.py is a teaching analyser: straight-line delays, no slew propagation, no wire RC, one corner at a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5146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 i="0">
                <a:solidFill>
                  <a:srgbClr val="C77514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146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33414F"/>
                </a:solidFill>
                <a:latin typeface="Calibri"/>
              </a:rPr>
              <a:t>The hazard analyser handles two-level covers. Multi-level hazard analysis is a much harder problem, and hz_dynamic shows you why.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718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 i="0">
                <a:solidFill>
                  <a:srgbClr val="C77514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718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33414F"/>
                </a:solidFill>
                <a:latin typeface="Calibri"/>
              </a:rPr>
              <a:t>vivado/zynq_sta.tcl has NOT been executed in the environment these materials were built in — Vivado is not installable there. It is the one file whose output is not reproduced in the README.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42900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80" b="1" i="0">
                <a:solidFill>
                  <a:srgbClr val="C77514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11018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33414F"/>
                </a:solidFill>
                <a:latin typeface="Calibri"/>
              </a:rPr>
              <a:t>Nothing here covers on-chip variation, crosstalk, or signal integrity. Those belong to sign-off, in subtopic 3.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2A9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2A9D5C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Topic 1 In Ten 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43000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A truth table promises settled values. It says nothing about the journey.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527048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27048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A hazard is the circuit's potential to glitch; a glitch is one event in one 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911096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911096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Two 1-cells one variable apart, covered by no single term, is a static-1 hazard.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95144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29514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The fix is the term made of the literals they agree on — redundant, by design.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679192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That fix cures two-level logic hazards and nothing else. Structure needs restructuring.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063240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063240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A glitch is harmless only where a clock edge samples it after it settles.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447288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447288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Static timing analysis cannot see any of this: it measures one path, not two.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831336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31336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The clock period is in the setup equation and nowhere in the hold equation.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215384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15384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Fmax is set by one stage; moving work took 364.7 MHz to 473.2 MHz.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599432"/>
            <a:ext cx="182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960" b="1" i="0">
                <a:solidFill>
                  <a:srgbClr val="2A9D5C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99432"/>
            <a:ext cx="11018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33414F"/>
                </a:solidFill>
                <a:latin typeface="Calibri"/>
              </a:rPr>
              <a:t>And synthesis will delete your hazard fix, so verify on the netlist.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" y="292608"/>
            <a:ext cx="530352" cy="530352"/>
          </a:xfrm>
          <a:prstGeom prst="ellipse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402336"/>
            <a:ext cx="155448" cy="310896"/>
          </a:xfrm>
          <a:prstGeom prst="rect">
            <a:avLst/>
          </a:prstGeom>
          <a:solidFill>
            <a:srgbClr val="1B9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29260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1" i="0" spc="200">
                <a:solidFill>
                  <a:srgbClr val="1B9AAA"/>
                </a:solidFill>
                <a:latin typeface="Calibr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502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2100" b="1" i="0">
                <a:solidFill>
                  <a:srgbClr val="0E2A47"/>
                </a:solidFill>
                <a:latin typeface="Cambria"/>
              </a:rPr>
              <a:t>What To Do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8992" y="1024128"/>
            <a:ext cx="10579608" cy="9525"/>
          </a:xfrm>
          <a:prstGeom prst="rect">
            <a:avLst/>
          </a:prstGeom>
          <a:solidFill>
            <a:srgbClr val="D8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54710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Chip Design Associate · Module 3 · Static Timing Analysis of VLSI Circuits · Topic 1: Overview of VLSI 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47104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3000"/>
              </a:lnSpc>
            </a:pPr>
            <a:r>
              <a:rPr sz="800" b="0" i="0">
                <a:solidFill>
                  <a:srgbClr val="5A6B7B"/>
                </a:solidFill>
                <a:latin typeface="Calibri"/>
              </a:rPr>
              <a:t>M3-T1 · 67</a:t>
            </a:r>
          </a:p>
        </p:txBody>
      </p:sp>
      <p:pic>
        <p:nvPicPr>
          <p:cNvPr id="9" name="Picture 8" descr="what_you_can_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272" y="1097280"/>
            <a:ext cx="6165537" cy="40233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212080"/>
            <a:ext cx="11247120" cy="82296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397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5276088"/>
            <a:ext cx="109179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 i="0">
                <a:solidFill>
                  <a:srgbClr val="0E2A47"/>
                </a:solidFill>
                <a:latin typeface="Cambria"/>
              </a:rPr>
              <a:t>Coming next in Module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5550408"/>
            <a:ext cx="1091793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0" i="0">
                <a:solidFill>
                  <a:srgbClr val="33414F"/>
                </a:solidFill>
                <a:latin typeface="Calibri"/>
              </a:rPr>
              <a:t>Subtopic 2 takes the optimisation techniques further — pipelining, retiming, open- and closed-loop timing, block-level versus chip-level. Subtopic 3 is the EDA flow end to end: post-route analysis, ECO, and sign-off.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